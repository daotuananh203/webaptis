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Signika"/>
      <p:regular r:id="rId27"/>
      <p:bold r:id="rId28"/>
    </p:embeddedFont>
    <p:embeddedFont>
      <p:font typeface="Montserra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07E248-014B-49D5-9572-1EBDA1034BC5}">
  <a:tblStyle styleId="{7607E248-014B-49D5-9572-1EBDA1034BC5}" styleName="Table_0">
    <a:wholeTbl>
      <a:tcTxStyle b="off" i="off">
        <a:font>
          <a:latin typeface="Arial"/>
          <a:ea typeface="Arial"/>
          <a:cs typeface="Arial"/>
        </a:font>
        <a:schemeClr val="dk1"/>
      </a:tcTxStyle>
      <a:tcStyle>
        <a:tcBdr>
          <a:left>
            <a:ln cap="flat" cmpd="sng" w="12700">
              <a:solidFill>
                <a:schemeClr val="accent3"/>
              </a:solidFill>
              <a:prstDash val="solid"/>
              <a:round/>
              <a:headEnd len="sm" w="sm" type="none"/>
              <a:tailEnd len="sm" w="sm" type="none"/>
            </a:ln>
          </a:left>
          <a:right>
            <a:ln cap="flat" cmpd="sng" w="12700">
              <a:solidFill>
                <a:schemeClr val="accent3"/>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12700">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FF3E9"/>
          </a:solidFill>
        </a:fill>
      </a:tcStyle>
    </a:band1H>
    <a:band2H>
      <a:tcTxStyle/>
    </a:band2H>
    <a:band1V>
      <a:tcTxStyle/>
      <a:tcStyle>
        <a:fill>
          <a:solidFill>
            <a:srgbClr val="EFF3E9"/>
          </a:solidFill>
        </a:fill>
      </a:tcStyle>
    </a:band1V>
    <a:band2V>
      <a:tcTxStyle/>
    </a:band2V>
    <a:lastCol>
      <a:tcTxStyle b="on" i="off"/>
    </a:lastCol>
    <a:firstCol>
      <a:tcTxStyle b="on" i="off"/>
    </a:firstCol>
    <a:lastRow>
      <a:tcTxStyle b="on" i="off"/>
      <a:tcStyle>
        <a:tcBdr>
          <a:top>
            <a:ln cap="flat" cmpd="sng" w="50800">
              <a:solidFill>
                <a:schemeClr val="accent3"/>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Arial"/>
          <a:ea typeface="Arial"/>
          <a:cs typeface="Arial"/>
        </a:font>
        <a:schemeClr val="lt1"/>
      </a:tcTxStyle>
      <a:tcStyle>
        <a:fill>
          <a:solidFill>
            <a:schemeClr val="accent3"/>
          </a:solidFill>
        </a:fill>
      </a:tcStyle>
    </a:firstRow>
    <a:neCell>
      <a:tcTxStyle/>
    </a:neCell>
    <a:nwCell>
      <a:tcTxStyle/>
    </a:nwCell>
  </a:tblStyle>
  <a:tblStyle styleId="{31EABBE2-6B9E-4EE9-BE6F-F7030172463B}"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3E9"/>
          </a:solidFill>
        </a:fill>
      </a:tcStyle>
    </a:wholeTbl>
    <a:band1H>
      <a:tcTxStyle/>
      <a:tcStyle>
        <a:fill>
          <a:solidFill>
            <a:srgbClr val="DEE7D0"/>
          </a:solidFill>
        </a:fill>
      </a:tcStyle>
    </a:band1H>
    <a:band2H>
      <a:tcTxStyle/>
    </a:band2H>
    <a:band1V>
      <a:tcTxStyle/>
      <a:tcStyle>
        <a:fill>
          <a:solidFill>
            <a:srgbClr val="DEE7D0"/>
          </a:solidFill>
        </a:fill>
      </a:tcStyle>
    </a:band1V>
    <a:band2V>
      <a:tcTxStyle/>
    </a:band2V>
    <a:lastCol>
      <a:tcTxStyle b="on" i="off">
        <a:font>
          <a:latin typeface="Arial"/>
          <a:ea typeface="Arial"/>
          <a:cs typeface="Arial"/>
        </a:font>
        <a:schemeClr val="lt1"/>
      </a:tcTxStyle>
      <a:tcStyle>
        <a:fill>
          <a:solidFill>
            <a:schemeClr val="accent3"/>
          </a:solidFill>
        </a:fill>
      </a:tcStyle>
    </a:lastCol>
    <a:firstCol>
      <a:tcTxStyle b="on" i="off">
        <a:font>
          <a:latin typeface="Arial"/>
          <a:ea typeface="Arial"/>
          <a:cs typeface="Arial"/>
        </a:font>
        <a:schemeClr val="lt1"/>
      </a:tcTxStyle>
      <a:tcStyle>
        <a:fill>
          <a:solidFill>
            <a:schemeClr val="accent3"/>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Signika-bold.fntdata"/><Relationship Id="rId27" Type="http://schemas.openxmlformats.org/officeDocument/2006/relationships/font" Target="fonts/Signik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c.hust.edu.vn/xmedia/2020/09/aptis-cut-score.png"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c.hust.edu.vn/xmedia/2020/09/aptis-cut-score.png"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Trong khóa học này chúng ta sẽ tập chung vào bài thi Aptis General, bài thi phổ biến nhất với học sinh, sinh viên và người đi làm.</a:t>
            </a:r>
            <a:endParaRPr/>
          </a:p>
        </p:txBody>
      </p:sp>
      <p:sp>
        <p:nvSpPr>
          <p:cNvPr id="153" name="Google Shape;15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a:solidFill>
                  <a:srgbClr val="01051C"/>
                </a:solidFill>
                <a:highlight>
                  <a:srgbClr val="FFFFFF"/>
                </a:highlight>
                <a:latin typeface="Calibri"/>
                <a:ea typeface="Calibri"/>
                <a:cs typeface="Calibri"/>
                <a:sym typeface="Calibri"/>
              </a:rPr>
              <a:t>Aptis kiểm tra ngữ pháp, từ vựng và các kỹ năng ngôn ngữ (Nghe, Nói, Đọc, Viết). Trong đó, mỗi thí sinh sẽ hoàn thành một bài kiểm tra ngữ pháp và từ vựng bắt buộc và các hợp phần kĩ năng tiếng Anh mà thí sinh đã lựa chọn.</a:t>
            </a:r>
            <a:endParaRPr/>
          </a:p>
          <a:p>
            <a:pPr indent="0" lvl="0" marL="0" rtl="0" algn="l">
              <a:lnSpc>
                <a:spcPct val="100000"/>
              </a:lnSpc>
              <a:spcBef>
                <a:spcPts val="0"/>
              </a:spcBef>
              <a:spcAft>
                <a:spcPts val="0"/>
              </a:spcAft>
              <a:buSzPts val="1100"/>
              <a:buNone/>
            </a:pPr>
            <a:r>
              <a:t/>
            </a:r>
            <a:endParaRPr/>
          </a:p>
        </p:txBody>
      </p:sp>
      <p:sp>
        <p:nvSpPr>
          <p:cNvPr id="175" name="Google Shape;17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a:solidFill>
                  <a:srgbClr val="54565A"/>
                </a:solidFill>
                <a:latin typeface="Arial"/>
                <a:ea typeface="Arial"/>
                <a:cs typeface="Arial"/>
                <a:sym typeface="Arial"/>
              </a:rPr>
              <a:t>Thời gian làm bài thi Ngữ pháp và Từ vựng, Nghe, Đọc, Viết và Nói sẽ được kéo dài trong khoảng ba tiếng và không có thời gian nghỉ giữa các phần thi. </a:t>
            </a:r>
            <a:endParaRPr/>
          </a:p>
        </p:txBody>
      </p:sp>
      <p:sp>
        <p:nvSpPr>
          <p:cNvPr id="210" name="Google Shape;2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a:solidFill>
                  <a:srgbClr val="4F4F4F"/>
                </a:solidFill>
                <a:highlight>
                  <a:srgbClr val="FFFFFF"/>
                </a:highlight>
                <a:latin typeface="Signika"/>
                <a:ea typeface="Signika"/>
                <a:cs typeface="Signika"/>
                <a:sym typeface="Signika"/>
              </a:rPr>
              <a:t>Kết quả của bài thi </a:t>
            </a:r>
            <a:r>
              <a:rPr b="1" i="0" lang="en-US">
                <a:solidFill>
                  <a:srgbClr val="4F4F4F"/>
                </a:solidFill>
                <a:highlight>
                  <a:srgbClr val="FFFFFF"/>
                </a:highlight>
                <a:latin typeface="Signika"/>
                <a:ea typeface="Signika"/>
                <a:cs typeface="Signika"/>
                <a:sym typeface="Signika"/>
              </a:rPr>
              <a:t>Aptis</a:t>
            </a:r>
            <a:r>
              <a:rPr b="0" i="0" lang="en-US">
                <a:solidFill>
                  <a:srgbClr val="4F4F4F"/>
                </a:solidFill>
                <a:highlight>
                  <a:srgbClr val="FFFFFF"/>
                </a:highlight>
                <a:latin typeface="Signika"/>
                <a:ea typeface="Signika"/>
                <a:cs typeface="Signika"/>
                <a:sym typeface="Signika"/>
              </a:rPr>
              <a:t> được biểu diễn dưới 2 dạng: dạng số và dạng cấp độ </a:t>
            </a:r>
            <a:r>
              <a:rPr b="1" i="0" lang="en-US">
                <a:solidFill>
                  <a:srgbClr val="4F4F4F"/>
                </a:solidFill>
                <a:highlight>
                  <a:srgbClr val="FFFFFF"/>
                </a:highlight>
                <a:latin typeface="Signika"/>
                <a:ea typeface="Signika"/>
                <a:cs typeface="Signika"/>
                <a:sym typeface="Signika"/>
              </a:rPr>
              <a:t>CEFR</a:t>
            </a:r>
            <a:r>
              <a:rPr b="0" i="0" lang="en-US">
                <a:solidFill>
                  <a:srgbClr val="4F4F4F"/>
                </a:solidFill>
                <a:highlight>
                  <a:srgbClr val="FFFFFF"/>
                </a:highlight>
                <a:latin typeface="Signika"/>
                <a:ea typeface="Signika"/>
                <a:cs typeface="Signika"/>
                <a:sym typeface="Signika"/>
              </a:rPr>
              <a:t> (Khung tham chiếu 6 bậc Châu Âu).</a:t>
            </a:r>
            <a:endParaRPr/>
          </a:p>
        </p:txBody>
      </p:sp>
      <p:sp>
        <p:nvSpPr>
          <p:cNvPr id="246" name="Google Shape;24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Các cấp độ theo khung tham chiếu Châu Âu (CEFR) bao gồm: A0 – C</a:t>
            </a:r>
            <a:endParaRPr/>
          </a:p>
          <a:p>
            <a:pPr indent="0" lvl="0" marL="0" rtl="0" algn="l">
              <a:lnSpc>
                <a:spcPct val="100000"/>
              </a:lnSpc>
              <a:spcBef>
                <a:spcPts val="0"/>
              </a:spcBef>
              <a:spcAft>
                <a:spcPts val="0"/>
              </a:spcAft>
              <a:buSzPts val="1100"/>
              <a:buNone/>
            </a:pPr>
            <a:r>
              <a:rPr lang="en-US"/>
              <a:t>CEFR gồm có 6 dải (cộng thêm dải A0, ám chỉ một người mới bắt đầu). Mỗi dải cấp độ giải thích tương ứng với mỗi kỹ năng.</a:t>
            </a:r>
            <a:endParaRPr/>
          </a:p>
          <a:p>
            <a:pPr indent="0" lvl="0" marL="0" rtl="0" algn="l">
              <a:lnSpc>
                <a:spcPct val="100000"/>
              </a:lnSpc>
              <a:spcBef>
                <a:spcPts val="0"/>
              </a:spcBef>
              <a:spcAft>
                <a:spcPts val="0"/>
              </a:spcAft>
              <a:buSzPts val="1100"/>
              <a:buNone/>
            </a:pPr>
            <a:r>
              <a:rPr lang="en-US"/>
              <a:t>Các dải cấp độ là rất rộng, mỗi dải biểu diễn cho một vùng khả năng. Bởi vậy không phải tất cả các thí sinh ở cấp độ B2 sẽ có cùng điểm số hay cùng khả năng ngôn ngữ. </a:t>
            </a:r>
            <a:endParaRPr/>
          </a:p>
        </p:txBody>
      </p:sp>
      <p:sp>
        <p:nvSpPr>
          <p:cNvPr id="282" name="Google Shape;28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Phần thi ngữ pháp là </a:t>
            </a:r>
            <a:r>
              <a:rPr b="0" i="0" lang="en-US">
                <a:solidFill>
                  <a:srgbClr val="4F4F4F"/>
                </a:solidFill>
                <a:highlight>
                  <a:srgbClr val="FFFFFF"/>
                </a:highlight>
                <a:latin typeface="Signika"/>
                <a:ea typeface="Signika"/>
                <a:cs typeface="Signika"/>
                <a:sym typeface="Signika"/>
              </a:rPr>
              <a:t>phần thi quan trọng của bài thi Aptis, vì nó giúp các giám khảo đánh giá tổng quan hơn về năng lực tiếng Anh của bạn, không chỉ dựa vào từng kĩ năng đơn lẻ.</a:t>
            </a:r>
            <a:endParaRPr b="0" i="0">
              <a:solidFill>
                <a:srgbClr val="4F4F4F"/>
              </a:solidFill>
              <a:highlight>
                <a:srgbClr val="FFFFFF"/>
              </a:highlight>
              <a:latin typeface="Signika"/>
              <a:ea typeface="Signika"/>
              <a:cs typeface="Signika"/>
              <a:sym typeface="Signika"/>
            </a:endParaRPr>
          </a:p>
          <a:p>
            <a:pPr indent="0" lvl="0" marL="0" rtl="0" algn="l">
              <a:lnSpc>
                <a:spcPct val="100000"/>
              </a:lnSpc>
              <a:spcBef>
                <a:spcPts val="0"/>
              </a:spcBef>
              <a:spcAft>
                <a:spcPts val="0"/>
              </a:spcAft>
              <a:buSzPts val="1100"/>
              <a:buNone/>
            </a:pPr>
            <a:r>
              <a:rPr b="0" i="0" lang="en-US">
                <a:solidFill>
                  <a:srgbClr val="4F4F4F"/>
                </a:solidFill>
                <a:highlight>
                  <a:srgbClr val="FFFFFF"/>
                </a:highlight>
                <a:latin typeface="Signika"/>
                <a:ea typeface="Signika"/>
                <a:cs typeface="Signika"/>
                <a:sym typeface="Signika"/>
              </a:rPr>
              <a:t>Các kết quả thi của bạn có thể được cải thiện nhờ vào điểm số của phần thi này. Nếu cấp độ CEFR của bất kỳ kỹ năng nào của bạn rơi xuống ngay dưới ranh giới với cấp độ kế tiếp, Aptis sẽ xem xét kỹ điểm số phần thi Ngữ pháp &amp; Từ vựng của bạn. Nếu điểm số này đủ cao, họ sẽ đánh giá bạn đạt cấp độ kế tiếp cho kỹ năng đó.</a:t>
            </a:r>
            <a:endParaRPr/>
          </a:p>
          <a:p>
            <a:pPr indent="-298450" lvl="0" marL="457200" marR="0" rtl="0" algn="l">
              <a:lnSpc>
                <a:spcPct val="100000"/>
              </a:lnSpc>
              <a:spcBef>
                <a:spcPts val="0"/>
              </a:spcBef>
              <a:spcAft>
                <a:spcPts val="0"/>
              </a:spcAft>
              <a:buClr>
                <a:srgbClr val="000000"/>
              </a:buClr>
              <a:buSzPts val="1100"/>
              <a:buFont typeface="Arial"/>
              <a:buChar char="●"/>
            </a:pPr>
            <a:br>
              <a:rPr b="0" i="0" lang="en-US" u="sng">
                <a:solidFill>
                  <a:schemeClr val="hlink"/>
                </a:solidFill>
                <a:highlight>
                  <a:srgbClr val="FFFFFF"/>
                </a:highlight>
                <a:latin typeface="Signika"/>
                <a:ea typeface="Signika"/>
                <a:cs typeface="Signika"/>
                <a:sym typeface="Signika"/>
                <a:hlinkClick r:id="rId2"/>
              </a:rPr>
            </a:br>
            <a:endParaRPr/>
          </a:p>
        </p:txBody>
      </p:sp>
      <p:sp>
        <p:nvSpPr>
          <p:cNvPr id="300" name="Google Shape;30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a:solidFill>
                  <a:srgbClr val="4F4F4F"/>
                </a:solidFill>
                <a:highlight>
                  <a:srgbClr val="FFFFFF"/>
                </a:highlight>
                <a:latin typeface="Signika"/>
                <a:ea typeface="Signika"/>
                <a:cs typeface="Signika"/>
                <a:sym typeface="Signika"/>
              </a:rPr>
              <a:t>Ví dụ, nếu điểm Nói của bạn là B1, nhưng suýt soát ngay mức B2, và điểm Ngữ pháp &amp; Từ vựng của bạn cao hơn  một con số được thiết lập, bạn sẽ nhận được cấp độ B2. Một ví dụ khác, có những trường hợp hai thí sinh cùng đạt một điểm số (VD: 40/50) cho một phần thi kĩ năng (VD Nói), nhưng có người nhận được cấp CEFR cao hơn người còn lại (VD một người nhận B1 Nói, một người nhận B2 Nói). Chính là bởi 40/50 trong kĩ năng Nói là “phần chấp chới” giữa các thang điểm. Người nhận được cấp độ CEFR cao hơn rất có thể đã làm tốt hơn ở phần Ngữ pháp và Từ vựng.</a:t>
            </a:r>
            <a:endParaRPr/>
          </a:p>
          <a:p>
            <a:pPr indent="-298450" lvl="0" marL="457200" rtl="0" algn="l">
              <a:lnSpc>
                <a:spcPct val="100000"/>
              </a:lnSpc>
              <a:spcBef>
                <a:spcPts val="0"/>
              </a:spcBef>
              <a:spcAft>
                <a:spcPts val="0"/>
              </a:spcAft>
              <a:buSzPts val="1100"/>
              <a:buChar char="●"/>
            </a:pPr>
            <a:r>
              <a:rPr b="0" i="0" lang="en-US">
                <a:solidFill>
                  <a:srgbClr val="4F4F4F"/>
                </a:solidFill>
                <a:highlight>
                  <a:srgbClr val="FFFFFF"/>
                </a:highlight>
                <a:latin typeface="Signika"/>
                <a:ea typeface="Signika"/>
                <a:cs typeface="Signika"/>
                <a:sym typeface="Signika"/>
              </a:rPr>
              <a:t>Cách tính điểm này cho thấy trong mỗi phần thi kĩ năng, luôn có cơ hội để chúng ta nâng cấp độ CEFR cho phần đó. Tuy nhiên, chúng ta cũng cần nhớ rằng cấp độ của bạn sẽ không bao giờ bị hạ thấp, bằng cách này hay bất kỳ một cách nào khác.</a:t>
            </a:r>
            <a:endParaRPr/>
          </a:p>
          <a:p>
            <a:pPr indent="0" lvl="0" marL="158750" rtl="0" algn="l">
              <a:lnSpc>
                <a:spcPct val="100000"/>
              </a:lnSpc>
              <a:spcBef>
                <a:spcPts val="0"/>
              </a:spcBef>
              <a:spcAft>
                <a:spcPts val="0"/>
              </a:spcAft>
              <a:buSzPts val="1100"/>
              <a:buNone/>
            </a:pPr>
            <a:br>
              <a:rPr b="0" i="0" lang="en-US" u="sng">
                <a:solidFill>
                  <a:schemeClr val="hlink"/>
                </a:solidFill>
                <a:highlight>
                  <a:srgbClr val="FFFFFF"/>
                </a:highlight>
                <a:latin typeface="Signika"/>
                <a:ea typeface="Signika"/>
                <a:cs typeface="Signika"/>
                <a:sym typeface="Signika"/>
                <a:hlinkClick r:id="rId2"/>
              </a:rPr>
            </a:br>
            <a:endParaRPr/>
          </a:p>
        </p:txBody>
      </p:sp>
      <p:sp>
        <p:nvSpPr>
          <p:cNvPr id="324" name="Google Shape;32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a:solidFill>
                  <a:srgbClr val="4F4F4F"/>
                </a:solidFill>
                <a:highlight>
                  <a:srgbClr val="FFFFFF"/>
                </a:highlight>
                <a:latin typeface="Signika"/>
                <a:ea typeface="Signika"/>
                <a:cs typeface="Signika"/>
                <a:sym typeface="Signika"/>
              </a:rPr>
              <a:t>Vậy làm sao để có thể đánh giá cấp độ CEFR tổng cho bài thi của bạn, từ những cấp độ CEFR cho mỗi phần thi? Aptis sẽ tính làm tròn từ việc xem xét CEFR của 4 kĩ năng. Nói một cách đơn giản và dựa vào thực tế, nếu bạn muốn đạt cấp độ tổng là B1, bạn sẽ cần ít nhất 2 kĩ năng đạt B1 hoặc trên B1, 2 kĩ năng đạt A2 (không thấp hơn A2). Nếu bạn muốn đạt cấp độ tổng là B2, bạn sẽ cần ít nhất 2 kĩ năng đạt B2 hoặc trên B2, 2 kĩ năng đạt B1 (không thấp hơn B1). Tương tự, nếu bạn muốn đạt cấp độ tổng là C (với bài thi General), bạn sẽ cần ít nhất 2 kĩ năng C và 2 kĩ năng B2 (không thấp hơn B2). Hãy cùng xem bảng dưới đây:</a:t>
            </a:r>
            <a:endParaRPr/>
          </a:p>
        </p:txBody>
      </p:sp>
      <p:sp>
        <p:nvSpPr>
          <p:cNvPr id="342" name="Google Shape;34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a:solidFill>
                  <a:srgbClr val="54565A"/>
                </a:solidFill>
                <a:latin typeface="Arial"/>
                <a:ea typeface="Arial"/>
                <a:cs typeface="Arial"/>
                <a:sym typeface="Arial"/>
              </a:rPr>
              <a:t>Bạn nên đến sớm hơn so với giờ thi Aptis ESOL. Bạn sẽ nhận được email thông báo thời gian bắt đầu làm bài ít nhất ba ngày trước ngày thi. Email cũng sẽ cung cấp cho bạn các thủ tục và thời gian làm bài trong ngày thi. Nếu bạn đến trễ, bạn sẽ không được phép vào phòng thi.</a:t>
            </a:r>
            <a:endParaRPr b="0" i="0">
              <a:solidFill>
                <a:srgbClr val="54565A"/>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US">
                <a:solidFill>
                  <a:srgbClr val="54565A"/>
                </a:solidFill>
                <a:latin typeface="Arial"/>
                <a:ea typeface="Arial"/>
                <a:cs typeface="Arial"/>
                <a:sym typeface="Arial"/>
              </a:rPr>
              <a:t>Bạn cần chuẩn bị đầy đủ trước khi tham dự kỳ thi. Bạn chỉ được phép mang theo một chai nước suối trong chai trong suốt và không được phép mang thức ăn vào phòng thi.</a:t>
            </a:r>
            <a:endParaRPr b="0" i="0">
              <a:solidFill>
                <a:srgbClr val="54565A"/>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US">
                <a:solidFill>
                  <a:srgbClr val="54565A"/>
                </a:solidFill>
                <a:latin typeface="Arial"/>
                <a:ea typeface="Arial"/>
                <a:cs typeface="Arial"/>
                <a:sym typeface="Arial"/>
              </a:rPr>
              <a:t>Thí sinh bắt buộc phải đem đúng bản gốc và còn hiệu lực của Giấy tờ tùy thân đã sử dụng để đăng ký thi, có thể là: Hộ chiếu hoặc Chứng minh nhân dân/Căn cước công dân.</a:t>
            </a:r>
            <a:endParaRPr/>
          </a:p>
          <a:p>
            <a:pPr indent="0" lvl="0" marL="0" rtl="0" algn="l">
              <a:lnSpc>
                <a:spcPct val="100000"/>
              </a:lnSpc>
              <a:spcBef>
                <a:spcPts val="0"/>
              </a:spcBef>
              <a:spcAft>
                <a:spcPts val="0"/>
              </a:spcAft>
              <a:buSzPts val="1100"/>
              <a:buNone/>
            </a:pPr>
            <a:r>
              <a:rPr b="0" i="0" lang="en-US">
                <a:solidFill>
                  <a:srgbClr val="54565A"/>
                </a:solidFill>
                <a:latin typeface="Arial"/>
                <a:ea typeface="Arial"/>
                <a:cs typeface="Arial"/>
                <a:sym typeface="Arial"/>
              </a:rPr>
              <a:t>Các giám thị Aptis ESOL tại địa điểm thi sẽ kiểm tra thông tin trước khi bạn vào phòng thi và trong suốt quá trình thi.</a:t>
            </a:r>
            <a:endParaRPr b="0" i="0">
              <a:solidFill>
                <a:srgbClr val="54565A"/>
              </a:solidFill>
              <a:latin typeface="Arial"/>
              <a:ea typeface="Arial"/>
              <a:cs typeface="Arial"/>
              <a:sym typeface="Arial"/>
            </a:endParaRPr>
          </a:p>
          <a:p>
            <a:pPr indent="0" lvl="0" marL="0" rtl="0" algn="l">
              <a:lnSpc>
                <a:spcPct val="100000"/>
              </a:lnSpc>
              <a:spcBef>
                <a:spcPts val="0"/>
              </a:spcBef>
              <a:spcAft>
                <a:spcPts val="0"/>
              </a:spcAft>
              <a:buSzPts val="1100"/>
              <a:buNone/>
            </a:pPr>
            <a:r>
              <a:t/>
            </a:r>
            <a:endParaRPr/>
          </a:p>
        </p:txBody>
      </p:sp>
      <p:sp>
        <p:nvSpPr>
          <p:cNvPr id="422" name="Google Shape;42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Font typeface="Arial"/>
              <a:buChar char="•"/>
            </a:pPr>
            <a:r>
              <a:rPr b="1" i="0" lang="en-US">
                <a:solidFill>
                  <a:srgbClr val="54565A"/>
                </a:solidFill>
                <a:latin typeface="Arial"/>
                <a:ea typeface="Arial"/>
                <a:cs typeface="Arial"/>
                <a:sym typeface="Arial"/>
              </a:rPr>
              <a:t>Đánh giá chính xác và đáng tin cậy khả năng sử dụng tiếng Anh</a:t>
            </a:r>
            <a:br>
              <a:rPr b="0" i="0" lang="en-US">
                <a:solidFill>
                  <a:srgbClr val="54565A"/>
                </a:solidFill>
                <a:latin typeface="Arial"/>
                <a:ea typeface="Arial"/>
                <a:cs typeface="Arial"/>
                <a:sym typeface="Arial"/>
              </a:rPr>
            </a:br>
            <a:r>
              <a:rPr b="0" i="0" lang="en-US">
                <a:solidFill>
                  <a:srgbClr val="54565A"/>
                </a:solidFill>
                <a:latin typeface="Arial"/>
                <a:ea typeface="Arial"/>
                <a:cs typeface="Arial"/>
                <a:sym typeface="Arial"/>
              </a:rPr>
              <a:t>Aptis ESOL giúp các tổ chức có nhận định chính xác về trình độ tiếng Anh của học sinh, sinh viên, giáo viên hoặc nhân viên cũng như tính hiệu quả của các chương trình đào tạo. Bài thi có thể giúp xác định các khía cạnh cần được tập trung cải thiện hơn, qua đó giúp tổ chức đẩy mạnh về chất lượng và hiệu quả của các dự án đào tạo hay phát triển kỹ năng. </a:t>
            </a:r>
            <a:endParaRPr/>
          </a:p>
          <a:p>
            <a:pPr indent="-298450" lvl="0" marL="457200" rtl="0" algn="l">
              <a:lnSpc>
                <a:spcPct val="100000"/>
              </a:lnSpc>
              <a:spcBef>
                <a:spcPts val="0"/>
              </a:spcBef>
              <a:spcAft>
                <a:spcPts val="0"/>
              </a:spcAft>
              <a:buSzPts val="1100"/>
              <a:buFont typeface="Arial"/>
              <a:buChar char="•"/>
            </a:pPr>
            <a:r>
              <a:rPr b="1" i="0" lang="en-US">
                <a:solidFill>
                  <a:srgbClr val="54565A"/>
                </a:solidFill>
                <a:latin typeface="Arial"/>
                <a:ea typeface="Arial"/>
                <a:cs typeface="Arial"/>
                <a:sym typeface="Arial"/>
              </a:rPr>
              <a:t>Hình thức thi linh hoạt, an toàn và hiệu quả</a:t>
            </a:r>
            <a:br>
              <a:rPr b="0" i="0" lang="en-US">
                <a:solidFill>
                  <a:srgbClr val="54565A"/>
                </a:solidFill>
                <a:latin typeface="Arial"/>
                <a:ea typeface="Arial"/>
                <a:cs typeface="Arial"/>
                <a:sym typeface="Arial"/>
              </a:rPr>
            </a:br>
            <a:r>
              <a:rPr b="0" i="0" lang="en-US">
                <a:solidFill>
                  <a:srgbClr val="54565A"/>
                </a:solidFill>
                <a:latin typeface="Arial"/>
                <a:ea typeface="Arial"/>
                <a:cs typeface="Arial"/>
                <a:sym typeface="Arial"/>
              </a:rPr>
              <a:t>Với các dự án ở bất kỳ quy mô nào, bài thi vẫn đảm bảo đáp ứng với độ chính xác vượt trội, chất lượng cao, và thời gian cho kết quả nhanh chóng.</a:t>
            </a:r>
            <a:br>
              <a:rPr b="0" i="0" lang="en-US">
                <a:solidFill>
                  <a:srgbClr val="54565A"/>
                </a:solidFill>
                <a:latin typeface="Arial"/>
                <a:ea typeface="Arial"/>
                <a:cs typeface="Arial"/>
                <a:sym typeface="Arial"/>
              </a:rPr>
            </a:br>
            <a:r>
              <a:rPr b="0" i="0" lang="en-US">
                <a:solidFill>
                  <a:srgbClr val="54565A"/>
                </a:solidFill>
                <a:latin typeface="Arial"/>
                <a:ea typeface="Arial"/>
                <a:cs typeface="Arial"/>
                <a:sym typeface="Arial"/>
              </a:rPr>
              <a:t>Bài thi Aptis ESOL được  tổ chức theo nhu cầu, thời gian, địa điểm với lịch thi linh hoạt do khách hàng lựa chọn.</a:t>
            </a:r>
            <a:endParaRPr/>
          </a:p>
          <a:p>
            <a:pPr indent="-298450" lvl="0" marL="457200" rtl="0" algn="l">
              <a:lnSpc>
                <a:spcPct val="100000"/>
              </a:lnSpc>
              <a:spcBef>
                <a:spcPts val="0"/>
              </a:spcBef>
              <a:spcAft>
                <a:spcPts val="0"/>
              </a:spcAft>
              <a:buSzPts val="1100"/>
              <a:buFont typeface="Arial"/>
              <a:buChar char="•"/>
            </a:pPr>
            <a:r>
              <a:rPr b="1" i="0" lang="en-US">
                <a:solidFill>
                  <a:srgbClr val="54565A"/>
                </a:solidFill>
                <a:latin typeface="Arial"/>
                <a:ea typeface="Arial"/>
                <a:cs typeface="Arial"/>
                <a:sym typeface="Arial"/>
              </a:rPr>
              <a:t>Đẳng cấp quốc tế</a:t>
            </a:r>
            <a:br>
              <a:rPr b="0" i="0" lang="en-US">
                <a:solidFill>
                  <a:srgbClr val="54565A"/>
                </a:solidFill>
                <a:latin typeface="Arial"/>
                <a:ea typeface="Arial"/>
                <a:cs typeface="Arial"/>
                <a:sym typeface="Arial"/>
              </a:rPr>
            </a:br>
            <a:r>
              <a:rPr b="0" i="0" lang="en-US">
                <a:solidFill>
                  <a:srgbClr val="54565A"/>
                </a:solidFill>
                <a:latin typeface="Arial"/>
                <a:ea typeface="Arial"/>
                <a:cs typeface="Arial"/>
                <a:sym typeface="Arial"/>
              </a:rPr>
              <a:t>Aptis ESOL là bài thi tiếng Anh quốc tế do các chuyên gia khảo thí Hội đồng Anh thiết kế và phát triển dựa trên những nghiên cứu mới nhất. Sử dụng bài thi Aptis ESOL nhằm đánh giá năng lực tiếng Anh của ứng viên, các tổ chức có thể nâng cao danh tiếng và uy tín của các chương trình tiếng Anh của mình, tạo ra lợi thế cạnh tranh mới cho tổ chức. </a:t>
            </a:r>
            <a:endParaRPr/>
          </a:p>
          <a:p>
            <a:pPr indent="0" lvl="0" marL="0" rtl="0" algn="l">
              <a:lnSpc>
                <a:spcPct val="100000"/>
              </a:lnSpc>
              <a:spcBef>
                <a:spcPts val="0"/>
              </a:spcBef>
              <a:spcAft>
                <a:spcPts val="0"/>
              </a:spcAft>
              <a:buSzPts val="1100"/>
              <a:buNone/>
            </a:pPr>
            <a:r>
              <a:t/>
            </a:r>
            <a:endParaRPr/>
          </a:p>
        </p:txBody>
      </p:sp>
      <p:sp>
        <p:nvSpPr>
          <p:cNvPr id="465" name="Google Shape;46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0" name="Google Shape;51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22.jpg"/><Relationship Id="rId6"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3" name="Shape 83"/>
        <p:cNvGrpSpPr/>
        <p:nvPr/>
      </p:nvGrpSpPr>
      <p:grpSpPr>
        <a:xfrm>
          <a:off x="0" y="0"/>
          <a:ext cx="0" cy="0"/>
          <a:chOff x="0" y="0"/>
          <a:chExt cx="0" cy="0"/>
        </a:xfrm>
      </p:grpSpPr>
      <p:sp>
        <p:nvSpPr>
          <p:cNvPr id="84" name="Google Shape;84;p13"/>
          <p:cNvSpPr txBox="1"/>
          <p:nvPr/>
        </p:nvSpPr>
        <p:spPr>
          <a:xfrm>
            <a:off x="4788018" y="1722907"/>
            <a:ext cx="13410874" cy="1795235"/>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10416"/>
              <a:buFont typeface="Arial"/>
              <a:buNone/>
            </a:pPr>
            <a:r>
              <a:rPr b="0" i="0" lang="en-US" sz="10416" u="none" cap="none" strike="noStrike">
                <a:solidFill>
                  <a:srgbClr val="FFFFFF"/>
                </a:solidFill>
                <a:latin typeface="Arial"/>
                <a:ea typeface="Arial"/>
                <a:cs typeface="Arial"/>
                <a:sym typeface="Arial"/>
              </a:rPr>
              <a:t>APTIS GENERAL</a:t>
            </a:r>
            <a:endParaRPr b="0" i="0" sz="1400" u="none" cap="none" strike="noStrike">
              <a:solidFill>
                <a:srgbClr val="000000"/>
              </a:solidFill>
              <a:latin typeface="Arial"/>
              <a:ea typeface="Arial"/>
              <a:cs typeface="Arial"/>
              <a:sym typeface="Arial"/>
            </a:endParaRPr>
          </a:p>
        </p:txBody>
      </p:sp>
      <p:grpSp>
        <p:nvGrpSpPr>
          <p:cNvPr id="85" name="Google Shape;85;p13"/>
          <p:cNvGrpSpPr/>
          <p:nvPr/>
        </p:nvGrpSpPr>
        <p:grpSpPr>
          <a:xfrm>
            <a:off x="7338936" y="4396612"/>
            <a:ext cx="8593708" cy="2222589"/>
            <a:chOff x="0" y="-192881"/>
            <a:chExt cx="11458277" cy="2963451"/>
          </a:xfrm>
        </p:grpSpPr>
        <p:grpSp>
          <p:nvGrpSpPr>
            <p:cNvPr id="86" name="Google Shape;86;p13"/>
            <p:cNvGrpSpPr/>
            <p:nvPr/>
          </p:nvGrpSpPr>
          <p:grpSpPr>
            <a:xfrm>
              <a:off x="0" y="-192881"/>
              <a:ext cx="11458277" cy="2963451"/>
              <a:chOff x="0" y="-38100"/>
              <a:chExt cx="2263363" cy="585373"/>
            </a:xfrm>
          </p:grpSpPr>
          <p:sp>
            <p:nvSpPr>
              <p:cNvPr id="87" name="Google Shape;87;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9" name="Google Shape;89;p13"/>
            <p:cNvSpPr txBox="1"/>
            <p:nvPr/>
          </p:nvSpPr>
          <p:spPr>
            <a:xfrm>
              <a:off x="534409" y="374153"/>
              <a:ext cx="10515600" cy="2206159"/>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Clr>
                  <a:srgbClr val="000000"/>
                </a:buClr>
                <a:buSzPts val="12460"/>
                <a:buFont typeface="Arial"/>
                <a:buNone/>
              </a:pPr>
              <a:r>
                <a:rPr b="1" i="0" lang="en-US" sz="9600" u="none" cap="none" strike="noStrike">
                  <a:solidFill>
                    <a:srgbClr val="018345"/>
                  </a:solidFill>
                  <a:latin typeface="Arial"/>
                  <a:ea typeface="Arial"/>
                  <a:cs typeface="Arial"/>
                  <a:sym typeface="Arial"/>
                </a:rPr>
                <a:t>TỔNG QUAN</a:t>
              </a:r>
              <a:endParaRPr b="1" i="0" sz="1100" u="none" cap="none" strike="noStrike">
                <a:solidFill>
                  <a:srgbClr val="000000"/>
                </a:solidFill>
                <a:latin typeface="Arial"/>
                <a:ea typeface="Arial"/>
                <a:cs typeface="Arial"/>
                <a:sym typeface="Arial"/>
              </a:endParaRPr>
            </a:p>
          </p:txBody>
        </p:sp>
      </p:grpSp>
      <p:cxnSp>
        <p:nvCxnSpPr>
          <p:cNvPr id="90" name="Google Shape;90;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4867241" y="853047"/>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Clr>
                <a:srgbClr val="000000"/>
              </a:buClr>
              <a:buSzPts val="10264"/>
              <a:buFont typeface="Arial"/>
              <a:buNone/>
            </a:pPr>
            <a:r>
              <a:rPr b="0" i="0" lang="en-US" sz="10264" u="none" cap="none" strike="noStrike">
                <a:solidFill>
                  <a:srgbClr val="018345"/>
                </a:solidFill>
                <a:latin typeface="Arial"/>
                <a:ea typeface="Arial"/>
                <a:cs typeface="Arial"/>
                <a:sym typeface="Arial"/>
              </a:rPr>
              <a:t>Table of contents</a:t>
            </a:r>
            <a:endParaRPr b="0" i="0" sz="1400" u="none" cap="none" strike="noStrike">
              <a:solidFill>
                <a:srgbClr val="000000"/>
              </a:solidFill>
              <a:latin typeface="Arial"/>
              <a:ea typeface="Arial"/>
              <a:cs typeface="Arial"/>
              <a:sym typeface="Arial"/>
            </a:endParaRPr>
          </a:p>
        </p:txBody>
      </p:sp>
      <p:cxnSp>
        <p:nvCxnSpPr>
          <p:cNvPr id="96" name="Google Shape;96;p14"/>
          <p:cNvCxnSpPr/>
          <p:nvPr/>
        </p:nvCxnSpPr>
        <p:spPr>
          <a:xfrm>
            <a:off x="5932598" y="2307404"/>
            <a:ext cx="11307428" cy="0"/>
          </a:xfrm>
          <a:prstGeom prst="straightConnector1">
            <a:avLst/>
          </a:prstGeom>
          <a:noFill/>
          <a:ln cap="flat" cmpd="sng" w="38100">
            <a:solidFill>
              <a:srgbClr val="018345"/>
            </a:solidFill>
            <a:prstDash val="solid"/>
            <a:round/>
            <a:headEnd len="sm" w="sm" type="none"/>
            <a:tailEnd len="sm" w="sm" type="none"/>
          </a:ln>
        </p:spPr>
      </p:cxnSp>
      <p:grpSp>
        <p:nvGrpSpPr>
          <p:cNvPr id="97" name="Google Shape;97;p14"/>
          <p:cNvGrpSpPr/>
          <p:nvPr/>
        </p:nvGrpSpPr>
        <p:grpSpPr>
          <a:xfrm rot="10800000">
            <a:off x="14951203" y="-741521"/>
            <a:ext cx="7681766" cy="4260610"/>
            <a:chOff x="0" y="-38100"/>
            <a:chExt cx="406400" cy="225405"/>
          </a:xfrm>
        </p:grpSpPr>
        <p:sp>
          <p:nvSpPr>
            <p:cNvPr id="98" name="Google Shape;98;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99" name="Google Shape;99;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0" name="Google Shape;100;p14"/>
          <p:cNvGrpSpPr/>
          <p:nvPr/>
        </p:nvGrpSpPr>
        <p:grpSpPr>
          <a:xfrm>
            <a:off x="6375842" y="2654260"/>
            <a:ext cx="10541964" cy="1433865"/>
            <a:chOff x="6375842" y="2654260"/>
            <a:chExt cx="10541964" cy="1433865"/>
          </a:xfrm>
        </p:grpSpPr>
        <p:sp>
          <p:nvSpPr>
            <p:cNvPr id="101" name="Google Shape;101;p14"/>
            <p:cNvSpPr/>
            <p:nvPr/>
          </p:nvSpPr>
          <p:spPr>
            <a:xfrm>
              <a:off x="6375842" y="2798921"/>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 name="Google Shape;102;p14"/>
            <p:cNvSpPr txBox="1"/>
            <p:nvPr/>
          </p:nvSpPr>
          <p:spPr>
            <a:xfrm>
              <a:off x="6375842" y="2654260"/>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p:nvPr/>
          </p:nvSpPr>
          <p:spPr>
            <a:xfrm>
              <a:off x="6375842" y="2798921"/>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Puzzle with solid fill" id="104" name="Google Shape;104;p14"/>
            <p:cNvSpPr/>
            <p:nvPr/>
          </p:nvSpPr>
          <p:spPr>
            <a:xfrm>
              <a:off x="6604211" y="3027290"/>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sp>
          <p:nvSpPr>
            <p:cNvPr id="105" name="Google Shape;105;p14"/>
            <p:cNvSpPr txBox="1"/>
            <p:nvPr/>
          </p:nvSpPr>
          <p:spPr>
            <a:xfrm>
              <a:off x="7688701" y="3113942"/>
              <a:ext cx="8651100" cy="73866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FFFFFF"/>
                  </a:solidFill>
                  <a:latin typeface="Montserrat"/>
                  <a:ea typeface="Montserrat"/>
                  <a:cs typeface="Montserrat"/>
                  <a:sym typeface="Montserrat"/>
                </a:rPr>
                <a:t>Giới thiệu format</a:t>
              </a:r>
              <a:endParaRPr b="0" i="0" sz="4000" u="none" cap="none" strike="noStrike">
                <a:solidFill>
                  <a:srgbClr val="FFFFFF"/>
                </a:solidFill>
                <a:latin typeface="Montserrat"/>
                <a:ea typeface="Montserrat"/>
                <a:cs typeface="Montserrat"/>
                <a:sym typeface="Montserrat"/>
              </a:endParaRPr>
            </a:p>
          </p:txBody>
        </p:sp>
      </p:grpSp>
      <p:sp>
        <p:nvSpPr>
          <p:cNvPr descr="Books with solid fill" id="106" name="Google Shape;106;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4">
              <a:alphaModFix/>
            </a:blip>
            <a:stretch>
              <a:fillRect b="0" l="0" r="0" t="0"/>
            </a:stretch>
          </a:blipFill>
          <a:ln>
            <a:noFill/>
          </a:ln>
        </p:spPr>
      </p:sp>
      <p:grpSp>
        <p:nvGrpSpPr>
          <p:cNvPr id="107" name="Google Shape;107;p14"/>
          <p:cNvGrpSpPr/>
          <p:nvPr/>
        </p:nvGrpSpPr>
        <p:grpSpPr>
          <a:xfrm>
            <a:off x="6375842" y="6151456"/>
            <a:ext cx="10541964" cy="1433865"/>
            <a:chOff x="6375842" y="6151456"/>
            <a:chExt cx="10541964" cy="1433865"/>
          </a:xfrm>
        </p:grpSpPr>
        <p:sp>
          <p:nvSpPr>
            <p:cNvPr id="108" name="Google Shape;108;p14"/>
            <p:cNvSpPr/>
            <p:nvPr/>
          </p:nvSpPr>
          <p:spPr>
            <a:xfrm>
              <a:off x="6375842" y="6278355"/>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 name="Google Shape;109;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txBox="1"/>
            <p:nvPr/>
          </p:nvSpPr>
          <p:spPr>
            <a:xfrm>
              <a:off x="7764901" y="6611138"/>
              <a:ext cx="8651100" cy="73866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FFFFFF"/>
                  </a:solidFill>
                  <a:latin typeface="Montserrat"/>
                  <a:ea typeface="Montserrat"/>
                  <a:cs typeface="Montserrat"/>
                  <a:sym typeface="Montserrat"/>
                </a:rPr>
                <a:t>Cách thức đăng kí thi và lệ phí</a:t>
              </a:r>
              <a:endParaRPr b="0" i="0" sz="1400" u="none" cap="none" strike="noStrike">
                <a:solidFill>
                  <a:srgbClr val="000000"/>
                </a:solidFill>
                <a:latin typeface="Arial"/>
                <a:ea typeface="Arial"/>
                <a:cs typeface="Arial"/>
                <a:sym typeface="Arial"/>
              </a:endParaRPr>
            </a:p>
          </p:txBody>
        </p:sp>
        <p:sp>
          <p:nvSpPr>
            <p:cNvPr descr="Books with solid fill" id="112" name="Google Shape;112;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4">
                <a:alphaModFix/>
              </a:blip>
              <a:stretch>
                <a:fillRect b="0" l="0" r="0" t="0"/>
              </a:stretch>
            </a:blipFill>
            <a:ln>
              <a:noFill/>
            </a:ln>
          </p:spPr>
        </p:sp>
      </p:grpSp>
      <p:grpSp>
        <p:nvGrpSpPr>
          <p:cNvPr id="113" name="Google Shape;113;p14"/>
          <p:cNvGrpSpPr/>
          <p:nvPr/>
        </p:nvGrpSpPr>
        <p:grpSpPr>
          <a:xfrm>
            <a:off x="6375842" y="4481252"/>
            <a:ext cx="10541964" cy="1433865"/>
            <a:chOff x="6375842" y="4481252"/>
            <a:chExt cx="10541964" cy="1433865"/>
          </a:xfrm>
        </p:grpSpPr>
        <p:sp>
          <p:nvSpPr>
            <p:cNvPr id="114" name="Google Shape;114;p14"/>
            <p:cNvSpPr/>
            <p:nvPr/>
          </p:nvSpPr>
          <p:spPr>
            <a:xfrm>
              <a:off x="6375842" y="4592882"/>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14"/>
            <p:cNvSpPr txBox="1"/>
            <p:nvPr/>
          </p:nvSpPr>
          <p:spPr>
            <a:xfrm>
              <a:off x="6375842" y="4481252"/>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14"/>
            <p:cNvSpPr/>
            <p:nvPr/>
          </p:nvSpPr>
          <p:spPr>
            <a:xfrm>
              <a:off x="6375842" y="462591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4"/>
            <p:cNvSpPr txBox="1"/>
            <p:nvPr/>
          </p:nvSpPr>
          <p:spPr>
            <a:xfrm>
              <a:off x="7688701" y="4940934"/>
              <a:ext cx="8651100" cy="73866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FFFFFF"/>
                  </a:solidFill>
                  <a:latin typeface="Montserrat"/>
                  <a:ea typeface="Montserrat"/>
                  <a:cs typeface="Montserrat"/>
                  <a:sym typeface="Montserrat"/>
                </a:rPr>
                <a:t>Cách thức chấm điểm</a:t>
              </a:r>
              <a:endParaRPr b="0" i="0" sz="1400" u="none" cap="none" strike="noStrike">
                <a:solidFill>
                  <a:srgbClr val="000000"/>
                </a:solidFill>
                <a:latin typeface="Arial"/>
                <a:ea typeface="Arial"/>
                <a:cs typeface="Arial"/>
                <a:sym typeface="Arial"/>
              </a:endParaRPr>
            </a:p>
          </p:txBody>
        </p:sp>
        <p:sp>
          <p:nvSpPr>
            <p:cNvPr descr="Clipboard with solid fill" id="118" name="Google Shape;118;p14"/>
            <p:cNvSpPr/>
            <p:nvPr/>
          </p:nvSpPr>
          <p:spPr>
            <a:xfrm>
              <a:off x="6604212" y="4847235"/>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5">
                <a:alphaModFix/>
              </a:blip>
              <a:stretch>
                <a:fillRect b="0" l="0" r="0" t="0"/>
              </a:stretch>
            </a:blipFill>
            <a:ln>
              <a:noFill/>
            </a:ln>
          </p:spPr>
        </p:sp>
      </p:grpSp>
      <p:sp>
        <p:nvSpPr>
          <p:cNvPr id="119" name="Google Shape;119;p14"/>
          <p:cNvSpPr txBox="1"/>
          <p:nvPr/>
        </p:nvSpPr>
        <p:spPr>
          <a:xfrm>
            <a:off x="6487861" y="7823700"/>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20" name="Google Shape;120;p14"/>
          <p:cNvGrpSpPr/>
          <p:nvPr/>
        </p:nvGrpSpPr>
        <p:grpSpPr>
          <a:xfrm>
            <a:off x="6487861" y="7950599"/>
            <a:ext cx="12283415" cy="1289204"/>
            <a:chOff x="6487861" y="7950599"/>
            <a:chExt cx="12283415" cy="1289204"/>
          </a:xfrm>
        </p:grpSpPr>
        <p:sp>
          <p:nvSpPr>
            <p:cNvPr id="121" name="Google Shape;121;p14"/>
            <p:cNvSpPr/>
            <p:nvPr/>
          </p:nvSpPr>
          <p:spPr>
            <a:xfrm>
              <a:off x="6517678" y="7950599"/>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1"/>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4"/>
            <p:cNvSpPr txBox="1"/>
            <p:nvPr/>
          </p:nvSpPr>
          <p:spPr>
            <a:xfrm>
              <a:off x="7830876" y="8287400"/>
              <a:ext cx="10940400" cy="73866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FFFFFF"/>
                  </a:solidFill>
                  <a:latin typeface="Montserrat"/>
                  <a:ea typeface="Montserrat"/>
                  <a:cs typeface="Montserrat"/>
                  <a:sym typeface="Montserrat"/>
                </a:rPr>
                <a:t>Lợi ích của bài thi Aptis</a:t>
              </a:r>
              <a:endParaRPr b="0" i="0" sz="1400" u="none" cap="none" strike="noStrike">
                <a:solidFill>
                  <a:srgbClr val="000000"/>
                </a:solidFill>
                <a:latin typeface="Arial"/>
                <a:ea typeface="Arial"/>
                <a:cs typeface="Arial"/>
                <a:sym typeface="Arial"/>
              </a:endParaRPr>
            </a:p>
          </p:txBody>
        </p:sp>
        <p:sp>
          <p:nvSpPr>
            <p:cNvPr descr="Headphones with solid fill" id="124" name="Google Shape;124;p14"/>
            <p:cNvSpPr/>
            <p:nvPr/>
          </p:nvSpPr>
          <p:spPr>
            <a:xfrm>
              <a:off x="6716231" y="8196731"/>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6">
                <a:alphaModFix/>
              </a:blip>
              <a:stretch>
                <a:fillRect b="0" l="0" r="0" t="0"/>
              </a:stretch>
            </a:blipFill>
            <a:ln>
              <a:noFill/>
            </a:ln>
          </p:spPr>
        </p:sp>
      </p:grpSp>
      <p:sp>
        <p:nvSpPr>
          <p:cNvPr id="125" name="Google Shape;125;p14"/>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126" name="Google Shape;126;p14"/>
          <p:cNvGrpSpPr/>
          <p:nvPr/>
        </p:nvGrpSpPr>
        <p:grpSpPr>
          <a:xfrm>
            <a:off x="-2718010" y="9274528"/>
            <a:ext cx="7950400" cy="1707231"/>
            <a:chOff x="0" y="-384762"/>
            <a:chExt cx="10600533" cy="2276307"/>
          </a:xfrm>
        </p:grpSpPr>
        <p:grpSp>
          <p:nvGrpSpPr>
            <p:cNvPr id="127" name="Google Shape;127;p14"/>
            <p:cNvGrpSpPr/>
            <p:nvPr/>
          </p:nvGrpSpPr>
          <p:grpSpPr>
            <a:xfrm>
              <a:off x="0" y="-384762"/>
              <a:ext cx="10600533" cy="2276307"/>
              <a:chOff x="0" y="-38100"/>
              <a:chExt cx="1049690" cy="225405"/>
            </a:xfrm>
          </p:grpSpPr>
          <p:sp>
            <p:nvSpPr>
              <p:cNvPr id="128" name="Google Shape;128;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29" name="Google Shape;129;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p:tgtEl>
                                          <p:spTgt spid="95"/>
                                        </p:tgtEl>
                                        <p:attrNameLst>
                                          <p:attrName>ppt_w</p:attrName>
                                        </p:attrNameLst>
                                      </p:cBhvr>
                                      <p:tavLst>
                                        <p:tav fmla="" tm="0">
                                          <p:val>
                                            <p:strVal val="0"/>
                                          </p:val>
                                        </p:tav>
                                        <p:tav fmla="" tm="100000">
                                          <p:val>
                                            <p:strVal val="#ppt_w"/>
                                          </p:val>
                                        </p:tav>
                                      </p:tavLst>
                                    </p:anim>
                                    <p:anim calcmode="lin" valueType="num">
                                      <p:cBhvr additive="base">
                                        <p:cTn dur="500"/>
                                        <p:tgtEl>
                                          <p:spTgt spid="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500"/>
                                        <p:tgtEl>
                                          <p:spTgt spid="1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500"/>
                                        <p:tgtEl>
                                          <p:spTgt spid="12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cxnSp>
        <p:nvCxnSpPr>
          <p:cNvPr id="135" name="Google Shape;135;p15"/>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136" name="Google Shape;136;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37" name="Google Shape;137;p15"/>
          <p:cNvGrpSpPr/>
          <p:nvPr/>
        </p:nvGrpSpPr>
        <p:grpSpPr>
          <a:xfrm rot="10800000">
            <a:off x="15044552" y="-741521"/>
            <a:ext cx="7681766" cy="4260610"/>
            <a:chOff x="0" y="-38100"/>
            <a:chExt cx="406400" cy="225405"/>
          </a:xfrm>
        </p:grpSpPr>
        <p:sp>
          <p:nvSpPr>
            <p:cNvPr id="138" name="Google Shape;138;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9" name="Google Shape;139;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15"/>
          <p:cNvSpPr txBox="1"/>
          <p:nvPr/>
        </p:nvSpPr>
        <p:spPr>
          <a:xfrm>
            <a:off x="5571910" y="2694146"/>
            <a:ext cx="11687400" cy="1496372"/>
          </a:xfrm>
          <a:prstGeom prst="rect">
            <a:avLst/>
          </a:prstGeom>
          <a:noFill/>
          <a:ln>
            <a:noFill/>
          </a:ln>
        </p:spPr>
        <p:txBody>
          <a:bodyPr anchorCtr="0" anchor="t" bIns="0" lIns="0" spcFirstLastPara="1" rIns="0" wrap="square" tIns="0">
            <a:spAutoFit/>
          </a:bodyPr>
          <a:lstStyle/>
          <a:p>
            <a:pPr indent="0" lvl="0" marL="0" marR="0" rtl="0" algn="ctr">
              <a:lnSpc>
                <a:spcPct val="135013"/>
              </a:lnSpc>
              <a:spcBef>
                <a:spcPts val="0"/>
              </a:spcBef>
              <a:spcAft>
                <a:spcPts val="0"/>
              </a:spcAft>
              <a:buNone/>
            </a:pPr>
            <a:r>
              <a:rPr b="1" i="0" lang="en-US" sz="7203" u="none" cap="none" strike="noStrike">
                <a:solidFill>
                  <a:srgbClr val="018345"/>
                </a:solidFill>
                <a:latin typeface="Montserrat"/>
                <a:ea typeface="Montserrat"/>
                <a:cs typeface="Montserrat"/>
                <a:sym typeface="Montserrat"/>
              </a:rPr>
              <a:t>Giới thiệu format</a:t>
            </a:r>
            <a:endParaRPr/>
          </a:p>
        </p:txBody>
      </p:sp>
      <p:sp>
        <p:nvSpPr>
          <p:cNvPr descr="Books with solid fill" id="141" name="Google Shape;14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42" name="Google Shape;142;p15"/>
          <p:cNvSpPr txBox="1"/>
          <p:nvPr/>
        </p:nvSpPr>
        <p:spPr>
          <a:xfrm>
            <a:off x="10320883" y="339710"/>
            <a:ext cx="1791995"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01</a:t>
            </a:r>
            <a:endParaRPr b="0" i="0" sz="1400" u="none" cap="none" strike="noStrike">
              <a:solidFill>
                <a:srgbClr val="000000"/>
              </a:solidFill>
              <a:latin typeface="Arial"/>
              <a:ea typeface="Arial"/>
              <a:cs typeface="Arial"/>
              <a:sym typeface="Arial"/>
            </a:endParaRPr>
          </a:p>
        </p:txBody>
      </p:sp>
      <p:sp>
        <p:nvSpPr>
          <p:cNvPr id="143" name="Google Shape;143;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44" name="Google Shape;144;p15"/>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145" name="Google Shape;145;p15"/>
          <p:cNvGrpSpPr/>
          <p:nvPr/>
        </p:nvGrpSpPr>
        <p:grpSpPr>
          <a:xfrm>
            <a:off x="-2718010" y="9274528"/>
            <a:ext cx="7950400" cy="1707231"/>
            <a:chOff x="0" y="-384762"/>
            <a:chExt cx="10600533" cy="2276307"/>
          </a:xfrm>
        </p:grpSpPr>
        <p:grpSp>
          <p:nvGrpSpPr>
            <p:cNvPr id="146" name="Google Shape;146;p15"/>
            <p:cNvGrpSpPr/>
            <p:nvPr/>
          </p:nvGrpSpPr>
          <p:grpSpPr>
            <a:xfrm>
              <a:off x="0" y="-384762"/>
              <a:ext cx="10600533" cy="2276307"/>
              <a:chOff x="0" y="-38100"/>
              <a:chExt cx="1049690" cy="225405"/>
            </a:xfrm>
          </p:grpSpPr>
          <p:sp>
            <p:nvSpPr>
              <p:cNvPr id="147" name="Google Shape;147;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48" name="Google Shape;148;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9" name="Google Shape;149;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Laptop with phone and calculator" id="150" name="Google Shape;150;p15"/>
          <p:cNvPicPr preferRelativeResize="0"/>
          <p:nvPr/>
        </p:nvPicPr>
        <p:blipFill rotWithShape="1">
          <a:blip r:embed="rId5">
            <a:alphaModFix/>
          </a:blip>
          <a:srcRect b="0" l="0" r="0" t="0"/>
          <a:stretch/>
        </p:blipFill>
        <p:spPr>
          <a:xfrm>
            <a:off x="8432800" y="4186023"/>
            <a:ext cx="6316133" cy="63161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500"/>
                                        <p:tgtEl>
                                          <p:spTgt spid="142"/>
                                        </p:tgtEl>
                                        <p:attrNameLst>
                                          <p:attrName>ppt_w</p:attrName>
                                        </p:attrNameLst>
                                      </p:cBhvr>
                                      <p:tavLst>
                                        <p:tav fmla="" tm="0">
                                          <p:val>
                                            <p:strVal val="0"/>
                                          </p:val>
                                        </p:tav>
                                        <p:tav fmla="" tm="100000">
                                          <p:val>
                                            <p:strVal val="#ppt_w"/>
                                          </p:val>
                                        </p:tav>
                                      </p:tavLst>
                                    </p:anim>
                                    <p:anim calcmode="lin" valueType="num">
                                      <p:cBhvr additive="base">
                                        <p:cTn dur="500"/>
                                        <p:tgtEl>
                                          <p:spTgt spid="14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500"/>
                                        <p:tgtEl>
                                          <p:spTgt spid="140"/>
                                        </p:tgtEl>
                                        <p:attrNameLst>
                                          <p:attrName>ppt_w</p:attrName>
                                        </p:attrNameLst>
                                      </p:cBhvr>
                                      <p:tavLst>
                                        <p:tav fmla="" tm="0">
                                          <p:val>
                                            <p:strVal val="0"/>
                                          </p:val>
                                        </p:tav>
                                        <p:tav fmla="" tm="100000">
                                          <p:val>
                                            <p:strVal val="#ppt_w"/>
                                          </p:val>
                                        </p:tav>
                                      </p:tavLst>
                                    </p:anim>
                                    <p:anim calcmode="lin" valueType="num">
                                      <p:cBhvr additive="base">
                                        <p:cTn dur="500"/>
                                        <p:tgtEl>
                                          <p:spTgt spid="14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cxnSp>
        <p:nvCxnSpPr>
          <p:cNvPr id="155" name="Google Shape;155;p16"/>
          <p:cNvCxnSpPr/>
          <p:nvPr/>
        </p:nvCxnSpPr>
        <p:spPr>
          <a:xfrm>
            <a:off x="6441700" y="2132648"/>
            <a:ext cx="9821066" cy="0"/>
          </a:xfrm>
          <a:prstGeom prst="straightConnector1">
            <a:avLst/>
          </a:prstGeom>
          <a:noFill/>
          <a:ln cap="flat" cmpd="sng" w="38100">
            <a:solidFill>
              <a:srgbClr val="018345"/>
            </a:solidFill>
            <a:prstDash val="solid"/>
            <a:round/>
            <a:headEnd len="sm" w="sm" type="none"/>
            <a:tailEnd len="sm" w="sm" type="none"/>
          </a:ln>
        </p:spPr>
      </p:cxnSp>
      <p:cxnSp>
        <p:nvCxnSpPr>
          <p:cNvPr id="156" name="Google Shape;156;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57" name="Google Shape;157;p16"/>
          <p:cNvGrpSpPr/>
          <p:nvPr/>
        </p:nvGrpSpPr>
        <p:grpSpPr>
          <a:xfrm rot="10800000">
            <a:off x="15044552" y="-741521"/>
            <a:ext cx="7681766" cy="4260610"/>
            <a:chOff x="0" y="-38100"/>
            <a:chExt cx="406400" cy="225405"/>
          </a:xfrm>
        </p:grpSpPr>
        <p:sp>
          <p:nvSpPr>
            <p:cNvPr id="158" name="Google Shape;158;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9" name="Google Shape;159;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16"/>
          <p:cNvSpPr txBox="1"/>
          <p:nvPr/>
        </p:nvSpPr>
        <p:spPr>
          <a:xfrm>
            <a:off x="8543102" y="855117"/>
            <a:ext cx="6445500" cy="1143518"/>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Clr>
                <a:srgbClr val="000000"/>
              </a:buClr>
              <a:buSzPts val="5504"/>
              <a:buFont typeface="Arial"/>
              <a:buNone/>
            </a:pPr>
            <a:r>
              <a:rPr b="1" i="0" lang="en-US" sz="5504" u="none" cap="none" strike="noStrike">
                <a:solidFill>
                  <a:srgbClr val="018345"/>
                </a:solidFill>
                <a:latin typeface="Montserrat"/>
                <a:ea typeface="Montserrat"/>
                <a:cs typeface="Montserrat"/>
                <a:sym typeface="Montserrat"/>
              </a:rPr>
              <a:t>APTIS LÀ GÌ?</a:t>
            </a:r>
            <a:endParaRPr b="0" i="0" sz="1400" u="none" cap="none" strike="noStrike">
              <a:solidFill>
                <a:srgbClr val="000000"/>
              </a:solidFill>
              <a:latin typeface="Arial"/>
              <a:ea typeface="Arial"/>
              <a:cs typeface="Arial"/>
              <a:sym typeface="Arial"/>
            </a:endParaRPr>
          </a:p>
        </p:txBody>
      </p:sp>
      <p:sp>
        <p:nvSpPr>
          <p:cNvPr descr="Books with solid fill" id="161" name="Google Shape;161;p1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62" name="Google Shape;162;p16"/>
          <p:cNvSpPr txBox="1"/>
          <p:nvPr/>
        </p:nvSpPr>
        <p:spPr>
          <a:xfrm>
            <a:off x="18288000" y="9596044"/>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Clr>
                <a:srgbClr val="000000"/>
              </a:buClr>
              <a:buSzPts val="10264"/>
              <a:buFont typeface="Arial"/>
              <a:buNone/>
            </a:pPr>
            <a:r>
              <a:rPr b="0" i="0" lang="en-US" sz="10264" u="none" cap="none" strike="noStrike">
                <a:solidFill>
                  <a:srgbClr val="018345"/>
                </a:solidFill>
                <a:latin typeface="Arial"/>
                <a:ea typeface="Arial"/>
                <a:cs typeface="Arial"/>
                <a:sym typeface="Arial"/>
              </a:rPr>
              <a:t>Table of contents</a:t>
            </a:r>
            <a:endParaRPr b="0" i="0" sz="1400" u="none" cap="none" strike="noStrike">
              <a:solidFill>
                <a:srgbClr val="000000"/>
              </a:solidFill>
              <a:latin typeface="Arial"/>
              <a:ea typeface="Arial"/>
              <a:cs typeface="Arial"/>
              <a:sym typeface="Arial"/>
            </a:endParaRPr>
          </a:p>
        </p:txBody>
      </p:sp>
      <p:sp>
        <p:nvSpPr>
          <p:cNvPr id="163" name="Google Shape;163;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64" name="Google Shape;164;p16"/>
          <p:cNvSpPr txBox="1"/>
          <p:nvPr/>
        </p:nvSpPr>
        <p:spPr>
          <a:xfrm>
            <a:off x="6441700" y="2741771"/>
            <a:ext cx="9682604" cy="5671553"/>
          </a:xfrm>
          <a:prstGeom prst="rect">
            <a:avLst/>
          </a:prstGeom>
          <a:noFill/>
          <a:ln>
            <a:noFill/>
          </a:ln>
        </p:spPr>
        <p:txBody>
          <a:bodyPr anchorCtr="0" anchor="t" bIns="0" lIns="0" spcFirstLastPara="1" rIns="0" wrap="square" tIns="0">
            <a:spAutoFit/>
          </a:bodyPr>
          <a:lstStyle/>
          <a:p>
            <a:pPr indent="0" lvl="1" marL="352900" marR="0" rtl="0" algn="just">
              <a:lnSpc>
                <a:spcPct val="135008"/>
              </a:lnSpc>
              <a:spcBef>
                <a:spcPts val="0"/>
              </a:spcBef>
              <a:spcAft>
                <a:spcPts val="0"/>
              </a:spcAft>
              <a:buNone/>
            </a:pPr>
            <a:r>
              <a:rPr b="1" i="0" lang="en-US" sz="3900" u="none" cap="none" strike="noStrike">
                <a:solidFill>
                  <a:srgbClr val="FF0000"/>
                </a:solidFill>
                <a:latin typeface="Calibri"/>
                <a:ea typeface="Calibri"/>
                <a:cs typeface="Calibri"/>
                <a:sym typeface="Calibri"/>
              </a:rPr>
              <a:t>Aptis ESOL </a:t>
            </a:r>
            <a:r>
              <a:rPr b="0" i="0" lang="en-US" sz="3900" u="none" cap="none" strike="noStrike">
                <a:solidFill>
                  <a:schemeClr val="dk1"/>
                </a:solidFill>
                <a:latin typeface="Calibri"/>
                <a:ea typeface="Calibri"/>
                <a:cs typeface="Calibri"/>
                <a:sym typeface="Calibri"/>
              </a:rPr>
              <a:t>là bài thi đánh giá trình độ tiếng Anh trên </a:t>
            </a:r>
            <a:r>
              <a:rPr b="1" i="0" lang="en-US" sz="3900" u="none" cap="none" strike="noStrike">
                <a:solidFill>
                  <a:srgbClr val="FF0000"/>
                </a:solidFill>
                <a:latin typeface="Calibri"/>
                <a:ea typeface="Calibri"/>
                <a:cs typeface="Calibri"/>
                <a:sym typeface="Calibri"/>
              </a:rPr>
              <a:t>máy tính </a:t>
            </a:r>
            <a:r>
              <a:rPr b="0" i="0" lang="en-US" sz="3900" u="none" cap="none" strike="noStrike">
                <a:solidFill>
                  <a:schemeClr val="dk1"/>
                </a:solidFill>
                <a:latin typeface="Calibri"/>
                <a:ea typeface="Calibri"/>
                <a:cs typeface="Calibri"/>
                <a:sym typeface="Calibri"/>
              </a:rPr>
              <a:t>ở cả </a:t>
            </a:r>
            <a:r>
              <a:rPr b="1" i="0" lang="en-US" sz="3900" u="none" cap="none" strike="noStrike">
                <a:solidFill>
                  <a:srgbClr val="FF0000"/>
                </a:solidFill>
                <a:latin typeface="Calibri"/>
                <a:ea typeface="Calibri"/>
                <a:cs typeface="Calibri"/>
                <a:sym typeface="Calibri"/>
              </a:rPr>
              <a:t>bốn kỹ năng</a:t>
            </a:r>
            <a:r>
              <a:rPr b="0" i="0" lang="en-US" sz="3900" u="none" cap="none" strike="noStrike">
                <a:solidFill>
                  <a:schemeClr val="dk1"/>
                </a:solidFill>
                <a:latin typeface="Calibri"/>
                <a:ea typeface="Calibri"/>
                <a:cs typeface="Calibri"/>
                <a:sym typeface="Calibri"/>
              </a:rPr>
              <a:t>, được nghiên cứu và phát triển bởi Hội đồng Anh. Bài thi được tổ chức tại các địa điểm thi, được kiểm soát và công nhận bởi Cục Kiểm định Chất lượng và Quy chế thi (Ofqual) của Vương quốc Anh.</a:t>
            </a:r>
            <a:endParaRPr b="0" i="0" sz="3900" u="none" cap="none" strike="noStrike">
              <a:solidFill>
                <a:schemeClr val="dk1"/>
              </a:solidFill>
              <a:latin typeface="Calibri"/>
              <a:ea typeface="Calibri"/>
              <a:cs typeface="Calibri"/>
              <a:sym typeface="Calibri"/>
            </a:endParaRPr>
          </a:p>
        </p:txBody>
      </p:sp>
      <p:sp>
        <p:nvSpPr>
          <p:cNvPr id="165" name="Google Shape;165;p16"/>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166" name="Google Shape;166;p16"/>
          <p:cNvGrpSpPr/>
          <p:nvPr/>
        </p:nvGrpSpPr>
        <p:grpSpPr>
          <a:xfrm>
            <a:off x="-2718010" y="9274528"/>
            <a:ext cx="7950400" cy="1707231"/>
            <a:chOff x="0" y="-384762"/>
            <a:chExt cx="10600533" cy="2276307"/>
          </a:xfrm>
        </p:grpSpPr>
        <p:grpSp>
          <p:nvGrpSpPr>
            <p:cNvPr id="167" name="Google Shape;167;p16"/>
            <p:cNvGrpSpPr/>
            <p:nvPr/>
          </p:nvGrpSpPr>
          <p:grpSpPr>
            <a:xfrm>
              <a:off x="0" y="-384762"/>
              <a:ext cx="10600533" cy="2276307"/>
              <a:chOff x="0" y="-38100"/>
              <a:chExt cx="1049690" cy="225405"/>
            </a:xfrm>
          </p:grpSpPr>
          <p:sp>
            <p:nvSpPr>
              <p:cNvPr id="168" name="Google Shape;168;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9" name="Google Shape;169;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0" name="Google Shape;170;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Lightbulb with solid fill" id="171" name="Google Shape;171;p16"/>
          <p:cNvPicPr preferRelativeResize="0"/>
          <p:nvPr/>
        </p:nvPicPr>
        <p:blipFill rotWithShape="1">
          <a:blip r:embed="rId5">
            <a:alphaModFix/>
          </a:blip>
          <a:srcRect b="0" l="0" r="0" t="0"/>
          <a:stretch/>
        </p:blipFill>
        <p:spPr>
          <a:xfrm>
            <a:off x="6362813" y="903797"/>
            <a:ext cx="1186255" cy="1186255"/>
          </a:xfrm>
          <a:prstGeom prst="rect">
            <a:avLst/>
          </a:prstGeom>
          <a:noFill/>
          <a:ln>
            <a:noFill/>
          </a:ln>
        </p:spPr>
      </p:pic>
      <p:pic>
        <p:nvPicPr>
          <p:cNvPr descr="Checklist with solid fill" id="172" name="Google Shape;172;p16"/>
          <p:cNvPicPr preferRelativeResize="0"/>
          <p:nvPr/>
        </p:nvPicPr>
        <p:blipFill rotWithShape="1">
          <a:blip r:embed="rId6">
            <a:alphaModFix/>
          </a:blip>
          <a:srcRect b="0" l="0" r="0" t="0"/>
          <a:stretch/>
        </p:blipFill>
        <p:spPr>
          <a:xfrm>
            <a:off x="16256763" y="8115727"/>
            <a:ext cx="2031237" cy="20312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500"/>
                                        <p:tgtEl>
                                          <p:spTgt spid="16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17"/>
          <p:cNvGrpSpPr/>
          <p:nvPr/>
        </p:nvGrpSpPr>
        <p:grpSpPr>
          <a:xfrm rot="10800000">
            <a:off x="15044552" y="-741521"/>
            <a:ext cx="7681766" cy="4260610"/>
            <a:chOff x="0" y="-38100"/>
            <a:chExt cx="406400" cy="225405"/>
          </a:xfrm>
        </p:grpSpPr>
        <p:sp>
          <p:nvSpPr>
            <p:cNvPr id="178" name="Google Shape;178;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9" name="Google Shape;179;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0" name="Google Shape;180;p17"/>
          <p:cNvSpPr txBox="1"/>
          <p:nvPr/>
        </p:nvSpPr>
        <p:spPr>
          <a:xfrm>
            <a:off x="6429088" y="817025"/>
            <a:ext cx="10290504" cy="1143518"/>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Clr>
                <a:srgbClr val="000000"/>
              </a:buClr>
              <a:buSzPts val="5504"/>
              <a:buFont typeface="Arial"/>
              <a:buNone/>
            </a:pPr>
            <a:r>
              <a:rPr b="1" i="0" lang="en-US" sz="5504" u="none" cap="none" strike="noStrike">
                <a:solidFill>
                  <a:srgbClr val="018345"/>
                </a:solidFill>
                <a:latin typeface="Montserrat"/>
                <a:ea typeface="Montserrat"/>
                <a:cs typeface="Montserrat"/>
                <a:sym typeface="Montserrat"/>
              </a:rPr>
              <a:t>Cấu trúc của bài thi Aptis</a:t>
            </a:r>
            <a:endParaRPr b="0" i="0" sz="1400" u="none" cap="none" strike="noStrike">
              <a:solidFill>
                <a:srgbClr val="000000"/>
              </a:solidFill>
              <a:latin typeface="Arial"/>
              <a:ea typeface="Arial"/>
              <a:cs typeface="Arial"/>
              <a:sym typeface="Arial"/>
            </a:endParaRPr>
          </a:p>
        </p:txBody>
      </p:sp>
      <p:sp>
        <p:nvSpPr>
          <p:cNvPr descr="Books with solid fill" id="181" name="Google Shape;181;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82" name="Google Shape;182;p1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83" name="Google Shape;183;p17"/>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184" name="Google Shape;184;p17"/>
          <p:cNvGrpSpPr/>
          <p:nvPr/>
        </p:nvGrpSpPr>
        <p:grpSpPr>
          <a:xfrm>
            <a:off x="-2718010" y="9274528"/>
            <a:ext cx="7950400" cy="1707231"/>
            <a:chOff x="0" y="-384762"/>
            <a:chExt cx="10600533" cy="2276307"/>
          </a:xfrm>
        </p:grpSpPr>
        <p:grpSp>
          <p:nvGrpSpPr>
            <p:cNvPr id="185" name="Google Shape;185;p17"/>
            <p:cNvGrpSpPr/>
            <p:nvPr/>
          </p:nvGrpSpPr>
          <p:grpSpPr>
            <a:xfrm>
              <a:off x="0" y="-384762"/>
              <a:ext cx="10600533" cy="2276307"/>
              <a:chOff x="0" y="-38100"/>
              <a:chExt cx="1049690" cy="225405"/>
            </a:xfrm>
          </p:grpSpPr>
          <p:sp>
            <p:nvSpPr>
              <p:cNvPr id="186" name="Google Shape;186;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87" name="Google Shape;187;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9" name="Google Shape;189;p17"/>
          <p:cNvGrpSpPr/>
          <p:nvPr/>
        </p:nvGrpSpPr>
        <p:grpSpPr>
          <a:xfrm>
            <a:off x="6521903" y="5732378"/>
            <a:ext cx="10923201" cy="3255907"/>
            <a:chOff x="6521903" y="5732378"/>
            <a:chExt cx="10923201" cy="3255907"/>
          </a:xfrm>
        </p:grpSpPr>
        <p:grpSp>
          <p:nvGrpSpPr>
            <p:cNvPr id="190" name="Google Shape;190;p17"/>
            <p:cNvGrpSpPr/>
            <p:nvPr/>
          </p:nvGrpSpPr>
          <p:grpSpPr>
            <a:xfrm>
              <a:off x="6521903" y="5732378"/>
              <a:ext cx="10923201" cy="2133169"/>
              <a:chOff x="6521903" y="5732378"/>
              <a:chExt cx="10923201" cy="2133169"/>
            </a:xfrm>
          </p:grpSpPr>
          <p:grpSp>
            <p:nvGrpSpPr>
              <p:cNvPr id="191" name="Google Shape;191;p17"/>
              <p:cNvGrpSpPr/>
              <p:nvPr/>
            </p:nvGrpSpPr>
            <p:grpSpPr>
              <a:xfrm>
                <a:off x="6521903" y="5762245"/>
                <a:ext cx="2143030" cy="2078525"/>
                <a:chOff x="6521903" y="5762245"/>
                <a:chExt cx="2143030" cy="2078525"/>
              </a:xfrm>
            </p:grpSpPr>
            <p:sp>
              <p:nvSpPr>
                <p:cNvPr id="192" name="Google Shape;192;p17"/>
                <p:cNvSpPr/>
                <p:nvPr/>
              </p:nvSpPr>
              <p:spPr>
                <a:xfrm>
                  <a:off x="6521903" y="5762245"/>
                  <a:ext cx="2143030" cy="2078525"/>
                </a:xfrm>
                <a:prstGeom prst="ellipse">
                  <a:avLst/>
                </a:prstGeom>
                <a:solidFill>
                  <a:srgbClr val="00800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Eye with solid fill" id="193" name="Google Shape;193;p17"/>
                <p:cNvPicPr preferRelativeResize="0"/>
                <p:nvPr/>
              </p:nvPicPr>
              <p:blipFill rotWithShape="1">
                <a:blip r:embed="rId5">
                  <a:alphaModFix/>
                </a:blip>
                <a:srcRect b="0" l="0" r="0" t="0"/>
                <a:stretch/>
              </p:blipFill>
              <p:spPr>
                <a:xfrm>
                  <a:off x="6650981" y="5841592"/>
                  <a:ext cx="1884874" cy="1884874"/>
                </a:xfrm>
                <a:prstGeom prst="rect">
                  <a:avLst/>
                </a:prstGeom>
                <a:noFill/>
                <a:ln>
                  <a:noFill/>
                </a:ln>
              </p:spPr>
            </p:pic>
          </p:grpSp>
          <p:grpSp>
            <p:nvGrpSpPr>
              <p:cNvPr id="194" name="Google Shape;194;p17"/>
              <p:cNvGrpSpPr/>
              <p:nvPr/>
            </p:nvGrpSpPr>
            <p:grpSpPr>
              <a:xfrm>
                <a:off x="9365006" y="5732378"/>
                <a:ext cx="2170364" cy="2103302"/>
                <a:chOff x="9365006" y="5732378"/>
                <a:chExt cx="2170364" cy="2103302"/>
              </a:xfrm>
            </p:grpSpPr>
            <p:pic>
              <p:nvPicPr>
                <p:cNvPr id="195" name="Google Shape;195;p17"/>
                <p:cNvPicPr preferRelativeResize="0"/>
                <p:nvPr/>
              </p:nvPicPr>
              <p:blipFill rotWithShape="1">
                <a:blip r:embed="rId6">
                  <a:alphaModFix/>
                </a:blip>
                <a:srcRect b="0" l="0" r="0" t="0"/>
                <a:stretch/>
              </p:blipFill>
              <p:spPr>
                <a:xfrm>
                  <a:off x="9365006" y="5732378"/>
                  <a:ext cx="2170364" cy="2103302"/>
                </a:xfrm>
                <a:prstGeom prst="rect">
                  <a:avLst/>
                </a:prstGeom>
                <a:noFill/>
                <a:ln>
                  <a:noFill/>
                </a:ln>
              </p:spPr>
            </p:pic>
            <p:pic>
              <p:nvPicPr>
                <p:cNvPr descr="Ear with solid fill" id="196" name="Google Shape;196;p17"/>
                <p:cNvPicPr preferRelativeResize="0"/>
                <p:nvPr/>
              </p:nvPicPr>
              <p:blipFill rotWithShape="1">
                <a:blip r:embed="rId7">
                  <a:alphaModFix/>
                </a:blip>
                <a:srcRect b="0" l="0" r="0" t="0"/>
                <a:stretch/>
              </p:blipFill>
              <p:spPr>
                <a:xfrm flipH="1">
                  <a:off x="9517365" y="5892391"/>
                  <a:ext cx="1815279" cy="1690088"/>
                </a:xfrm>
                <a:prstGeom prst="rect">
                  <a:avLst/>
                </a:prstGeom>
                <a:noFill/>
                <a:ln>
                  <a:noFill/>
                </a:ln>
              </p:spPr>
            </p:pic>
          </p:grpSp>
          <p:grpSp>
            <p:nvGrpSpPr>
              <p:cNvPr id="197" name="Google Shape;197;p17"/>
              <p:cNvGrpSpPr/>
              <p:nvPr/>
            </p:nvGrpSpPr>
            <p:grpSpPr>
              <a:xfrm>
                <a:off x="12235443" y="5762245"/>
                <a:ext cx="2170364" cy="2103302"/>
                <a:chOff x="12235443" y="5762245"/>
                <a:chExt cx="2170364" cy="2103302"/>
              </a:xfrm>
            </p:grpSpPr>
            <p:pic>
              <p:nvPicPr>
                <p:cNvPr id="198" name="Google Shape;198;p17"/>
                <p:cNvPicPr preferRelativeResize="0"/>
                <p:nvPr/>
              </p:nvPicPr>
              <p:blipFill rotWithShape="1">
                <a:blip r:embed="rId6">
                  <a:alphaModFix/>
                </a:blip>
                <a:srcRect b="0" l="0" r="0" t="0"/>
                <a:stretch/>
              </p:blipFill>
              <p:spPr>
                <a:xfrm>
                  <a:off x="12235443" y="5762245"/>
                  <a:ext cx="2170364" cy="2103302"/>
                </a:xfrm>
                <a:prstGeom prst="rect">
                  <a:avLst/>
                </a:prstGeom>
                <a:noFill/>
                <a:ln>
                  <a:noFill/>
                </a:ln>
              </p:spPr>
            </p:pic>
            <p:pic>
              <p:nvPicPr>
                <p:cNvPr descr="Pencil with solid fill" id="199" name="Google Shape;199;p17"/>
                <p:cNvPicPr preferRelativeResize="0"/>
                <p:nvPr/>
              </p:nvPicPr>
              <p:blipFill rotWithShape="1">
                <a:blip r:embed="rId8">
                  <a:alphaModFix/>
                </a:blip>
                <a:srcRect b="0" l="0" r="0" t="0"/>
                <a:stretch/>
              </p:blipFill>
              <p:spPr>
                <a:xfrm>
                  <a:off x="12677158" y="6109940"/>
                  <a:ext cx="1377508" cy="1377508"/>
                </a:xfrm>
                <a:prstGeom prst="rect">
                  <a:avLst/>
                </a:prstGeom>
                <a:noFill/>
                <a:ln>
                  <a:noFill/>
                </a:ln>
              </p:spPr>
            </p:pic>
          </p:grpSp>
          <p:grpSp>
            <p:nvGrpSpPr>
              <p:cNvPr id="200" name="Google Shape;200;p17"/>
              <p:cNvGrpSpPr/>
              <p:nvPr/>
            </p:nvGrpSpPr>
            <p:grpSpPr>
              <a:xfrm>
                <a:off x="15274740" y="5749856"/>
                <a:ext cx="2170364" cy="2103302"/>
                <a:chOff x="15274740" y="5749856"/>
                <a:chExt cx="2170364" cy="2103302"/>
              </a:xfrm>
            </p:grpSpPr>
            <p:pic>
              <p:nvPicPr>
                <p:cNvPr id="201" name="Google Shape;201;p17"/>
                <p:cNvPicPr preferRelativeResize="0"/>
                <p:nvPr/>
              </p:nvPicPr>
              <p:blipFill rotWithShape="1">
                <a:blip r:embed="rId6">
                  <a:alphaModFix/>
                </a:blip>
                <a:srcRect b="0" l="0" r="0" t="0"/>
                <a:stretch/>
              </p:blipFill>
              <p:spPr>
                <a:xfrm>
                  <a:off x="15274740" y="5749856"/>
                  <a:ext cx="2170364" cy="2103302"/>
                </a:xfrm>
                <a:prstGeom prst="rect">
                  <a:avLst/>
                </a:prstGeom>
                <a:noFill/>
                <a:ln>
                  <a:noFill/>
                </a:ln>
              </p:spPr>
            </p:pic>
            <p:pic>
              <p:nvPicPr>
                <p:cNvPr descr="Speech with solid fill" id="202" name="Google Shape;202;p17"/>
                <p:cNvPicPr preferRelativeResize="0"/>
                <p:nvPr/>
              </p:nvPicPr>
              <p:blipFill rotWithShape="1">
                <a:blip r:embed="rId9">
                  <a:alphaModFix/>
                </a:blip>
                <a:srcRect b="0" l="0" r="0" t="0"/>
                <a:stretch/>
              </p:blipFill>
              <p:spPr>
                <a:xfrm>
                  <a:off x="15530159" y="6109940"/>
                  <a:ext cx="1589441" cy="1589441"/>
                </a:xfrm>
                <a:prstGeom prst="rect">
                  <a:avLst/>
                </a:prstGeom>
                <a:noFill/>
                <a:ln>
                  <a:noFill/>
                </a:ln>
              </p:spPr>
            </p:pic>
          </p:grpSp>
        </p:grpSp>
        <p:sp>
          <p:nvSpPr>
            <p:cNvPr id="203" name="Google Shape;203;p17"/>
            <p:cNvSpPr txBox="1"/>
            <p:nvPr/>
          </p:nvSpPr>
          <p:spPr>
            <a:xfrm>
              <a:off x="6981496" y="8280399"/>
              <a:ext cx="147320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Đọc</a:t>
              </a:r>
              <a:endParaRPr b="0" i="0" sz="4000" u="none" cap="none" strike="noStrike">
                <a:solidFill>
                  <a:srgbClr val="000000"/>
                </a:solidFill>
                <a:latin typeface="Calibri"/>
                <a:ea typeface="Calibri"/>
                <a:cs typeface="Calibri"/>
                <a:sym typeface="Calibri"/>
              </a:endParaRPr>
            </a:p>
          </p:txBody>
        </p:sp>
        <p:sp>
          <p:nvSpPr>
            <p:cNvPr id="204" name="Google Shape;204;p17"/>
            <p:cNvSpPr txBox="1"/>
            <p:nvPr/>
          </p:nvSpPr>
          <p:spPr>
            <a:xfrm>
              <a:off x="9688404" y="8280399"/>
              <a:ext cx="147320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Nghe</a:t>
              </a:r>
              <a:endParaRPr/>
            </a:p>
          </p:txBody>
        </p:sp>
        <p:sp>
          <p:nvSpPr>
            <p:cNvPr id="205" name="Google Shape;205;p17"/>
            <p:cNvSpPr txBox="1"/>
            <p:nvPr/>
          </p:nvSpPr>
          <p:spPr>
            <a:xfrm>
              <a:off x="12395312" y="8213242"/>
              <a:ext cx="147320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Viết</a:t>
              </a:r>
              <a:endParaRPr b="0" i="0" sz="4000" u="none" cap="none" strike="noStrike">
                <a:solidFill>
                  <a:srgbClr val="000000"/>
                </a:solidFill>
                <a:latin typeface="Calibri"/>
                <a:ea typeface="Calibri"/>
                <a:cs typeface="Calibri"/>
                <a:sym typeface="Calibri"/>
              </a:endParaRPr>
            </a:p>
          </p:txBody>
        </p:sp>
        <p:sp>
          <p:nvSpPr>
            <p:cNvPr id="206" name="Google Shape;206;p17"/>
            <p:cNvSpPr txBox="1"/>
            <p:nvPr/>
          </p:nvSpPr>
          <p:spPr>
            <a:xfrm>
              <a:off x="15623322" y="8213242"/>
              <a:ext cx="147320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Nói</a:t>
              </a:r>
              <a:endParaRPr b="0" i="0" sz="4000" u="none" cap="none" strike="noStrike">
                <a:solidFill>
                  <a:srgbClr val="000000"/>
                </a:solidFill>
                <a:latin typeface="Calibri"/>
                <a:ea typeface="Calibri"/>
                <a:cs typeface="Calibri"/>
                <a:sym typeface="Calibri"/>
              </a:endParaRPr>
            </a:p>
          </p:txBody>
        </p:sp>
      </p:grpSp>
      <p:sp>
        <p:nvSpPr>
          <p:cNvPr id="207" name="Google Shape;207;p17"/>
          <p:cNvSpPr/>
          <p:nvPr/>
        </p:nvSpPr>
        <p:spPr>
          <a:xfrm>
            <a:off x="10008672" y="2813872"/>
            <a:ext cx="3594989" cy="2103302"/>
          </a:xfrm>
          <a:prstGeom prst="roundRect">
            <a:avLst>
              <a:gd fmla="val 16667" name="adj"/>
            </a:avLst>
          </a:prstGeom>
          <a:solidFill>
            <a:srgbClr val="ECFFE5"/>
          </a:solidFill>
          <a:ln cap="flat" cmpd="sng" w="25400">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1" i="0" lang="en-US" sz="4000" u="none" cap="none" strike="noStrike">
                <a:solidFill>
                  <a:srgbClr val="008000"/>
                </a:solidFill>
                <a:latin typeface="Calibri"/>
                <a:ea typeface="Calibri"/>
                <a:cs typeface="Calibri"/>
                <a:sym typeface="Calibri"/>
              </a:rPr>
              <a:t>GRAMMAR  VOCABULARY</a:t>
            </a:r>
            <a:endParaRPr b="1" i="0" sz="4000" u="none" cap="none" strike="noStrike">
              <a:solidFill>
                <a:srgbClr val="008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cxnSp>
        <p:nvCxnSpPr>
          <p:cNvPr id="212" name="Google Shape;212;p18"/>
          <p:cNvCxnSpPr/>
          <p:nvPr/>
        </p:nvCxnSpPr>
        <p:spPr>
          <a:xfrm>
            <a:off x="5784325" y="2311129"/>
            <a:ext cx="12111789" cy="0"/>
          </a:xfrm>
          <a:prstGeom prst="straightConnector1">
            <a:avLst/>
          </a:prstGeom>
          <a:noFill/>
          <a:ln cap="flat" cmpd="sng" w="38100">
            <a:solidFill>
              <a:srgbClr val="018345"/>
            </a:solidFill>
            <a:prstDash val="solid"/>
            <a:round/>
            <a:headEnd len="sm" w="sm" type="none"/>
            <a:tailEnd len="sm" w="sm" type="none"/>
          </a:ln>
        </p:spPr>
      </p:cxnSp>
      <p:grpSp>
        <p:nvGrpSpPr>
          <p:cNvPr id="213" name="Google Shape;213;p18"/>
          <p:cNvGrpSpPr/>
          <p:nvPr/>
        </p:nvGrpSpPr>
        <p:grpSpPr>
          <a:xfrm rot="10800000">
            <a:off x="15044552" y="-741521"/>
            <a:ext cx="7681766" cy="4260610"/>
            <a:chOff x="0" y="-38100"/>
            <a:chExt cx="406400" cy="225405"/>
          </a:xfrm>
        </p:grpSpPr>
        <p:sp>
          <p:nvSpPr>
            <p:cNvPr id="214" name="Google Shape;214;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5" name="Google Shape;215;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18"/>
          <p:cNvSpPr txBox="1"/>
          <p:nvPr/>
        </p:nvSpPr>
        <p:spPr>
          <a:xfrm>
            <a:off x="4038324" y="1095975"/>
            <a:ext cx="13753800" cy="847200"/>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Clr>
                <a:srgbClr val="000000"/>
              </a:buClr>
              <a:buSzPts val="5504"/>
              <a:buFont typeface="Arial"/>
              <a:buNone/>
            </a:pPr>
            <a:r>
              <a:rPr b="1" i="0" lang="en-US" sz="5504" u="none" cap="none" strike="noStrike">
                <a:solidFill>
                  <a:srgbClr val="018345"/>
                </a:solidFill>
                <a:latin typeface="Montserrat"/>
                <a:ea typeface="Montserrat"/>
                <a:cs typeface="Montserrat"/>
                <a:sym typeface="Montserrat"/>
              </a:rPr>
              <a:t>CẤU TRÚC V</a:t>
            </a:r>
            <a:r>
              <a:rPr b="1" lang="en-US" sz="5504">
                <a:solidFill>
                  <a:srgbClr val="018345"/>
                </a:solidFill>
                <a:latin typeface="Montserrat"/>
                <a:ea typeface="Montserrat"/>
                <a:cs typeface="Montserrat"/>
                <a:sym typeface="Montserrat"/>
              </a:rPr>
              <a:t>À THỨ TỰ</a:t>
            </a:r>
            <a:r>
              <a:rPr b="1" i="0" lang="en-US" sz="5504" u="none" cap="none" strike="noStrike">
                <a:solidFill>
                  <a:srgbClr val="018345"/>
                </a:solidFill>
                <a:latin typeface="Montserrat"/>
                <a:ea typeface="Montserrat"/>
                <a:cs typeface="Montserrat"/>
                <a:sym typeface="Montserrat"/>
              </a:rPr>
              <a:t> BÀI THI APTIS</a:t>
            </a:r>
            <a:endParaRPr b="1" i="0" sz="5504" u="none" cap="none" strike="noStrike">
              <a:solidFill>
                <a:srgbClr val="018345"/>
              </a:solidFill>
              <a:latin typeface="Montserrat"/>
              <a:ea typeface="Montserrat"/>
              <a:cs typeface="Montserrat"/>
              <a:sym typeface="Montserrat"/>
            </a:endParaRPr>
          </a:p>
        </p:txBody>
      </p:sp>
      <p:sp>
        <p:nvSpPr>
          <p:cNvPr descr="Books with solid fill" id="217" name="Google Shape;217;p1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18" name="Google Shape;218;p1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9" name="Google Shape;219;p18"/>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220" name="Google Shape;220;p18"/>
          <p:cNvGrpSpPr/>
          <p:nvPr/>
        </p:nvGrpSpPr>
        <p:grpSpPr>
          <a:xfrm>
            <a:off x="-2718010" y="9274528"/>
            <a:ext cx="7950400" cy="1707231"/>
            <a:chOff x="0" y="-384762"/>
            <a:chExt cx="10600533" cy="2276307"/>
          </a:xfrm>
        </p:grpSpPr>
        <p:grpSp>
          <p:nvGrpSpPr>
            <p:cNvPr id="221" name="Google Shape;221;p18"/>
            <p:cNvGrpSpPr/>
            <p:nvPr/>
          </p:nvGrpSpPr>
          <p:grpSpPr>
            <a:xfrm>
              <a:off x="0" y="-384762"/>
              <a:ext cx="10600533" cy="2276307"/>
              <a:chOff x="0" y="-38100"/>
              <a:chExt cx="1049690" cy="225405"/>
            </a:xfrm>
          </p:grpSpPr>
          <p:sp>
            <p:nvSpPr>
              <p:cNvPr id="222" name="Google Shape;22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3" name="Google Shape;22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225" name="Google Shape;225;p18"/>
          <p:cNvGraphicFramePr/>
          <p:nvPr/>
        </p:nvGraphicFramePr>
        <p:xfrm>
          <a:off x="6671038" y="3073043"/>
          <a:ext cx="3000000" cy="3000000"/>
        </p:xfrm>
        <a:graphic>
          <a:graphicData uri="http://schemas.openxmlformats.org/drawingml/2006/table">
            <a:tbl>
              <a:tblPr bandRow="1" firstRow="1">
                <a:noFill/>
                <a:tableStyleId>{7607E248-014B-49D5-9572-1EBDA1034BC5}</a:tableStyleId>
              </a:tblPr>
              <a:tblGrid>
                <a:gridCol w="3686350"/>
                <a:gridCol w="3686350"/>
                <a:gridCol w="3686350"/>
              </a:tblGrid>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Phần thi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Số lượng</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Thời gian</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r>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Ngữ pháp</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25 câu hỏi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2">
                  <a:txBody>
                    <a:bodyPr/>
                    <a:lstStyle/>
                    <a:p>
                      <a:pPr indent="0" lvl="0" marL="0" rtl="0" algn="l">
                        <a:spcBef>
                          <a:spcPts val="0"/>
                        </a:spcBef>
                        <a:spcAft>
                          <a:spcPts val="0"/>
                        </a:spcAft>
                        <a:buNone/>
                      </a:pPr>
                      <a:r>
                        <a:rPr lang="en-US" sz="4400">
                          <a:solidFill>
                            <a:schemeClr val="dk1"/>
                          </a:solidFill>
                          <a:latin typeface="Calibri"/>
                          <a:ea typeface="Calibri"/>
                          <a:cs typeface="Calibri"/>
                          <a:sym typeface="Calibri"/>
                        </a:rPr>
                        <a:t>25 phút </a:t>
                      </a:r>
                      <a:endParaRPr>
                        <a:solidFill>
                          <a:schemeClr val="dk1"/>
                        </a:solidFill>
                      </a:endParaRPr>
                    </a:p>
                    <a:p>
                      <a:pPr indent="0" lvl="0" marL="0" rtl="0" algn="l">
                        <a:spcBef>
                          <a:spcPts val="0"/>
                        </a:spcBef>
                        <a:spcAft>
                          <a:spcPts val="0"/>
                        </a:spcAft>
                        <a:buNone/>
                      </a:pPr>
                      <a:r>
                        <a:t/>
                      </a:r>
                      <a:endParaRPr sz="44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Từ vựng</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25 câu hỏi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vMerge="1"/>
              </a:tr>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Kỹ năng đọc</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4 bài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25 phút</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Kỹ năng nghe</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4 bài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40 phút</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Kỹ nghe nói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4 bài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12 phút</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5325">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Kỹ năng viết</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4 bài</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4400" u="none" cap="none" strike="noStrike">
                          <a:latin typeface="Calibri"/>
                          <a:ea typeface="Calibri"/>
                          <a:cs typeface="Calibri"/>
                          <a:sym typeface="Calibri"/>
                        </a:rPr>
                        <a:t>50 phút</a:t>
                      </a:r>
                      <a:endParaRPr sz="4400" u="none" cap="none" strike="noStrike">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cxnSp>
        <p:nvCxnSpPr>
          <p:cNvPr id="230" name="Google Shape;230;p19"/>
          <p:cNvCxnSpPr/>
          <p:nvPr/>
        </p:nvCxnSpPr>
        <p:spPr>
          <a:xfrm>
            <a:off x="5882537"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231" name="Google Shape;231;p1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32" name="Google Shape;232;p19"/>
          <p:cNvGrpSpPr/>
          <p:nvPr/>
        </p:nvGrpSpPr>
        <p:grpSpPr>
          <a:xfrm rot="10800000">
            <a:off x="15044552" y="-741521"/>
            <a:ext cx="7681766" cy="4260610"/>
            <a:chOff x="0" y="-38100"/>
            <a:chExt cx="406400" cy="225405"/>
          </a:xfrm>
        </p:grpSpPr>
        <p:sp>
          <p:nvSpPr>
            <p:cNvPr id="233" name="Google Shape;233;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4" name="Google Shape;234;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235" name="Google Shape;235;p1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36" name="Google Shape;236;p19"/>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37" name="Google Shape;237;p19"/>
          <p:cNvSpPr txBox="1"/>
          <p:nvPr/>
        </p:nvSpPr>
        <p:spPr>
          <a:xfrm>
            <a:off x="5693855" y="2451438"/>
            <a:ext cx="11676589" cy="2992742"/>
          </a:xfrm>
          <a:prstGeom prst="rect">
            <a:avLst/>
          </a:prstGeom>
          <a:noFill/>
          <a:ln>
            <a:noFill/>
          </a:ln>
        </p:spPr>
        <p:txBody>
          <a:bodyPr anchorCtr="0" anchor="t" bIns="0" lIns="0" spcFirstLastPara="1" rIns="0" wrap="square" tIns="0">
            <a:spAutoFit/>
          </a:bodyPr>
          <a:lstStyle/>
          <a:p>
            <a:pPr indent="0" lvl="0" marL="0" marR="0" rtl="0" algn="ctr">
              <a:lnSpc>
                <a:spcPct val="135013"/>
              </a:lnSpc>
              <a:spcBef>
                <a:spcPts val="0"/>
              </a:spcBef>
              <a:spcAft>
                <a:spcPts val="0"/>
              </a:spcAft>
              <a:buClr>
                <a:srgbClr val="000000"/>
              </a:buClr>
              <a:buSzPts val="7203"/>
              <a:buFont typeface="Arial"/>
              <a:buNone/>
            </a:pPr>
            <a:r>
              <a:rPr b="1" i="0" lang="en-US" sz="7203" u="none" cap="none" strike="noStrike">
                <a:solidFill>
                  <a:srgbClr val="018345"/>
                </a:solidFill>
                <a:latin typeface="Montserrat"/>
                <a:ea typeface="Montserrat"/>
                <a:cs typeface="Montserrat"/>
                <a:sym typeface="Montserrat"/>
              </a:rPr>
              <a:t>CÁCH THỨC CHẤM ĐIỂM BÀI THI APTIS</a:t>
            </a:r>
            <a:endParaRPr b="0" i="0" sz="1400" u="none" cap="none" strike="noStrike">
              <a:solidFill>
                <a:srgbClr val="000000"/>
              </a:solidFill>
              <a:latin typeface="Arial"/>
              <a:ea typeface="Arial"/>
              <a:cs typeface="Arial"/>
              <a:sym typeface="Arial"/>
            </a:endParaRPr>
          </a:p>
        </p:txBody>
      </p:sp>
      <p:sp>
        <p:nvSpPr>
          <p:cNvPr id="238" name="Google Shape;238;p19"/>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02</a:t>
            </a:r>
            <a:endParaRPr b="0" i="0" sz="1400" u="none" cap="none" strike="noStrike">
              <a:solidFill>
                <a:srgbClr val="000000"/>
              </a:solidFill>
              <a:latin typeface="Arial"/>
              <a:ea typeface="Arial"/>
              <a:cs typeface="Arial"/>
              <a:sym typeface="Arial"/>
            </a:endParaRPr>
          </a:p>
        </p:txBody>
      </p:sp>
      <p:sp>
        <p:nvSpPr>
          <p:cNvPr id="239" name="Google Shape;239;p19"/>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240" name="Google Shape;240;p19"/>
          <p:cNvGrpSpPr/>
          <p:nvPr/>
        </p:nvGrpSpPr>
        <p:grpSpPr>
          <a:xfrm>
            <a:off x="-10653311" y="9563100"/>
            <a:ext cx="15885701" cy="1418659"/>
            <a:chOff x="-10653311" y="9421917"/>
            <a:chExt cx="15885701" cy="1418659"/>
          </a:xfrm>
        </p:grpSpPr>
        <p:sp>
          <p:nvSpPr>
            <p:cNvPr id="241" name="Google Shape;241;p19"/>
            <p:cNvSpPr/>
            <p:nvPr/>
          </p:nvSpPr>
          <p:spPr>
            <a:xfrm>
              <a:off x="-2718010" y="9421917"/>
              <a:ext cx="7950400" cy="1418659"/>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42" name="Google Shape;242;p19"/>
            <p:cNvSpPr txBox="1"/>
            <p:nvPr/>
          </p:nvSpPr>
          <p:spPr>
            <a:xfrm>
              <a:off x="-10653311" y="9715322"/>
              <a:ext cx="13923203" cy="241285"/>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t/>
              </a:r>
              <a:endParaRPr b="0" i="0" sz="1400" u="none" cap="none" strike="noStrike">
                <a:solidFill>
                  <a:srgbClr val="000000"/>
                </a:solidFill>
                <a:latin typeface="Arial"/>
                <a:ea typeface="Arial"/>
                <a:cs typeface="Arial"/>
                <a:sym typeface="Arial"/>
              </a:endParaRPr>
            </a:p>
          </p:txBody>
        </p:sp>
      </p:grpSp>
      <p:pic>
        <p:nvPicPr>
          <p:cNvPr descr="An open book" id="243" name="Google Shape;243;p19"/>
          <p:cNvPicPr preferRelativeResize="0"/>
          <p:nvPr/>
        </p:nvPicPr>
        <p:blipFill rotWithShape="1">
          <a:blip r:embed="rId5">
            <a:alphaModFix/>
          </a:blip>
          <a:srcRect b="0" l="0" r="0" t="0"/>
          <a:stretch/>
        </p:blipFill>
        <p:spPr>
          <a:xfrm>
            <a:off x="8601452" y="4769877"/>
            <a:ext cx="5534726" cy="55347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cxnSp>
        <p:nvCxnSpPr>
          <p:cNvPr id="248" name="Google Shape;248;p20"/>
          <p:cNvCxnSpPr/>
          <p:nvPr/>
        </p:nvCxnSpPr>
        <p:spPr>
          <a:xfrm>
            <a:off x="5784325" y="2311129"/>
            <a:ext cx="12111789" cy="0"/>
          </a:xfrm>
          <a:prstGeom prst="straightConnector1">
            <a:avLst/>
          </a:prstGeom>
          <a:noFill/>
          <a:ln cap="flat" cmpd="sng" w="38100">
            <a:solidFill>
              <a:srgbClr val="018345"/>
            </a:solidFill>
            <a:prstDash val="solid"/>
            <a:round/>
            <a:headEnd len="sm" w="sm" type="none"/>
            <a:tailEnd len="sm" w="sm" type="none"/>
          </a:ln>
        </p:spPr>
      </p:cxnSp>
      <p:grpSp>
        <p:nvGrpSpPr>
          <p:cNvPr id="249" name="Google Shape;249;p20"/>
          <p:cNvGrpSpPr/>
          <p:nvPr/>
        </p:nvGrpSpPr>
        <p:grpSpPr>
          <a:xfrm rot="10800000">
            <a:off x="15044552" y="-741521"/>
            <a:ext cx="7681766" cy="4260610"/>
            <a:chOff x="0" y="-38100"/>
            <a:chExt cx="406400" cy="225405"/>
          </a:xfrm>
        </p:grpSpPr>
        <p:sp>
          <p:nvSpPr>
            <p:cNvPr id="250" name="Google Shape;250;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1" name="Google Shape;251;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20"/>
          <p:cNvSpPr txBox="1"/>
          <p:nvPr/>
        </p:nvSpPr>
        <p:spPr>
          <a:xfrm>
            <a:off x="6309257" y="1303130"/>
            <a:ext cx="11978743" cy="997196"/>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Clr>
                <a:srgbClr val="000000"/>
              </a:buClr>
              <a:buSzPts val="5504"/>
              <a:buFont typeface="Arial"/>
              <a:buNone/>
            </a:pPr>
            <a:r>
              <a:rPr b="1" i="0" lang="en-US" sz="4800" u="none" cap="none" strike="noStrike">
                <a:solidFill>
                  <a:srgbClr val="018345"/>
                </a:solidFill>
                <a:latin typeface="Montserrat"/>
                <a:ea typeface="Montserrat"/>
                <a:cs typeface="Montserrat"/>
                <a:sym typeface="Montserrat"/>
              </a:rPr>
              <a:t>THANG ĐIỂM VÀ CÁCH TÍNH ĐIỂM</a:t>
            </a:r>
            <a:endParaRPr b="1" i="0" sz="4800" u="none" cap="none" strike="noStrike">
              <a:solidFill>
                <a:srgbClr val="018345"/>
              </a:solidFill>
              <a:latin typeface="Montserrat"/>
              <a:ea typeface="Montserrat"/>
              <a:cs typeface="Montserrat"/>
              <a:sym typeface="Montserrat"/>
            </a:endParaRPr>
          </a:p>
        </p:txBody>
      </p:sp>
      <p:sp>
        <p:nvSpPr>
          <p:cNvPr id="253" name="Google Shape;253;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54" name="Google Shape;254;p20"/>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255" name="Google Shape;255;p20"/>
          <p:cNvGrpSpPr/>
          <p:nvPr/>
        </p:nvGrpSpPr>
        <p:grpSpPr>
          <a:xfrm>
            <a:off x="-2718010" y="9274528"/>
            <a:ext cx="7950400" cy="1707231"/>
            <a:chOff x="0" y="-384762"/>
            <a:chExt cx="10600533" cy="2276307"/>
          </a:xfrm>
        </p:grpSpPr>
        <p:grpSp>
          <p:nvGrpSpPr>
            <p:cNvPr id="256" name="Google Shape;256;p20"/>
            <p:cNvGrpSpPr/>
            <p:nvPr/>
          </p:nvGrpSpPr>
          <p:grpSpPr>
            <a:xfrm>
              <a:off x="0" y="-384762"/>
              <a:ext cx="10600533" cy="2276307"/>
              <a:chOff x="0" y="-38100"/>
              <a:chExt cx="1049690" cy="225405"/>
            </a:xfrm>
          </p:grpSpPr>
          <p:sp>
            <p:nvSpPr>
              <p:cNvPr id="257" name="Google Shape;257;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8" name="Google Shape;258;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0" name="Google Shape;260;p20"/>
          <p:cNvSpPr txBox="1"/>
          <p:nvPr/>
        </p:nvSpPr>
        <p:spPr>
          <a:xfrm>
            <a:off x="6309257" y="2895684"/>
            <a:ext cx="11396584"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Kết quả của bài thi Aptis được biểu diễn dưới dạng 2: </a:t>
            </a:r>
            <a:endParaRPr/>
          </a:p>
          <a:p>
            <a:pPr indent="0" lvl="0" marL="0" marR="0" rtl="0" algn="l">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Dạng số và dạng cấp độ </a:t>
            </a:r>
            <a:r>
              <a:rPr b="1" i="0" lang="en-US" sz="4000" u="none" cap="none" strike="noStrike">
                <a:solidFill>
                  <a:srgbClr val="000000"/>
                </a:solidFill>
                <a:latin typeface="Calibri"/>
                <a:ea typeface="Calibri"/>
                <a:cs typeface="Calibri"/>
                <a:sym typeface="Calibri"/>
              </a:rPr>
              <a:t>CEFR. </a:t>
            </a:r>
            <a:endParaRPr/>
          </a:p>
        </p:txBody>
      </p:sp>
      <p:pic>
        <p:nvPicPr>
          <p:cNvPr id="261" name="Google Shape;261;p20"/>
          <p:cNvPicPr preferRelativeResize="0"/>
          <p:nvPr/>
        </p:nvPicPr>
        <p:blipFill rotWithShape="1">
          <a:blip r:embed="rId4">
            <a:alphaModFix/>
          </a:blip>
          <a:srcRect b="0" l="0" r="0" t="0"/>
          <a:stretch/>
        </p:blipFill>
        <p:spPr>
          <a:xfrm>
            <a:off x="7633406" y="4533411"/>
            <a:ext cx="8748285" cy="54676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cxnSp>
        <p:nvCxnSpPr>
          <p:cNvPr id="266" name="Google Shape;266;p21"/>
          <p:cNvCxnSpPr/>
          <p:nvPr/>
        </p:nvCxnSpPr>
        <p:spPr>
          <a:xfrm>
            <a:off x="5784325" y="2311129"/>
            <a:ext cx="12111789" cy="0"/>
          </a:xfrm>
          <a:prstGeom prst="straightConnector1">
            <a:avLst/>
          </a:prstGeom>
          <a:noFill/>
          <a:ln cap="flat" cmpd="sng" w="38100">
            <a:solidFill>
              <a:srgbClr val="018345"/>
            </a:solidFill>
            <a:prstDash val="solid"/>
            <a:round/>
            <a:headEnd len="sm" w="sm" type="none"/>
            <a:tailEnd len="sm" w="sm" type="none"/>
          </a:ln>
        </p:spPr>
      </p:cxnSp>
      <p:grpSp>
        <p:nvGrpSpPr>
          <p:cNvPr id="267" name="Google Shape;267;p21"/>
          <p:cNvGrpSpPr/>
          <p:nvPr/>
        </p:nvGrpSpPr>
        <p:grpSpPr>
          <a:xfrm rot="10800000">
            <a:off x="15044552" y="-741521"/>
            <a:ext cx="7681766" cy="4260610"/>
            <a:chOff x="0" y="-38100"/>
            <a:chExt cx="406400" cy="225405"/>
          </a:xfrm>
        </p:grpSpPr>
        <p:sp>
          <p:nvSpPr>
            <p:cNvPr id="268" name="Google Shape;268;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9" name="Google Shape;269;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0" name="Google Shape;270;p21"/>
          <p:cNvSpPr txBox="1"/>
          <p:nvPr/>
        </p:nvSpPr>
        <p:spPr>
          <a:xfrm>
            <a:off x="6309257" y="1303130"/>
            <a:ext cx="11978743" cy="997196"/>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None/>
            </a:pPr>
            <a:r>
              <a:rPr b="1" i="0" lang="en-US" sz="4800" u="none" cap="none" strike="noStrike">
                <a:solidFill>
                  <a:srgbClr val="018345"/>
                </a:solidFill>
                <a:latin typeface="Montserrat"/>
                <a:ea typeface="Montserrat"/>
                <a:cs typeface="Montserrat"/>
                <a:sym typeface="Montserrat"/>
              </a:rPr>
              <a:t>KẾT QUẢ DƯỚI DẠNG SỐ</a:t>
            </a:r>
            <a:endParaRPr b="1" i="0" sz="4800" u="none" cap="none" strike="noStrike">
              <a:solidFill>
                <a:srgbClr val="018345"/>
              </a:solidFill>
              <a:latin typeface="Montserrat"/>
              <a:ea typeface="Montserrat"/>
              <a:cs typeface="Montserrat"/>
              <a:sym typeface="Montserrat"/>
            </a:endParaRPr>
          </a:p>
        </p:txBody>
      </p:sp>
      <p:sp>
        <p:nvSpPr>
          <p:cNvPr id="271" name="Google Shape;271;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72" name="Google Shape;272;p21"/>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273" name="Google Shape;273;p21"/>
          <p:cNvGrpSpPr/>
          <p:nvPr/>
        </p:nvGrpSpPr>
        <p:grpSpPr>
          <a:xfrm>
            <a:off x="-2718010" y="9274528"/>
            <a:ext cx="7950400" cy="1707231"/>
            <a:chOff x="0" y="-384762"/>
            <a:chExt cx="10600533" cy="2276307"/>
          </a:xfrm>
        </p:grpSpPr>
        <p:grpSp>
          <p:nvGrpSpPr>
            <p:cNvPr id="274" name="Google Shape;274;p21"/>
            <p:cNvGrpSpPr/>
            <p:nvPr/>
          </p:nvGrpSpPr>
          <p:grpSpPr>
            <a:xfrm>
              <a:off x="0" y="-384762"/>
              <a:ext cx="10600533" cy="2276307"/>
              <a:chOff x="0" y="-38100"/>
              <a:chExt cx="1049690" cy="225405"/>
            </a:xfrm>
          </p:grpSpPr>
          <p:sp>
            <p:nvSpPr>
              <p:cNvPr id="275" name="Google Shape;275;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6" name="Google Shape;276;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7" name="Google Shape;277;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8" name="Google Shape;278;p21"/>
          <p:cNvSpPr txBox="1"/>
          <p:nvPr/>
        </p:nvSpPr>
        <p:spPr>
          <a:xfrm>
            <a:off x="7513582" y="2895684"/>
            <a:ext cx="8142727"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0000"/>
                </a:solidFill>
                <a:latin typeface="Calibri"/>
                <a:ea typeface="Calibri"/>
                <a:cs typeface="Calibri"/>
                <a:sym typeface="Calibri"/>
              </a:rPr>
              <a:t>Thang điểm: </a:t>
            </a:r>
            <a:r>
              <a:rPr b="0" i="0" lang="en-US" sz="4000" u="none" cap="none" strike="noStrike">
                <a:solidFill>
                  <a:srgbClr val="000000"/>
                </a:solidFill>
                <a:latin typeface="Calibri"/>
                <a:ea typeface="Calibri"/>
                <a:cs typeface="Calibri"/>
                <a:sym typeface="Calibri"/>
              </a:rPr>
              <a:t>0-50/ kỹ năng</a:t>
            </a:r>
            <a:endParaRPr b="0" i="0" sz="4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4000" u="none" cap="none" strike="noStrike">
                <a:solidFill>
                  <a:srgbClr val="000000"/>
                </a:solidFill>
                <a:latin typeface="Calibri"/>
                <a:ea typeface="Calibri"/>
                <a:cs typeface="Calibri"/>
                <a:sym typeface="Calibri"/>
              </a:rPr>
              <a:t>Thang điểm cuối cùng: </a:t>
            </a:r>
            <a:r>
              <a:rPr b="0" i="0" lang="en-US" sz="4000" u="none" cap="none" strike="noStrike">
                <a:solidFill>
                  <a:srgbClr val="000000"/>
                </a:solidFill>
                <a:latin typeface="Calibri"/>
                <a:ea typeface="Calibri"/>
                <a:cs typeface="Calibri"/>
                <a:sym typeface="Calibri"/>
              </a:rPr>
              <a:t>0-200</a:t>
            </a:r>
            <a:endParaRPr/>
          </a:p>
        </p:txBody>
      </p:sp>
      <p:pic>
        <p:nvPicPr>
          <p:cNvPr id="279" name="Google Shape;279;p21"/>
          <p:cNvPicPr preferRelativeResize="0"/>
          <p:nvPr/>
        </p:nvPicPr>
        <p:blipFill rotWithShape="1">
          <a:blip r:embed="rId4">
            <a:alphaModFix/>
          </a:blip>
          <a:srcRect b="0" l="0" r="0" t="0"/>
          <a:stretch/>
        </p:blipFill>
        <p:spPr>
          <a:xfrm>
            <a:off x="7335166" y="4554828"/>
            <a:ext cx="8489130" cy="49190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cxnSp>
        <p:nvCxnSpPr>
          <p:cNvPr id="284" name="Google Shape;284;p22"/>
          <p:cNvCxnSpPr/>
          <p:nvPr/>
        </p:nvCxnSpPr>
        <p:spPr>
          <a:xfrm>
            <a:off x="5784325" y="2311129"/>
            <a:ext cx="12111789" cy="0"/>
          </a:xfrm>
          <a:prstGeom prst="straightConnector1">
            <a:avLst/>
          </a:prstGeom>
          <a:noFill/>
          <a:ln cap="flat" cmpd="sng" w="38100">
            <a:solidFill>
              <a:srgbClr val="018345"/>
            </a:solidFill>
            <a:prstDash val="solid"/>
            <a:round/>
            <a:headEnd len="sm" w="sm" type="none"/>
            <a:tailEnd len="sm" w="sm" type="none"/>
          </a:ln>
        </p:spPr>
      </p:cxnSp>
      <p:grpSp>
        <p:nvGrpSpPr>
          <p:cNvPr id="285" name="Google Shape;285;p22"/>
          <p:cNvGrpSpPr/>
          <p:nvPr/>
        </p:nvGrpSpPr>
        <p:grpSpPr>
          <a:xfrm rot="10800000">
            <a:off x="15044552" y="-741521"/>
            <a:ext cx="7681766" cy="4260610"/>
            <a:chOff x="0" y="-38100"/>
            <a:chExt cx="406400" cy="225405"/>
          </a:xfrm>
        </p:grpSpPr>
        <p:sp>
          <p:nvSpPr>
            <p:cNvPr id="286" name="Google Shape;286;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7" name="Google Shape;287;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8" name="Google Shape;288;p22"/>
          <p:cNvSpPr txBox="1"/>
          <p:nvPr/>
        </p:nvSpPr>
        <p:spPr>
          <a:xfrm>
            <a:off x="5873581" y="1239695"/>
            <a:ext cx="11469945" cy="997196"/>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None/>
            </a:pPr>
            <a:r>
              <a:rPr b="1" i="0" lang="en-US" sz="4800" u="none" cap="none" strike="noStrike">
                <a:solidFill>
                  <a:srgbClr val="018345"/>
                </a:solidFill>
                <a:latin typeface="Montserrat"/>
                <a:ea typeface="Montserrat"/>
                <a:cs typeface="Montserrat"/>
                <a:sym typeface="Montserrat"/>
              </a:rPr>
              <a:t>KẾT QUẢ DƯỚI DẠNG CẤP ĐỘ CEFR</a:t>
            </a:r>
            <a:endParaRPr b="1" i="0" sz="4800" u="none" cap="none" strike="noStrike">
              <a:solidFill>
                <a:srgbClr val="018345"/>
              </a:solidFill>
              <a:latin typeface="Montserrat"/>
              <a:ea typeface="Montserrat"/>
              <a:cs typeface="Montserrat"/>
              <a:sym typeface="Montserrat"/>
            </a:endParaRPr>
          </a:p>
        </p:txBody>
      </p:sp>
      <p:sp>
        <p:nvSpPr>
          <p:cNvPr id="289" name="Google Shape;289;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90" name="Google Shape;290;p22"/>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291" name="Google Shape;291;p22"/>
          <p:cNvGrpSpPr/>
          <p:nvPr/>
        </p:nvGrpSpPr>
        <p:grpSpPr>
          <a:xfrm>
            <a:off x="-2718010" y="9274528"/>
            <a:ext cx="7950400" cy="1707231"/>
            <a:chOff x="0" y="-384762"/>
            <a:chExt cx="10600533" cy="2276307"/>
          </a:xfrm>
        </p:grpSpPr>
        <p:grpSp>
          <p:nvGrpSpPr>
            <p:cNvPr id="292" name="Google Shape;292;p22"/>
            <p:cNvGrpSpPr/>
            <p:nvPr/>
          </p:nvGrpSpPr>
          <p:grpSpPr>
            <a:xfrm>
              <a:off x="0" y="-384762"/>
              <a:ext cx="10600533" cy="2276307"/>
              <a:chOff x="0" y="-38100"/>
              <a:chExt cx="1049690" cy="225405"/>
            </a:xfrm>
          </p:grpSpPr>
          <p:sp>
            <p:nvSpPr>
              <p:cNvPr id="293" name="Google Shape;293;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4" name="Google Shape;294;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22"/>
          <p:cNvSpPr txBox="1"/>
          <p:nvPr/>
        </p:nvSpPr>
        <p:spPr>
          <a:xfrm>
            <a:off x="7513582" y="2895684"/>
            <a:ext cx="9291607"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Calibri"/>
                <a:ea typeface="Calibri"/>
                <a:cs typeface="Calibri"/>
                <a:sym typeface="Calibri"/>
              </a:rPr>
              <a:t>Các cấp độ theo khung tham chiếu Châu Âu (CEFR) bao gồm: A0 - C</a:t>
            </a:r>
            <a:endParaRPr/>
          </a:p>
        </p:txBody>
      </p:sp>
      <p:pic>
        <p:nvPicPr>
          <p:cNvPr id="297" name="Google Shape;297;p22"/>
          <p:cNvPicPr preferRelativeResize="0"/>
          <p:nvPr/>
        </p:nvPicPr>
        <p:blipFill rotWithShape="1">
          <a:blip r:embed="rId4">
            <a:alphaModFix/>
          </a:blip>
          <a:srcRect b="0" l="0" r="0" t="0"/>
          <a:stretch/>
        </p:blipFill>
        <p:spPr>
          <a:xfrm>
            <a:off x="7258050" y="5363780"/>
            <a:ext cx="9847259" cy="29794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cxnSp>
        <p:nvCxnSpPr>
          <p:cNvPr id="302" name="Google Shape;302;p23"/>
          <p:cNvCxnSpPr/>
          <p:nvPr/>
        </p:nvCxnSpPr>
        <p:spPr>
          <a:xfrm>
            <a:off x="6075677" y="2456269"/>
            <a:ext cx="11196323" cy="0"/>
          </a:xfrm>
          <a:prstGeom prst="straightConnector1">
            <a:avLst/>
          </a:prstGeom>
          <a:noFill/>
          <a:ln cap="flat" cmpd="sng" w="38100">
            <a:solidFill>
              <a:srgbClr val="018345"/>
            </a:solidFill>
            <a:prstDash val="solid"/>
            <a:round/>
            <a:headEnd len="sm" w="sm" type="none"/>
            <a:tailEnd len="sm" w="sm" type="none"/>
          </a:ln>
        </p:spPr>
      </p:cxnSp>
      <p:grpSp>
        <p:nvGrpSpPr>
          <p:cNvPr id="303" name="Google Shape;303;p23"/>
          <p:cNvGrpSpPr/>
          <p:nvPr/>
        </p:nvGrpSpPr>
        <p:grpSpPr>
          <a:xfrm rot="10800000">
            <a:off x="15044552" y="-741521"/>
            <a:ext cx="7681766" cy="4260610"/>
            <a:chOff x="0" y="-38100"/>
            <a:chExt cx="406400" cy="225405"/>
          </a:xfrm>
        </p:grpSpPr>
        <p:sp>
          <p:nvSpPr>
            <p:cNvPr id="304" name="Google Shape;304;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5" name="Google Shape;305;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23"/>
          <p:cNvSpPr txBox="1"/>
          <p:nvPr/>
        </p:nvSpPr>
        <p:spPr>
          <a:xfrm>
            <a:off x="6981496" y="118273"/>
            <a:ext cx="9564664" cy="3430555"/>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None/>
            </a:pPr>
            <a:r>
              <a:rPr b="1" i="0" lang="en-US" sz="5504" u="none" cap="none" strike="noStrike">
                <a:solidFill>
                  <a:srgbClr val="018345"/>
                </a:solidFill>
                <a:latin typeface="Montserrat"/>
                <a:ea typeface="Montserrat"/>
                <a:cs typeface="Montserrat"/>
                <a:sym typeface="Montserrat"/>
              </a:rPr>
              <a:t>Ý nghĩa của Phần thi Ngữ pháp &amp; Từ vựng</a:t>
            </a:r>
            <a:endParaRPr b="0" i="0" sz="1400" u="none" cap="none" strike="noStrike">
              <a:solidFill>
                <a:srgbClr val="000000"/>
              </a:solidFill>
              <a:latin typeface="Arial"/>
              <a:ea typeface="Arial"/>
              <a:cs typeface="Arial"/>
              <a:sym typeface="Arial"/>
            </a:endParaRPr>
          </a:p>
          <a:p>
            <a:pPr indent="0" lvl="0" marL="0" marR="0" rtl="0" algn="l">
              <a:lnSpc>
                <a:spcPct val="134992"/>
              </a:lnSpc>
              <a:spcBef>
                <a:spcPts val="0"/>
              </a:spcBef>
              <a:spcAft>
                <a:spcPts val="0"/>
              </a:spcAft>
              <a:buClr>
                <a:srgbClr val="000000"/>
              </a:buClr>
              <a:buSzPts val="5504"/>
              <a:buFont typeface="Arial"/>
              <a:buNone/>
            </a:pPr>
            <a:r>
              <a:t/>
            </a:r>
            <a:endParaRPr b="1" i="0" sz="5504" u="none" cap="none" strike="noStrike">
              <a:solidFill>
                <a:srgbClr val="018345"/>
              </a:solidFill>
              <a:latin typeface="Montserrat"/>
              <a:ea typeface="Montserrat"/>
              <a:cs typeface="Montserrat"/>
              <a:sym typeface="Montserrat"/>
            </a:endParaRPr>
          </a:p>
        </p:txBody>
      </p:sp>
      <p:sp>
        <p:nvSpPr>
          <p:cNvPr descr="Books with solid fill" id="307" name="Google Shape;307;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08" name="Google Shape;308;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09" name="Google Shape;309;p23"/>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310" name="Google Shape;310;p23"/>
          <p:cNvGrpSpPr/>
          <p:nvPr/>
        </p:nvGrpSpPr>
        <p:grpSpPr>
          <a:xfrm>
            <a:off x="-2718010" y="9274528"/>
            <a:ext cx="7950400" cy="1707231"/>
            <a:chOff x="0" y="-384762"/>
            <a:chExt cx="10600533" cy="2276307"/>
          </a:xfrm>
        </p:grpSpPr>
        <p:grpSp>
          <p:nvGrpSpPr>
            <p:cNvPr id="311" name="Google Shape;311;p23"/>
            <p:cNvGrpSpPr/>
            <p:nvPr/>
          </p:nvGrpSpPr>
          <p:grpSpPr>
            <a:xfrm>
              <a:off x="0" y="-384762"/>
              <a:ext cx="10600533" cy="2276307"/>
              <a:chOff x="0" y="-38100"/>
              <a:chExt cx="1049690" cy="225405"/>
            </a:xfrm>
          </p:grpSpPr>
          <p:sp>
            <p:nvSpPr>
              <p:cNvPr id="312" name="Google Shape;312;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13" name="Google Shape;313;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23"/>
          <p:cNvGrpSpPr/>
          <p:nvPr/>
        </p:nvGrpSpPr>
        <p:grpSpPr>
          <a:xfrm>
            <a:off x="8295433" y="2861601"/>
            <a:ext cx="7681766" cy="7156193"/>
            <a:chOff x="8328563" y="2844896"/>
            <a:chExt cx="7283144" cy="7156193"/>
          </a:xfrm>
        </p:grpSpPr>
        <p:sp>
          <p:nvSpPr>
            <p:cNvPr id="316" name="Google Shape;316;p23"/>
            <p:cNvSpPr/>
            <p:nvPr/>
          </p:nvSpPr>
          <p:spPr>
            <a:xfrm>
              <a:off x="8328563" y="2844896"/>
              <a:ext cx="7283144" cy="7156193"/>
            </a:xfrm>
            <a:prstGeom prst="ellipse">
              <a:avLst/>
            </a:prstGeom>
            <a:solidFill>
              <a:srgbClr val="CCFFCC"/>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800" u="none" cap="none" strike="noStrike">
                <a:solidFill>
                  <a:schemeClr val="lt1"/>
                </a:solidFill>
                <a:latin typeface="Calibri"/>
                <a:ea typeface="Calibri"/>
                <a:cs typeface="Calibri"/>
                <a:sym typeface="Calibri"/>
              </a:endParaRPr>
            </a:p>
          </p:txBody>
        </p:sp>
        <p:sp>
          <p:nvSpPr>
            <p:cNvPr id="317" name="Google Shape;317;p23"/>
            <p:cNvSpPr/>
            <p:nvPr/>
          </p:nvSpPr>
          <p:spPr>
            <a:xfrm>
              <a:off x="10473686" y="4941638"/>
              <a:ext cx="2876671" cy="2793195"/>
            </a:xfrm>
            <a:prstGeom prst="ellipse">
              <a:avLst/>
            </a:prstGeom>
            <a:solidFill>
              <a:srgbClr val="33996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Calibri"/>
                  <a:ea typeface="Calibri"/>
                  <a:cs typeface="Calibri"/>
                  <a:sym typeface="Calibri"/>
                </a:rPr>
                <a:t>Core Grammar &amp; Vocabulary</a:t>
              </a:r>
              <a:endParaRPr/>
            </a:p>
          </p:txBody>
        </p:sp>
        <p:sp>
          <p:nvSpPr>
            <p:cNvPr id="318" name="Google Shape;318;p23"/>
            <p:cNvSpPr/>
            <p:nvPr/>
          </p:nvSpPr>
          <p:spPr>
            <a:xfrm>
              <a:off x="8720439" y="5550394"/>
              <a:ext cx="2080611" cy="2184439"/>
            </a:xfrm>
            <a:prstGeom prst="ellipse">
              <a:avLst/>
            </a:prstGeom>
            <a:solidFill>
              <a:srgbClr val="33996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Calibri"/>
                  <a:ea typeface="Calibri"/>
                  <a:cs typeface="Calibri"/>
                  <a:sym typeface="Calibri"/>
                </a:rPr>
                <a:t>Writing </a:t>
              </a:r>
              <a:endParaRPr/>
            </a:p>
          </p:txBody>
        </p:sp>
        <p:sp>
          <p:nvSpPr>
            <p:cNvPr id="319" name="Google Shape;319;p23"/>
            <p:cNvSpPr/>
            <p:nvPr/>
          </p:nvSpPr>
          <p:spPr>
            <a:xfrm>
              <a:off x="10672940" y="3332916"/>
              <a:ext cx="2288790" cy="2184439"/>
            </a:xfrm>
            <a:prstGeom prst="ellipse">
              <a:avLst/>
            </a:prstGeom>
            <a:solidFill>
              <a:srgbClr val="33996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Calibri"/>
                  <a:ea typeface="Calibri"/>
                  <a:cs typeface="Calibri"/>
                  <a:sym typeface="Calibri"/>
                </a:rPr>
                <a:t>Reading</a:t>
              </a:r>
              <a:endParaRPr/>
            </a:p>
          </p:txBody>
        </p:sp>
        <p:sp>
          <p:nvSpPr>
            <p:cNvPr id="320" name="Google Shape;320;p23"/>
            <p:cNvSpPr/>
            <p:nvPr/>
          </p:nvSpPr>
          <p:spPr>
            <a:xfrm>
              <a:off x="12961730" y="5246015"/>
              <a:ext cx="2141874" cy="2184439"/>
            </a:xfrm>
            <a:prstGeom prst="ellipse">
              <a:avLst/>
            </a:prstGeom>
            <a:solidFill>
              <a:srgbClr val="33996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Calibri"/>
                  <a:ea typeface="Calibri"/>
                  <a:cs typeface="Calibri"/>
                  <a:sym typeface="Calibri"/>
                </a:rPr>
                <a:t>Speaking</a:t>
              </a:r>
              <a:endParaRPr/>
            </a:p>
          </p:txBody>
        </p:sp>
        <p:sp>
          <p:nvSpPr>
            <p:cNvPr id="321" name="Google Shape;321;p23"/>
            <p:cNvSpPr/>
            <p:nvPr/>
          </p:nvSpPr>
          <p:spPr>
            <a:xfrm>
              <a:off x="11147219" y="7157130"/>
              <a:ext cx="2141875" cy="2184439"/>
            </a:xfrm>
            <a:prstGeom prst="ellipse">
              <a:avLst/>
            </a:prstGeom>
            <a:solidFill>
              <a:srgbClr val="33996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Calibri"/>
                  <a:ea typeface="Calibri"/>
                  <a:cs typeface="Calibri"/>
                  <a:sym typeface="Calibri"/>
                </a:rPr>
                <a:t>Listening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cxnSp>
        <p:nvCxnSpPr>
          <p:cNvPr id="326" name="Google Shape;326;p24"/>
          <p:cNvCxnSpPr/>
          <p:nvPr/>
        </p:nvCxnSpPr>
        <p:spPr>
          <a:xfrm>
            <a:off x="6075677" y="2456269"/>
            <a:ext cx="11196323" cy="0"/>
          </a:xfrm>
          <a:prstGeom prst="straightConnector1">
            <a:avLst/>
          </a:prstGeom>
          <a:noFill/>
          <a:ln cap="flat" cmpd="sng" w="38100">
            <a:solidFill>
              <a:srgbClr val="018345"/>
            </a:solidFill>
            <a:prstDash val="solid"/>
            <a:round/>
            <a:headEnd len="sm" w="sm" type="none"/>
            <a:tailEnd len="sm" w="sm" type="none"/>
          </a:ln>
        </p:spPr>
      </p:cxnSp>
      <p:grpSp>
        <p:nvGrpSpPr>
          <p:cNvPr id="327" name="Google Shape;327;p24"/>
          <p:cNvGrpSpPr/>
          <p:nvPr/>
        </p:nvGrpSpPr>
        <p:grpSpPr>
          <a:xfrm rot="10800000">
            <a:off x="15044552" y="-741521"/>
            <a:ext cx="7681766" cy="4260610"/>
            <a:chOff x="0" y="-38100"/>
            <a:chExt cx="406400" cy="225405"/>
          </a:xfrm>
        </p:grpSpPr>
        <p:sp>
          <p:nvSpPr>
            <p:cNvPr id="328" name="Google Shape;328;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9" name="Google Shape;329;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0" name="Google Shape;330;p24"/>
          <p:cNvSpPr txBox="1"/>
          <p:nvPr/>
        </p:nvSpPr>
        <p:spPr>
          <a:xfrm>
            <a:off x="6981496" y="118273"/>
            <a:ext cx="9564664" cy="3430555"/>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None/>
            </a:pPr>
            <a:r>
              <a:rPr b="1" i="0" lang="en-US" sz="5504" u="none" cap="none" strike="noStrike">
                <a:solidFill>
                  <a:srgbClr val="018345"/>
                </a:solidFill>
                <a:latin typeface="Montserrat"/>
                <a:ea typeface="Montserrat"/>
                <a:cs typeface="Montserrat"/>
                <a:sym typeface="Montserrat"/>
              </a:rPr>
              <a:t>Ý nghĩa của Phần thi Ngữ pháp &amp; Từ vựng</a:t>
            </a:r>
            <a:endParaRPr b="0" i="0" sz="1400" u="none" cap="none" strike="noStrike">
              <a:solidFill>
                <a:srgbClr val="000000"/>
              </a:solidFill>
              <a:latin typeface="Arial"/>
              <a:ea typeface="Arial"/>
              <a:cs typeface="Arial"/>
              <a:sym typeface="Arial"/>
            </a:endParaRPr>
          </a:p>
          <a:p>
            <a:pPr indent="0" lvl="0" marL="0" marR="0" rtl="0" algn="l">
              <a:lnSpc>
                <a:spcPct val="134992"/>
              </a:lnSpc>
              <a:spcBef>
                <a:spcPts val="0"/>
              </a:spcBef>
              <a:spcAft>
                <a:spcPts val="0"/>
              </a:spcAft>
              <a:buClr>
                <a:srgbClr val="000000"/>
              </a:buClr>
              <a:buSzPts val="5504"/>
              <a:buFont typeface="Arial"/>
              <a:buNone/>
            </a:pPr>
            <a:r>
              <a:t/>
            </a:r>
            <a:endParaRPr b="1" i="0" sz="5504" u="none" cap="none" strike="noStrike">
              <a:solidFill>
                <a:srgbClr val="018345"/>
              </a:solidFill>
              <a:latin typeface="Montserrat"/>
              <a:ea typeface="Montserrat"/>
              <a:cs typeface="Montserrat"/>
              <a:sym typeface="Montserrat"/>
            </a:endParaRPr>
          </a:p>
        </p:txBody>
      </p:sp>
      <p:sp>
        <p:nvSpPr>
          <p:cNvPr descr="Books with solid fill" id="331" name="Google Shape;331;p2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32" name="Google Shape;332;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33" name="Google Shape;333;p24"/>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334" name="Google Shape;334;p24"/>
          <p:cNvGrpSpPr/>
          <p:nvPr/>
        </p:nvGrpSpPr>
        <p:grpSpPr>
          <a:xfrm>
            <a:off x="-2718010" y="9274528"/>
            <a:ext cx="7950400" cy="1707231"/>
            <a:chOff x="0" y="-384762"/>
            <a:chExt cx="10600533" cy="2276307"/>
          </a:xfrm>
        </p:grpSpPr>
        <p:grpSp>
          <p:nvGrpSpPr>
            <p:cNvPr id="335" name="Google Shape;335;p24"/>
            <p:cNvGrpSpPr/>
            <p:nvPr/>
          </p:nvGrpSpPr>
          <p:grpSpPr>
            <a:xfrm>
              <a:off x="0" y="-384762"/>
              <a:ext cx="10600533" cy="2276307"/>
              <a:chOff x="0" y="-38100"/>
              <a:chExt cx="1049690" cy="225405"/>
            </a:xfrm>
          </p:grpSpPr>
          <p:sp>
            <p:nvSpPr>
              <p:cNvPr id="336" name="Google Shape;336;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37" name="Google Shape;337;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39" name="Google Shape;339;p24"/>
          <p:cNvPicPr preferRelativeResize="0"/>
          <p:nvPr/>
        </p:nvPicPr>
        <p:blipFill rotWithShape="1">
          <a:blip r:embed="rId5">
            <a:alphaModFix/>
          </a:blip>
          <a:srcRect b="0" l="0" r="0" t="0"/>
          <a:stretch/>
        </p:blipFill>
        <p:spPr>
          <a:xfrm>
            <a:off x="7154600" y="3431606"/>
            <a:ext cx="9564664" cy="57082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cxnSp>
        <p:nvCxnSpPr>
          <p:cNvPr id="344" name="Google Shape;344;p25"/>
          <p:cNvCxnSpPr/>
          <p:nvPr/>
        </p:nvCxnSpPr>
        <p:spPr>
          <a:xfrm>
            <a:off x="5784325" y="2311129"/>
            <a:ext cx="12111789" cy="0"/>
          </a:xfrm>
          <a:prstGeom prst="straightConnector1">
            <a:avLst/>
          </a:prstGeom>
          <a:noFill/>
          <a:ln cap="flat" cmpd="sng" w="38100">
            <a:solidFill>
              <a:srgbClr val="018345"/>
            </a:solidFill>
            <a:prstDash val="solid"/>
            <a:round/>
            <a:headEnd len="sm" w="sm" type="none"/>
            <a:tailEnd len="sm" w="sm" type="none"/>
          </a:ln>
        </p:spPr>
      </p:cxnSp>
      <p:grpSp>
        <p:nvGrpSpPr>
          <p:cNvPr id="345" name="Google Shape;345;p25"/>
          <p:cNvGrpSpPr/>
          <p:nvPr/>
        </p:nvGrpSpPr>
        <p:grpSpPr>
          <a:xfrm rot="10800000">
            <a:off x="15044552" y="-741521"/>
            <a:ext cx="7681766" cy="4260610"/>
            <a:chOff x="0" y="-38100"/>
            <a:chExt cx="406400" cy="225405"/>
          </a:xfrm>
        </p:grpSpPr>
        <p:sp>
          <p:nvSpPr>
            <p:cNvPr id="346" name="Google Shape;346;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7" name="Google Shape;347;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8" name="Google Shape;348;p25"/>
          <p:cNvSpPr txBox="1"/>
          <p:nvPr/>
        </p:nvSpPr>
        <p:spPr>
          <a:xfrm>
            <a:off x="6135559" y="1028700"/>
            <a:ext cx="11978743" cy="1143518"/>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None/>
            </a:pPr>
            <a:r>
              <a:rPr b="1" i="0" lang="en-US" sz="5504" u="none" cap="none" strike="noStrike">
                <a:solidFill>
                  <a:srgbClr val="018345"/>
                </a:solidFill>
                <a:latin typeface="Montserrat"/>
                <a:ea typeface="Montserrat"/>
                <a:cs typeface="Montserrat"/>
                <a:sym typeface="Montserrat"/>
              </a:rPr>
              <a:t>Cấp độ CEFR tổng cho bài thi</a:t>
            </a:r>
            <a:endParaRPr b="1" i="0" sz="5504" u="none" cap="none" strike="noStrike">
              <a:solidFill>
                <a:srgbClr val="018345"/>
              </a:solidFill>
              <a:latin typeface="Montserrat"/>
              <a:ea typeface="Montserrat"/>
              <a:cs typeface="Montserrat"/>
              <a:sym typeface="Montserrat"/>
            </a:endParaRPr>
          </a:p>
        </p:txBody>
      </p:sp>
      <p:sp>
        <p:nvSpPr>
          <p:cNvPr descr="Books with solid fill" id="349" name="Google Shape;349;p2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50" name="Google Shape;350;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51" name="Google Shape;351;p25"/>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352" name="Google Shape;352;p25"/>
          <p:cNvGrpSpPr/>
          <p:nvPr/>
        </p:nvGrpSpPr>
        <p:grpSpPr>
          <a:xfrm>
            <a:off x="-2718010" y="9274528"/>
            <a:ext cx="7950400" cy="1707231"/>
            <a:chOff x="0" y="-384762"/>
            <a:chExt cx="10600533" cy="2276307"/>
          </a:xfrm>
        </p:grpSpPr>
        <p:grpSp>
          <p:nvGrpSpPr>
            <p:cNvPr id="353" name="Google Shape;353;p25"/>
            <p:cNvGrpSpPr/>
            <p:nvPr/>
          </p:nvGrpSpPr>
          <p:grpSpPr>
            <a:xfrm>
              <a:off x="0" y="-384762"/>
              <a:ext cx="10600533" cy="2276307"/>
              <a:chOff x="0" y="-38100"/>
              <a:chExt cx="1049690" cy="225405"/>
            </a:xfrm>
          </p:grpSpPr>
          <p:sp>
            <p:nvSpPr>
              <p:cNvPr id="354" name="Google Shape;354;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55" name="Google Shape;355;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6" name="Google Shape;356;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7" name="Google Shape;357;p25"/>
          <p:cNvSpPr txBox="1"/>
          <p:nvPr/>
        </p:nvSpPr>
        <p:spPr>
          <a:xfrm>
            <a:off x="6011946" y="2811113"/>
            <a:ext cx="1143315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0000"/>
                </a:solidFill>
                <a:latin typeface="Calibri"/>
                <a:ea typeface="Calibri"/>
                <a:cs typeface="Calibri"/>
                <a:sym typeface="Calibri"/>
              </a:rPr>
              <a:t>Aptis sẽ tính làm tròn từ việc xem xét CEFR của 4 kĩ năng.</a:t>
            </a:r>
            <a:endParaRPr/>
          </a:p>
          <a:p>
            <a:pPr indent="0" lvl="0" marL="0" marR="0" rtl="0" algn="l">
              <a:lnSpc>
                <a:spcPct val="100000"/>
              </a:lnSpc>
              <a:spcBef>
                <a:spcPts val="0"/>
              </a:spcBef>
              <a:spcAft>
                <a:spcPts val="0"/>
              </a:spcAft>
              <a:buNone/>
            </a:pPr>
            <a:r>
              <a:t/>
            </a:r>
            <a:endParaRPr b="0" i="0" sz="3600" u="none" cap="none" strike="noStrike">
              <a:solidFill>
                <a:srgbClr val="000000"/>
              </a:solidFill>
              <a:latin typeface="Calibri"/>
              <a:ea typeface="Calibri"/>
              <a:cs typeface="Calibri"/>
              <a:sym typeface="Calibri"/>
            </a:endParaRPr>
          </a:p>
        </p:txBody>
      </p:sp>
      <p:graphicFrame>
        <p:nvGraphicFramePr>
          <p:cNvPr id="358" name="Google Shape;358;p25"/>
          <p:cNvGraphicFramePr/>
          <p:nvPr/>
        </p:nvGraphicFramePr>
        <p:xfrm>
          <a:off x="6135559" y="4454779"/>
          <a:ext cx="3000000" cy="3000000"/>
        </p:xfrm>
        <a:graphic>
          <a:graphicData uri="http://schemas.openxmlformats.org/drawingml/2006/table">
            <a:tbl>
              <a:tblPr bandRow="1" firstRow="1">
                <a:noFill/>
                <a:tableStyleId>{31EABBE2-6B9E-4EE9-BE6F-F7030172463B}</a:tableStyleId>
              </a:tblPr>
              <a:tblGrid>
                <a:gridCol w="2158400"/>
                <a:gridCol w="2158400"/>
                <a:gridCol w="2158400"/>
                <a:gridCol w="2158400"/>
                <a:gridCol w="2158400"/>
              </a:tblGrid>
              <a:tr h="982725">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Listening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Reading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Writing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Speaking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Overall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8000"/>
                    </a:solidFill>
                  </a:tcPr>
                </a:tc>
              </a:tr>
              <a:tr h="982725">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82725">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82725">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A2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None/>
                      </a:pPr>
                      <a:r>
                        <a:rPr b="1" lang="en-US" sz="3200" u="none" cap="none" strike="noStrike">
                          <a:latin typeface="Calibri"/>
                          <a:ea typeface="Calibri"/>
                          <a:cs typeface="Calibri"/>
                          <a:sym typeface="Calibri"/>
                        </a:rPr>
                        <a:t>B1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cxnSp>
        <p:nvCxnSpPr>
          <p:cNvPr id="363" name="Google Shape;363;p26"/>
          <p:cNvCxnSpPr/>
          <p:nvPr/>
        </p:nvCxnSpPr>
        <p:spPr>
          <a:xfrm>
            <a:off x="6186822" y="2191627"/>
            <a:ext cx="11650614" cy="0"/>
          </a:xfrm>
          <a:prstGeom prst="straightConnector1">
            <a:avLst/>
          </a:prstGeom>
          <a:noFill/>
          <a:ln cap="flat" cmpd="sng" w="38100">
            <a:solidFill>
              <a:srgbClr val="018345"/>
            </a:solidFill>
            <a:prstDash val="solid"/>
            <a:round/>
            <a:headEnd len="sm" w="sm" type="none"/>
            <a:tailEnd len="sm" w="sm" type="none"/>
          </a:ln>
        </p:spPr>
      </p:cxnSp>
      <p:cxnSp>
        <p:nvCxnSpPr>
          <p:cNvPr id="364" name="Google Shape;364;p2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65" name="Google Shape;365;p26"/>
          <p:cNvGrpSpPr/>
          <p:nvPr/>
        </p:nvGrpSpPr>
        <p:grpSpPr>
          <a:xfrm rot="10800000">
            <a:off x="15044552" y="-741521"/>
            <a:ext cx="7681766" cy="4260610"/>
            <a:chOff x="0" y="-38100"/>
            <a:chExt cx="406400" cy="225405"/>
          </a:xfrm>
        </p:grpSpPr>
        <p:sp>
          <p:nvSpPr>
            <p:cNvPr id="366" name="Google Shape;366;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67" name="Google Shape;367;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68" name="Google Shape;368;p2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69" name="Google Shape;369;p26"/>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70" name="Google Shape;370;p26"/>
          <p:cNvSpPr txBox="1"/>
          <p:nvPr/>
        </p:nvSpPr>
        <p:spPr>
          <a:xfrm>
            <a:off x="6201652" y="2265675"/>
            <a:ext cx="12086348" cy="2991588"/>
          </a:xfrm>
          <a:prstGeom prst="rect">
            <a:avLst/>
          </a:prstGeom>
          <a:noFill/>
          <a:ln>
            <a:noFill/>
          </a:ln>
        </p:spPr>
        <p:txBody>
          <a:bodyPr anchorCtr="0" anchor="t" bIns="0" lIns="0" spcFirstLastPara="1" rIns="0" wrap="square" tIns="0">
            <a:spAutoFit/>
          </a:bodyPr>
          <a:lstStyle/>
          <a:p>
            <a:pPr indent="0" lvl="0" marL="0" marR="0" rtl="0" algn="ctr">
              <a:lnSpc>
                <a:spcPct val="135011"/>
              </a:lnSpc>
              <a:spcBef>
                <a:spcPts val="0"/>
              </a:spcBef>
              <a:spcAft>
                <a:spcPts val="0"/>
              </a:spcAft>
              <a:buClr>
                <a:srgbClr val="000000"/>
              </a:buClr>
              <a:buSzPts val="8003"/>
              <a:buFont typeface="Arial"/>
              <a:buNone/>
            </a:pPr>
            <a:r>
              <a:rPr b="1" i="0" lang="en-US" sz="7200" u="none" cap="none" strike="noStrike">
                <a:solidFill>
                  <a:srgbClr val="018345"/>
                </a:solidFill>
                <a:latin typeface="Montserrat"/>
                <a:ea typeface="Montserrat"/>
                <a:cs typeface="Montserrat"/>
                <a:sym typeface="Montserrat"/>
              </a:rPr>
              <a:t>CÁCH THỨC ĐĂNG KÍ </a:t>
            </a:r>
            <a:endParaRPr/>
          </a:p>
          <a:p>
            <a:pPr indent="0" lvl="0" marL="0" marR="0" rtl="0" algn="ctr">
              <a:lnSpc>
                <a:spcPct val="135011"/>
              </a:lnSpc>
              <a:spcBef>
                <a:spcPts val="0"/>
              </a:spcBef>
              <a:spcAft>
                <a:spcPts val="0"/>
              </a:spcAft>
              <a:buClr>
                <a:srgbClr val="000000"/>
              </a:buClr>
              <a:buSzPts val="8003"/>
              <a:buFont typeface="Arial"/>
              <a:buNone/>
            </a:pPr>
            <a:r>
              <a:rPr b="1" i="0" lang="en-US" sz="7200" u="none" cap="none" strike="noStrike">
                <a:solidFill>
                  <a:srgbClr val="018345"/>
                </a:solidFill>
                <a:latin typeface="Montserrat"/>
                <a:ea typeface="Montserrat"/>
                <a:cs typeface="Montserrat"/>
                <a:sym typeface="Montserrat"/>
              </a:rPr>
              <a:t>VÀ LỆ PHÍ</a:t>
            </a:r>
            <a:endParaRPr b="0" i="0" sz="7200" u="none" cap="none" strike="noStrike">
              <a:solidFill>
                <a:srgbClr val="000000"/>
              </a:solidFill>
              <a:latin typeface="Arial"/>
              <a:ea typeface="Arial"/>
              <a:cs typeface="Arial"/>
              <a:sym typeface="Arial"/>
            </a:endParaRPr>
          </a:p>
        </p:txBody>
      </p:sp>
      <p:sp>
        <p:nvSpPr>
          <p:cNvPr id="371" name="Google Shape;371;p26"/>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03</a:t>
            </a:r>
            <a:endParaRPr b="0" i="0" sz="1400" u="none" cap="none" strike="noStrike">
              <a:solidFill>
                <a:srgbClr val="000000"/>
              </a:solidFill>
              <a:latin typeface="Arial"/>
              <a:ea typeface="Arial"/>
              <a:cs typeface="Arial"/>
              <a:sym typeface="Arial"/>
            </a:endParaRPr>
          </a:p>
        </p:txBody>
      </p:sp>
      <p:grpSp>
        <p:nvGrpSpPr>
          <p:cNvPr id="372" name="Google Shape;372;p26"/>
          <p:cNvGrpSpPr/>
          <p:nvPr/>
        </p:nvGrpSpPr>
        <p:grpSpPr>
          <a:xfrm>
            <a:off x="-10653311" y="9274528"/>
            <a:ext cx="15885701" cy="1707231"/>
            <a:chOff x="-10653311" y="9133345"/>
            <a:chExt cx="15885701" cy="1707231"/>
          </a:xfrm>
        </p:grpSpPr>
        <p:grpSp>
          <p:nvGrpSpPr>
            <p:cNvPr id="373" name="Google Shape;373;p26"/>
            <p:cNvGrpSpPr/>
            <p:nvPr/>
          </p:nvGrpSpPr>
          <p:grpSpPr>
            <a:xfrm>
              <a:off x="-2718010" y="9133345"/>
              <a:ext cx="7950400" cy="1707231"/>
              <a:chOff x="0" y="-384762"/>
              <a:chExt cx="10600533" cy="2276307"/>
            </a:xfrm>
          </p:grpSpPr>
          <p:grpSp>
            <p:nvGrpSpPr>
              <p:cNvPr id="374" name="Google Shape;374;p26"/>
              <p:cNvGrpSpPr/>
              <p:nvPr/>
            </p:nvGrpSpPr>
            <p:grpSpPr>
              <a:xfrm>
                <a:off x="0" y="-384762"/>
                <a:ext cx="10600533" cy="2276307"/>
                <a:chOff x="0" y="-38100"/>
                <a:chExt cx="1049690" cy="225405"/>
              </a:xfrm>
            </p:grpSpPr>
            <p:sp>
              <p:nvSpPr>
                <p:cNvPr id="375" name="Google Shape;375;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76" name="Google Shape;376;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7" name="Google Shape;377;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26"/>
            <p:cNvSpPr txBox="1"/>
            <p:nvPr/>
          </p:nvSpPr>
          <p:spPr>
            <a:xfrm>
              <a:off x="-10653311" y="9715322"/>
              <a:ext cx="13923203" cy="241285"/>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t/>
              </a:r>
              <a:endParaRPr b="0" i="0" sz="1400" u="none" cap="none" strike="noStrike">
                <a:solidFill>
                  <a:srgbClr val="000000"/>
                </a:solidFill>
                <a:latin typeface="Arial"/>
                <a:ea typeface="Arial"/>
                <a:cs typeface="Arial"/>
                <a:sym typeface="Arial"/>
              </a:endParaRPr>
            </a:p>
          </p:txBody>
        </p:sp>
      </p:grpSp>
      <p:pic>
        <p:nvPicPr>
          <p:cNvPr descr="Graph and note paper pads with pencil" id="379" name="Google Shape;379;p26"/>
          <p:cNvPicPr preferRelativeResize="0"/>
          <p:nvPr/>
        </p:nvPicPr>
        <p:blipFill rotWithShape="1">
          <a:blip r:embed="rId5">
            <a:alphaModFix/>
          </a:blip>
          <a:srcRect b="0" l="0" r="0" t="0"/>
          <a:stretch/>
        </p:blipFill>
        <p:spPr>
          <a:xfrm>
            <a:off x="9597960" y="5458663"/>
            <a:ext cx="4828337" cy="48283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71"/>
                                        </p:tgtEl>
                                        <p:attrNameLst>
                                          <p:attrName>style.visibility</p:attrName>
                                        </p:attrNameLst>
                                      </p:cBhvr>
                                      <p:to>
                                        <p:strVal val="visible"/>
                                      </p:to>
                                    </p:set>
                                    <p:anim calcmode="lin" valueType="num">
                                      <p:cBhvr additive="base">
                                        <p:cTn dur="500"/>
                                        <p:tgtEl>
                                          <p:spTgt spid="371"/>
                                        </p:tgtEl>
                                        <p:attrNameLst>
                                          <p:attrName>ppt_w</p:attrName>
                                        </p:attrNameLst>
                                      </p:cBhvr>
                                      <p:tavLst>
                                        <p:tav fmla="" tm="0">
                                          <p:val>
                                            <p:strVal val="0"/>
                                          </p:val>
                                        </p:tav>
                                        <p:tav fmla="" tm="100000">
                                          <p:val>
                                            <p:strVal val="#ppt_w"/>
                                          </p:val>
                                        </p:tav>
                                      </p:tavLst>
                                    </p:anim>
                                    <p:anim calcmode="lin" valueType="num">
                                      <p:cBhvr additive="base">
                                        <p:cTn dur="500"/>
                                        <p:tgtEl>
                                          <p:spTgt spid="37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70"/>
                                        </p:tgtEl>
                                        <p:attrNameLst>
                                          <p:attrName>style.visibility</p:attrName>
                                        </p:attrNameLst>
                                      </p:cBhvr>
                                      <p:to>
                                        <p:strVal val="visible"/>
                                      </p:to>
                                    </p:set>
                                    <p:anim calcmode="lin" valueType="num">
                                      <p:cBhvr additive="base">
                                        <p:cTn dur="500"/>
                                        <p:tgtEl>
                                          <p:spTgt spid="370"/>
                                        </p:tgtEl>
                                        <p:attrNameLst>
                                          <p:attrName>ppt_w</p:attrName>
                                        </p:attrNameLst>
                                      </p:cBhvr>
                                      <p:tavLst>
                                        <p:tav fmla="" tm="0">
                                          <p:val>
                                            <p:strVal val="0"/>
                                          </p:val>
                                        </p:tav>
                                        <p:tav fmla="" tm="100000">
                                          <p:val>
                                            <p:strVal val="#ppt_w"/>
                                          </p:val>
                                        </p:tav>
                                      </p:tavLst>
                                    </p:anim>
                                    <p:anim calcmode="lin" valueType="num">
                                      <p:cBhvr additive="base">
                                        <p:cTn dur="500"/>
                                        <p:tgtEl>
                                          <p:spTgt spid="37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7"/>
          <p:cNvSpPr txBox="1"/>
          <p:nvPr/>
        </p:nvSpPr>
        <p:spPr>
          <a:xfrm>
            <a:off x="4682707" y="999283"/>
            <a:ext cx="13215313" cy="930704"/>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1" i="0" lang="en-US" sz="5400" u="none" cap="none" strike="noStrike">
                <a:solidFill>
                  <a:srgbClr val="018345"/>
                </a:solidFill>
                <a:latin typeface="Arial"/>
                <a:ea typeface="Arial"/>
                <a:cs typeface="Arial"/>
                <a:sym typeface="Arial"/>
              </a:rPr>
              <a:t>CÁCH THỨC ĐĂNG KÍ VÀ LỆ PHÍ</a:t>
            </a:r>
            <a:endParaRPr/>
          </a:p>
        </p:txBody>
      </p:sp>
      <p:cxnSp>
        <p:nvCxnSpPr>
          <p:cNvPr id="385" name="Google Shape;385;p27"/>
          <p:cNvCxnSpPr/>
          <p:nvPr/>
        </p:nvCxnSpPr>
        <p:spPr>
          <a:xfrm>
            <a:off x="5932598" y="2307404"/>
            <a:ext cx="11307428" cy="0"/>
          </a:xfrm>
          <a:prstGeom prst="straightConnector1">
            <a:avLst/>
          </a:prstGeom>
          <a:noFill/>
          <a:ln cap="flat" cmpd="sng" w="38100">
            <a:solidFill>
              <a:srgbClr val="018345"/>
            </a:solidFill>
            <a:prstDash val="solid"/>
            <a:round/>
            <a:headEnd len="sm" w="sm" type="none"/>
            <a:tailEnd len="sm" w="sm" type="none"/>
          </a:ln>
        </p:spPr>
      </p:cxnSp>
      <p:grpSp>
        <p:nvGrpSpPr>
          <p:cNvPr id="386" name="Google Shape;386;p27"/>
          <p:cNvGrpSpPr/>
          <p:nvPr/>
        </p:nvGrpSpPr>
        <p:grpSpPr>
          <a:xfrm rot="10800000">
            <a:off x="14951203" y="-741521"/>
            <a:ext cx="7681766" cy="4260610"/>
            <a:chOff x="0" y="-38100"/>
            <a:chExt cx="406400" cy="225405"/>
          </a:xfrm>
        </p:grpSpPr>
        <p:sp>
          <p:nvSpPr>
            <p:cNvPr id="387" name="Google Shape;387;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8" name="Google Shape;388;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9" name="Google Shape;389;p27"/>
          <p:cNvGrpSpPr/>
          <p:nvPr/>
        </p:nvGrpSpPr>
        <p:grpSpPr>
          <a:xfrm>
            <a:off x="6375842" y="2654260"/>
            <a:ext cx="10541964" cy="1433865"/>
            <a:chOff x="6375842" y="2654260"/>
            <a:chExt cx="10541964" cy="1433865"/>
          </a:xfrm>
        </p:grpSpPr>
        <p:sp>
          <p:nvSpPr>
            <p:cNvPr id="390" name="Google Shape;390;p27"/>
            <p:cNvSpPr/>
            <p:nvPr/>
          </p:nvSpPr>
          <p:spPr>
            <a:xfrm>
              <a:off x="6375842" y="2798921"/>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391" name="Google Shape;391;p27"/>
            <p:cNvSpPr txBox="1"/>
            <p:nvPr/>
          </p:nvSpPr>
          <p:spPr>
            <a:xfrm>
              <a:off x="6375842" y="2654260"/>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392" name="Google Shape;392;p27"/>
            <p:cNvSpPr/>
            <p:nvPr/>
          </p:nvSpPr>
          <p:spPr>
            <a:xfrm>
              <a:off x="6375842" y="2798921"/>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lt1"/>
                </a:solidFill>
                <a:latin typeface="Arial"/>
                <a:ea typeface="Arial"/>
                <a:cs typeface="Arial"/>
                <a:sym typeface="Arial"/>
              </a:endParaRPr>
            </a:p>
          </p:txBody>
        </p:sp>
        <p:sp>
          <p:nvSpPr>
            <p:cNvPr descr="Puzzle with solid fill" id="393" name="Google Shape;393;p27"/>
            <p:cNvSpPr/>
            <p:nvPr/>
          </p:nvSpPr>
          <p:spPr>
            <a:xfrm>
              <a:off x="6604211" y="3027290"/>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sp>
          <p:nvSpPr>
            <p:cNvPr id="394" name="Google Shape;394;p27"/>
            <p:cNvSpPr txBox="1"/>
            <p:nvPr/>
          </p:nvSpPr>
          <p:spPr>
            <a:xfrm>
              <a:off x="7711003" y="3113942"/>
              <a:ext cx="8651100" cy="51706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2800" u="none" cap="none" strike="noStrike">
                  <a:solidFill>
                    <a:schemeClr val="lt1"/>
                  </a:solidFill>
                  <a:latin typeface="Calibri"/>
                  <a:ea typeface="Calibri"/>
                  <a:cs typeface="Calibri"/>
                  <a:sym typeface="Calibri"/>
                </a:rPr>
                <a:t>Lệ phí thi Aptis ESOL là VND2.000.000.</a:t>
              </a:r>
              <a:endParaRPr b="0" i="0" sz="2800" u="none" cap="none" strike="noStrike">
                <a:solidFill>
                  <a:schemeClr val="lt1"/>
                </a:solidFill>
                <a:latin typeface="Montserrat"/>
                <a:ea typeface="Montserrat"/>
                <a:cs typeface="Montserrat"/>
                <a:sym typeface="Montserrat"/>
              </a:endParaRPr>
            </a:p>
          </p:txBody>
        </p:sp>
      </p:grpSp>
      <p:sp>
        <p:nvSpPr>
          <p:cNvPr descr="Books with solid fill" id="395" name="Google Shape;395;p2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4">
              <a:alphaModFix/>
            </a:blip>
            <a:stretch>
              <a:fillRect b="0" l="0" r="0" t="0"/>
            </a:stretch>
          </a:blipFill>
          <a:ln>
            <a:noFill/>
          </a:ln>
        </p:spPr>
      </p:sp>
      <p:grpSp>
        <p:nvGrpSpPr>
          <p:cNvPr id="396" name="Google Shape;396;p27"/>
          <p:cNvGrpSpPr/>
          <p:nvPr/>
        </p:nvGrpSpPr>
        <p:grpSpPr>
          <a:xfrm>
            <a:off x="6375842" y="6151456"/>
            <a:ext cx="10541964" cy="1433865"/>
            <a:chOff x="6375842" y="6151456"/>
            <a:chExt cx="10541964" cy="1433865"/>
          </a:xfrm>
        </p:grpSpPr>
        <p:sp>
          <p:nvSpPr>
            <p:cNvPr id="397" name="Google Shape;397;p27"/>
            <p:cNvSpPr/>
            <p:nvPr/>
          </p:nvSpPr>
          <p:spPr>
            <a:xfrm>
              <a:off x="6375842" y="6278355"/>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398" name="Google Shape;398;p27"/>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399" name="Google Shape;399;p27"/>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lt1"/>
                </a:solidFill>
                <a:latin typeface="Arial"/>
                <a:ea typeface="Arial"/>
                <a:cs typeface="Arial"/>
                <a:sym typeface="Arial"/>
              </a:endParaRPr>
            </a:p>
          </p:txBody>
        </p:sp>
        <p:sp>
          <p:nvSpPr>
            <p:cNvPr id="400" name="Google Shape;400;p27"/>
            <p:cNvSpPr txBox="1"/>
            <p:nvPr/>
          </p:nvSpPr>
          <p:spPr>
            <a:xfrm>
              <a:off x="7741542" y="6468611"/>
              <a:ext cx="9176264" cy="86177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Thí sinh từ 16-18 tuổi cần Phiếu xác nhận thông tin với xác nhận của người giám hộ, gửi trước 5 ngày thi. </a:t>
              </a:r>
              <a:endParaRPr b="0" i="0" sz="2800" u="none" cap="none" strike="noStrike">
                <a:solidFill>
                  <a:schemeClr val="lt1"/>
                </a:solidFill>
                <a:latin typeface="Calibri"/>
                <a:ea typeface="Calibri"/>
                <a:cs typeface="Calibri"/>
                <a:sym typeface="Calibri"/>
              </a:endParaRPr>
            </a:p>
          </p:txBody>
        </p:sp>
        <p:sp>
          <p:nvSpPr>
            <p:cNvPr descr="Books with solid fill" id="401" name="Google Shape;401;p27"/>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4">
                <a:alphaModFix/>
              </a:blip>
              <a:stretch>
                <a:fillRect b="0" l="0" r="0" t="0"/>
              </a:stretch>
            </a:blipFill>
            <a:ln>
              <a:noFill/>
            </a:ln>
          </p:spPr>
        </p:sp>
      </p:grpSp>
      <p:grpSp>
        <p:nvGrpSpPr>
          <p:cNvPr id="402" name="Google Shape;402;p27"/>
          <p:cNvGrpSpPr/>
          <p:nvPr/>
        </p:nvGrpSpPr>
        <p:grpSpPr>
          <a:xfrm>
            <a:off x="6375842" y="4481252"/>
            <a:ext cx="10541964" cy="1433865"/>
            <a:chOff x="6375842" y="4481252"/>
            <a:chExt cx="10541964" cy="1433865"/>
          </a:xfrm>
        </p:grpSpPr>
        <p:sp>
          <p:nvSpPr>
            <p:cNvPr id="403" name="Google Shape;403;p27"/>
            <p:cNvSpPr/>
            <p:nvPr/>
          </p:nvSpPr>
          <p:spPr>
            <a:xfrm>
              <a:off x="6375842" y="4592882"/>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404" name="Google Shape;404;p27"/>
            <p:cNvSpPr txBox="1"/>
            <p:nvPr/>
          </p:nvSpPr>
          <p:spPr>
            <a:xfrm>
              <a:off x="6375842" y="4481252"/>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405" name="Google Shape;405;p27"/>
            <p:cNvSpPr/>
            <p:nvPr/>
          </p:nvSpPr>
          <p:spPr>
            <a:xfrm>
              <a:off x="6375842" y="462591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lt1"/>
                </a:solidFill>
                <a:latin typeface="Arial"/>
                <a:ea typeface="Arial"/>
                <a:cs typeface="Arial"/>
                <a:sym typeface="Arial"/>
              </a:endParaRPr>
            </a:p>
          </p:txBody>
        </p:sp>
        <p:sp>
          <p:nvSpPr>
            <p:cNvPr id="406" name="Google Shape;406;p27"/>
            <p:cNvSpPr txBox="1"/>
            <p:nvPr/>
          </p:nvSpPr>
          <p:spPr>
            <a:xfrm>
              <a:off x="7711003" y="4940934"/>
              <a:ext cx="8901128" cy="51706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2800" u="none" cap="none" strike="noStrike">
                  <a:solidFill>
                    <a:schemeClr val="lt1"/>
                  </a:solidFill>
                  <a:latin typeface="Calibri"/>
                  <a:ea typeface="Calibri"/>
                  <a:cs typeface="Calibri"/>
                  <a:sym typeface="Calibri"/>
                </a:rPr>
                <a:t>Dành cho thí sinh từ 16 tuổi trở lên ở thời điểm thi.</a:t>
              </a:r>
              <a:endParaRPr b="0" i="0" sz="2800" u="none" cap="none" strike="noStrike">
                <a:solidFill>
                  <a:schemeClr val="lt1"/>
                </a:solidFill>
                <a:latin typeface="Arial"/>
                <a:ea typeface="Arial"/>
                <a:cs typeface="Arial"/>
                <a:sym typeface="Arial"/>
              </a:endParaRPr>
            </a:p>
          </p:txBody>
        </p:sp>
        <p:sp>
          <p:nvSpPr>
            <p:cNvPr descr="Clipboard with solid fill" id="407" name="Google Shape;407;p27"/>
            <p:cNvSpPr/>
            <p:nvPr/>
          </p:nvSpPr>
          <p:spPr>
            <a:xfrm>
              <a:off x="6604212" y="4847235"/>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5">
                <a:alphaModFix/>
              </a:blip>
              <a:stretch>
                <a:fillRect b="0" l="0" r="0" t="0"/>
              </a:stretch>
            </a:blipFill>
            <a:ln>
              <a:noFill/>
            </a:ln>
          </p:spPr>
        </p:sp>
      </p:grpSp>
      <p:sp>
        <p:nvSpPr>
          <p:cNvPr id="408" name="Google Shape;408;p27"/>
          <p:cNvSpPr txBox="1"/>
          <p:nvPr/>
        </p:nvSpPr>
        <p:spPr>
          <a:xfrm>
            <a:off x="6487861" y="7823700"/>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grpSp>
        <p:nvGrpSpPr>
          <p:cNvPr id="409" name="Google Shape;409;p27"/>
          <p:cNvGrpSpPr/>
          <p:nvPr/>
        </p:nvGrpSpPr>
        <p:grpSpPr>
          <a:xfrm>
            <a:off x="6487861" y="7950599"/>
            <a:ext cx="10571781" cy="1289204"/>
            <a:chOff x="6487861" y="7950599"/>
            <a:chExt cx="10571781" cy="1289204"/>
          </a:xfrm>
        </p:grpSpPr>
        <p:sp>
          <p:nvSpPr>
            <p:cNvPr id="410" name="Google Shape;410;p27"/>
            <p:cNvSpPr/>
            <p:nvPr/>
          </p:nvSpPr>
          <p:spPr>
            <a:xfrm>
              <a:off x="6517678" y="7950599"/>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800" u="none" cap="none" strike="noStrike">
                <a:solidFill>
                  <a:schemeClr val="lt1"/>
                </a:solidFill>
                <a:latin typeface="Calibri"/>
                <a:ea typeface="Calibri"/>
                <a:cs typeface="Calibri"/>
                <a:sym typeface="Calibri"/>
              </a:endParaRPr>
            </a:p>
          </p:txBody>
        </p:sp>
        <p:sp>
          <p:nvSpPr>
            <p:cNvPr id="411" name="Google Shape;411;p27"/>
            <p:cNvSpPr/>
            <p:nvPr/>
          </p:nvSpPr>
          <p:spPr>
            <a:xfrm>
              <a:off x="6487861" y="7968361"/>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lt1"/>
                </a:solidFill>
                <a:latin typeface="Arial"/>
                <a:ea typeface="Arial"/>
                <a:cs typeface="Arial"/>
                <a:sym typeface="Arial"/>
              </a:endParaRPr>
            </a:p>
          </p:txBody>
        </p:sp>
        <p:sp>
          <p:nvSpPr>
            <p:cNvPr id="412" name="Google Shape;412;p27"/>
            <p:cNvSpPr txBox="1"/>
            <p:nvPr/>
          </p:nvSpPr>
          <p:spPr>
            <a:xfrm>
              <a:off x="7771359" y="8109745"/>
              <a:ext cx="8585125" cy="861774"/>
            </a:xfrm>
            <a:prstGeom prst="rect">
              <a:avLst/>
            </a:prstGeom>
            <a:noFill/>
            <a:ln>
              <a:noFill/>
            </a:ln>
          </p:spPr>
          <p:txBody>
            <a:bodyPr anchorCtr="0" anchor="t" bIns="0" lIns="0" spcFirstLastPara="1" rIns="0" wrap="square" tIns="0">
              <a:spAutoFit/>
            </a:bodyPr>
            <a:lstStyle/>
            <a:p>
              <a:pPr indent="0" lvl="0" marL="7620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Có thể đăng kí thông qua các Đơn vị Phân phối bài thi Aptis ESOL tại </a:t>
              </a:r>
              <a:r>
                <a:rPr b="1" i="0" lang="en-US" sz="2800" u="none" cap="none" strike="noStrike">
                  <a:solidFill>
                    <a:schemeClr val="lt1"/>
                  </a:solidFill>
                  <a:latin typeface="Calibri"/>
                  <a:ea typeface="Calibri"/>
                  <a:cs typeface="Calibri"/>
                  <a:sym typeface="Calibri"/>
                </a:rPr>
                <a:t>website https://ap</a:t>
              </a:r>
              <a:r>
                <a:rPr b="1" lang="en-US" sz="2800">
                  <a:solidFill>
                    <a:schemeClr val="lt1"/>
                  </a:solidFill>
                  <a:latin typeface="Calibri"/>
                  <a:ea typeface="Calibri"/>
                  <a:cs typeface="Calibri"/>
                  <a:sym typeface="Calibri"/>
                </a:rPr>
                <a:t>t</a:t>
              </a:r>
              <a:r>
                <a:rPr b="1" i="0" lang="en-US" sz="2800" u="none" cap="none" strike="noStrike">
                  <a:solidFill>
                    <a:schemeClr val="lt1"/>
                  </a:solidFill>
                  <a:latin typeface="Calibri"/>
                  <a:ea typeface="Calibri"/>
                  <a:cs typeface="Calibri"/>
                  <a:sym typeface="Calibri"/>
                </a:rPr>
                <a:t>istests.vn/</a:t>
              </a:r>
              <a:endParaRPr b="1" i="0" sz="2800" u="none" cap="none" strike="noStrike">
                <a:solidFill>
                  <a:schemeClr val="lt1"/>
                </a:solidFill>
                <a:latin typeface="Arial"/>
                <a:ea typeface="Arial"/>
                <a:cs typeface="Arial"/>
                <a:sym typeface="Arial"/>
              </a:endParaRPr>
            </a:p>
          </p:txBody>
        </p:sp>
        <p:sp>
          <p:nvSpPr>
            <p:cNvPr descr="Headphones with solid fill" id="413" name="Google Shape;413;p27"/>
            <p:cNvSpPr/>
            <p:nvPr/>
          </p:nvSpPr>
          <p:spPr>
            <a:xfrm>
              <a:off x="6716231" y="8196731"/>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6">
                <a:alphaModFix/>
              </a:blip>
              <a:stretch>
                <a:fillRect b="0" l="0" r="0" t="0"/>
              </a:stretch>
            </a:blipFill>
            <a:ln>
              <a:noFill/>
            </a:ln>
          </p:spPr>
        </p:sp>
      </p:grpSp>
      <p:sp>
        <p:nvSpPr>
          <p:cNvPr id="414" name="Google Shape;414;p27"/>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415" name="Google Shape;415;p27"/>
          <p:cNvGrpSpPr/>
          <p:nvPr/>
        </p:nvGrpSpPr>
        <p:grpSpPr>
          <a:xfrm>
            <a:off x="-2718010" y="9274528"/>
            <a:ext cx="7950400" cy="1707231"/>
            <a:chOff x="0" y="-384762"/>
            <a:chExt cx="10600533" cy="2276307"/>
          </a:xfrm>
        </p:grpSpPr>
        <p:grpSp>
          <p:nvGrpSpPr>
            <p:cNvPr id="416" name="Google Shape;416;p27"/>
            <p:cNvGrpSpPr/>
            <p:nvPr/>
          </p:nvGrpSpPr>
          <p:grpSpPr>
            <a:xfrm>
              <a:off x="0" y="-384762"/>
              <a:ext cx="10600533" cy="2276307"/>
              <a:chOff x="0" y="-38100"/>
              <a:chExt cx="1049690" cy="225405"/>
            </a:xfrm>
          </p:grpSpPr>
          <p:sp>
            <p:nvSpPr>
              <p:cNvPr id="417" name="Google Shape;417;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18" name="Google Shape;418;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9" name="Google Shape;419;p2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ppt_w</p:attrName>
                                        </p:attrNameLst>
                                      </p:cBhvr>
                                      <p:tavLst>
                                        <p:tav fmla="" tm="0">
                                          <p:val>
                                            <p:strVal val="0"/>
                                          </p:val>
                                        </p:tav>
                                        <p:tav fmla="" tm="100000">
                                          <p:val>
                                            <p:strVal val="#ppt_w"/>
                                          </p:val>
                                        </p:tav>
                                      </p:tavLst>
                                    </p:anim>
                                    <p:anim calcmode="lin" valueType="num">
                                      <p:cBhvr additive="base">
                                        <p:cTn dur="500"/>
                                        <p:tgtEl>
                                          <p:spTgt spid="38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9"/>
                                        </p:tgtEl>
                                        <p:attrNameLst>
                                          <p:attrName>style.visibility</p:attrName>
                                        </p:attrNameLst>
                                      </p:cBhvr>
                                      <p:to>
                                        <p:strVal val="visible"/>
                                      </p:to>
                                    </p:set>
                                    <p:anim calcmode="lin" valueType="num">
                                      <p:cBhvr additive="base">
                                        <p:cTn dur="500"/>
                                        <p:tgtEl>
                                          <p:spTgt spid="38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5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6"/>
                                        </p:tgtEl>
                                        <p:attrNameLst>
                                          <p:attrName>style.visibility</p:attrName>
                                        </p:attrNameLst>
                                      </p:cBhvr>
                                      <p:to>
                                        <p:strVal val="visible"/>
                                      </p:to>
                                    </p:set>
                                    <p:anim calcmode="lin" valueType="num">
                                      <p:cBhvr additive="base">
                                        <p:cTn dur="500"/>
                                        <p:tgtEl>
                                          <p:spTgt spid="39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9"/>
                                        </p:tgtEl>
                                        <p:attrNameLst>
                                          <p:attrName>style.visibility</p:attrName>
                                        </p:attrNameLst>
                                      </p:cBhvr>
                                      <p:to>
                                        <p:strVal val="visible"/>
                                      </p:to>
                                    </p:set>
                                    <p:anim calcmode="lin" valueType="num">
                                      <p:cBhvr additive="base">
                                        <p:cTn dur="500"/>
                                        <p:tgtEl>
                                          <p:spTgt spid="40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cxnSp>
        <p:nvCxnSpPr>
          <p:cNvPr id="424" name="Google Shape;424;p28"/>
          <p:cNvCxnSpPr/>
          <p:nvPr/>
        </p:nvCxnSpPr>
        <p:spPr>
          <a:xfrm>
            <a:off x="6937829" y="2456269"/>
            <a:ext cx="10740572" cy="0"/>
          </a:xfrm>
          <a:prstGeom prst="straightConnector1">
            <a:avLst/>
          </a:prstGeom>
          <a:noFill/>
          <a:ln cap="flat" cmpd="sng" w="38100">
            <a:solidFill>
              <a:srgbClr val="018345"/>
            </a:solidFill>
            <a:prstDash val="solid"/>
            <a:round/>
            <a:headEnd len="sm" w="sm" type="none"/>
            <a:tailEnd len="sm" w="sm" type="none"/>
          </a:ln>
        </p:spPr>
      </p:cxnSp>
      <p:cxnSp>
        <p:nvCxnSpPr>
          <p:cNvPr id="425" name="Google Shape;425;p2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26" name="Google Shape;426;p28"/>
          <p:cNvGrpSpPr/>
          <p:nvPr/>
        </p:nvGrpSpPr>
        <p:grpSpPr>
          <a:xfrm rot="10800000">
            <a:off x="15044552" y="-741521"/>
            <a:ext cx="7681766" cy="4260610"/>
            <a:chOff x="0" y="-38100"/>
            <a:chExt cx="406400" cy="225405"/>
          </a:xfrm>
        </p:grpSpPr>
        <p:sp>
          <p:nvSpPr>
            <p:cNvPr id="427" name="Google Shape;427;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8" name="Google Shape;428;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28"/>
          <p:cNvSpPr txBox="1"/>
          <p:nvPr/>
        </p:nvSpPr>
        <p:spPr>
          <a:xfrm>
            <a:off x="5837093" y="1040880"/>
            <a:ext cx="13048342" cy="1143518"/>
          </a:xfrm>
          <a:prstGeom prst="rect">
            <a:avLst/>
          </a:prstGeom>
          <a:noFill/>
          <a:ln>
            <a:noFill/>
          </a:ln>
        </p:spPr>
        <p:txBody>
          <a:bodyPr anchorCtr="0" anchor="t" bIns="0" lIns="0" spcFirstLastPara="1" rIns="0" wrap="square" tIns="0">
            <a:spAutoFit/>
          </a:bodyPr>
          <a:lstStyle/>
          <a:p>
            <a:pPr indent="0" lvl="0" marL="0" marR="0" rtl="0" algn="ctr">
              <a:lnSpc>
                <a:spcPct val="134992"/>
              </a:lnSpc>
              <a:spcBef>
                <a:spcPts val="0"/>
              </a:spcBef>
              <a:spcAft>
                <a:spcPts val="0"/>
              </a:spcAft>
              <a:buClr>
                <a:srgbClr val="000000"/>
              </a:buClr>
              <a:buSzPts val="5504"/>
              <a:buFont typeface="Arial"/>
              <a:buNone/>
            </a:pPr>
            <a:r>
              <a:rPr b="1" i="0" lang="en-US" sz="5504" u="none" cap="none" strike="noStrike">
                <a:solidFill>
                  <a:srgbClr val="018345"/>
                </a:solidFill>
                <a:latin typeface="Montserrat"/>
                <a:ea typeface="Montserrat"/>
                <a:cs typeface="Montserrat"/>
                <a:sym typeface="Montserrat"/>
              </a:rPr>
              <a:t>LƯU Ý KHI ĐI THI</a:t>
            </a:r>
            <a:endParaRPr b="1" i="0" sz="5504" u="none" cap="none" strike="noStrike">
              <a:solidFill>
                <a:srgbClr val="018345"/>
              </a:solidFill>
              <a:latin typeface="Montserrat"/>
              <a:ea typeface="Montserrat"/>
              <a:cs typeface="Montserrat"/>
              <a:sym typeface="Montserrat"/>
            </a:endParaRPr>
          </a:p>
        </p:txBody>
      </p:sp>
      <p:sp>
        <p:nvSpPr>
          <p:cNvPr descr="Books with solid fill" id="430" name="Google Shape;430;p2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31" name="Google Shape;431;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32" name="Google Shape;432;p28"/>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433" name="Google Shape;433;p28"/>
          <p:cNvGrpSpPr/>
          <p:nvPr/>
        </p:nvGrpSpPr>
        <p:grpSpPr>
          <a:xfrm>
            <a:off x="-2718010" y="9274528"/>
            <a:ext cx="7950400" cy="1707231"/>
            <a:chOff x="0" y="-384762"/>
            <a:chExt cx="10600533" cy="2276307"/>
          </a:xfrm>
        </p:grpSpPr>
        <p:grpSp>
          <p:nvGrpSpPr>
            <p:cNvPr id="434" name="Google Shape;434;p28"/>
            <p:cNvGrpSpPr/>
            <p:nvPr/>
          </p:nvGrpSpPr>
          <p:grpSpPr>
            <a:xfrm>
              <a:off x="0" y="-384762"/>
              <a:ext cx="10600533" cy="2276307"/>
              <a:chOff x="0" y="-38100"/>
              <a:chExt cx="1049690" cy="225405"/>
            </a:xfrm>
          </p:grpSpPr>
          <p:sp>
            <p:nvSpPr>
              <p:cNvPr id="435" name="Google Shape;435;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6" name="Google Shape;436;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7" name="Google Shape;437;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8" name="Google Shape;438;p28"/>
          <p:cNvSpPr/>
          <p:nvPr/>
        </p:nvSpPr>
        <p:spPr>
          <a:xfrm>
            <a:off x="9111388" y="3018347"/>
            <a:ext cx="6834856" cy="1001483"/>
          </a:xfrm>
          <a:prstGeom prst="roundRect">
            <a:avLst>
              <a:gd fmla="val 16667" name="adj"/>
            </a:avLst>
          </a:prstGeom>
          <a:solidFill>
            <a:schemeClr val="lt1"/>
          </a:solidFill>
          <a:ln cap="flat" cmpd="sng" w="25400">
            <a:solidFill>
              <a:srgbClr val="0181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6600"/>
                </a:solidFill>
                <a:latin typeface="Calibri"/>
                <a:ea typeface="Calibri"/>
                <a:cs typeface="Calibri"/>
                <a:sym typeface="Calibri"/>
              </a:rPr>
              <a:t>Bạn nên đến sớm hơn so với giờ thi Aptis ESOL.</a:t>
            </a:r>
            <a:endParaRPr b="0" i="0" sz="1400" u="none" cap="none" strike="noStrike">
              <a:solidFill>
                <a:srgbClr val="000000"/>
              </a:solidFill>
              <a:latin typeface="Arial"/>
              <a:ea typeface="Arial"/>
              <a:cs typeface="Arial"/>
              <a:sym typeface="Arial"/>
            </a:endParaRPr>
          </a:p>
        </p:txBody>
      </p:sp>
      <p:pic>
        <p:nvPicPr>
          <p:cNvPr descr="Atom with solid fill" id="439" name="Google Shape;439;p28"/>
          <p:cNvPicPr preferRelativeResize="0"/>
          <p:nvPr/>
        </p:nvPicPr>
        <p:blipFill rotWithShape="1">
          <a:blip r:embed="rId5">
            <a:alphaModFix/>
          </a:blip>
          <a:srcRect b="0" l="0" r="0" t="0"/>
          <a:stretch/>
        </p:blipFill>
        <p:spPr>
          <a:xfrm>
            <a:off x="6985559" y="1255996"/>
            <a:ext cx="1200497" cy="1200497"/>
          </a:xfrm>
          <a:prstGeom prst="rect">
            <a:avLst/>
          </a:prstGeom>
          <a:noFill/>
          <a:ln>
            <a:noFill/>
          </a:ln>
        </p:spPr>
      </p:pic>
      <p:pic>
        <p:nvPicPr>
          <p:cNvPr descr="Stack of books with pear" id="440" name="Google Shape;440;p28"/>
          <p:cNvPicPr preferRelativeResize="0"/>
          <p:nvPr/>
        </p:nvPicPr>
        <p:blipFill rotWithShape="1">
          <a:blip r:embed="rId6">
            <a:alphaModFix/>
          </a:blip>
          <a:srcRect b="0" l="0" r="0" t="0"/>
          <a:stretch/>
        </p:blipFill>
        <p:spPr>
          <a:xfrm>
            <a:off x="5346804" y="3019410"/>
            <a:ext cx="5467962" cy="5467962"/>
          </a:xfrm>
          <a:prstGeom prst="rect">
            <a:avLst/>
          </a:prstGeom>
          <a:noFill/>
          <a:ln>
            <a:noFill/>
          </a:ln>
        </p:spPr>
      </p:pic>
      <p:sp>
        <p:nvSpPr>
          <p:cNvPr id="441" name="Google Shape;441;p28"/>
          <p:cNvSpPr/>
          <p:nvPr/>
        </p:nvSpPr>
        <p:spPr>
          <a:xfrm>
            <a:off x="10207216" y="4640398"/>
            <a:ext cx="7035755" cy="1001483"/>
          </a:xfrm>
          <a:prstGeom prst="roundRect">
            <a:avLst>
              <a:gd fmla="val 16667" name="adj"/>
            </a:avLst>
          </a:prstGeom>
          <a:solidFill>
            <a:schemeClr val="lt1"/>
          </a:solidFill>
          <a:ln cap="flat" cmpd="sng" w="25400">
            <a:solidFill>
              <a:srgbClr val="0181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6600"/>
                </a:solidFill>
                <a:latin typeface="Calibri"/>
                <a:ea typeface="Calibri"/>
                <a:cs typeface="Calibri"/>
                <a:sym typeface="Calibri"/>
              </a:rPr>
              <a:t>Chuẩn bị đầy đủ trước khi tham dự kỳ thi.</a:t>
            </a:r>
            <a:endParaRPr b="0" i="0" sz="1400" u="none" cap="none" strike="noStrike">
              <a:solidFill>
                <a:srgbClr val="000000"/>
              </a:solidFill>
              <a:latin typeface="Arial"/>
              <a:ea typeface="Arial"/>
              <a:cs typeface="Arial"/>
              <a:sym typeface="Arial"/>
            </a:endParaRPr>
          </a:p>
        </p:txBody>
      </p:sp>
      <p:sp>
        <p:nvSpPr>
          <p:cNvPr id="442" name="Google Shape;442;p28"/>
          <p:cNvSpPr/>
          <p:nvPr/>
        </p:nvSpPr>
        <p:spPr>
          <a:xfrm>
            <a:off x="10555558" y="6321433"/>
            <a:ext cx="7286393" cy="1001483"/>
          </a:xfrm>
          <a:prstGeom prst="roundRect">
            <a:avLst>
              <a:gd fmla="val 16667" name="adj"/>
            </a:avLst>
          </a:prstGeom>
          <a:solidFill>
            <a:schemeClr val="lt1"/>
          </a:solidFill>
          <a:ln cap="flat" cmpd="sng" w="25400">
            <a:solidFill>
              <a:srgbClr val="0181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6600"/>
                </a:solidFill>
                <a:latin typeface="Calibri"/>
                <a:ea typeface="Calibri"/>
                <a:cs typeface="Calibri"/>
                <a:sym typeface="Calibri"/>
              </a:rPr>
              <a:t>Mang theo giấy tờ tùy thân đã sử dụng để đăng ký thi: Hộ chiếu, chứng minh thư/ căn cước công dân.</a:t>
            </a:r>
            <a:endParaRPr b="0" i="0" sz="1400" u="none" cap="none" strike="noStrike">
              <a:solidFill>
                <a:srgbClr val="000000"/>
              </a:solidFill>
              <a:latin typeface="Arial"/>
              <a:ea typeface="Arial"/>
              <a:cs typeface="Arial"/>
              <a:sym typeface="Arial"/>
            </a:endParaRPr>
          </a:p>
        </p:txBody>
      </p:sp>
      <p:sp>
        <p:nvSpPr>
          <p:cNvPr id="443" name="Google Shape;443;p28"/>
          <p:cNvSpPr/>
          <p:nvPr/>
        </p:nvSpPr>
        <p:spPr>
          <a:xfrm>
            <a:off x="9516598" y="7949782"/>
            <a:ext cx="7726373" cy="1001483"/>
          </a:xfrm>
          <a:prstGeom prst="roundRect">
            <a:avLst>
              <a:gd fmla="val 16667" name="adj"/>
            </a:avLst>
          </a:prstGeom>
          <a:solidFill>
            <a:schemeClr val="lt1"/>
          </a:solidFill>
          <a:ln cap="flat" cmpd="sng" w="25400">
            <a:solidFill>
              <a:srgbClr val="0181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6600"/>
                </a:solidFill>
                <a:latin typeface="Calibri"/>
                <a:ea typeface="Calibri"/>
                <a:cs typeface="Calibri"/>
                <a:sym typeface="Calibri"/>
              </a:rPr>
              <a:t>Các giám thị Aptis ESOL tại địa điểm thi sẽ kiểm tra thông tin trước khi bạn vào phòng thi và trong suốt quá trình thi.</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cxnSp>
        <p:nvCxnSpPr>
          <p:cNvPr id="448" name="Google Shape;448;p29"/>
          <p:cNvCxnSpPr/>
          <p:nvPr/>
        </p:nvCxnSpPr>
        <p:spPr>
          <a:xfrm>
            <a:off x="6186822" y="2191627"/>
            <a:ext cx="11650614" cy="0"/>
          </a:xfrm>
          <a:prstGeom prst="straightConnector1">
            <a:avLst/>
          </a:prstGeom>
          <a:noFill/>
          <a:ln cap="flat" cmpd="sng" w="38100">
            <a:solidFill>
              <a:srgbClr val="018345"/>
            </a:solidFill>
            <a:prstDash val="solid"/>
            <a:round/>
            <a:headEnd len="sm" w="sm" type="none"/>
            <a:tailEnd len="sm" w="sm" type="none"/>
          </a:ln>
        </p:spPr>
      </p:cxnSp>
      <p:cxnSp>
        <p:nvCxnSpPr>
          <p:cNvPr id="449" name="Google Shape;449;p2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50" name="Google Shape;450;p29"/>
          <p:cNvGrpSpPr/>
          <p:nvPr/>
        </p:nvGrpSpPr>
        <p:grpSpPr>
          <a:xfrm rot="10800000">
            <a:off x="15044552" y="-741521"/>
            <a:ext cx="7681766" cy="4260610"/>
            <a:chOff x="0" y="-38100"/>
            <a:chExt cx="406400" cy="225405"/>
          </a:xfrm>
        </p:grpSpPr>
        <p:sp>
          <p:nvSpPr>
            <p:cNvPr id="451" name="Google Shape;451;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2" name="Google Shape;452;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453" name="Google Shape;453;p2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54" name="Google Shape;454;p29"/>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55" name="Google Shape;455;p29"/>
          <p:cNvSpPr txBox="1"/>
          <p:nvPr/>
        </p:nvSpPr>
        <p:spPr>
          <a:xfrm>
            <a:off x="6697362" y="2416850"/>
            <a:ext cx="10303922" cy="2326791"/>
          </a:xfrm>
          <a:prstGeom prst="rect">
            <a:avLst/>
          </a:prstGeom>
          <a:noFill/>
          <a:ln>
            <a:noFill/>
          </a:ln>
        </p:spPr>
        <p:txBody>
          <a:bodyPr anchorCtr="0" anchor="t" bIns="0" lIns="0" spcFirstLastPara="1" rIns="0" wrap="square" tIns="0">
            <a:spAutoFit/>
          </a:bodyPr>
          <a:lstStyle/>
          <a:p>
            <a:pPr indent="0" lvl="0" marL="0" marR="0" rtl="0" algn="ctr">
              <a:lnSpc>
                <a:spcPct val="135011"/>
              </a:lnSpc>
              <a:spcBef>
                <a:spcPts val="0"/>
              </a:spcBef>
              <a:spcAft>
                <a:spcPts val="0"/>
              </a:spcAft>
              <a:buClr>
                <a:srgbClr val="000000"/>
              </a:buClr>
              <a:buSzPts val="8003"/>
              <a:buFont typeface="Arial"/>
              <a:buNone/>
            </a:pPr>
            <a:r>
              <a:rPr b="1" i="0" lang="en-US" sz="5600" u="none" cap="none" strike="noStrike">
                <a:solidFill>
                  <a:srgbClr val="018345"/>
                </a:solidFill>
                <a:latin typeface="Montserrat"/>
                <a:ea typeface="Montserrat"/>
                <a:cs typeface="Montserrat"/>
                <a:sym typeface="Montserrat"/>
              </a:rPr>
              <a:t>TẠI SAO NÊN LỰA CHỌN BÀI THI APTIS ESOL?</a:t>
            </a:r>
            <a:endParaRPr b="0" i="0" sz="5600" u="none" cap="none" strike="noStrike">
              <a:solidFill>
                <a:srgbClr val="000000"/>
              </a:solidFill>
              <a:latin typeface="Arial"/>
              <a:ea typeface="Arial"/>
              <a:cs typeface="Arial"/>
              <a:sym typeface="Arial"/>
            </a:endParaRPr>
          </a:p>
        </p:txBody>
      </p:sp>
      <p:sp>
        <p:nvSpPr>
          <p:cNvPr id="456" name="Google Shape;456;p29"/>
          <p:cNvSpPr txBox="1"/>
          <p:nvPr/>
        </p:nvSpPr>
        <p:spPr>
          <a:xfrm>
            <a:off x="10182106" y="339710"/>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04</a:t>
            </a:r>
            <a:endParaRPr b="0" i="0" sz="1400" u="none" cap="none" strike="noStrike">
              <a:solidFill>
                <a:srgbClr val="000000"/>
              </a:solidFill>
              <a:latin typeface="Arial"/>
              <a:ea typeface="Arial"/>
              <a:cs typeface="Arial"/>
              <a:sym typeface="Arial"/>
            </a:endParaRPr>
          </a:p>
        </p:txBody>
      </p:sp>
      <p:grpSp>
        <p:nvGrpSpPr>
          <p:cNvPr id="457" name="Google Shape;457;p29"/>
          <p:cNvGrpSpPr/>
          <p:nvPr/>
        </p:nvGrpSpPr>
        <p:grpSpPr>
          <a:xfrm>
            <a:off x="-2718010" y="9274528"/>
            <a:ext cx="7950400" cy="1707231"/>
            <a:chOff x="0" y="-384762"/>
            <a:chExt cx="10600533" cy="2276307"/>
          </a:xfrm>
        </p:grpSpPr>
        <p:grpSp>
          <p:nvGrpSpPr>
            <p:cNvPr id="458" name="Google Shape;458;p29"/>
            <p:cNvGrpSpPr/>
            <p:nvPr/>
          </p:nvGrpSpPr>
          <p:grpSpPr>
            <a:xfrm>
              <a:off x="0" y="-384762"/>
              <a:ext cx="10600533" cy="2276307"/>
              <a:chOff x="0" y="-38100"/>
              <a:chExt cx="1049690" cy="225405"/>
            </a:xfrm>
          </p:grpSpPr>
          <p:sp>
            <p:nvSpPr>
              <p:cNvPr id="459" name="Google Shape;459;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60" name="Google Shape;460;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1" name="Google Shape;461;p2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62" name="Google Shape;462;p29"/>
          <p:cNvPicPr preferRelativeResize="0"/>
          <p:nvPr/>
        </p:nvPicPr>
        <p:blipFill rotWithShape="1">
          <a:blip r:embed="rId5">
            <a:alphaModFix/>
          </a:blip>
          <a:srcRect b="0" l="0" r="0" t="0"/>
          <a:stretch/>
        </p:blipFill>
        <p:spPr>
          <a:xfrm>
            <a:off x="9144000" y="5143500"/>
            <a:ext cx="5383242" cy="38451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500"/>
                                        <p:tgtEl>
                                          <p:spTgt spid="456"/>
                                        </p:tgtEl>
                                        <p:attrNameLst>
                                          <p:attrName>ppt_w</p:attrName>
                                        </p:attrNameLst>
                                      </p:cBhvr>
                                      <p:tavLst>
                                        <p:tav fmla="" tm="0">
                                          <p:val>
                                            <p:strVal val="0"/>
                                          </p:val>
                                        </p:tav>
                                        <p:tav fmla="" tm="100000">
                                          <p:val>
                                            <p:strVal val="#ppt_w"/>
                                          </p:val>
                                        </p:tav>
                                      </p:tavLst>
                                    </p:anim>
                                    <p:anim calcmode="lin" valueType="num">
                                      <p:cBhvr additive="base">
                                        <p:cTn dur="500"/>
                                        <p:tgtEl>
                                          <p:spTgt spid="4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500"/>
                                        <p:tgtEl>
                                          <p:spTgt spid="455"/>
                                        </p:tgtEl>
                                        <p:attrNameLst>
                                          <p:attrName>ppt_w</p:attrName>
                                        </p:attrNameLst>
                                      </p:cBhvr>
                                      <p:tavLst>
                                        <p:tav fmla="" tm="0">
                                          <p:val>
                                            <p:strVal val="0"/>
                                          </p:val>
                                        </p:tav>
                                        <p:tav fmla="" tm="100000">
                                          <p:val>
                                            <p:strVal val="#ppt_w"/>
                                          </p:val>
                                        </p:tav>
                                      </p:tavLst>
                                    </p:anim>
                                    <p:anim calcmode="lin" valueType="num">
                                      <p:cBhvr additive="base">
                                        <p:cTn dur="500"/>
                                        <p:tgtEl>
                                          <p:spTgt spid="4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cxnSp>
        <p:nvCxnSpPr>
          <p:cNvPr id="467" name="Google Shape;467;p30"/>
          <p:cNvCxnSpPr/>
          <p:nvPr/>
        </p:nvCxnSpPr>
        <p:spPr>
          <a:xfrm>
            <a:off x="6937829" y="2456269"/>
            <a:ext cx="11350171" cy="0"/>
          </a:xfrm>
          <a:prstGeom prst="straightConnector1">
            <a:avLst/>
          </a:prstGeom>
          <a:noFill/>
          <a:ln cap="flat" cmpd="sng" w="38100">
            <a:solidFill>
              <a:srgbClr val="018345"/>
            </a:solidFill>
            <a:prstDash val="solid"/>
            <a:round/>
            <a:headEnd len="sm" w="sm" type="none"/>
            <a:tailEnd len="sm" w="sm" type="none"/>
          </a:ln>
        </p:spPr>
      </p:cxnSp>
      <p:grpSp>
        <p:nvGrpSpPr>
          <p:cNvPr id="468" name="Google Shape;468;p30"/>
          <p:cNvGrpSpPr/>
          <p:nvPr/>
        </p:nvGrpSpPr>
        <p:grpSpPr>
          <a:xfrm rot="10800000">
            <a:off x="15044552" y="-741521"/>
            <a:ext cx="7681766" cy="4260610"/>
            <a:chOff x="0" y="-38100"/>
            <a:chExt cx="406400" cy="225405"/>
          </a:xfrm>
        </p:grpSpPr>
        <p:sp>
          <p:nvSpPr>
            <p:cNvPr id="469" name="Google Shape;469;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0" name="Google Shape;470;p3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1" name="Google Shape;471;p30"/>
          <p:cNvSpPr txBox="1"/>
          <p:nvPr/>
        </p:nvSpPr>
        <p:spPr>
          <a:xfrm>
            <a:off x="6854750" y="964700"/>
            <a:ext cx="12480600" cy="1288045"/>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Clr>
                <a:srgbClr val="000000"/>
              </a:buClr>
              <a:buSzPts val="5504"/>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34992"/>
              </a:lnSpc>
              <a:spcBef>
                <a:spcPts val="0"/>
              </a:spcBef>
              <a:spcAft>
                <a:spcPts val="0"/>
              </a:spcAft>
              <a:buClr>
                <a:srgbClr val="000000"/>
              </a:buClr>
              <a:buSzPts val="5504"/>
              <a:buFont typeface="Arial"/>
              <a:buNone/>
            </a:pPr>
            <a:r>
              <a:rPr b="1" i="0" lang="en-US" sz="4800" u="none" cap="none" strike="noStrike">
                <a:solidFill>
                  <a:srgbClr val="018345"/>
                </a:solidFill>
                <a:latin typeface="Montserrat"/>
                <a:ea typeface="Montserrat"/>
                <a:cs typeface="Montserrat"/>
                <a:sym typeface="Montserrat"/>
              </a:rPr>
              <a:t>LỢI ÍCH CỦA BÀI THI APTIS</a:t>
            </a:r>
            <a:endParaRPr b="1" i="0" sz="4800" u="none" cap="none" strike="noStrike">
              <a:solidFill>
                <a:srgbClr val="FFC000"/>
              </a:solidFill>
              <a:latin typeface="Montserrat"/>
              <a:ea typeface="Montserrat"/>
              <a:cs typeface="Montserrat"/>
              <a:sym typeface="Montserrat"/>
            </a:endParaRPr>
          </a:p>
        </p:txBody>
      </p:sp>
      <p:sp>
        <p:nvSpPr>
          <p:cNvPr id="472" name="Google Shape;472;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3" name="Google Shape;473;p30"/>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Arial"/>
              <a:ea typeface="Arial"/>
              <a:cs typeface="Arial"/>
              <a:sym typeface="Arial"/>
            </a:endParaRPr>
          </a:p>
        </p:txBody>
      </p:sp>
      <p:grpSp>
        <p:nvGrpSpPr>
          <p:cNvPr id="474" name="Google Shape;474;p30"/>
          <p:cNvGrpSpPr/>
          <p:nvPr/>
        </p:nvGrpSpPr>
        <p:grpSpPr>
          <a:xfrm>
            <a:off x="-2718010" y="9274528"/>
            <a:ext cx="7950400" cy="1707231"/>
            <a:chOff x="0" y="-384762"/>
            <a:chExt cx="10600533" cy="2276307"/>
          </a:xfrm>
        </p:grpSpPr>
        <p:grpSp>
          <p:nvGrpSpPr>
            <p:cNvPr id="475" name="Google Shape;475;p30"/>
            <p:cNvGrpSpPr/>
            <p:nvPr/>
          </p:nvGrpSpPr>
          <p:grpSpPr>
            <a:xfrm>
              <a:off x="0" y="-384762"/>
              <a:ext cx="10600533" cy="2276307"/>
              <a:chOff x="0" y="-38100"/>
              <a:chExt cx="1049690" cy="225405"/>
            </a:xfrm>
          </p:grpSpPr>
          <p:sp>
            <p:nvSpPr>
              <p:cNvPr id="476" name="Google Shape;476;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7" name="Google Shape;477;p3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8" name="Google Shape;478;p3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9" name="Google Shape;479;p30"/>
          <p:cNvGrpSpPr/>
          <p:nvPr/>
        </p:nvGrpSpPr>
        <p:grpSpPr>
          <a:xfrm>
            <a:off x="7492481" y="3210226"/>
            <a:ext cx="9952623" cy="6403320"/>
            <a:chOff x="0" y="14064"/>
            <a:chExt cx="9952623" cy="6403320"/>
          </a:xfrm>
        </p:grpSpPr>
        <p:sp>
          <p:nvSpPr>
            <p:cNvPr id="480" name="Google Shape;480;p30"/>
            <p:cNvSpPr/>
            <p:nvPr/>
          </p:nvSpPr>
          <p:spPr>
            <a:xfrm>
              <a:off x="0" y="737304"/>
              <a:ext cx="9952623" cy="1234800"/>
            </a:xfrm>
            <a:prstGeom prst="rect">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a:off x="497631" y="14064"/>
              <a:ext cx="6966836" cy="1446480"/>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txBox="1"/>
            <p:nvPr/>
          </p:nvSpPr>
          <p:spPr>
            <a:xfrm>
              <a:off x="568242" y="84675"/>
              <a:ext cx="6825614" cy="1305258"/>
            </a:xfrm>
            <a:prstGeom prst="rect">
              <a:avLst/>
            </a:prstGeom>
            <a:noFill/>
            <a:ln>
              <a:noFill/>
            </a:ln>
          </p:spPr>
          <p:txBody>
            <a:bodyPr anchorCtr="0" anchor="ctr" bIns="0" lIns="263325" spcFirstLastPara="1" rIns="263325" wrap="square" tIns="0">
              <a:no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Đánh giá chính xác và đáng tin cậy khả năng sử dụng tiếng Anh</a:t>
              </a:r>
              <a:endParaRPr/>
            </a:p>
          </p:txBody>
        </p:sp>
        <p:sp>
          <p:nvSpPr>
            <p:cNvPr id="483" name="Google Shape;483;p30"/>
            <p:cNvSpPr/>
            <p:nvPr/>
          </p:nvSpPr>
          <p:spPr>
            <a:xfrm>
              <a:off x="0" y="2959944"/>
              <a:ext cx="9952623" cy="1234800"/>
            </a:xfrm>
            <a:prstGeom prst="rect">
              <a:avLst/>
            </a:prstGeom>
            <a:solidFill>
              <a:schemeClr val="lt1">
                <a:alpha val="89803"/>
              </a:schemeClr>
            </a:solidFill>
            <a:ln cap="flat" cmpd="sng" w="25400">
              <a:solidFill>
                <a:srgbClr val="5DAE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a:off x="497631" y="2236704"/>
              <a:ext cx="6966836" cy="1446480"/>
            </a:xfrm>
            <a:prstGeom prst="roundRect">
              <a:avLst>
                <a:gd fmla="val 16667" name="adj"/>
              </a:avLst>
            </a:prstGeom>
            <a:solidFill>
              <a:srgbClr val="5DAEA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txBox="1"/>
            <p:nvPr/>
          </p:nvSpPr>
          <p:spPr>
            <a:xfrm>
              <a:off x="568242" y="2307315"/>
              <a:ext cx="6825614" cy="1305258"/>
            </a:xfrm>
            <a:prstGeom prst="rect">
              <a:avLst/>
            </a:prstGeom>
            <a:noFill/>
            <a:ln>
              <a:noFill/>
            </a:ln>
          </p:spPr>
          <p:txBody>
            <a:bodyPr anchorCtr="0" anchor="ctr" bIns="0" lIns="263325" spcFirstLastPara="1" rIns="263325" wrap="square" tIns="0">
              <a:no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Hình thức thi linh hoạt, an toàn, hiệu quả</a:t>
              </a:r>
              <a:endParaRPr b="0" i="0" sz="3600" u="none" cap="none" strike="noStrike">
                <a:solidFill>
                  <a:schemeClr val="lt1"/>
                </a:solidFill>
                <a:latin typeface="Calibri"/>
                <a:ea typeface="Calibri"/>
                <a:cs typeface="Calibri"/>
                <a:sym typeface="Calibri"/>
              </a:endParaRPr>
            </a:p>
          </p:txBody>
        </p:sp>
        <p:sp>
          <p:nvSpPr>
            <p:cNvPr id="486" name="Google Shape;486;p30"/>
            <p:cNvSpPr/>
            <p:nvPr/>
          </p:nvSpPr>
          <p:spPr>
            <a:xfrm>
              <a:off x="0" y="5182584"/>
              <a:ext cx="9952623" cy="1234800"/>
            </a:xfrm>
            <a:prstGeom prst="rect">
              <a:avLst/>
            </a:prstGeom>
            <a:solidFill>
              <a:schemeClr val="lt1">
                <a:alpha val="89803"/>
              </a:schemeClr>
            </a:solidFill>
            <a:ln cap="flat" cmpd="sng" w="25400">
              <a:solidFill>
                <a:srgbClr val="7F63A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0"/>
            <p:cNvSpPr/>
            <p:nvPr/>
          </p:nvSpPr>
          <p:spPr>
            <a:xfrm>
              <a:off x="497631" y="4459344"/>
              <a:ext cx="6966836" cy="1446480"/>
            </a:xfrm>
            <a:prstGeom prst="roundRect">
              <a:avLst>
                <a:gd fmla="val 16667" name="adj"/>
              </a:avLst>
            </a:prstGeom>
            <a:solidFill>
              <a:srgbClr val="7F63A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txBox="1"/>
            <p:nvPr/>
          </p:nvSpPr>
          <p:spPr>
            <a:xfrm>
              <a:off x="568242" y="4529955"/>
              <a:ext cx="6825614" cy="1305258"/>
            </a:xfrm>
            <a:prstGeom prst="rect">
              <a:avLst/>
            </a:prstGeom>
            <a:noFill/>
            <a:ln>
              <a:noFill/>
            </a:ln>
          </p:spPr>
          <p:txBody>
            <a:bodyPr anchorCtr="0" anchor="ctr" bIns="0" lIns="263325" spcFirstLastPara="1" rIns="263325" wrap="square" tIns="0">
              <a:no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Đẳng cấp quốc tế</a:t>
              </a:r>
              <a:endParaRPr b="0" i="0" sz="3600" u="none" cap="none" strike="noStrike">
                <a:solidFill>
                  <a:schemeClr val="lt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cxnSp>
        <p:nvCxnSpPr>
          <p:cNvPr id="493" name="Google Shape;493;p31"/>
          <p:cNvCxnSpPr/>
          <p:nvPr/>
        </p:nvCxnSpPr>
        <p:spPr>
          <a:xfrm>
            <a:off x="6559531" y="2191627"/>
            <a:ext cx="10885573" cy="0"/>
          </a:xfrm>
          <a:prstGeom prst="straightConnector1">
            <a:avLst/>
          </a:prstGeom>
          <a:noFill/>
          <a:ln cap="flat" cmpd="sng" w="38100">
            <a:solidFill>
              <a:srgbClr val="018345"/>
            </a:solidFill>
            <a:prstDash val="solid"/>
            <a:round/>
            <a:headEnd len="sm" w="sm" type="none"/>
            <a:tailEnd len="sm" w="sm" type="none"/>
          </a:ln>
        </p:spPr>
      </p:cxnSp>
      <p:cxnSp>
        <p:nvCxnSpPr>
          <p:cNvPr id="494" name="Google Shape;494;p3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95" name="Google Shape;495;p31"/>
          <p:cNvGrpSpPr/>
          <p:nvPr/>
        </p:nvGrpSpPr>
        <p:grpSpPr>
          <a:xfrm rot="10800000">
            <a:off x="15044552" y="-741521"/>
            <a:ext cx="7681766" cy="4260610"/>
            <a:chOff x="0" y="-38100"/>
            <a:chExt cx="406400" cy="225405"/>
          </a:xfrm>
        </p:grpSpPr>
        <p:sp>
          <p:nvSpPr>
            <p:cNvPr id="496" name="Google Shape;496;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7" name="Google Shape;497;p3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498" name="Google Shape;498;p3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99" name="Google Shape;499;p3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00" name="Google Shape;500;p31"/>
          <p:cNvSpPr txBox="1"/>
          <p:nvPr/>
        </p:nvSpPr>
        <p:spPr>
          <a:xfrm>
            <a:off x="4102045" y="2945887"/>
            <a:ext cx="15951200" cy="9233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8003"/>
              <a:buFont typeface="Arial"/>
              <a:buNone/>
            </a:pPr>
            <a:r>
              <a:rPr b="1" i="0" lang="en-US" sz="6000" u="none" cap="none" strike="noStrike">
                <a:solidFill>
                  <a:srgbClr val="018345"/>
                </a:solidFill>
                <a:latin typeface="Montserrat"/>
                <a:ea typeface="Montserrat"/>
                <a:cs typeface="Montserrat"/>
                <a:sym typeface="Montserrat"/>
              </a:rPr>
              <a:t>LUYỆN TẬP</a:t>
            </a:r>
            <a:endParaRPr b="0" i="0" sz="6000" u="none" cap="none" strike="noStrike">
              <a:solidFill>
                <a:srgbClr val="000000"/>
              </a:solidFill>
              <a:latin typeface="Arial"/>
              <a:ea typeface="Arial"/>
              <a:cs typeface="Arial"/>
              <a:sym typeface="Arial"/>
            </a:endParaRPr>
          </a:p>
        </p:txBody>
      </p:sp>
      <p:sp>
        <p:nvSpPr>
          <p:cNvPr id="501" name="Google Shape;501;p31"/>
          <p:cNvSpPr txBox="1"/>
          <p:nvPr/>
        </p:nvSpPr>
        <p:spPr>
          <a:xfrm>
            <a:off x="10869163" y="301827"/>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05</a:t>
            </a:r>
            <a:endParaRPr b="0" i="0" sz="1400" u="none" cap="none" strike="noStrike">
              <a:solidFill>
                <a:srgbClr val="000000"/>
              </a:solidFill>
              <a:latin typeface="Arial"/>
              <a:ea typeface="Arial"/>
              <a:cs typeface="Arial"/>
              <a:sym typeface="Arial"/>
            </a:endParaRPr>
          </a:p>
        </p:txBody>
      </p:sp>
      <p:grpSp>
        <p:nvGrpSpPr>
          <p:cNvPr id="502" name="Google Shape;502;p31"/>
          <p:cNvGrpSpPr/>
          <p:nvPr/>
        </p:nvGrpSpPr>
        <p:grpSpPr>
          <a:xfrm>
            <a:off x="-2718010" y="9274528"/>
            <a:ext cx="7950400" cy="1707231"/>
            <a:chOff x="0" y="-384762"/>
            <a:chExt cx="10600533" cy="2276307"/>
          </a:xfrm>
        </p:grpSpPr>
        <p:grpSp>
          <p:nvGrpSpPr>
            <p:cNvPr id="503" name="Google Shape;503;p31"/>
            <p:cNvGrpSpPr/>
            <p:nvPr/>
          </p:nvGrpSpPr>
          <p:grpSpPr>
            <a:xfrm>
              <a:off x="0" y="-384762"/>
              <a:ext cx="10600533" cy="2276307"/>
              <a:chOff x="0" y="-38100"/>
              <a:chExt cx="1049690" cy="225405"/>
            </a:xfrm>
          </p:grpSpPr>
          <p:sp>
            <p:nvSpPr>
              <p:cNvPr id="504" name="Google Shape;504;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5" name="Google Shape;505;p3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6" name="Google Shape;506;p3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A mug filled with office supplies" id="507" name="Google Shape;507;p31"/>
          <p:cNvPicPr preferRelativeResize="0"/>
          <p:nvPr/>
        </p:nvPicPr>
        <p:blipFill rotWithShape="1">
          <a:blip r:embed="rId5">
            <a:alphaModFix/>
          </a:blip>
          <a:srcRect b="0" l="0" r="0" t="0"/>
          <a:stretch/>
        </p:blipFill>
        <p:spPr>
          <a:xfrm>
            <a:off x="9615574" y="4665453"/>
            <a:ext cx="4924142" cy="4924142"/>
          </a:xfrm>
          <a:prstGeom prst="rect">
            <a:avLst/>
          </a:prstGeom>
          <a:noFill/>
          <a:ln cap="flat" cmpd="sng" w="9525">
            <a:solidFill>
              <a:srgbClr val="0066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01"/>
                                        </p:tgtEl>
                                        <p:attrNameLst>
                                          <p:attrName>style.visibility</p:attrName>
                                        </p:attrNameLst>
                                      </p:cBhvr>
                                      <p:to>
                                        <p:strVal val="visible"/>
                                      </p:to>
                                    </p:set>
                                    <p:anim calcmode="lin" valueType="num">
                                      <p:cBhvr additive="base">
                                        <p:cTn dur="500"/>
                                        <p:tgtEl>
                                          <p:spTgt spid="501"/>
                                        </p:tgtEl>
                                        <p:attrNameLst>
                                          <p:attrName>ppt_w</p:attrName>
                                        </p:attrNameLst>
                                      </p:cBhvr>
                                      <p:tavLst>
                                        <p:tav fmla="" tm="0">
                                          <p:val>
                                            <p:strVal val="0"/>
                                          </p:val>
                                        </p:tav>
                                        <p:tav fmla="" tm="100000">
                                          <p:val>
                                            <p:strVal val="#ppt_w"/>
                                          </p:val>
                                        </p:tav>
                                      </p:tavLst>
                                    </p:anim>
                                    <p:anim calcmode="lin" valueType="num">
                                      <p:cBhvr additive="base">
                                        <p:cTn dur="500"/>
                                        <p:tgtEl>
                                          <p:spTgt spid="50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00"/>
                                        </p:tgtEl>
                                        <p:attrNameLst>
                                          <p:attrName>style.visibility</p:attrName>
                                        </p:attrNameLst>
                                      </p:cBhvr>
                                      <p:to>
                                        <p:strVal val="visible"/>
                                      </p:to>
                                    </p:set>
                                    <p:anim calcmode="lin" valueType="num">
                                      <p:cBhvr additive="base">
                                        <p:cTn dur="500"/>
                                        <p:tgtEl>
                                          <p:spTgt spid="500"/>
                                        </p:tgtEl>
                                        <p:attrNameLst>
                                          <p:attrName>ppt_w</p:attrName>
                                        </p:attrNameLst>
                                      </p:cBhvr>
                                      <p:tavLst>
                                        <p:tav fmla="" tm="0">
                                          <p:val>
                                            <p:strVal val="0"/>
                                          </p:val>
                                        </p:tav>
                                        <p:tav fmla="" tm="100000">
                                          <p:val>
                                            <p:strVal val="#ppt_w"/>
                                          </p:val>
                                        </p:tav>
                                      </p:tavLst>
                                    </p:anim>
                                    <p:anim calcmode="lin" valueType="num">
                                      <p:cBhvr additive="base">
                                        <p:cTn dur="500"/>
                                        <p:tgtEl>
                                          <p:spTgt spid="50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cxnSp>
        <p:nvCxnSpPr>
          <p:cNvPr id="512" name="Google Shape;512;p32"/>
          <p:cNvCxnSpPr/>
          <p:nvPr/>
        </p:nvCxnSpPr>
        <p:spPr>
          <a:xfrm>
            <a:off x="5693855" y="310386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13" name="Google Shape;513;p3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14" name="Google Shape;514;p32"/>
          <p:cNvGrpSpPr/>
          <p:nvPr/>
        </p:nvGrpSpPr>
        <p:grpSpPr>
          <a:xfrm rot="10800000">
            <a:off x="15044552" y="-741521"/>
            <a:ext cx="7681766" cy="4260610"/>
            <a:chOff x="0" y="-38100"/>
            <a:chExt cx="406400" cy="225405"/>
          </a:xfrm>
        </p:grpSpPr>
        <p:sp>
          <p:nvSpPr>
            <p:cNvPr id="515" name="Google Shape;515;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6" name="Google Shape;516;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517" name="Google Shape;517;p3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18" name="Google Shape;518;p3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19" name="Google Shape;519;p32"/>
          <p:cNvGrpSpPr/>
          <p:nvPr/>
        </p:nvGrpSpPr>
        <p:grpSpPr>
          <a:xfrm rot="10800000">
            <a:off x="15828686" y="-13843"/>
            <a:ext cx="7681766" cy="4260610"/>
            <a:chOff x="0" y="-38100"/>
            <a:chExt cx="406400" cy="225405"/>
          </a:xfrm>
        </p:grpSpPr>
        <p:sp>
          <p:nvSpPr>
            <p:cNvPr id="520" name="Google Shape;520;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21" name="Google Shape;521;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2" name="Google Shape;522;p32"/>
          <p:cNvGrpSpPr/>
          <p:nvPr/>
        </p:nvGrpSpPr>
        <p:grpSpPr>
          <a:xfrm>
            <a:off x="18288000" y="339710"/>
            <a:ext cx="15080946" cy="10271459"/>
            <a:chOff x="0" y="0"/>
            <a:chExt cx="5475623" cy="3729384"/>
          </a:xfrm>
        </p:grpSpPr>
        <p:sp>
          <p:nvSpPr>
            <p:cNvPr id="523" name="Google Shape;523;p32"/>
            <p:cNvSpPr/>
            <p:nvPr/>
          </p:nvSpPr>
          <p:spPr>
            <a:xfrm>
              <a:off x="0" y="0"/>
              <a:ext cx="5475623" cy="3729384"/>
            </a:xfrm>
            <a:custGeom>
              <a:rect b="b" l="l" r="r" t="t"/>
              <a:pathLst>
                <a:path extrusionOk="0" h="3729384" w="5475623">
                  <a:moveTo>
                    <a:pt x="3322462" y="3729384"/>
                  </a:moveTo>
                  <a:lnTo>
                    <a:pt x="0" y="3729384"/>
                  </a:lnTo>
                  <a:lnTo>
                    <a:pt x="2153161" y="0"/>
                  </a:lnTo>
                  <a:lnTo>
                    <a:pt x="5475623" y="0"/>
                  </a:lnTo>
                  <a:lnTo>
                    <a:pt x="3322462" y="3729384"/>
                  </a:lnTo>
                  <a:close/>
                </a:path>
              </a:pathLst>
            </a:custGeom>
            <a:solidFill>
              <a:srgbClr val="018146"/>
            </a:solidFill>
            <a:ln>
              <a:noFill/>
            </a:ln>
          </p:spPr>
        </p:sp>
        <p:sp>
          <p:nvSpPr>
            <p:cNvPr id="524" name="Google Shape;524;p32"/>
            <p:cNvSpPr/>
            <p:nvPr/>
          </p:nvSpPr>
          <p:spPr>
            <a:xfrm>
              <a:off x="0" y="0"/>
              <a:ext cx="5475623" cy="3729384"/>
            </a:xfrm>
            <a:custGeom>
              <a:rect b="b" l="l" r="r" t="t"/>
              <a:pathLst>
                <a:path extrusionOk="0" h="3729384" w="5475623">
                  <a:moveTo>
                    <a:pt x="3322462" y="3729384"/>
                  </a:moveTo>
                  <a:lnTo>
                    <a:pt x="0" y="3729384"/>
                  </a:lnTo>
                  <a:lnTo>
                    <a:pt x="2153161" y="0"/>
                  </a:lnTo>
                  <a:lnTo>
                    <a:pt x="5475623" y="0"/>
                  </a:lnTo>
                  <a:lnTo>
                    <a:pt x="3322462" y="3729384"/>
                  </a:lnTo>
                  <a:close/>
                </a:path>
              </a:pathLst>
            </a:custGeom>
            <a:blipFill rotWithShape="1">
              <a:blip r:embed="rId5">
                <a:alphaModFix/>
              </a:blip>
              <a:stretch>
                <a:fillRect b="0" l="-1108" r="-1106" t="0"/>
              </a:stretch>
            </a:blipFill>
            <a:ln>
              <a:noFill/>
            </a:ln>
          </p:spPr>
        </p:sp>
      </p:grpSp>
      <p:sp>
        <p:nvSpPr>
          <p:cNvPr id="525" name="Google Shape;525;p32"/>
          <p:cNvSpPr/>
          <p:nvPr/>
        </p:nvSpPr>
        <p:spPr>
          <a:xfrm>
            <a:off x="8140118" y="1099943"/>
            <a:ext cx="5927862" cy="1698978"/>
          </a:xfrm>
          <a:custGeom>
            <a:rect b="b" l="l" r="r" t="t"/>
            <a:pathLst>
              <a:path extrusionOk="0" h="1698978" w="5927862">
                <a:moveTo>
                  <a:pt x="0" y="0"/>
                </a:moveTo>
                <a:lnTo>
                  <a:pt x="5927863" y="0"/>
                </a:lnTo>
                <a:lnTo>
                  <a:pt x="5927863" y="1698978"/>
                </a:lnTo>
                <a:lnTo>
                  <a:pt x="0" y="1698978"/>
                </a:lnTo>
                <a:lnTo>
                  <a:pt x="0" y="0"/>
                </a:lnTo>
                <a:close/>
              </a:path>
            </a:pathLst>
          </a:custGeom>
          <a:blipFill rotWithShape="1">
            <a:blip r:embed="rId6">
              <a:alphaModFix/>
            </a:blip>
            <a:stretch>
              <a:fillRect b="0" l="0" r="0" t="0"/>
            </a:stretch>
          </a:blipFill>
          <a:ln>
            <a:noFill/>
          </a:ln>
        </p:spPr>
      </p:sp>
      <p:sp>
        <p:nvSpPr>
          <p:cNvPr id="526" name="Google Shape;526;p32"/>
          <p:cNvSpPr txBox="1"/>
          <p:nvPr/>
        </p:nvSpPr>
        <p:spPr>
          <a:xfrm>
            <a:off x="5696245" y="3650425"/>
            <a:ext cx="11565445" cy="6234207"/>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Clr>
                <a:srgbClr val="000000"/>
              </a:buClr>
              <a:buSzPts val="10003"/>
              <a:buFont typeface="Arial"/>
              <a:buNone/>
            </a:pPr>
            <a:r>
              <a:rPr b="1" i="0" lang="en-US" sz="10003" u="none" cap="none" strike="noStrike">
                <a:solidFill>
                  <a:srgbClr val="018345"/>
                </a:solidFill>
                <a:latin typeface="Calibri"/>
                <a:ea typeface="Calibri"/>
                <a:cs typeface="Calibri"/>
                <a:sym typeface="Calibri"/>
              </a:rPr>
              <a:t>Cảm ơn các bạn đã chú ý theo dõi!</a:t>
            </a:r>
            <a:endParaRPr b="0" i="0" sz="1400" u="none" cap="none" strike="noStrike">
              <a:solidFill>
                <a:srgbClr val="000000"/>
              </a:solidFill>
              <a:latin typeface="Arial"/>
              <a:ea typeface="Arial"/>
              <a:cs typeface="Arial"/>
              <a:sym typeface="Arial"/>
            </a:endParaRPr>
          </a:p>
          <a:p>
            <a:pPr indent="0" lvl="0" marL="0" marR="0" rtl="0" algn="ctr">
              <a:lnSpc>
                <a:spcPct val="134999"/>
              </a:lnSpc>
              <a:spcBef>
                <a:spcPts val="0"/>
              </a:spcBef>
              <a:spcAft>
                <a:spcPts val="0"/>
              </a:spcAft>
              <a:buClr>
                <a:srgbClr val="000000"/>
              </a:buClr>
              <a:buSzPts val="10003"/>
              <a:buFont typeface="Arial"/>
              <a:buNone/>
            </a:pPr>
            <a:r>
              <a:t/>
            </a:r>
            <a:endParaRPr b="1" i="0" sz="10003" u="none" cap="none" strike="noStrike">
              <a:solidFill>
                <a:srgbClr val="018345"/>
              </a:solidFill>
              <a:latin typeface="Calibri"/>
              <a:ea typeface="Calibri"/>
              <a:cs typeface="Calibri"/>
              <a:sym typeface="Calibri"/>
            </a:endParaRPr>
          </a:p>
        </p:txBody>
      </p:sp>
      <p:grpSp>
        <p:nvGrpSpPr>
          <p:cNvPr id="527" name="Google Shape;527;p32"/>
          <p:cNvGrpSpPr/>
          <p:nvPr/>
        </p:nvGrpSpPr>
        <p:grpSpPr>
          <a:xfrm>
            <a:off x="5693855" y="7590172"/>
            <a:ext cx="11567835" cy="1261722"/>
            <a:chOff x="5693855" y="7590172"/>
            <a:chExt cx="11567835" cy="1261722"/>
          </a:xfrm>
        </p:grpSpPr>
        <p:grpSp>
          <p:nvGrpSpPr>
            <p:cNvPr id="528" name="Google Shape;528;p32"/>
            <p:cNvGrpSpPr/>
            <p:nvPr/>
          </p:nvGrpSpPr>
          <p:grpSpPr>
            <a:xfrm>
              <a:off x="5693855" y="7590172"/>
              <a:ext cx="11567834" cy="1261722"/>
              <a:chOff x="0" y="-38100"/>
              <a:chExt cx="3046672" cy="332305"/>
            </a:xfrm>
          </p:grpSpPr>
          <p:sp>
            <p:nvSpPr>
              <p:cNvPr id="529" name="Google Shape;529;p32"/>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30" name="Google Shape;530;p32"/>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1" name="Google Shape;531;p32"/>
            <p:cNvSpPr txBox="1"/>
            <p:nvPr/>
          </p:nvSpPr>
          <p:spPr>
            <a:xfrm>
              <a:off x="5696245" y="7961575"/>
              <a:ext cx="11565445" cy="75386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499"/>
                <a:buFont typeface="Arial"/>
                <a:buNone/>
              </a:pPr>
              <a:r>
                <a:rPr b="0" i="0" lang="en-US" sz="3499" u="none" cap="none" strike="noStrike">
                  <a:solidFill>
                    <a:srgbClr val="FFFFFF"/>
                  </a:solidFill>
                  <a:latin typeface="Calibri"/>
                  <a:ea typeface="Calibri"/>
                  <a:cs typeface="Calibri"/>
                  <a:sym typeface="Calibri"/>
                </a:rPr>
                <a:t>Hẹn gặp lại các bạn ở những bài học tiếp theo</a:t>
              </a:r>
              <a:endParaRPr b="0" i="0" sz="3499" u="none" cap="none" strike="noStrike">
                <a:solidFill>
                  <a:srgbClr val="FFFFFF"/>
                </a:solidFill>
                <a:latin typeface="Calibri"/>
                <a:ea typeface="Calibri"/>
                <a:cs typeface="Calibri"/>
                <a:sym typeface="Calibri"/>
              </a:endParaRPr>
            </a:p>
          </p:txBody>
        </p:sp>
      </p:grpSp>
      <p:grpSp>
        <p:nvGrpSpPr>
          <p:cNvPr id="532" name="Google Shape;532;p32"/>
          <p:cNvGrpSpPr/>
          <p:nvPr/>
        </p:nvGrpSpPr>
        <p:grpSpPr>
          <a:xfrm>
            <a:off x="-2718010" y="9274528"/>
            <a:ext cx="7950400" cy="1707231"/>
            <a:chOff x="0" y="-384762"/>
            <a:chExt cx="10600533" cy="2276307"/>
          </a:xfrm>
        </p:grpSpPr>
        <p:grpSp>
          <p:nvGrpSpPr>
            <p:cNvPr id="533" name="Google Shape;533;p32"/>
            <p:cNvGrpSpPr/>
            <p:nvPr/>
          </p:nvGrpSpPr>
          <p:grpSpPr>
            <a:xfrm>
              <a:off x="0" y="-384762"/>
              <a:ext cx="10600533" cy="2276307"/>
              <a:chOff x="0" y="-38100"/>
              <a:chExt cx="1049690" cy="225405"/>
            </a:xfrm>
          </p:grpSpPr>
          <p:sp>
            <p:nvSpPr>
              <p:cNvPr id="534" name="Google Shape;534;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35" name="Google Shape;535;p3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6" name="Google Shape;536;p3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500"/>
                                        <p:tgtEl>
                                          <p:spTgt spid="525"/>
                                        </p:tgtEl>
                                        <p:attrNameLst>
                                          <p:attrName>ppt_w</p:attrName>
                                        </p:attrNameLst>
                                      </p:cBhvr>
                                      <p:tavLst>
                                        <p:tav fmla="" tm="0">
                                          <p:val>
                                            <p:strVal val="0"/>
                                          </p:val>
                                        </p:tav>
                                        <p:tav fmla="" tm="100000">
                                          <p:val>
                                            <p:strVal val="#ppt_w"/>
                                          </p:val>
                                        </p:tav>
                                      </p:tavLst>
                                    </p:anim>
                                    <p:anim calcmode="lin" valueType="num">
                                      <p:cBhvr additive="base">
                                        <p:cTn dur="500"/>
                                        <p:tgtEl>
                                          <p:spTgt spid="52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26"/>
                                        </p:tgtEl>
                                        <p:attrNameLst>
                                          <p:attrName>style.visibility</p:attrName>
                                        </p:attrNameLst>
                                      </p:cBhvr>
                                      <p:to>
                                        <p:strVal val="visible"/>
                                      </p:to>
                                    </p:set>
                                    <p:anim calcmode="lin" valueType="num">
                                      <p:cBhvr additive="base">
                                        <p:cTn dur="500"/>
                                        <p:tgtEl>
                                          <p:spTgt spid="526"/>
                                        </p:tgtEl>
                                        <p:attrNameLst>
                                          <p:attrName>ppt_w</p:attrName>
                                        </p:attrNameLst>
                                      </p:cBhvr>
                                      <p:tavLst>
                                        <p:tav fmla="" tm="0">
                                          <p:val>
                                            <p:strVal val="0"/>
                                          </p:val>
                                        </p:tav>
                                        <p:tav fmla="" tm="100000">
                                          <p:val>
                                            <p:strVal val="#ppt_w"/>
                                          </p:val>
                                        </p:tav>
                                      </p:tavLst>
                                    </p:anim>
                                    <p:anim calcmode="lin" valueType="num">
                                      <p:cBhvr additive="base">
                                        <p:cTn dur="500"/>
                                        <p:tgtEl>
                                          <p:spTgt spid="52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