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10287000" cx="18288000"/>
  <p:notesSz cx="6858000" cy="9144000"/>
  <p:embeddedFontLst>
    <p:embeddedFont>
      <p:font typeface="Roboto"/>
      <p:regular r:id="rId37"/>
      <p:bold r:id="rId38"/>
      <p:italic r:id="rId39"/>
      <p:boldItalic r:id="rId40"/>
    </p:embeddedFont>
    <p:embeddedFont>
      <p:font typeface="Montserra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Người dùng đã bị xó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42" Type="http://schemas.openxmlformats.org/officeDocument/2006/relationships/font" Target="fonts/Montserrat-bold.fntdata"/><Relationship Id="rId41" Type="http://schemas.openxmlformats.org/officeDocument/2006/relationships/font" Target="fonts/Montserrat-regular.fntdata"/><Relationship Id="rId22" Type="http://schemas.openxmlformats.org/officeDocument/2006/relationships/slide" Target="slides/slide16.xml"/><Relationship Id="rId44" Type="http://schemas.openxmlformats.org/officeDocument/2006/relationships/font" Target="fonts/Montserrat-boldItalic.fntdata"/><Relationship Id="rId21" Type="http://schemas.openxmlformats.org/officeDocument/2006/relationships/slide" Target="slides/slide15.xml"/><Relationship Id="rId43" Type="http://schemas.openxmlformats.org/officeDocument/2006/relationships/font" Target="fonts/Montserrat-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5-29T08:44:03.462">
    <p:pos x="6000" y="0"/>
    <p:text>Check lại hiệu ứng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05-29T08:51:32.225">
    <p:pos x="3295" y="1615"/>
    <p:text>Phần hướng dẫn làm bài này c tham khảo các kỹ thuật trước - trong - sau khi nghe của slide vstep nha.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4-05-29T08:53:34.919">
    <p:pos x="4079" y="1444"/>
    <p:text>Phần này mình cũng hướng dẫn gạch chân key word trong câu hỏi và câu trả lời nha.
Với check lại giúp t các hiệu ứng hiển thị đáp án đúng nhé.</p:text>
  </p:cm>
  <p:cm authorId="0" idx="4" dt="2024-05-29T08:49:41.910">
    <p:pos x="4152" y="415"/>
    <p:text>slide đáp án này đẩy xuống hết phần hướng dẫn làm bài và đáp án nha.</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4-05-29T08:52:55.418">
    <p:pos x="3509" y="252"/>
    <p:text>Phần từ vựng và cấu trúc để sau khi chữa bài nha. chữa bài xong note lại những từ vựng và cấu trúc hay để học viên ôn tập.</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Trả lời câu hỏi một cách ngắn gọn và súc tích:</a:t>
            </a:r>
            <a:r>
              <a:rPr lang="en-US"/>
              <a:t> Bạn chỉ có 30 giây để trả lời mỗi câu hỏi, vì vậy hãy trả lời một cách ngắn gọn và súc tích. Tránh đi lạc chủ đề hoặc đưa ra thông tin không liên quan.</a:t>
            </a:r>
            <a:endParaRPr/>
          </a:p>
          <a:p>
            <a:pPr indent="0" lvl="0" marL="0" rtl="0" algn="l">
              <a:spcBef>
                <a:spcPts val="0"/>
              </a:spcBef>
              <a:spcAft>
                <a:spcPts val="0"/>
              </a:spcAft>
              <a:buNone/>
            </a:pPr>
            <a:r>
              <a:rPr b="1" lang="en-US"/>
              <a:t>Nói rõ ràng và dễ hiểu:</a:t>
            </a:r>
            <a:r>
              <a:rPr lang="en-US"/>
              <a:t> Hãy nói rõ ràng và dễ hiểu để giám khảo có thể nghe và hiểu rõ câu trả lời của bạn.</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2544f31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2e2544f31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2e2544f31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293b53d1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27293b53d1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7293b53d11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27293b53d11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27293b53d11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e2544f3166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g2e2544f3166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2e2544f3166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7293b53d11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27293b53d11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76200" lvl="0" marL="0" rtl="0" algn="just">
              <a:spcBef>
                <a:spcPts val="0"/>
              </a:spcBef>
              <a:spcAft>
                <a:spcPts val="0"/>
              </a:spcAft>
              <a:buClr>
                <a:srgbClr val="01051C"/>
              </a:buClr>
              <a:buSzPts val="1200"/>
              <a:buFont typeface="Calibri"/>
              <a:buAutoNum type="arabicPeriod"/>
            </a:pPr>
            <a:r>
              <a:rPr b="0" i="0" lang="en-US">
                <a:solidFill>
                  <a:srgbClr val="01051C"/>
                </a:solidFill>
                <a:latin typeface="Cambria"/>
                <a:ea typeface="Cambria"/>
                <a:cs typeface="Cambria"/>
                <a:sym typeface="Cambria"/>
              </a:rPr>
              <a:t>Củng cố mục đích nghe</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đoạn băng đưa hiệu lệnh bắt đầu câu hỏi 1, thí sinh nhanh chóng đọc qua lại những từ khóa đã gạch chân trong câu hỏi 1 và các phương án để tự củng cố lại mục đích nghe cho câu hỏi này. Việc làm này sẽ giúp thí sinh chỉ tập trung nghe và phân tích thông tin trong khi làm bài, tránh tình trạng vừa nghe vừa đọc hiểu đề, dẫn đến mất tập trung.</a:t>
            </a:r>
            <a:endParaRPr/>
          </a:p>
          <a:p>
            <a:pPr indent="-76200" lvl="0" marL="0" rtl="0" algn="just">
              <a:spcBef>
                <a:spcPts val="0"/>
              </a:spcBef>
              <a:spcAft>
                <a:spcPts val="0"/>
              </a:spcAft>
              <a:buClr>
                <a:srgbClr val="01051C"/>
              </a:buClr>
              <a:buSzPts val="1200"/>
              <a:buFont typeface="Calibri"/>
              <a:buAutoNum type="arabicPeriod" startAt="2"/>
            </a:pPr>
            <a:r>
              <a:rPr b="0" i="0" lang="en-US">
                <a:solidFill>
                  <a:srgbClr val="01051C"/>
                </a:solidFill>
                <a:latin typeface="Cambria"/>
                <a:ea typeface="Cambria"/>
                <a:cs typeface="Cambria"/>
                <a:sym typeface="Cambria"/>
              </a:rPr>
              <a:t>Xác định vùng thông tin chứa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Trong khi nghe </a:t>
            </a:r>
            <a:r>
              <a:rPr lang="en-US">
                <a:solidFill>
                  <a:srgbClr val="01051C"/>
                </a:solidFill>
                <a:latin typeface="Cambria"/>
                <a:ea typeface="Cambria"/>
                <a:cs typeface="Cambria"/>
                <a:sym typeface="Cambria"/>
              </a:rPr>
              <a:t>aptis</a:t>
            </a:r>
            <a:r>
              <a:rPr b="0" i="0" lang="en-US">
                <a:solidFill>
                  <a:srgbClr val="01051C"/>
                </a:solidFill>
                <a:latin typeface="Cambria"/>
                <a:ea typeface="Cambria"/>
                <a:cs typeface="Cambria"/>
                <a:sym typeface="Cambria"/>
              </a:rPr>
              <a:t> Listening Part 1, thí sinh xác định vùng thông tin chứa đáp án dựa vào từ khóa đã gạch chân trong câu hỏi.</a:t>
            </a:r>
            <a:endParaRPr/>
          </a:p>
          <a:p>
            <a:pPr indent="-76200" lvl="0" marL="0" rtl="0" algn="just">
              <a:spcBef>
                <a:spcPts val="0"/>
              </a:spcBef>
              <a:spcAft>
                <a:spcPts val="0"/>
              </a:spcAft>
              <a:buClr>
                <a:srgbClr val="01051C"/>
              </a:buClr>
              <a:buSzPts val="1200"/>
              <a:buFont typeface="Calibri"/>
              <a:buAutoNum type="arabicPeriod" startAt="3"/>
            </a:pPr>
            <a:r>
              <a:rPr b="0" i="0" lang="en-US">
                <a:solidFill>
                  <a:srgbClr val="01051C"/>
                </a:solidFill>
                <a:latin typeface="Cambria"/>
                <a:ea typeface="Cambria"/>
                <a:cs typeface="Cambria"/>
                <a:sym typeface="Cambria"/>
              </a:rPr>
              <a:t>Nhận diện yếu tố gây nhiễu</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làm phần này, cả </a:t>
            </a:r>
            <a:r>
              <a:rPr lang="en-US">
                <a:solidFill>
                  <a:srgbClr val="01051C"/>
                </a:solidFill>
                <a:latin typeface="Cambria"/>
                <a:ea typeface="Cambria"/>
                <a:cs typeface="Cambria"/>
                <a:sym typeface="Cambria"/>
              </a:rPr>
              <a:t>3</a:t>
            </a:r>
            <a:r>
              <a:rPr b="0" i="0" lang="en-US">
                <a:solidFill>
                  <a:srgbClr val="01051C"/>
                </a:solidFill>
                <a:latin typeface="Cambria"/>
                <a:ea typeface="Cambria"/>
                <a:cs typeface="Cambria"/>
                <a:sym typeface="Cambria"/>
              </a:rPr>
              <a:t> phương án thường sẽ đều được nhắc đến trong đoạn băng, vì vậy, thí sinh cần xác định cả những lý do khiến phương án sai.</a:t>
            </a:r>
            <a:endParaRPr/>
          </a:p>
          <a:p>
            <a:pPr indent="-76200" lvl="0" marL="0" rtl="0" algn="just">
              <a:spcBef>
                <a:spcPts val="0"/>
              </a:spcBef>
              <a:spcAft>
                <a:spcPts val="0"/>
              </a:spcAft>
              <a:buClr>
                <a:srgbClr val="01051C"/>
              </a:buClr>
              <a:buSzPts val="1200"/>
              <a:buFont typeface="Calibri"/>
              <a:buAutoNum type="arabicPeriod" startAt="4"/>
            </a:pPr>
            <a:r>
              <a:rPr b="0" i="0" lang="en-US">
                <a:solidFill>
                  <a:srgbClr val="01051C"/>
                </a:solidFill>
                <a:latin typeface="Cambria"/>
                <a:ea typeface="Cambria"/>
                <a:cs typeface="Cambria"/>
                <a:sym typeface="Cambria"/>
              </a:rPr>
              <a:t>Ghi chú thông tin với những câu chưa tìm được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Đối với những câu hỏi chưa nghe được đáp án, thí sinh có thể ghi chú lại các thông tin nghe được để đối chiếu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20" name="Google Shape;420;g27293b53d11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7293b53d11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27293b53d11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51C"/>
              </a:buClr>
              <a:buSzPts val="1200"/>
              <a:buFont typeface="Cambria"/>
              <a:buNone/>
            </a:pPr>
            <a:r>
              <a:rPr b="0" i="0" lang="en-US">
                <a:solidFill>
                  <a:srgbClr val="01051C"/>
                </a:solidFill>
                <a:latin typeface="Cambria"/>
                <a:ea typeface="Cambria"/>
                <a:cs typeface="Cambria"/>
                <a:sym typeface="Cambria"/>
              </a:rPr>
              <a:t>Tại bước này, thí sinh kiểm tra lại các đáp án mình đã chọn. Với những câu chưa có đáp án, kiểm tra lại phần ghi chú và chọn phương án phù hợp nhất</a:t>
            </a:r>
            <a:endParaRPr/>
          </a:p>
          <a:p>
            <a:pPr indent="0" lvl="0" marL="0" rtl="0" algn="l">
              <a:spcBef>
                <a:spcPts val="0"/>
              </a:spcBef>
              <a:spcAft>
                <a:spcPts val="0"/>
              </a:spcAft>
              <a:buNone/>
            </a:pPr>
            <a:r>
              <a:t/>
            </a:r>
            <a:endParaRPr/>
          </a:p>
        </p:txBody>
      </p:sp>
      <p:sp>
        <p:nvSpPr>
          <p:cNvPr id="455" name="Google Shape;455;g27293b53d11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e0a1aa6bd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2e0a1aa6bde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g2e0a1aa6bde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e0a1aa6bde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2e0a1aa6bde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g2e0a1aa6bde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e0a1aa6bde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g2e0a1aa6bde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g2e0a1aa6bde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e0a1aa6bd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g2e0a1aa6bde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g2e0a1aa6bde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727ca4b9c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g2727ca4b9c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g2727ca4b9c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e0ef9f7bf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2e0ef9f7bf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g2e0ef9f7bfb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e0ef9f7bfb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2e0ef9f7bfb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g2e0ef9f7bfb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e0ef9f7bfb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2e0ef9f7bfb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g2e0ef9f7bfb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e0ef9f7bfb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g2e0ef9f7bfb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g2e0ef9f7bfb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e0af1eb68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g2e0af1eb685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g2e0af1eb685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e0ef9f7bf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2e0ef9f7bf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g2e0ef9f7bfb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e0af1eb68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g2e0af1eb68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g2e0af1eb68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9" name="Google Shape;76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hyperlink" Target="http://drive.google.com/file/d/1R3ILKb9caRZ0iV9GZAmlCuX9D-99hDmJ/view" TargetMode="External"/><Relationship Id="rId5" Type="http://schemas.openxmlformats.org/officeDocument/2006/relationships/image" Target="../media/image2.png"/><Relationship Id="rId6" Type="http://schemas.openxmlformats.org/officeDocument/2006/relationships/hyperlink" Target="http://drive.google.com/file/d/1h1UozneC7-ROplsu6jXknlV0UVQu2MH4/view" TargetMode="External"/><Relationship Id="rId7" Type="http://schemas.openxmlformats.org/officeDocument/2006/relationships/hyperlink" Target="http://drive.google.com/file/d/1X6c11o_MWWUpsFPNX6W8U93wJ5M2t20M/vie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hyperlink" Target="http://drive.google.com/file/d/1R3ILKb9caRZ0iV9GZAmlCuX9D-99hDmJ/view" TargetMode="External"/><Relationship Id="rId5" Type="http://schemas.openxmlformats.org/officeDocument/2006/relationships/image" Target="../media/image2.png"/><Relationship Id="rId6" Type="http://schemas.openxmlformats.org/officeDocument/2006/relationships/hyperlink" Target="http://drive.google.com/file/d/1h1UozneC7-ROplsu6jXknlV0UVQu2MH4/view" TargetMode="External"/><Relationship Id="rId7" Type="http://schemas.openxmlformats.org/officeDocument/2006/relationships/hyperlink" Target="http://drive.google.com/file/d/1X6c11o_MWWUpsFPNX6W8U93wJ5M2t20M/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hyperlink" Target="http://drive.google.com/file/d/1R3ILKb9caRZ0iV9GZAmlCuX9D-99hDmJ/view" TargetMode="External"/><Relationship Id="rId5" Type="http://schemas.openxmlformats.org/officeDocument/2006/relationships/image" Target="../media/image2.png"/><Relationship Id="rId6" Type="http://schemas.openxmlformats.org/officeDocument/2006/relationships/hyperlink" Target="http://drive.google.com/file/d/1h1UozneC7-ROplsu6jXknlV0UVQu2MH4/view" TargetMode="External"/><Relationship Id="rId7" Type="http://schemas.openxmlformats.org/officeDocument/2006/relationships/hyperlink" Target="http://drive.google.com/file/d/1X6c11o_MWWUpsFPNX6W8U93wJ5M2t20M/vie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hyperlink" Target="http://drive.google.com/file/d/1fN0hn9zeEEJ0qiz8NM8Ltw4xhC3i0PM_/view" TargetMode="External"/><Relationship Id="rId5" Type="http://schemas.openxmlformats.org/officeDocument/2006/relationships/image" Target="../media/image2.png"/><Relationship Id="rId6" Type="http://schemas.openxmlformats.org/officeDocument/2006/relationships/hyperlink" Target="http://drive.google.com/file/d/1yqoNv7shNzRRcyTCrvjxnF3TQpJFezNO/view" TargetMode="External"/><Relationship Id="rId7" Type="http://schemas.openxmlformats.org/officeDocument/2006/relationships/hyperlink" Target="http://drive.google.com/file/d/1kKDImp07v6Aj5443V_pxON2LLCyzpSs1/vi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hyperlink" Target="http://drive.google.com/file/d/1sO3Ni_2SgWybDrG5fu1BMCgpOZE6bW00/view" TargetMode="External"/><Relationship Id="rId5" Type="http://schemas.openxmlformats.org/officeDocument/2006/relationships/image" Target="../media/image2.png"/><Relationship Id="rId6" Type="http://schemas.openxmlformats.org/officeDocument/2006/relationships/hyperlink" Target="http://drive.google.com/file/d/1yaDTeZQVaIUc1q4m1XdcUoPox0yaT_jP/view" TargetMode="External"/><Relationship Id="rId7" Type="http://schemas.openxmlformats.org/officeDocument/2006/relationships/hyperlink" Target="http://drive.google.com/file/d/1YMUp3208KwdmUdfyttOyAzrSDCVmRHaF/vie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hyperlink" Target="http://drive.google.com/file/d/1PoIE-vWjWdbEOP-PMrQxu5EFDUbBRx42/view" TargetMode="External"/><Relationship Id="rId5" Type="http://schemas.openxmlformats.org/officeDocument/2006/relationships/image" Target="../media/image2.png"/><Relationship Id="rId6" Type="http://schemas.openxmlformats.org/officeDocument/2006/relationships/hyperlink" Target="http://drive.google.com/file/d/1mkXWRbi78GkyBtaOuIT4XKaHDGT2gJ8W/vie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drive.google.com/file/d/1AwjYQzFwBa_1nlmV8S9pc7wTXoFxxgCO/view" TargetMode="External"/><Relationship Id="rId5" Type="http://schemas.openxmlformats.org/officeDocument/2006/relationships/image" Target="../media/image2.png"/><Relationship Id="rId6" Type="http://schemas.openxmlformats.org/officeDocument/2006/relationships/hyperlink" Target="http://drive.google.com/file/d/1Jq66DW-b9gYU4mfCX1aONNKiCWgzR6on/vie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comments" Target="../comments/comment3.xml"/><Relationship Id="rId4" Type="http://schemas.openxmlformats.org/officeDocument/2006/relationships/image" Target="../media/image3.png"/><Relationship Id="rId5" Type="http://schemas.openxmlformats.org/officeDocument/2006/relationships/hyperlink" Target="http://drive.google.com/file/d/1R3ILKb9caRZ0iV9GZAmlCuX9D-99hDmJ/view" TargetMode="External"/><Relationship Id="rId6" Type="http://schemas.openxmlformats.org/officeDocument/2006/relationships/image" Target="../media/image2.png"/><Relationship Id="rId7" Type="http://schemas.openxmlformats.org/officeDocument/2006/relationships/hyperlink" Target="http://drive.google.com/file/d/1h1UozneC7-ROplsu6jXknlV0UVQu2MH4/view" TargetMode="External"/><Relationship Id="rId8" Type="http://schemas.openxmlformats.org/officeDocument/2006/relationships/hyperlink" Target="http://drive.google.com/file/d/1X6c11o_MWWUpsFPNX6W8U93wJ5M2t20M/vie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hyperlink" Target="http://drive.google.com/file/d/1fN0hn9zeEEJ0qiz8NM8Ltw4xhC3i0PM_/view" TargetMode="External"/><Relationship Id="rId5" Type="http://schemas.openxmlformats.org/officeDocument/2006/relationships/image" Target="../media/image2.png"/><Relationship Id="rId6" Type="http://schemas.openxmlformats.org/officeDocument/2006/relationships/hyperlink" Target="http://drive.google.com/file/d/1yqoNv7shNzRRcyTCrvjxnF3TQpJFezNO/view" TargetMode="External"/><Relationship Id="rId7" Type="http://schemas.openxmlformats.org/officeDocument/2006/relationships/hyperlink" Target="http://drive.google.com/file/d/1kKDImp07v6Aj5443V_pxON2LLCyzpSs1/view"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hyperlink" Target="http://drive.google.com/file/d/1sO3Ni_2SgWybDrG5fu1BMCgpOZE6bW00/view" TargetMode="External"/><Relationship Id="rId5" Type="http://schemas.openxmlformats.org/officeDocument/2006/relationships/image" Target="../media/image2.png"/><Relationship Id="rId6" Type="http://schemas.openxmlformats.org/officeDocument/2006/relationships/hyperlink" Target="http://drive.google.com/file/d/1yaDTeZQVaIUc1q4m1XdcUoPox0yaT_jP/view" TargetMode="External"/><Relationship Id="rId7" Type="http://schemas.openxmlformats.org/officeDocument/2006/relationships/hyperlink" Target="http://drive.google.com/file/d/1YMUp3208KwdmUdfyttOyAzrSDCVmRHaF/view"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hyperlink" Target="http://drive.google.com/file/d/1PoIE-vWjWdbEOP-PMrQxu5EFDUbBRx42/view" TargetMode="External"/><Relationship Id="rId5" Type="http://schemas.openxmlformats.org/officeDocument/2006/relationships/image" Target="../media/image2.png"/><Relationship Id="rId6" Type="http://schemas.openxmlformats.org/officeDocument/2006/relationships/hyperlink" Target="http://drive.google.com/file/d/1mkXWRbi78GkyBtaOuIT4XKaHDGT2gJ8W/vie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hyperlink" Target="http://drive.google.com/file/d/1AwjYQzFwBa_1nlmV8S9pc7wTXoFxxgCO/view" TargetMode="External"/><Relationship Id="rId5" Type="http://schemas.openxmlformats.org/officeDocument/2006/relationships/image" Target="../media/image2.png"/><Relationship Id="rId6" Type="http://schemas.openxmlformats.org/officeDocument/2006/relationships/hyperlink" Target="http://drive.google.com/file/d/1Jq66DW-b9gYU4mfCX1aONNKiCWgzR6on/view"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comments" Target="../comments/comment4.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Listening</a:t>
              </a:r>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a:t>
              </a:r>
              <a:r>
                <a:rPr b="1" lang="en-US" sz="3200">
                  <a:solidFill>
                    <a:srgbClr val="FFFFFF"/>
                  </a:solidFill>
                  <a:latin typeface="Montserrat"/>
                  <a:ea typeface="Montserrat"/>
                  <a:cs typeface="Montserrat"/>
                  <a:sym typeface="Montserrat"/>
                </a:rPr>
                <a:t>nghe</a:t>
              </a:r>
              <a:r>
                <a:rPr b="1" i="0" lang="en-US" sz="3200" u="none" cap="none" strike="noStrike">
                  <a:solidFill>
                    <a:srgbClr val="FFFFFF"/>
                  </a:solidFill>
                  <a:latin typeface="Montserrat"/>
                  <a:ea typeface="Montserrat"/>
                  <a:cs typeface="Montserrat"/>
                  <a:sym typeface="Montserrat"/>
                </a:rPr>
                <a:t> APTIS part 1</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4203214"/>
            <a:ext cx="10121389" cy="1245090"/>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7905394" y="8347046"/>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nghe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nghe APTIS part 1</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p:nvPr/>
        </p:nvSpPr>
        <p:spPr>
          <a:xfrm>
            <a:off x="5053637" y="611038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6997386" y="358219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70" name="Google Shape;170;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71" name="Google Shape;171;p16"/>
          <p:cNvGrpSpPr/>
          <p:nvPr/>
        </p:nvGrpSpPr>
        <p:grpSpPr>
          <a:xfrm rot="10800000">
            <a:off x="15785091" y="-536942"/>
            <a:ext cx="7681766" cy="4260610"/>
            <a:chOff x="0" y="-38100"/>
            <a:chExt cx="406400" cy="225405"/>
          </a:xfrm>
        </p:grpSpPr>
        <p:sp>
          <p:nvSpPr>
            <p:cNvPr id="172" name="Google Shape;172;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3" name="Google Shape;173;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175" name="Google Shape;175;p16"/>
          <p:cNvGrpSpPr/>
          <p:nvPr/>
        </p:nvGrpSpPr>
        <p:grpSpPr>
          <a:xfrm>
            <a:off x="-2718010" y="9274528"/>
            <a:ext cx="7950400" cy="1707231"/>
            <a:chOff x="0" y="-384762"/>
            <a:chExt cx="10600533" cy="2276307"/>
          </a:xfrm>
        </p:grpSpPr>
        <p:grpSp>
          <p:nvGrpSpPr>
            <p:cNvPr id="176" name="Google Shape;176;p16"/>
            <p:cNvGrpSpPr/>
            <p:nvPr/>
          </p:nvGrpSpPr>
          <p:grpSpPr>
            <a:xfrm>
              <a:off x="0" y="-384762"/>
              <a:ext cx="10600533" cy="2276307"/>
              <a:chOff x="0" y="-38100"/>
              <a:chExt cx="1049690" cy="225405"/>
            </a:xfrm>
          </p:grpSpPr>
          <p:sp>
            <p:nvSpPr>
              <p:cNvPr id="177" name="Google Shape;177;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8" name="Google Shape;178;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0" name="Google Shape;180;p16"/>
          <p:cNvSpPr txBox="1"/>
          <p:nvPr/>
        </p:nvSpPr>
        <p:spPr>
          <a:xfrm>
            <a:off x="6107221"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Phần 1: Nhận diện thông tin cơ bản</a:t>
            </a:r>
            <a:endParaRPr b="1" sz="4800">
              <a:solidFill>
                <a:srgbClr val="018345"/>
              </a:solidFill>
              <a:latin typeface="Montserrat"/>
              <a:ea typeface="Montserrat"/>
              <a:cs typeface="Montserrat"/>
              <a:sym typeface="Montserrat"/>
            </a:endParaRPr>
          </a:p>
        </p:txBody>
      </p:sp>
      <p:grpSp>
        <p:nvGrpSpPr>
          <p:cNvPr id="181" name="Google Shape;181;p16"/>
          <p:cNvGrpSpPr/>
          <p:nvPr/>
        </p:nvGrpSpPr>
        <p:grpSpPr>
          <a:xfrm>
            <a:off x="9563502" y="2587607"/>
            <a:ext cx="7889409" cy="6359218"/>
            <a:chOff x="7810502" y="2279932"/>
            <a:chExt cx="7889409" cy="6359218"/>
          </a:xfrm>
        </p:grpSpPr>
        <p:grpSp>
          <p:nvGrpSpPr>
            <p:cNvPr id="182" name="Google Shape;182;p16"/>
            <p:cNvGrpSpPr/>
            <p:nvPr/>
          </p:nvGrpSpPr>
          <p:grpSpPr>
            <a:xfrm>
              <a:off x="7810502" y="2279932"/>
              <a:ext cx="7889409" cy="6359218"/>
              <a:chOff x="695515" y="76899"/>
              <a:chExt cx="7889409" cy="6359218"/>
            </a:xfrm>
          </p:grpSpPr>
          <p:sp>
            <p:nvSpPr>
              <p:cNvPr id="183" name="Google Shape;183;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592275" y="5088831"/>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txBox="1"/>
              <p:nvPr/>
            </p:nvSpPr>
            <p:spPr>
              <a:xfrm>
                <a:off x="1516651" y="5246317"/>
                <a:ext cx="5303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2 lần nghe</a:t>
                </a:r>
                <a:endParaRPr b="1" sz="4000">
                  <a:solidFill>
                    <a:schemeClr val="lt1"/>
                  </a:solidFill>
                  <a:latin typeface="Roboto"/>
                  <a:ea typeface="Roboto"/>
                  <a:cs typeface="Roboto"/>
                  <a:sym typeface="Roboto"/>
                </a:endParaRPr>
              </a:p>
            </p:txBody>
          </p:sp>
          <p:sp>
            <p:nvSpPr>
              <p:cNvPr id="195" name="Google Shape;195;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3669724" y="2510116"/>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txBox="1"/>
              <p:nvPr/>
            </p:nvSpPr>
            <p:spPr>
              <a:xfrm>
                <a:off x="3446394" y="2555999"/>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Trắc nghiệm </a:t>
                </a:r>
                <a:endParaRPr b="1" sz="4000">
                  <a:solidFill>
                    <a:schemeClr val="lt1"/>
                  </a:solidFill>
                  <a:latin typeface="Roboto"/>
                  <a:ea typeface="Roboto"/>
                  <a:cs typeface="Roboto"/>
                  <a:sym typeface="Roboto"/>
                </a:endParaRPr>
              </a:p>
              <a:p>
                <a:pPr indent="0" lvl="0" marL="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(3 phương án)</a:t>
                </a:r>
                <a:endParaRPr b="1" sz="4000">
                  <a:solidFill>
                    <a:schemeClr val="lt1"/>
                  </a:solidFill>
                  <a:latin typeface="Roboto"/>
                  <a:ea typeface="Roboto"/>
                  <a:cs typeface="Roboto"/>
                  <a:sym typeface="Roboto"/>
                </a:endParaRPr>
              </a:p>
            </p:txBody>
          </p:sp>
          <p:sp>
            <p:nvSpPr>
              <p:cNvPr id="198" name="Google Shape;198;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9" name="Google Shape;199;p16"/>
            <p:cNvPicPr preferRelativeResize="0"/>
            <p:nvPr/>
          </p:nvPicPr>
          <p:blipFill rotWithShape="1">
            <a:blip r:embed="rId5">
              <a:alphaModFix/>
            </a:blip>
            <a:srcRect b="0" l="0" r="0" t="0"/>
            <a:stretch/>
          </p:blipFill>
          <p:spPr>
            <a:xfrm>
              <a:off x="8077200" y="6515100"/>
              <a:ext cx="1219200" cy="1219200"/>
            </a:xfrm>
            <a:prstGeom prst="rect">
              <a:avLst/>
            </a:prstGeom>
            <a:noFill/>
            <a:ln>
              <a:noFill/>
            </a:ln>
          </p:spPr>
        </p:pic>
        <p:pic>
          <p:nvPicPr>
            <p:cNvPr descr="Lightbulb and gear with solid fill" id="200" name="Google Shape;200;p16"/>
            <p:cNvPicPr preferRelativeResize="0"/>
            <p:nvPr/>
          </p:nvPicPr>
          <p:blipFill rotWithShape="1">
            <a:blip r:embed="rId6">
              <a:alphaModFix/>
            </a:blip>
            <a:srcRect b="0" l="0" r="0" t="0"/>
            <a:stretch/>
          </p:blipFill>
          <p:spPr>
            <a:xfrm>
              <a:off x="10001250" y="3943350"/>
              <a:ext cx="1200150" cy="1200150"/>
            </a:xfrm>
            <a:prstGeom prst="rect">
              <a:avLst/>
            </a:prstGeom>
            <a:noFill/>
            <a:ln>
              <a:noFill/>
            </a:ln>
          </p:spPr>
        </p:pic>
      </p:grpSp>
      <p:sp>
        <p:nvSpPr>
          <p:cNvPr id="201" name="Google Shape;201;p16"/>
          <p:cNvSpPr txBox="1"/>
          <p:nvPr/>
        </p:nvSpPr>
        <p:spPr>
          <a:xfrm>
            <a:off x="7061732" y="3646545"/>
            <a:ext cx="47865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13 câu hỏi</a:t>
            </a:r>
            <a:endParaRPr b="1" sz="4000">
              <a:solidFill>
                <a:schemeClr val="lt1"/>
              </a:solidFill>
              <a:latin typeface="Roboto"/>
              <a:ea typeface="Roboto"/>
              <a:cs typeface="Roboto"/>
              <a:sym typeface="Roboto"/>
            </a:endParaRPr>
          </a:p>
        </p:txBody>
      </p:sp>
      <p:sp>
        <p:nvSpPr>
          <p:cNvPr id="202" name="Google Shape;202;p16"/>
          <p:cNvSpPr txBox="1"/>
          <p:nvPr/>
        </p:nvSpPr>
        <p:spPr>
          <a:xfrm>
            <a:off x="4859525" y="6174750"/>
            <a:ext cx="5303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Tin nhắn/</a:t>
            </a:r>
            <a:endParaRPr b="1" sz="4000">
              <a:solidFill>
                <a:schemeClr val="lt1"/>
              </a:solidFill>
              <a:latin typeface="Roboto"/>
              <a:ea typeface="Roboto"/>
              <a:cs typeface="Roboto"/>
              <a:sym typeface="Roboto"/>
            </a:endParaRPr>
          </a:p>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Hội thoại ngắn</a:t>
            </a:r>
            <a:endParaRPr b="1" sz="4000">
              <a:solidFill>
                <a:schemeClr val="lt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cxnSp>
        <p:nvCxnSpPr>
          <p:cNvPr id="207" name="Google Shape;207;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8" name="Google Shape;208;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9" name="Google Shape;209;p17"/>
          <p:cNvGrpSpPr/>
          <p:nvPr/>
        </p:nvGrpSpPr>
        <p:grpSpPr>
          <a:xfrm rot="10800000">
            <a:off x="15044552" y="-741521"/>
            <a:ext cx="7681766" cy="4260610"/>
            <a:chOff x="0" y="-38100"/>
            <a:chExt cx="406400" cy="225405"/>
          </a:xfrm>
        </p:grpSpPr>
        <p:sp>
          <p:nvSpPr>
            <p:cNvPr id="210" name="Google Shape;210;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1" name="Google Shape;211;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12" name="Google Shape;212;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13" name="Google Shape;213;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4" name="Google Shape;214;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nghe APTIS</a:t>
            </a:r>
            <a:endParaRPr/>
          </a:p>
        </p:txBody>
      </p:sp>
      <p:sp>
        <p:nvSpPr>
          <p:cNvPr id="215" name="Google Shape;215;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6" name="Google Shape;216;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7" name="Google Shape;217;p17"/>
          <p:cNvGrpSpPr/>
          <p:nvPr/>
        </p:nvGrpSpPr>
        <p:grpSpPr>
          <a:xfrm>
            <a:off x="-2718010" y="9274528"/>
            <a:ext cx="7950400" cy="1707231"/>
            <a:chOff x="0" y="-384762"/>
            <a:chExt cx="10600533" cy="2276307"/>
          </a:xfrm>
        </p:grpSpPr>
        <p:grpSp>
          <p:nvGrpSpPr>
            <p:cNvPr id="218" name="Google Shape;218;p17"/>
            <p:cNvGrpSpPr/>
            <p:nvPr/>
          </p:nvGrpSpPr>
          <p:grpSpPr>
            <a:xfrm>
              <a:off x="0" y="-384762"/>
              <a:ext cx="10600533" cy="2276307"/>
              <a:chOff x="0" y="-38100"/>
              <a:chExt cx="1049690" cy="225405"/>
            </a:xfrm>
          </p:grpSpPr>
          <p:sp>
            <p:nvSpPr>
              <p:cNvPr id="219" name="Google Shape;219;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0" name="Google Shape;220;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 name="Google Shape;221;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22" name="Google Shape;222;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ppt_w</p:attrName>
                                        </p:attrNameLst>
                                      </p:cBhvr>
                                      <p:tavLst>
                                        <p:tav fmla="" tm="0">
                                          <p:val>
                                            <p:strVal val="0"/>
                                          </p:val>
                                        </p:tav>
                                        <p:tav fmla="" tm="100000">
                                          <p:val>
                                            <p:strVal val="#ppt_w"/>
                                          </p:val>
                                        </p:tav>
                                      </p:tavLst>
                                    </p:anim>
                                    <p:anim calcmode="lin" valueType="num">
                                      <p:cBhvr additive="base">
                                        <p:cTn dur="500"/>
                                        <p:tgtEl>
                                          <p:spTgt spid="2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cxnSp>
        <p:nvCxnSpPr>
          <p:cNvPr id="228" name="Google Shape;228;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9" name="Google Shape;229;p18"/>
          <p:cNvGrpSpPr/>
          <p:nvPr/>
        </p:nvGrpSpPr>
        <p:grpSpPr>
          <a:xfrm rot="10800000">
            <a:off x="15785091" y="-536942"/>
            <a:ext cx="7681766" cy="4260610"/>
            <a:chOff x="0" y="-38100"/>
            <a:chExt cx="406400" cy="225405"/>
          </a:xfrm>
        </p:grpSpPr>
        <p:sp>
          <p:nvSpPr>
            <p:cNvPr id="230" name="Google Shape;230;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1" name="Google Shape;231;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33" name="Google Shape;233;p18"/>
          <p:cNvSpPr txBox="1"/>
          <p:nvPr/>
        </p:nvSpPr>
        <p:spPr>
          <a:xfrm>
            <a:off x="3359002" y="4011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nghe APTIS</a:t>
            </a:r>
            <a:endParaRPr/>
          </a:p>
        </p:txBody>
      </p:sp>
      <p:grpSp>
        <p:nvGrpSpPr>
          <p:cNvPr id="234" name="Google Shape;234;p18"/>
          <p:cNvGrpSpPr/>
          <p:nvPr/>
        </p:nvGrpSpPr>
        <p:grpSpPr>
          <a:xfrm>
            <a:off x="-2718010" y="9274528"/>
            <a:ext cx="7950400" cy="1707231"/>
            <a:chOff x="0" y="-384762"/>
            <a:chExt cx="10600533" cy="2276307"/>
          </a:xfrm>
        </p:grpSpPr>
        <p:grpSp>
          <p:nvGrpSpPr>
            <p:cNvPr id="235" name="Google Shape;235;p18"/>
            <p:cNvGrpSpPr/>
            <p:nvPr/>
          </p:nvGrpSpPr>
          <p:grpSpPr>
            <a:xfrm>
              <a:off x="0" y="-384762"/>
              <a:ext cx="10600533" cy="2276307"/>
              <a:chOff x="0" y="-38100"/>
              <a:chExt cx="1049690" cy="225405"/>
            </a:xfrm>
          </p:grpSpPr>
          <p:sp>
            <p:nvSpPr>
              <p:cNvPr id="236" name="Google Shape;236;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7" name="Google Shape;237;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8" name="Google Shape;238;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 name="Google Shape;239;p18"/>
          <p:cNvSpPr txBox="1"/>
          <p:nvPr/>
        </p:nvSpPr>
        <p:spPr>
          <a:xfrm>
            <a:off x="7245275" y="2117525"/>
            <a:ext cx="11375100" cy="7080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Gạch chân từ khóa trong </a:t>
            </a:r>
            <a:r>
              <a:rPr b="1" lang="en-US" sz="4000">
                <a:solidFill>
                  <a:schemeClr val="dk1"/>
                </a:solidFill>
                <a:latin typeface="Roboto"/>
                <a:ea typeface="Roboto"/>
                <a:cs typeface="Roboto"/>
                <a:sym typeface="Roboto"/>
              </a:rPr>
              <a:t>câu hỏi</a:t>
            </a:r>
            <a:r>
              <a:rPr lang="en-US" sz="4000">
                <a:solidFill>
                  <a:schemeClr val="dk1"/>
                </a:solidFill>
                <a:latin typeface="Roboto"/>
                <a:ea typeface="Roboto"/>
                <a:cs typeface="Roboto"/>
                <a:sym typeface="Roboto"/>
              </a:rPr>
              <a:t> và câu trả </a:t>
            </a:r>
            <a:r>
              <a:rPr lang="en-US" sz="4000">
                <a:solidFill>
                  <a:schemeClr val="dk1"/>
                </a:solidFill>
                <a:latin typeface="Roboto"/>
                <a:ea typeface="Roboto"/>
                <a:cs typeface="Roboto"/>
                <a:sym typeface="Roboto"/>
              </a:rPr>
              <a:t>lời</a:t>
            </a:r>
            <a:r>
              <a:rPr lang="en-US" sz="4000">
                <a:solidFill>
                  <a:schemeClr val="dk1"/>
                </a:solidFill>
                <a:latin typeface="Roboto"/>
                <a:ea typeface="Roboto"/>
                <a:cs typeface="Roboto"/>
                <a:sym typeface="Roboto"/>
              </a:rPr>
              <a:t>.</a:t>
            </a:r>
            <a:endParaRPr>
              <a:latin typeface="Roboto"/>
              <a:ea typeface="Roboto"/>
              <a:cs typeface="Roboto"/>
              <a:sym typeface="Roboto"/>
            </a:endParaRPr>
          </a:p>
        </p:txBody>
      </p:sp>
      <p:sp>
        <p:nvSpPr>
          <p:cNvPr id="240" name="Google Shape;240;p18"/>
          <p:cNvSpPr txBox="1"/>
          <p:nvPr/>
        </p:nvSpPr>
        <p:spPr>
          <a:xfrm>
            <a:off x="7137550" y="3304744"/>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Mỗi câu hỏi được nghe 2 lần, nên tận dụng lần 2 để kiểm tra lại kết quả</a:t>
            </a:r>
            <a:endParaRPr>
              <a:latin typeface="Roboto"/>
              <a:ea typeface="Roboto"/>
              <a:cs typeface="Roboto"/>
              <a:sym typeface="Roboto"/>
            </a:endParaRPr>
          </a:p>
        </p:txBody>
      </p:sp>
      <p:sp>
        <p:nvSpPr>
          <p:cNvPr id="241" name="Google Shape;241;p18"/>
          <p:cNvSpPr txBox="1"/>
          <p:nvPr/>
        </p:nvSpPr>
        <p:spPr>
          <a:xfrm>
            <a:off x="7056775" y="5062231"/>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Chú ý các yếu tố gây nhiễu, các lựa chọn sai cũng sẽ được nhắc tới</a:t>
            </a:r>
            <a:endParaRPr>
              <a:latin typeface="Roboto"/>
              <a:ea typeface="Roboto"/>
              <a:cs typeface="Roboto"/>
              <a:sym typeface="Roboto"/>
            </a:endParaRPr>
          </a:p>
        </p:txBody>
      </p:sp>
      <p:sp>
        <p:nvSpPr>
          <p:cNvPr id="242" name="Google Shape;242;p18"/>
          <p:cNvSpPr txBox="1"/>
          <p:nvPr/>
        </p:nvSpPr>
        <p:spPr>
          <a:xfrm>
            <a:off x="7056775" y="6941825"/>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Nên nghe hết toàn bộ audio trước khi quyết định lựa chọn đáp án</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cxnSp>
        <p:nvCxnSpPr>
          <p:cNvPr id="248" name="Google Shape;248;p19"/>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9" name="Google Shape;249;p19"/>
          <p:cNvGrpSpPr/>
          <p:nvPr/>
        </p:nvGrpSpPr>
        <p:grpSpPr>
          <a:xfrm rot="10800000">
            <a:off x="15785091" y="-536942"/>
            <a:ext cx="7681766" cy="4260610"/>
            <a:chOff x="0" y="-38100"/>
            <a:chExt cx="406400" cy="225405"/>
          </a:xfrm>
        </p:grpSpPr>
        <p:sp>
          <p:nvSpPr>
            <p:cNvPr id="250" name="Google Shape;250;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1" name="Google Shape;251;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6866001" y="910025"/>
            <a:ext cx="107877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53" name="Google Shape;253;p19"/>
          <p:cNvGrpSpPr/>
          <p:nvPr/>
        </p:nvGrpSpPr>
        <p:grpSpPr>
          <a:xfrm>
            <a:off x="-2718010" y="9274528"/>
            <a:ext cx="7950400" cy="1707231"/>
            <a:chOff x="0" y="-384762"/>
            <a:chExt cx="10600533" cy="2276307"/>
          </a:xfrm>
        </p:grpSpPr>
        <p:grpSp>
          <p:nvGrpSpPr>
            <p:cNvPr id="254" name="Google Shape;254;p19"/>
            <p:cNvGrpSpPr/>
            <p:nvPr/>
          </p:nvGrpSpPr>
          <p:grpSpPr>
            <a:xfrm>
              <a:off x="0" y="-384762"/>
              <a:ext cx="10600533" cy="2276307"/>
              <a:chOff x="0" y="-38100"/>
              <a:chExt cx="1049690" cy="225405"/>
            </a:xfrm>
          </p:grpSpPr>
          <p:sp>
            <p:nvSpPr>
              <p:cNvPr id="255" name="Google Shape;255;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6" name="Google Shape;256;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 name="Google Shape;257;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9"/>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52203" y="1059893"/>
            <a:ext cx="9424803" cy="9424803"/>
          </a:xfrm>
          <a:prstGeom prst="blockArc">
            <a:avLst>
              <a:gd fmla="val 19397388" name="adj1"/>
              <a:gd fmla="val 1908187" name="adj2"/>
              <a:gd fmla="val 0"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19"/>
          <p:cNvCxnSpPr/>
          <p:nvPr/>
        </p:nvCxnSpPr>
        <p:spPr>
          <a:xfrm>
            <a:off x="7690000" y="1972100"/>
            <a:ext cx="9381900" cy="40500"/>
          </a:xfrm>
          <a:prstGeom prst="straightConnector1">
            <a:avLst/>
          </a:prstGeom>
          <a:noFill/>
          <a:ln cap="flat" cmpd="sng" w="38100">
            <a:solidFill>
              <a:srgbClr val="018345"/>
            </a:solidFill>
            <a:prstDash val="solid"/>
            <a:round/>
            <a:headEnd len="sm" w="sm" type="none"/>
            <a:tailEnd len="sm" w="sm" type="none"/>
          </a:ln>
        </p:spPr>
      </p:cxnSp>
      <p:grpSp>
        <p:nvGrpSpPr>
          <p:cNvPr id="261" name="Google Shape;261;p19"/>
          <p:cNvGrpSpPr/>
          <p:nvPr/>
        </p:nvGrpSpPr>
        <p:grpSpPr>
          <a:xfrm>
            <a:off x="8158730" y="3207820"/>
            <a:ext cx="8684450" cy="1094798"/>
            <a:chOff x="7100641" y="2598220"/>
            <a:chExt cx="8684450" cy="1094798"/>
          </a:xfrm>
        </p:grpSpPr>
        <p:sp>
          <p:nvSpPr>
            <p:cNvPr id="262" name="Google Shape;262;p19"/>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Giữ bình tĩnh và tự tin</a:t>
              </a:r>
              <a:endParaRPr sz="4600">
                <a:solidFill>
                  <a:schemeClr val="lt1"/>
                </a:solidFill>
                <a:latin typeface="Roboto"/>
                <a:ea typeface="Roboto"/>
                <a:cs typeface="Roboto"/>
                <a:sym typeface="Roboto"/>
              </a:endParaRPr>
            </a:p>
          </p:txBody>
        </p:sp>
        <p:sp>
          <p:nvSpPr>
            <p:cNvPr id="263" name="Google Shape;263;p19"/>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9"/>
          <p:cNvGrpSpPr/>
          <p:nvPr/>
        </p:nvGrpSpPr>
        <p:grpSpPr>
          <a:xfrm>
            <a:off x="8786330" y="4444957"/>
            <a:ext cx="8056850" cy="1094798"/>
            <a:chOff x="7728241" y="3911557"/>
            <a:chExt cx="8056850" cy="1094798"/>
          </a:xfrm>
        </p:grpSpPr>
        <p:sp>
          <p:nvSpPr>
            <p:cNvPr id="265" name="Google Shape;265;p19"/>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Nghe kỹ hướng dẫn</a:t>
              </a:r>
              <a:endParaRPr sz="4600">
                <a:solidFill>
                  <a:schemeClr val="lt1"/>
                </a:solidFill>
                <a:latin typeface="Roboto"/>
                <a:ea typeface="Roboto"/>
                <a:cs typeface="Roboto"/>
                <a:sym typeface="Roboto"/>
              </a:endParaRPr>
            </a:p>
          </p:txBody>
        </p:sp>
        <p:sp>
          <p:nvSpPr>
            <p:cNvPr id="266" name="Google Shape;266;p19"/>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9"/>
          <p:cNvGrpSpPr/>
          <p:nvPr/>
        </p:nvGrpSpPr>
        <p:grpSpPr>
          <a:xfrm>
            <a:off x="8978953" y="5758295"/>
            <a:ext cx="7864227" cy="1094798"/>
            <a:chOff x="7920864" y="5224895"/>
            <a:chExt cx="7864227" cy="1094798"/>
          </a:xfrm>
        </p:grpSpPr>
        <p:sp>
          <p:nvSpPr>
            <p:cNvPr id="268" name="Google Shape;268;p19"/>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Theo sát câu hỏi đề bài</a:t>
              </a:r>
              <a:endParaRPr sz="4600">
                <a:solidFill>
                  <a:schemeClr val="lt1"/>
                </a:solidFill>
                <a:latin typeface="Roboto"/>
                <a:ea typeface="Roboto"/>
                <a:cs typeface="Roboto"/>
                <a:sym typeface="Roboto"/>
              </a:endParaRPr>
            </a:p>
          </p:txBody>
        </p:sp>
        <p:sp>
          <p:nvSpPr>
            <p:cNvPr id="269" name="Google Shape;269;p19"/>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9"/>
          <p:cNvGrpSpPr/>
          <p:nvPr/>
        </p:nvGrpSpPr>
        <p:grpSpPr>
          <a:xfrm>
            <a:off x="8786330" y="6995432"/>
            <a:ext cx="8056850" cy="1094798"/>
            <a:chOff x="7728241" y="6538232"/>
            <a:chExt cx="8056850" cy="1094798"/>
          </a:xfrm>
        </p:grpSpPr>
        <p:sp>
          <p:nvSpPr>
            <p:cNvPr id="271" name="Google Shape;271;p19"/>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Luôn kiểm tra lại đáp án</a:t>
              </a:r>
              <a:endParaRPr sz="4600">
                <a:solidFill>
                  <a:schemeClr val="lt1"/>
                </a:solidFill>
                <a:latin typeface="Roboto"/>
                <a:ea typeface="Roboto"/>
                <a:cs typeface="Roboto"/>
                <a:sym typeface="Roboto"/>
              </a:endParaRPr>
            </a:p>
          </p:txBody>
        </p:sp>
        <p:sp>
          <p:nvSpPr>
            <p:cNvPr id="272" name="Google Shape;272;p19"/>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20"/>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278" name="Google Shape;278;p2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279" name="Google Shape;279;p20"/>
          <p:cNvGrpSpPr/>
          <p:nvPr/>
        </p:nvGrpSpPr>
        <p:grpSpPr>
          <a:xfrm rot="10800000">
            <a:off x="15044545" y="-741517"/>
            <a:ext cx="7681773" cy="4260605"/>
            <a:chOff x="0" y="-38100"/>
            <a:chExt cx="406400" cy="225405"/>
          </a:xfrm>
        </p:grpSpPr>
        <p:sp>
          <p:nvSpPr>
            <p:cNvPr id="280" name="Google Shape;28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1" name="Google Shape;281;p2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82" name="Google Shape;282;p2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83" name="Google Shape;283;p2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84" name="Google Shape;284;p20"/>
          <p:cNvSpPr txBox="1"/>
          <p:nvPr/>
        </p:nvSpPr>
        <p:spPr>
          <a:xfrm>
            <a:off x="5511794" y="2502271"/>
            <a:ext cx="11760300" cy="1015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 Ví dụ đề mẫu</a:t>
            </a:r>
            <a:endParaRPr b="1" sz="6600">
              <a:solidFill>
                <a:srgbClr val="018345"/>
              </a:solidFill>
              <a:latin typeface="Montserrat"/>
              <a:ea typeface="Montserrat"/>
              <a:cs typeface="Montserrat"/>
              <a:sym typeface="Montserrat"/>
            </a:endParaRPr>
          </a:p>
        </p:txBody>
      </p:sp>
      <p:sp>
        <p:nvSpPr>
          <p:cNvPr id="285" name="Google Shape;285;p20"/>
          <p:cNvSpPr txBox="1"/>
          <p:nvPr/>
        </p:nvSpPr>
        <p:spPr>
          <a:xfrm>
            <a:off x="9601200" y="339710"/>
            <a:ext cx="2755500" cy="18375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86" name="Google Shape;286;p20"/>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7" name="Google Shape;287;p20"/>
          <p:cNvGrpSpPr/>
          <p:nvPr/>
        </p:nvGrpSpPr>
        <p:grpSpPr>
          <a:xfrm>
            <a:off x="-2718010" y="9274530"/>
            <a:ext cx="7950378" cy="1707223"/>
            <a:chOff x="0" y="-384760"/>
            <a:chExt cx="10600504" cy="2276297"/>
          </a:xfrm>
        </p:grpSpPr>
        <p:grpSp>
          <p:nvGrpSpPr>
            <p:cNvPr id="288" name="Google Shape;288;p20"/>
            <p:cNvGrpSpPr/>
            <p:nvPr/>
          </p:nvGrpSpPr>
          <p:grpSpPr>
            <a:xfrm>
              <a:off x="0" y="-384760"/>
              <a:ext cx="10600504" cy="2276297"/>
              <a:chOff x="0" y="-38100"/>
              <a:chExt cx="1049690" cy="225405"/>
            </a:xfrm>
          </p:grpSpPr>
          <p:sp>
            <p:nvSpPr>
              <p:cNvPr id="289" name="Google Shape;289;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0"/>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92" name="Google Shape;292;p20"/>
          <p:cNvPicPr preferRelativeResize="0"/>
          <p:nvPr/>
        </p:nvPicPr>
        <p:blipFill rotWithShape="1">
          <a:blip r:embed="rId5">
            <a:alphaModFix/>
          </a:blip>
          <a:srcRect b="10094" l="0" r="0" t="10546"/>
          <a:stretch/>
        </p:blipFill>
        <p:spPr>
          <a:xfrm>
            <a:off x="7772400" y="4099418"/>
            <a:ext cx="6391278" cy="5071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cxnSp>
        <p:nvCxnSpPr>
          <p:cNvPr id="298" name="Google Shape;298;p2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99" name="Google Shape;299;p21"/>
          <p:cNvGrpSpPr/>
          <p:nvPr/>
        </p:nvGrpSpPr>
        <p:grpSpPr>
          <a:xfrm rot="10800000">
            <a:off x="15785084" y="-536938"/>
            <a:ext cx="7681773" cy="4260605"/>
            <a:chOff x="0" y="-38100"/>
            <a:chExt cx="406400" cy="225405"/>
          </a:xfrm>
        </p:grpSpPr>
        <p:sp>
          <p:nvSpPr>
            <p:cNvPr id="300" name="Google Shape;300;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1" name="Google Shape;301;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03" name="Google Shape;303;p21"/>
          <p:cNvGrpSpPr/>
          <p:nvPr/>
        </p:nvGrpSpPr>
        <p:grpSpPr>
          <a:xfrm>
            <a:off x="-2718010" y="9274530"/>
            <a:ext cx="7950378" cy="1707223"/>
            <a:chOff x="0" y="-384760"/>
            <a:chExt cx="10600504" cy="2276297"/>
          </a:xfrm>
        </p:grpSpPr>
        <p:grpSp>
          <p:nvGrpSpPr>
            <p:cNvPr id="304" name="Google Shape;304;p21"/>
            <p:cNvGrpSpPr/>
            <p:nvPr/>
          </p:nvGrpSpPr>
          <p:grpSpPr>
            <a:xfrm>
              <a:off x="0" y="-384760"/>
              <a:ext cx="10600504" cy="2276297"/>
              <a:chOff x="0" y="-38100"/>
              <a:chExt cx="1049690" cy="225405"/>
            </a:xfrm>
          </p:grpSpPr>
          <p:sp>
            <p:nvSpPr>
              <p:cNvPr id="305" name="Google Shape;305;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6" name="Google Shape;306;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7" name="Google Shape;307;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8" name="Google Shape;308;p2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09" name="Google Shape;309;p21"/>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 Ken calls to plan a visit. When does Ken want to visit?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at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after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before 7.30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2. Alan calls his friend to suggest ways of travelling to his city. How do most people get there?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Bus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Train</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Plane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3. Monica leaves you a message about her son Mark. What does he eat every morning?</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fish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milk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eggs</a:t>
            </a:r>
            <a:endParaRPr sz="2500">
              <a:solidFill>
                <a:schemeClr val="dk1"/>
              </a:solidFill>
              <a:latin typeface="Roboto"/>
              <a:ea typeface="Roboto"/>
              <a:cs typeface="Roboto"/>
              <a:sym typeface="Roboto"/>
            </a:endParaRPr>
          </a:p>
        </p:txBody>
      </p:sp>
      <p:pic>
        <p:nvPicPr>
          <p:cNvPr id="310" name="Google Shape;310;p21" title="Q1.MP3">
            <a:hlinkClick r:id="rId4"/>
          </p:cNvPr>
          <p:cNvPicPr preferRelativeResize="0"/>
          <p:nvPr/>
        </p:nvPicPr>
        <p:blipFill>
          <a:blip r:embed="rId5">
            <a:alphaModFix/>
          </a:blip>
          <a:stretch>
            <a:fillRect/>
          </a:stretch>
        </p:blipFill>
        <p:spPr>
          <a:xfrm>
            <a:off x="11227825" y="2821826"/>
            <a:ext cx="901850" cy="901850"/>
          </a:xfrm>
          <a:prstGeom prst="rect">
            <a:avLst/>
          </a:prstGeom>
          <a:noFill/>
          <a:ln>
            <a:noFill/>
          </a:ln>
        </p:spPr>
      </p:pic>
      <p:pic>
        <p:nvPicPr>
          <p:cNvPr id="311" name="Google Shape;311;p21" title="Q2.MP3">
            <a:hlinkClick r:id="rId6"/>
          </p:cNvPr>
          <p:cNvPicPr preferRelativeResize="0"/>
          <p:nvPr/>
        </p:nvPicPr>
        <p:blipFill>
          <a:blip r:embed="rId5">
            <a:alphaModFix/>
          </a:blip>
          <a:stretch>
            <a:fillRect/>
          </a:stretch>
        </p:blipFill>
        <p:spPr>
          <a:xfrm>
            <a:off x="11227825" y="5132825"/>
            <a:ext cx="901850" cy="901850"/>
          </a:xfrm>
          <a:prstGeom prst="rect">
            <a:avLst/>
          </a:prstGeom>
          <a:noFill/>
          <a:ln>
            <a:noFill/>
          </a:ln>
        </p:spPr>
      </p:pic>
      <p:pic>
        <p:nvPicPr>
          <p:cNvPr id="312" name="Google Shape;312;p21" title="Q3.MP3">
            <a:hlinkClick r:id="rId7"/>
          </p:cNvPr>
          <p:cNvPicPr preferRelativeResize="0"/>
          <p:nvPr/>
        </p:nvPicPr>
        <p:blipFill>
          <a:blip r:embed="rId5">
            <a:alphaModFix/>
          </a:blip>
          <a:stretch>
            <a:fillRect/>
          </a:stretch>
        </p:blipFill>
        <p:spPr>
          <a:xfrm>
            <a:off x="11227825" y="8058090"/>
            <a:ext cx="901850" cy="901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cxnSp>
        <p:nvCxnSpPr>
          <p:cNvPr id="317" name="Google Shape;317;p22"/>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18" name="Google Shape;318;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19" name="Google Shape;319;p22"/>
          <p:cNvGrpSpPr/>
          <p:nvPr/>
        </p:nvGrpSpPr>
        <p:grpSpPr>
          <a:xfrm rot="10800000">
            <a:off x="15044552" y="-741521"/>
            <a:ext cx="7681766" cy="4260610"/>
            <a:chOff x="0" y="-38100"/>
            <a:chExt cx="406400" cy="225405"/>
          </a:xfrm>
        </p:grpSpPr>
        <p:sp>
          <p:nvSpPr>
            <p:cNvPr id="320" name="Google Shape;320;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1" name="Google Shape;321;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22" name="Google Shape;322;p2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4">
              <a:alphaModFix/>
            </a:blip>
            <a:stretch>
              <a:fillRect b="0" l="0" r="0" t="0"/>
            </a:stretch>
          </a:blipFill>
          <a:ln>
            <a:noFill/>
          </a:ln>
        </p:spPr>
      </p:sp>
      <p:sp>
        <p:nvSpPr>
          <p:cNvPr id="323" name="Google Shape;323;p2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5">
              <a:alphaModFix/>
            </a:blip>
            <a:stretch>
              <a:fillRect b="0" l="0" r="0" t="0"/>
            </a:stretch>
          </a:blipFill>
          <a:ln>
            <a:noFill/>
          </a:ln>
        </p:spPr>
      </p:sp>
      <p:sp>
        <p:nvSpPr>
          <p:cNvPr id="324" name="Google Shape;324;p22"/>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r>
              <a:rPr b="1" lang="en-US" sz="5400">
                <a:solidFill>
                  <a:srgbClr val="018345"/>
                </a:solidFill>
                <a:latin typeface="Montserrat"/>
                <a:ea typeface="Montserrat"/>
                <a:cs typeface="Montserrat"/>
                <a:sym typeface="Montserrat"/>
              </a:rPr>
              <a:t> &amp; Đáp án</a:t>
            </a:r>
            <a:endParaRPr/>
          </a:p>
        </p:txBody>
      </p:sp>
      <p:sp>
        <p:nvSpPr>
          <p:cNvPr id="325" name="Google Shape;325;p22"/>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26" name="Google Shape;326;p22"/>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27" name="Google Shape;327;p22"/>
          <p:cNvGrpSpPr/>
          <p:nvPr/>
        </p:nvGrpSpPr>
        <p:grpSpPr>
          <a:xfrm>
            <a:off x="-2718010" y="9274528"/>
            <a:ext cx="7950400" cy="1707231"/>
            <a:chOff x="0" y="-384762"/>
            <a:chExt cx="10600533" cy="2276307"/>
          </a:xfrm>
        </p:grpSpPr>
        <p:grpSp>
          <p:nvGrpSpPr>
            <p:cNvPr id="328" name="Google Shape;328;p22"/>
            <p:cNvGrpSpPr/>
            <p:nvPr/>
          </p:nvGrpSpPr>
          <p:grpSpPr>
            <a:xfrm>
              <a:off x="0" y="-384762"/>
              <a:ext cx="10600533" cy="2276307"/>
              <a:chOff x="0" y="-38100"/>
              <a:chExt cx="1049690" cy="225405"/>
            </a:xfrm>
          </p:grpSpPr>
          <p:sp>
            <p:nvSpPr>
              <p:cNvPr id="329" name="Google Shape;329;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0" name="Google Shape;330;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1" name="Google Shape;331;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2" name="Google Shape;332;p22"/>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6">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ppt_w</p:attrName>
                                        </p:attrNameLst>
                                      </p:cBhvr>
                                      <p:tavLst>
                                        <p:tav fmla="" tm="0">
                                          <p:val>
                                            <p:strVal val="0"/>
                                          </p:val>
                                        </p:tav>
                                        <p:tav fmla="" tm="100000">
                                          <p:val>
                                            <p:strVal val="#ppt_w"/>
                                          </p:val>
                                        </p:tav>
                                      </p:tavLst>
                                    </p:anim>
                                    <p:anim calcmode="lin" valueType="num">
                                      <p:cBhvr additive="base">
                                        <p:cTn dur="500"/>
                                        <p:tgtEl>
                                          <p:spTgt spid="3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cxnSp>
        <p:nvCxnSpPr>
          <p:cNvPr id="337" name="Google Shape;337;p23"/>
          <p:cNvCxnSpPr/>
          <p:nvPr/>
        </p:nvCxnSpPr>
        <p:spPr>
          <a:xfrm>
            <a:off x="5571910" y="2437219"/>
            <a:ext cx="11880900" cy="0"/>
          </a:xfrm>
          <a:prstGeom prst="straightConnector1">
            <a:avLst/>
          </a:prstGeom>
          <a:noFill/>
          <a:ln cap="flat" cmpd="sng" w="38100">
            <a:solidFill>
              <a:srgbClr val="018345"/>
            </a:solidFill>
            <a:prstDash val="solid"/>
            <a:round/>
            <a:headEnd len="sm" w="sm" type="none"/>
            <a:tailEnd len="sm" w="sm" type="none"/>
          </a:ln>
        </p:spPr>
      </p:cxnSp>
      <p:cxnSp>
        <p:nvCxnSpPr>
          <p:cNvPr id="338" name="Google Shape;338;p23"/>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39" name="Google Shape;339;p23"/>
          <p:cNvGrpSpPr/>
          <p:nvPr/>
        </p:nvGrpSpPr>
        <p:grpSpPr>
          <a:xfrm rot="10800000">
            <a:off x="15785084" y="-536938"/>
            <a:ext cx="7681773" cy="4260605"/>
            <a:chOff x="0" y="-38100"/>
            <a:chExt cx="406400" cy="225405"/>
          </a:xfrm>
        </p:grpSpPr>
        <p:sp>
          <p:nvSpPr>
            <p:cNvPr id="340" name="Google Shape;340;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1" name="Google Shape;341;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42" name="Google Shape;342;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43" name="Google Shape;343;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344" name="Google Shape;344;p23"/>
          <p:cNvGrpSpPr/>
          <p:nvPr/>
        </p:nvGrpSpPr>
        <p:grpSpPr>
          <a:xfrm>
            <a:off x="6146917" y="3357868"/>
            <a:ext cx="3360600" cy="2221525"/>
            <a:chOff x="0" y="-57150"/>
            <a:chExt cx="4480800" cy="2962033"/>
          </a:xfrm>
        </p:grpSpPr>
        <p:sp>
          <p:nvSpPr>
            <p:cNvPr id="345" name="Google Shape;345;p23"/>
            <p:cNvSpPr/>
            <p:nvPr/>
          </p:nvSpPr>
          <p:spPr>
            <a:xfrm>
              <a:off x="21587" y="23176"/>
              <a:ext cx="4437608" cy="2858534"/>
            </a:xfrm>
            <a:custGeom>
              <a:rect b="b" l="l" r="r" t="t"/>
              <a:pathLst>
                <a:path extrusionOk="0" h="2858534" w="4437608">
                  <a:moveTo>
                    <a:pt x="0" y="285838"/>
                  </a:moveTo>
                  <a:cubicBezTo>
                    <a:pt x="0" y="127932"/>
                    <a:pt x="119162" y="0"/>
                    <a:pt x="266242" y="0"/>
                  </a:cubicBezTo>
                  <a:lnTo>
                    <a:pt x="4171366" y="0"/>
                  </a:lnTo>
                  <a:cubicBezTo>
                    <a:pt x="4318447" y="0"/>
                    <a:pt x="4437609" y="127932"/>
                    <a:pt x="4437609" y="285838"/>
                  </a:cubicBezTo>
                  <a:lnTo>
                    <a:pt x="4437609" y="2572696"/>
                  </a:lnTo>
                  <a:cubicBezTo>
                    <a:pt x="4437609" y="2730602"/>
                    <a:pt x="4318447" y="2858534"/>
                    <a:pt x="4171366" y="2858534"/>
                  </a:cubicBezTo>
                  <a:lnTo>
                    <a:pt x="266242" y="2858534"/>
                  </a:lnTo>
                  <a:cubicBezTo>
                    <a:pt x="119162" y="2858534"/>
                    <a:pt x="0" y="2730602"/>
                    <a:pt x="0" y="2572696"/>
                  </a:cubicBezTo>
                  <a:lnTo>
                    <a:pt x="0" y="285838"/>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0" y="0"/>
              <a:ext cx="4480780" cy="2904883"/>
            </a:xfrm>
            <a:custGeom>
              <a:rect b="b" l="l" r="r" t="t"/>
              <a:pathLst>
                <a:path extrusionOk="0" h="2904883" w="4480780">
                  <a:moveTo>
                    <a:pt x="0" y="309014"/>
                  </a:moveTo>
                  <a:cubicBezTo>
                    <a:pt x="0" y="138284"/>
                    <a:pt x="128804" y="0"/>
                    <a:pt x="287829" y="0"/>
                  </a:cubicBezTo>
                  <a:lnTo>
                    <a:pt x="287829" y="23176"/>
                  </a:lnTo>
                  <a:lnTo>
                    <a:pt x="287829" y="0"/>
                  </a:lnTo>
                  <a:lnTo>
                    <a:pt x="4192953" y="0"/>
                  </a:lnTo>
                  <a:lnTo>
                    <a:pt x="4192953" y="23176"/>
                  </a:lnTo>
                  <a:lnTo>
                    <a:pt x="4192953" y="0"/>
                  </a:lnTo>
                  <a:cubicBezTo>
                    <a:pt x="4351979" y="0"/>
                    <a:pt x="4480780" y="138284"/>
                    <a:pt x="4480780" y="309014"/>
                  </a:cubicBezTo>
                  <a:lnTo>
                    <a:pt x="4459196" y="309014"/>
                  </a:lnTo>
                  <a:lnTo>
                    <a:pt x="4480780" y="309014"/>
                  </a:lnTo>
                  <a:lnTo>
                    <a:pt x="4480780" y="2595872"/>
                  </a:lnTo>
                  <a:lnTo>
                    <a:pt x="4459196" y="2595872"/>
                  </a:lnTo>
                  <a:lnTo>
                    <a:pt x="4480780" y="2595872"/>
                  </a:lnTo>
                  <a:cubicBezTo>
                    <a:pt x="4480780" y="2766602"/>
                    <a:pt x="4351979" y="2904883"/>
                    <a:pt x="4192953" y="2904883"/>
                  </a:cubicBezTo>
                  <a:lnTo>
                    <a:pt x="4192953" y="2881710"/>
                  </a:lnTo>
                  <a:lnTo>
                    <a:pt x="4192953" y="2904883"/>
                  </a:lnTo>
                  <a:lnTo>
                    <a:pt x="287829" y="2904883"/>
                  </a:lnTo>
                  <a:lnTo>
                    <a:pt x="287829" y="2881710"/>
                  </a:lnTo>
                  <a:lnTo>
                    <a:pt x="287829" y="2904883"/>
                  </a:lnTo>
                  <a:cubicBezTo>
                    <a:pt x="128804" y="2904883"/>
                    <a:pt x="0" y="2766602"/>
                    <a:pt x="0" y="2595872"/>
                  </a:cubicBezTo>
                  <a:lnTo>
                    <a:pt x="21587" y="2595872"/>
                  </a:lnTo>
                  <a:lnTo>
                    <a:pt x="0" y="2595872"/>
                  </a:lnTo>
                  <a:lnTo>
                    <a:pt x="0" y="309014"/>
                  </a:lnTo>
                  <a:lnTo>
                    <a:pt x="21587" y="309014"/>
                  </a:lnTo>
                  <a:lnTo>
                    <a:pt x="0" y="309014"/>
                  </a:lnTo>
                  <a:moveTo>
                    <a:pt x="43174" y="309014"/>
                  </a:moveTo>
                  <a:lnTo>
                    <a:pt x="43174" y="2595872"/>
                  </a:lnTo>
                  <a:cubicBezTo>
                    <a:pt x="43174" y="2740954"/>
                    <a:pt x="152693" y="2858534"/>
                    <a:pt x="287829" y="2858534"/>
                  </a:cubicBezTo>
                  <a:lnTo>
                    <a:pt x="4192953" y="2858534"/>
                  </a:lnTo>
                  <a:cubicBezTo>
                    <a:pt x="4328090" y="2858534"/>
                    <a:pt x="4437609" y="2740954"/>
                    <a:pt x="4437609" y="2595872"/>
                  </a:cubicBezTo>
                  <a:lnTo>
                    <a:pt x="4437609" y="309014"/>
                  </a:lnTo>
                  <a:cubicBezTo>
                    <a:pt x="4437609" y="163932"/>
                    <a:pt x="4328090" y="46352"/>
                    <a:pt x="4192953" y="46352"/>
                  </a:cubicBezTo>
                  <a:lnTo>
                    <a:pt x="287829" y="46352"/>
                  </a:lnTo>
                  <a:cubicBezTo>
                    <a:pt x="152693" y="46352"/>
                    <a:pt x="43174" y="163932"/>
                    <a:pt x="43174" y="309014"/>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
            <p:cNvSpPr txBox="1"/>
            <p:nvPr/>
          </p:nvSpPr>
          <p:spPr>
            <a:xfrm>
              <a:off x="0" y="-57150"/>
              <a:ext cx="4480800" cy="29619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Trước</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 khi nghe</a:t>
              </a:r>
              <a:endParaRPr/>
            </a:p>
          </p:txBody>
        </p:sp>
      </p:grpSp>
      <p:sp>
        <p:nvSpPr>
          <p:cNvPr id="348" name="Google Shape;348;p23"/>
          <p:cNvSpPr/>
          <p:nvPr/>
        </p:nvSpPr>
        <p:spPr>
          <a:xfrm>
            <a:off x="5266540" y="3818361"/>
            <a:ext cx="705669" cy="1007457"/>
          </a:xfrm>
          <a:custGeom>
            <a:rect b="b" l="l" r="r" t="t"/>
            <a:pathLst>
              <a:path extrusionOk="0" h="1185243" w="830199">
                <a:moveTo>
                  <a:pt x="0" y="236987"/>
                </a:moveTo>
                <a:lnTo>
                  <a:pt x="415036" y="236987"/>
                </a:lnTo>
                <a:lnTo>
                  <a:pt x="415036" y="0"/>
                </a:lnTo>
                <a:lnTo>
                  <a:pt x="830199" y="592700"/>
                </a:lnTo>
                <a:lnTo>
                  <a:pt x="415036" y="1185244"/>
                </a:lnTo>
                <a:lnTo>
                  <a:pt x="415036" y="948257"/>
                </a:lnTo>
                <a:lnTo>
                  <a:pt x="0" y="948257"/>
                </a:lnTo>
                <a:lnTo>
                  <a:pt x="0" y="236987"/>
                </a:lnTo>
                <a:close/>
              </a:path>
            </a:pathLst>
          </a:custGeom>
          <a:solidFill>
            <a:srgbClr val="018146"/>
          </a:solidFill>
          <a:ln>
            <a:noFill/>
          </a:ln>
        </p:spPr>
      </p:sp>
      <p:grpSp>
        <p:nvGrpSpPr>
          <p:cNvPr id="349" name="Google Shape;349;p23"/>
          <p:cNvGrpSpPr/>
          <p:nvPr/>
        </p:nvGrpSpPr>
        <p:grpSpPr>
          <a:xfrm>
            <a:off x="9976655" y="5264180"/>
            <a:ext cx="3360600" cy="2470725"/>
            <a:chOff x="0" y="-57150"/>
            <a:chExt cx="4480800" cy="3294300"/>
          </a:xfrm>
        </p:grpSpPr>
        <p:sp>
          <p:nvSpPr>
            <p:cNvPr id="350" name="Google Shape;350;p23"/>
            <p:cNvSpPr/>
            <p:nvPr/>
          </p:nvSpPr>
          <p:spPr>
            <a:xfrm>
              <a:off x="21587" y="25826"/>
              <a:ext cx="4437608" cy="3185422"/>
            </a:xfrm>
            <a:custGeom>
              <a:rect b="b" l="l" r="r" t="t"/>
              <a:pathLst>
                <a:path extrusionOk="0" h="3185422" w="4437608">
                  <a:moveTo>
                    <a:pt x="0" y="318525"/>
                  </a:moveTo>
                  <a:cubicBezTo>
                    <a:pt x="0" y="142562"/>
                    <a:pt x="119162" y="0"/>
                    <a:pt x="266242" y="0"/>
                  </a:cubicBezTo>
                  <a:lnTo>
                    <a:pt x="4171366" y="0"/>
                  </a:lnTo>
                  <a:cubicBezTo>
                    <a:pt x="4318447" y="0"/>
                    <a:pt x="4437609" y="142562"/>
                    <a:pt x="4437609" y="318525"/>
                  </a:cubicBezTo>
                  <a:lnTo>
                    <a:pt x="4437609" y="2866897"/>
                  </a:lnTo>
                  <a:cubicBezTo>
                    <a:pt x="4437609" y="3042861"/>
                    <a:pt x="4318447" y="3185422"/>
                    <a:pt x="4171366" y="3185422"/>
                  </a:cubicBezTo>
                  <a:lnTo>
                    <a:pt x="266242" y="3185422"/>
                  </a:lnTo>
                  <a:cubicBezTo>
                    <a:pt x="119162" y="3185422"/>
                    <a:pt x="0" y="3042861"/>
                    <a:pt x="0" y="2866897"/>
                  </a:cubicBezTo>
                  <a:lnTo>
                    <a:pt x="0" y="318525"/>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p:nvPr/>
          </p:nvSpPr>
          <p:spPr>
            <a:xfrm>
              <a:off x="0" y="0"/>
              <a:ext cx="4480780" cy="3237069"/>
            </a:xfrm>
            <a:custGeom>
              <a:rect b="b" l="l" r="r" t="t"/>
              <a:pathLst>
                <a:path extrusionOk="0" h="3237069" w="4480780">
                  <a:moveTo>
                    <a:pt x="0" y="344351"/>
                  </a:moveTo>
                  <a:cubicBezTo>
                    <a:pt x="0" y="154097"/>
                    <a:pt x="128804" y="0"/>
                    <a:pt x="287829" y="0"/>
                  </a:cubicBezTo>
                  <a:lnTo>
                    <a:pt x="287829" y="25826"/>
                  </a:lnTo>
                  <a:lnTo>
                    <a:pt x="287829" y="0"/>
                  </a:lnTo>
                  <a:lnTo>
                    <a:pt x="4192953" y="0"/>
                  </a:lnTo>
                  <a:lnTo>
                    <a:pt x="4192953" y="25826"/>
                  </a:lnTo>
                  <a:lnTo>
                    <a:pt x="4192953" y="0"/>
                  </a:lnTo>
                  <a:cubicBezTo>
                    <a:pt x="4351979" y="0"/>
                    <a:pt x="4480780" y="154097"/>
                    <a:pt x="4480780" y="344351"/>
                  </a:cubicBezTo>
                  <a:lnTo>
                    <a:pt x="4459196" y="344351"/>
                  </a:lnTo>
                  <a:lnTo>
                    <a:pt x="4480780" y="344351"/>
                  </a:lnTo>
                  <a:lnTo>
                    <a:pt x="4480780" y="2892723"/>
                  </a:lnTo>
                  <a:lnTo>
                    <a:pt x="4459196" y="2892723"/>
                  </a:lnTo>
                  <a:lnTo>
                    <a:pt x="4480780" y="2892723"/>
                  </a:lnTo>
                  <a:cubicBezTo>
                    <a:pt x="4480780" y="3082978"/>
                    <a:pt x="4351979" y="3237069"/>
                    <a:pt x="4192953" y="3237069"/>
                  </a:cubicBezTo>
                  <a:lnTo>
                    <a:pt x="4192953" y="3211248"/>
                  </a:lnTo>
                  <a:lnTo>
                    <a:pt x="4192953" y="3237069"/>
                  </a:lnTo>
                  <a:lnTo>
                    <a:pt x="287829" y="3237069"/>
                  </a:lnTo>
                  <a:lnTo>
                    <a:pt x="287829" y="3211248"/>
                  </a:lnTo>
                  <a:lnTo>
                    <a:pt x="287829" y="3237069"/>
                  </a:lnTo>
                  <a:cubicBezTo>
                    <a:pt x="128804" y="3237069"/>
                    <a:pt x="0" y="3082978"/>
                    <a:pt x="0" y="2892723"/>
                  </a:cubicBezTo>
                  <a:lnTo>
                    <a:pt x="21587" y="2892723"/>
                  </a:lnTo>
                  <a:lnTo>
                    <a:pt x="0" y="2892723"/>
                  </a:lnTo>
                  <a:lnTo>
                    <a:pt x="0" y="344351"/>
                  </a:lnTo>
                  <a:lnTo>
                    <a:pt x="21587" y="344351"/>
                  </a:lnTo>
                  <a:lnTo>
                    <a:pt x="0" y="344351"/>
                  </a:lnTo>
                  <a:moveTo>
                    <a:pt x="43174" y="344351"/>
                  </a:moveTo>
                  <a:lnTo>
                    <a:pt x="43174" y="2892723"/>
                  </a:lnTo>
                  <a:cubicBezTo>
                    <a:pt x="43174" y="3054396"/>
                    <a:pt x="152693" y="3185422"/>
                    <a:pt x="287829" y="3185422"/>
                  </a:cubicBezTo>
                  <a:lnTo>
                    <a:pt x="4192953" y="3185422"/>
                  </a:lnTo>
                  <a:cubicBezTo>
                    <a:pt x="4328090" y="3185422"/>
                    <a:pt x="4437609" y="3054396"/>
                    <a:pt x="4437609" y="2892723"/>
                  </a:cubicBezTo>
                  <a:lnTo>
                    <a:pt x="4437609" y="344351"/>
                  </a:lnTo>
                  <a:cubicBezTo>
                    <a:pt x="4437609" y="182678"/>
                    <a:pt x="4328090" y="51653"/>
                    <a:pt x="4192953" y="51653"/>
                  </a:cubicBezTo>
                  <a:lnTo>
                    <a:pt x="287829" y="51653"/>
                  </a:lnTo>
                  <a:cubicBezTo>
                    <a:pt x="152693" y="51653"/>
                    <a:pt x="43174" y="182678"/>
                    <a:pt x="43174" y="34435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
            <p:cNvSpPr txBox="1"/>
            <p:nvPr/>
          </p:nvSpPr>
          <p:spPr>
            <a:xfrm>
              <a:off x="0" y="-57150"/>
              <a:ext cx="4480800" cy="3294300"/>
            </a:xfrm>
            <a:prstGeom prst="rect">
              <a:avLst/>
            </a:prstGeom>
            <a:no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Trong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b="0" i="0" sz="3899" u="none" cap="none" strike="noStrike">
                <a:solidFill>
                  <a:srgbClr val="FFFFFF"/>
                </a:solidFill>
                <a:latin typeface="Roboto"/>
                <a:ea typeface="Roboto"/>
                <a:cs typeface="Roboto"/>
                <a:sym typeface="Roboto"/>
              </a:endParaRPr>
            </a:p>
          </p:txBody>
        </p:sp>
      </p:grpSp>
      <p:sp>
        <p:nvSpPr>
          <p:cNvPr id="353" name="Google Shape;353;p23"/>
          <p:cNvSpPr/>
          <p:nvPr/>
        </p:nvSpPr>
        <p:spPr>
          <a:xfrm>
            <a:off x="8977911" y="5911448"/>
            <a:ext cx="705669" cy="1013265"/>
          </a:xfrm>
          <a:custGeom>
            <a:rect b="b" l="l" r="r" t="t"/>
            <a:pathLst>
              <a:path extrusionOk="0" h="1192077" w="830199">
                <a:moveTo>
                  <a:pt x="0" y="238353"/>
                </a:moveTo>
                <a:lnTo>
                  <a:pt x="415036" y="238353"/>
                </a:lnTo>
                <a:lnTo>
                  <a:pt x="415036" y="0"/>
                </a:lnTo>
                <a:lnTo>
                  <a:pt x="830199" y="596117"/>
                </a:lnTo>
                <a:lnTo>
                  <a:pt x="415036" y="1192077"/>
                </a:lnTo>
                <a:lnTo>
                  <a:pt x="415036" y="953724"/>
                </a:lnTo>
                <a:lnTo>
                  <a:pt x="0" y="953724"/>
                </a:lnTo>
                <a:lnTo>
                  <a:pt x="0" y="238353"/>
                </a:lnTo>
                <a:close/>
              </a:path>
            </a:pathLst>
          </a:custGeom>
          <a:solidFill>
            <a:srgbClr val="018146"/>
          </a:solidFill>
          <a:ln>
            <a:noFill/>
          </a:ln>
        </p:spPr>
      </p:sp>
      <p:grpSp>
        <p:nvGrpSpPr>
          <p:cNvPr id="354" name="Google Shape;354;p23"/>
          <p:cNvGrpSpPr/>
          <p:nvPr/>
        </p:nvGrpSpPr>
        <p:grpSpPr>
          <a:xfrm>
            <a:off x="13738169" y="7379270"/>
            <a:ext cx="3360600" cy="2296204"/>
            <a:chOff x="0" y="-57150"/>
            <a:chExt cx="4480800" cy="3061605"/>
          </a:xfrm>
        </p:grpSpPr>
        <p:sp>
          <p:nvSpPr>
            <p:cNvPr id="355" name="Google Shape;355;p23"/>
            <p:cNvSpPr/>
            <p:nvPr/>
          </p:nvSpPr>
          <p:spPr>
            <a:xfrm>
              <a:off x="21587" y="23970"/>
              <a:ext cx="4437608" cy="2956518"/>
            </a:xfrm>
            <a:custGeom>
              <a:rect b="b" l="l" r="r" t="t"/>
              <a:pathLst>
                <a:path extrusionOk="0" h="2956518" w="4437608">
                  <a:moveTo>
                    <a:pt x="0" y="295636"/>
                  </a:moveTo>
                  <a:cubicBezTo>
                    <a:pt x="0" y="132317"/>
                    <a:pt x="119162" y="0"/>
                    <a:pt x="266242" y="0"/>
                  </a:cubicBezTo>
                  <a:lnTo>
                    <a:pt x="4171366" y="0"/>
                  </a:lnTo>
                  <a:cubicBezTo>
                    <a:pt x="4318447" y="0"/>
                    <a:pt x="4437609" y="132317"/>
                    <a:pt x="4437609" y="295636"/>
                  </a:cubicBezTo>
                  <a:lnTo>
                    <a:pt x="4437609" y="2660883"/>
                  </a:lnTo>
                  <a:cubicBezTo>
                    <a:pt x="4437609" y="2824201"/>
                    <a:pt x="4318447" y="2956518"/>
                    <a:pt x="4171366" y="2956518"/>
                  </a:cubicBezTo>
                  <a:lnTo>
                    <a:pt x="266242" y="2956518"/>
                  </a:lnTo>
                  <a:cubicBezTo>
                    <a:pt x="119162" y="2956518"/>
                    <a:pt x="0" y="2824201"/>
                    <a:pt x="0" y="2660883"/>
                  </a:cubicBezTo>
                  <a:lnTo>
                    <a:pt x="0" y="295636"/>
                  </a:lnTo>
                  <a:close/>
                </a:path>
              </a:pathLst>
            </a:custGeom>
            <a:solidFill>
              <a:srgbClr val="006B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3"/>
            <p:cNvSpPr/>
            <p:nvPr/>
          </p:nvSpPr>
          <p:spPr>
            <a:xfrm>
              <a:off x="0" y="0"/>
              <a:ext cx="4480780" cy="3004455"/>
            </a:xfrm>
            <a:custGeom>
              <a:rect b="b" l="l" r="r" t="t"/>
              <a:pathLst>
                <a:path extrusionOk="0" h="3004455" w="4480780">
                  <a:moveTo>
                    <a:pt x="0" y="319606"/>
                  </a:moveTo>
                  <a:cubicBezTo>
                    <a:pt x="0" y="143024"/>
                    <a:pt x="128804" y="0"/>
                    <a:pt x="287829" y="0"/>
                  </a:cubicBezTo>
                  <a:lnTo>
                    <a:pt x="287829" y="23970"/>
                  </a:lnTo>
                  <a:lnTo>
                    <a:pt x="287829" y="0"/>
                  </a:lnTo>
                  <a:lnTo>
                    <a:pt x="4192953" y="0"/>
                  </a:lnTo>
                  <a:lnTo>
                    <a:pt x="4192953" y="23970"/>
                  </a:lnTo>
                  <a:lnTo>
                    <a:pt x="4192953" y="0"/>
                  </a:lnTo>
                  <a:cubicBezTo>
                    <a:pt x="4351979" y="0"/>
                    <a:pt x="4480780" y="143024"/>
                    <a:pt x="4480780" y="319606"/>
                  </a:cubicBezTo>
                  <a:lnTo>
                    <a:pt x="4459196" y="319606"/>
                  </a:lnTo>
                  <a:lnTo>
                    <a:pt x="4480780" y="319606"/>
                  </a:lnTo>
                  <a:lnTo>
                    <a:pt x="4480780" y="2684853"/>
                  </a:lnTo>
                  <a:lnTo>
                    <a:pt x="4459196" y="2684853"/>
                  </a:lnTo>
                  <a:lnTo>
                    <a:pt x="4480780" y="2684853"/>
                  </a:lnTo>
                  <a:cubicBezTo>
                    <a:pt x="4480780" y="2861435"/>
                    <a:pt x="4351979" y="3004455"/>
                    <a:pt x="4192953" y="3004455"/>
                  </a:cubicBezTo>
                  <a:lnTo>
                    <a:pt x="4192953" y="2980488"/>
                  </a:lnTo>
                  <a:lnTo>
                    <a:pt x="4192953" y="3004455"/>
                  </a:lnTo>
                  <a:lnTo>
                    <a:pt x="287829" y="3004455"/>
                  </a:lnTo>
                  <a:lnTo>
                    <a:pt x="287829" y="2980488"/>
                  </a:lnTo>
                  <a:lnTo>
                    <a:pt x="287829" y="3004455"/>
                  </a:lnTo>
                  <a:cubicBezTo>
                    <a:pt x="128804" y="3004455"/>
                    <a:pt x="0" y="2861435"/>
                    <a:pt x="0" y="2684853"/>
                  </a:cubicBezTo>
                  <a:lnTo>
                    <a:pt x="21587" y="2684853"/>
                  </a:lnTo>
                  <a:lnTo>
                    <a:pt x="0" y="2684853"/>
                  </a:lnTo>
                  <a:lnTo>
                    <a:pt x="0" y="319606"/>
                  </a:lnTo>
                  <a:lnTo>
                    <a:pt x="21587" y="319606"/>
                  </a:lnTo>
                  <a:lnTo>
                    <a:pt x="0" y="319606"/>
                  </a:lnTo>
                  <a:moveTo>
                    <a:pt x="43174" y="319606"/>
                  </a:moveTo>
                  <a:lnTo>
                    <a:pt x="43174" y="2684853"/>
                  </a:lnTo>
                  <a:cubicBezTo>
                    <a:pt x="43174" y="2834908"/>
                    <a:pt x="152693" y="2956518"/>
                    <a:pt x="287829" y="2956518"/>
                  </a:cubicBezTo>
                  <a:lnTo>
                    <a:pt x="4192953" y="2956518"/>
                  </a:lnTo>
                  <a:cubicBezTo>
                    <a:pt x="4328090" y="2956518"/>
                    <a:pt x="4437609" y="2834908"/>
                    <a:pt x="4437609" y="2684853"/>
                  </a:cubicBezTo>
                  <a:lnTo>
                    <a:pt x="4437609" y="319606"/>
                  </a:lnTo>
                  <a:cubicBezTo>
                    <a:pt x="4437609" y="169551"/>
                    <a:pt x="4328090" y="47941"/>
                    <a:pt x="4192953" y="47941"/>
                  </a:cubicBezTo>
                  <a:lnTo>
                    <a:pt x="287829" y="47941"/>
                  </a:lnTo>
                  <a:cubicBezTo>
                    <a:pt x="152693" y="47941"/>
                    <a:pt x="43174" y="169551"/>
                    <a:pt x="43174" y="3196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3"/>
            <p:cNvSpPr txBox="1"/>
            <p:nvPr/>
          </p:nvSpPr>
          <p:spPr>
            <a:xfrm>
              <a:off x="0" y="-57150"/>
              <a:ext cx="4480800" cy="30615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Sau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a:p>
          </p:txBody>
        </p:sp>
      </p:grpSp>
      <p:sp>
        <p:nvSpPr>
          <p:cNvPr id="358" name="Google Shape;358;p23"/>
          <p:cNvSpPr txBox="1"/>
          <p:nvPr/>
        </p:nvSpPr>
        <p:spPr>
          <a:xfrm>
            <a:off x="5571910" y="1208799"/>
            <a:ext cx="11880900" cy="847200"/>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KỸ NĂNG LÀM BÀI NGHE PART 1</a:t>
            </a:r>
            <a:endParaRPr/>
          </a:p>
        </p:txBody>
      </p:sp>
      <p:sp>
        <p:nvSpPr>
          <p:cNvPr id="359" name="Google Shape;359;p23"/>
          <p:cNvSpPr/>
          <p:nvPr/>
        </p:nvSpPr>
        <p:spPr>
          <a:xfrm>
            <a:off x="12620854" y="8092172"/>
            <a:ext cx="705669" cy="1041715"/>
          </a:xfrm>
          <a:custGeom>
            <a:rect b="b" l="l" r="r" t="t"/>
            <a:pathLst>
              <a:path extrusionOk="0" h="1225547" w="830199">
                <a:moveTo>
                  <a:pt x="0" y="245045"/>
                </a:moveTo>
                <a:lnTo>
                  <a:pt x="415036" y="245045"/>
                </a:lnTo>
                <a:lnTo>
                  <a:pt x="415036" y="0"/>
                </a:lnTo>
                <a:lnTo>
                  <a:pt x="830199" y="612853"/>
                </a:lnTo>
                <a:lnTo>
                  <a:pt x="415036" y="1225547"/>
                </a:lnTo>
                <a:lnTo>
                  <a:pt x="415036" y="980501"/>
                </a:lnTo>
                <a:lnTo>
                  <a:pt x="0" y="980501"/>
                </a:lnTo>
                <a:lnTo>
                  <a:pt x="0" y="245045"/>
                </a:lnTo>
                <a:close/>
              </a:path>
            </a:pathLst>
          </a:custGeom>
          <a:solidFill>
            <a:srgbClr val="018146"/>
          </a:solidFill>
          <a:ln>
            <a:noFill/>
          </a:ln>
        </p:spPr>
      </p:sp>
      <p:sp>
        <p:nvSpPr>
          <p:cNvPr id="360" name="Google Shape;360;p23"/>
          <p:cNvSpPr/>
          <p:nvPr/>
        </p:nvSpPr>
        <p:spPr>
          <a:xfrm>
            <a:off x="14885603" y="3060651"/>
            <a:ext cx="2567304" cy="2246391"/>
          </a:xfrm>
          <a:custGeom>
            <a:rect b="b" l="l" r="r" t="t"/>
            <a:pathLst>
              <a:path extrusionOk="0" h="2246391" w="2567304">
                <a:moveTo>
                  <a:pt x="0" y="0"/>
                </a:moveTo>
                <a:lnTo>
                  <a:pt x="2567304" y="0"/>
                </a:lnTo>
                <a:lnTo>
                  <a:pt x="2567304" y="2246391"/>
                </a:lnTo>
                <a:lnTo>
                  <a:pt x="0" y="2246391"/>
                </a:lnTo>
                <a:lnTo>
                  <a:pt x="0" y="0"/>
                </a:lnTo>
                <a:close/>
              </a:path>
            </a:pathLst>
          </a:custGeom>
          <a:blipFill rotWithShape="1">
            <a:blip r:embed="rId5">
              <a:alphaModFix/>
            </a:blip>
            <a:stretch>
              <a:fillRect b="0" l="0" r="0" t="0"/>
            </a:stretch>
          </a:blipFill>
          <a:ln>
            <a:noFill/>
          </a:ln>
        </p:spPr>
      </p:sp>
      <p:grpSp>
        <p:nvGrpSpPr>
          <p:cNvPr id="361" name="Google Shape;361;p23"/>
          <p:cNvGrpSpPr/>
          <p:nvPr/>
        </p:nvGrpSpPr>
        <p:grpSpPr>
          <a:xfrm>
            <a:off x="-2718010" y="9274530"/>
            <a:ext cx="7950378" cy="1707223"/>
            <a:chOff x="0" y="-384760"/>
            <a:chExt cx="10600504" cy="2276297"/>
          </a:xfrm>
        </p:grpSpPr>
        <p:grpSp>
          <p:nvGrpSpPr>
            <p:cNvPr id="362" name="Google Shape;362;p23"/>
            <p:cNvGrpSpPr/>
            <p:nvPr/>
          </p:nvGrpSpPr>
          <p:grpSpPr>
            <a:xfrm>
              <a:off x="0" y="-384760"/>
              <a:ext cx="10600504" cy="2276297"/>
              <a:chOff x="0" y="-38100"/>
              <a:chExt cx="1049690" cy="225405"/>
            </a:xfrm>
          </p:grpSpPr>
          <p:sp>
            <p:nvSpPr>
              <p:cNvPr id="363" name="Google Shape;363;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4" name="Google Shape;364;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5" name="Google Shape;365;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cxnSp>
        <p:nvCxnSpPr>
          <p:cNvPr id="371" name="Google Shape;371;p2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sp>
        <p:nvSpPr>
          <p:cNvPr id="372" name="Google Shape;372;p24"/>
          <p:cNvSpPr txBox="1"/>
          <p:nvPr/>
        </p:nvSpPr>
        <p:spPr>
          <a:xfrm>
            <a:off x="-2113814" y="8271858"/>
            <a:ext cx="7123800" cy="20181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73" name="Google Shape;373;p24"/>
          <p:cNvGrpSpPr/>
          <p:nvPr/>
        </p:nvGrpSpPr>
        <p:grpSpPr>
          <a:xfrm rot="10800000">
            <a:off x="15561046" y="-410238"/>
            <a:ext cx="7681773" cy="4260605"/>
            <a:chOff x="0" y="-38100"/>
            <a:chExt cx="406400" cy="225405"/>
          </a:xfrm>
        </p:grpSpPr>
        <p:sp>
          <p:nvSpPr>
            <p:cNvPr id="374" name="Google Shape;374;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5" name="Google Shape;375;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76" name="Google Shape;376;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77" name="Google Shape;37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78" name="Google Shape;378;p24"/>
          <p:cNvSpPr/>
          <p:nvPr/>
        </p:nvSpPr>
        <p:spPr>
          <a:xfrm>
            <a:off x="15561053" y="8025621"/>
            <a:ext cx="2861837" cy="2504108"/>
          </a:xfrm>
          <a:custGeom>
            <a:rect b="b" l="l" r="r" t="t"/>
            <a:pathLst>
              <a:path extrusionOk="0" h="2504108" w="2861837">
                <a:moveTo>
                  <a:pt x="0" y="0"/>
                </a:moveTo>
                <a:lnTo>
                  <a:pt x="2861837" y="0"/>
                </a:lnTo>
                <a:lnTo>
                  <a:pt x="2861837" y="2504108"/>
                </a:lnTo>
                <a:lnTo>
                  <a:pt x="0" y="2504108"/>
                </a:lnTo>
                <a:lnTo>
                  <a:pt x="0" y="0"/>
                </a:lnTo>
                <a:close/>
              </a:path>
            </a:pathLst>
          </a:custGeom>
          <a:blipFill rotWithShape="1">
            <a:blip r:embed="rId5">
              <a:alphaModFix/>
            </a:blip>
            <a:stretch>
              <a:fillRect b="0" l="0" r="0" t="0"/>
            </a:stretch>
          </a:blipFill>
          <a:ln>
            <a:noFill/>
          </a:ln>
        </p:spPr>
      </p:sp>
      <p:grpSp>
        <p:nvGrpSpPr>
          <p:cNvPr id="379" name="Google Shape;379;p24"/>
          <p:cNvGrpSpPr/>
          <p:nvPr/>
        </p:nvGrpSpPr>
        <p:grpSpPr>
          <a:xfrm>
            <a:off x="6435332" y="443278"/>
            <a:ext cx="6295740" cy="1365760"/>
            <a:chOff x="0" y="-76200"/>
            <a:chExt cx="8394320" cy="1821013"/>
          </a:xfrm>
        </p:grpSpPr>
        <p:sp>
          <p:nvSpPr>
            <p:cNvPr id="380" name="Google Shape;380;p24"/>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4"/>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Trước khi nghe</a:t>
              </a:r>
              <a:endParaRPr/>
            </a:p>
          </p:txBody>
        </p:sp>
      </p:grpSp>
      <p:sp>
        <p:nvSpPr>
          <p:cNvPr id="383" name="Google Shape;383;p24"/>
          <p:cNvSpPr/>
          <p:nvPr/>
        </p:nvSpPr>
        <p:spPr>
          <a:xfrm>
            <a:off x="5071395" y="535659"/>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sp>
        <p:nvSpPr>
          <p:cNvPr id="384" name="Google Shape;384;p24"/>
          <p:cNvSpPr txBox="1"/>
          <p:nvPr/>
        </p:nvSpPr>
        <p:spPr>
          <a:xfrm>
            <a:off x="6379437" y="5522595"/>
            <a:ext cx="10879800" cy="215400"/>
          </a:xfrm>
          <a:prstGeom prst="rect">
            <a:avLst/>
          </a:prstGeom>
          <a:noFill/>
          <a:ln>
            <a:noFill/>
          </a:ln>
        </p:spPr>
        <p:txBody>
          <a:bodyPr anchorCtr="0" anchor="t" bIns="0" lIns="0" spcFirstLastPara="1" rIns="0" wrap="square" tIns="0">
            <a:spAutoFit/>
          </a:bodyPr>
          <a:lstStyle/>
          <a:p>
            <a:pPr indent="0" lvl="0" marL="0" marR="0" rtl="0" algn="just">
              <a:lnSpc>
                <a:spcPct val="135009"/>
              </a:lnSpc>
              <a:spcBef>
                <a:spcPts val="0"/>
              </a:spcBef>
              <a:spcAft>
                <a:spcPts val="0"/>
              </a:spcAft>
              <a:buNone/>
            </a:pPr>
            <a:r>
              <a:t/>
            </a:r>
            <a:endParaRPr/>
          </a:p>
        </p:txBody>
      </p:sp>
      <p:sp>
        <p:nvSpPr>
          <p:cNvPr id="385" name="Google Shape;385;p24"/>
          <p:cNvSpPr txBox="1"/>
          <p:nvPr/>
        </p:nvSpPr>
        <p:spPr>
          <a:xfrm>
            <a:off x="6091023" y="2580716"/>
            <a:ext cx="10879800" cy="30309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b="0" i="0" lang="en-US" sz="3899" u="none" cap="none" strike="noStrike">
                <a:solidFill>
                  <a:srgbClr val="000000"/>
                </a:solidFill>
                <a:latin typeface="Roboto"/>
                <a:ea typeface="Roboto"/>
                <a:cs typeface="Roboto"/>
                <a:sym typeface="Roboto"/>
              </a:rPr>
              <a:t>Đọc lướt để hiểu nhanh ý chính đồng thời </a:t>
            </a:r>
            <a:r>
              <a:rPr b="1" i="0" lang="en-US" sz="3899" u="none" cap="none" strike="noStrike">
                <a:solidFill>
                  <a:srgbClr val="EA222A"/>
                </a:solidFill>
                <a:latin typeface="Roboto"/>
                <a:ea typeface="Roboto"/>
                <a:cs typeface="Roboto"/>
                <a:sym typeface="Roboto"/>
              </a:rPr>
              <a:t>gạch chân từ khóa</a:t>
            </a:r>
            <a:r>
              <a:rPr b="0" i="0" lang="en-US" sz="3899" u="none" cap="none" strike="noStrike">
                <a:solidFill>
                  <a:srgbClr val="000000"/>
                </a:solidFill>
                <a:latin typeface="Roboto"/>
                <a:ea typeface="Roboto"/>
                <a:cs typeface="Roboto"/>
                <a:sym typeface="Roboto"/>
              </a:rPr>
              <a:t> trong các </a:t>
            </a:r>
            <a:r>
              <a:rPr lang="en-US" sz="3899">
                <a:latin typeface="Roboto"/>
                <a:ea typeface="Roboto"/>
                <a:cs typeface="Roboto"/>
                <a:sym typeface="Roboto"/>
              </a:rPr>
              <a:t>đề bài được cho</a:t>
            </a:r>
            <a:r>
              <a:rPr b="0" i="0" lang="en-US" sz="3899" u="none" cap="none" strike="noStrike">
                <a:solidFill>
                  <a:srgbClr val="000000"/>
                </a:solidFill>
                <a:latin typeface="Roboto"/>
                <a:ea typeface="Roboto"/>
                <a:cs typeface="Roboto"/>
                <a:sym typeface="Roboto"/>
              </a:rPr>
              <a:t> và phương án (ch</a:t>
            </a:r>
            <a:r>
              <a:rPr lang="en-US" sz="3899">
                <a:latin typeface="Roboto"/>
                <a:ea typeface="Roboto"/>
                <a:cs typeface="Roboto"/>
                <a:sym typeface="Roboto"/>
              </a:rPr>
              <a:t>ú ý vào phần câu hỏi của đề bài)</a:t>
            </a:r>
            <a:endParaRPr b="0" i="0" sz="3899" u="none" cap="none" strike="noStrike">
              <a:solidFill>
                <a:srgbClr val="000000"/>
              </a:solidFill>
              <a:latin typeface="Roboto"/>
              <a:ea typeface="Roboto"/>
              <a:cs typeface="Roboto"/>
              <a:sym typeface="Roboto"/>
            </a:endParaRPr>
          </a:p>
        </p:txBody>
      </p:sp>
      <p:grpSp>
        <p:nvGrpSpPr>
          <p:cNvPr id="386" name="Google Shape;386;p24"/>
          <p:cNvGrpSpPr/>
          <p:nvPr/>
        </p:nvGrpSpPr>
        <p:grpSpPr>
          <a:xfrm>
            <a:off x="-2718010" y="9274530"/>
            <a:ext cx="7950378" cy="1707223"/>
            <a:chOff x="0" y="-384760"/>
            <a:chExt cx="10600504" cy="2276297"/>
          </a:xfrm>
        </p:grpSpPr>
        <p:grpSp>
          <p:nvGrpSpPr>
            <p:cNvPr id="387" name="Google Shape;387;p24"/>
            <p:cNvGrpSpPr/>
            <p:nvPr/>
          </p:nvGrpSpPr>
          <p:grpSpPr>
            <a:xfrm>
              <a:off x="0" y="-384760"/>
              <a:ext cx="10600504" cy="2276297"/>
              <a:chOff x="0" y="-38100"/>
              <a:chExt cx="1049690" cy="225405"/>
            </a:xfrm>
          </p:grpSpPr>
          <p:sp>
            <p:nvSpPr>
              <p:cNvPr id="388" name="Google Shape;388;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9" name="Google Shape;389;p2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2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5"/>
                                        </p:tgtEl>
                                        <p:attrNameLst>
                                          <p:attrName>style.visibility</p:attrName>
                                        </p:attrNameLst>
                                      </p:cBhvr>
                                      <p:to>
                                        <p:strVal val="visible"/>
                                      </p:to>
                                    </p:set>
                                    <p:anim calcmode="lin" valueType="num">
                                      <p:cBhvr additive="base">
                                        <p:cTn dur="500"/>
                                        <p:tgtEl>
                                          <p:spTgt spid="3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cxnSp>
        <p:nvCxnSpPr>
          <p:cNvPr id="396" name="Google Shape;396;p25"/>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97" name="Google Shape;397;p25"/>
          <p:cNvGrpSpPr/>
          <p:nvPr/>
        </p:nvGrpSpPr>
        <p:grpSpPr>
          <a:xfrm rot="10800000">
            <a:off x="15785084" y="-536938"/>
            <a:ext cx="7681773" cy="4260605"/>
            <a:chOff x="0" y="-38100"/>
            <a:chExt cx="406400" cy="225405"/>
          </a:xfrm>
        </p:grpSpPr>
        <p:sp>
          <p:nvSpPr>
            <p:cNvPr id="398" name="Google Shape;398;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9" name="Google Shape;399;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0" name="Google Shape;400;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01" name="Google Shape;401;p25"/>
          <p:cNvGrpSpPr/>
          <p:nvPr/>
        </p:nvGrpSpPr>
        <p:grpSpPr>
          <a:xfrm>
            <a:off x="-2718010" y="9274530"/>
            <a:ext cx="7950378" cy="1707223"/>
            <a:chOff x="0" y="-384760"/>
            <a:chExt cx="10600504" cy="2276297"/>
          </a:xfrm>
        </p:grpSpPr>
        <p:grpSp>
          <p:nvGrpSpPr>
            <p:cNvPr id="402" name="Google Shape;402;p25"/>
            <p:cNvGrpSpPr/>
            <p:nvPr/>
          </p:nvGrpSpPr>
          <p:grpSpPr>
            <a:xfrm>
              <a:off x="0" y="-384760"/>
              <a:ext cx="10600504" cy="2276297"/>
              <a:chOff x="0" y="-38100"/>
              <a:chExt cx="1049690" cy="225405"/>
            </a:xfrm>
          </p:grpSpPr>
          <p:sp>
            <p:nvSpPr>
              <p:cNvPr id="403" name="Google Shape;403;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4" name="Google Shape;404;p2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5" name="Google Shape;405;p2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6" name="Google Shape;406;p25"/>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07" name="Google Shape;407;p25"/>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 Ken calls to plan a visit. When does Ken want to visit?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at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after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before 7.30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2. Alan calls his friend to suggest ways of travelling to his city. How do most people get there?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Bus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Train</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Plane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3. Monica leaves you a message about her son Mark. What does he eat every morning?</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fish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milk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eggs</a:t>
            </a:r>
            <a:endParaRPr sz="2500">
              <a:solidFill>
                <a:schemeClr val="dk1"/>
              </a:solidFill>
              <a:latin typeface="Roboto"/>
              <a:ea typeface="Roboto"/>
              <a:cs typeface="Roboto"/>
              <a:sym typeface="Roboto"/>
            </a:endParaRPr>
          </a:p>
        </p:txBody>
      </p:sp>
      <p:pic>
        <p:nvPicPr>
          <p:cNvPr id="408" name="Google Shape;408;p25" title="Q1.MP3">
            <a:hlinkClick r:id="rId4"/>
          </p:cNvPr>
          <p:cNvPicPr preferRelativeResize="0"/>
          <p:nvPr/>
        </p:nvPicPr>
        <p:blipFill>
          <a:blip r:embed="rId5">
            <a:alphaModFix/>
          </a:blip>
          <a:stretch>
            <a:fillRect/>
          </a:stretch>
        </p:blipFill>
        <p:spPr>
          <a:xfrm>
            <a:off x="11227825" y="2821826"/>
            <a:ext cx="901850" cy="901850"/>
          </a:xfrm>
          <a:prstGeom prst="rect">
            <a:avLst/>
          </a:prstGeom>
          <a:noFill/>
          <a:ln>
            <a:noFill/>
          </a:ln>
        </p:spPr>
      </p:pic>
      <p:pic>
        <p:nvPicPr>
          <p:cNvPr id="409" name="Google Shape;409;p25" title="Q2.MP3">
            <a:hlinkClick r:id="rId6"/>
          </p:cNvPr>
          <p:cNvPicPr preferRelativeResize="0"/>
          <p:nvPr/>
        </p:nvPicPr>
        <p:blipFill>
          <a:blip r:embed="rId5">
            <a:alphaModFix/>
          </a:blip>
          <a:stretch>
            <a:fillRect/>
          </a:stretch>
        </p:blipFill>
        <p:spPr>
          <a:xfrm>
            <a:off x="11227825" y="5132825"/>
            <a:ext cx="901850" cy="901850"/>
          </a:xfrm>
          <a:prstGeom prst="rect">
            <a:avLst/>
          </a:prstGeom>
          <a:noFill/>
          <a:ln>
            <a:noFill/>
          </a:ln>
        </p:spPr>
      </p:pic>
      <p:pic>
        <p:nvPicPr>
          <p:cNvPr id="410" name="Google Shape;410;p25" title="Q3.MP3">
            <a:hlinkClick r:id="rId7"/>
          </p:cNvPr>
          <p:cNvPicPr preferRelativeResize="0"/>
          <p:nvPr/>
        </p:nvPicPr>
        <p:blipFill>
          <a:blip r:embed="rId5">
            <a:alphaModFix/>
          </a:blip>
          <a:stretch>
            <a:fillRect/>
          </a:stretch>
        </p:blipFill>
        <p:spPr>
          <a:xfrm>
            <a:off x="11227825" y="8058090"/>
            <a:ext cx="901850" cy="901850"/>
          </a:xfrm>
          <a:prstGeom prst="rect">
            <a:avLst/>
          </a:prstGeom>
          <a:noFill/>
          <a:ln>
            <a:noFill/>
          </a:ln>
        </p:spPr>
      </p:pic>
      <p:cxnSp>
        <p:nvCxnSpPr>
          <p:cNvPr id="411" name="Google Shape;411;p25"/>
          <p:cNvCxnSpPr/>
          <p:nvPr/>
        </p:nvCxnSpPr>
        <p:spPr>
          <a:xfrm>
            <a:off x="10418625" y="2753600"/>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412" name="Google Shape;412;p25"/>
          <p:cNvCxnSpPr/>
          <p:nvPr/>
        </p:nvCxnSpPr>
        <p:spPr>
          <a:xfrm>
            <a:off x="13473550" y="2732800"/>
            <a:ext cx="1004400" cy="0"/>
          </a:xfrm>
          <a:prstGeom prst="straightConnector1">
            <a:avLst/>
          </a:prstGeom>
          <a:noFill/>
          <a:ln cap="flat" cmpd="sng" w="38100">
            <a:solidFill>
              <a:srgbClr val="980000"/>
            </a:solidFill>
            <a:prstDash val="solid"/>
            <a:round/>
            <a:headEnd len="med" w="med" type="none"/>
            <a:tailEnd len="med" w="med" type="none"/>
          </a:ln>
        </p:spPr>
      </p:cxnSp>
      <p:cxnSp>
        <p:nvCxnSpPr>
          <p:cNvPr id="413" name="Google Shape;413;p25"/>
          <p:cNvCxnSpPr/>
          <p:nvPr/>
        </p:nvCxnSpPr>
        <p:spPr>
          <a:xfrm>
            <a:off x="6592850" y="5653025"/>
            <a:ext cx="1004400" cy="0"/>
          </a:xfrm>
          <a:prstGeom prst="straightConnector1">
            <a:avLst/>
          </a:prstGeom>
          <a:noFill/>
          <a:ln cap="flat" cmpd="sng" w="38100">
            <a:solidFill>
              <a:srgbClr val="980000"/>
            </a:solidFill>
            <a:prstDash val="solid"/>
            <a:round/>
            <a:headEnd len="med" w="med" type="none"/>
            <a:tailEnd len="med" w="med" type="none"/>
          </a:ln>
        </p:spPr>
      </p:cxnSp>
      <p:cxnSp>
        <p:nvCxnSpPr>
          <p:cNvPr id="414" name="Google Shape;414;p25"/>
          <p:cNvCxnSpPr/>
          <p:nvPr/>
        </p:nvCxnSpPr>
        <p:spPr>
          <a:xfrm>
            <a:off x="16673500" y="4984175"/>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415" name="Google Shape;415;p25"/>
          <p:cNvCxnSpPr/>
          <p:nvPr/>
        </p:nvCxnSpPr>
        <p:spPr>
          <a:xfrm>
            <a:off x="16092075" y="7890175"/>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416" name="Google Shape;416;p25"/>
          <p:cNvCxnSpPr/>
          <p:nvPr/>
        </p:nvCxnSpPr>
        <p:spPr>
          <a:xfrm>
            <a:off x="6592850" y="8509025"/>
            <a:ext cx="2135400" cy="255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cxnSp>
        <p:nvCxnSpPr>
          <p:cNvPr id="422" name="Google Shape;422;p26"/>
          <p:cNvCxnSpPr/>
          <p:nvPr/>
        </p:nvCxnSpPr>
        <p:spPr>
          <a:xfrm>
            <a:off x="-249883"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423" name="Google Shape;423;p26"/>
          <p:cNvSpPr/>
          <p:nvPr/>
        </p:nvSpPr>
        <p:spPr>
          <a:xfrm>
            <a:off x="3052586"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24" name="Google Shape;424;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25" name="Google Shape;425;p26"/>
          <p:cNvSpPr/>
          <p:nvPr/>
        </p:nvSpPr>
        <p:spPr>
          <a:xfrm>
            <a:off x="9604943" y="7541690"/>
            <a:ext cx="3569688" cy="3123477"/>
          </a:xfrm>
          <a:custGeom>
            <a:rect b="b" l="l" r="r" t="t"/>
            <a:pathLst>
              <a:path extrusionOk="0" h="3123477" w="3569688">
                <a:moveTo>
                  <a:pt x="0" y="0"/>
                </a:moveTo>
                <a:lnTo>
                  <a:pt x="3569688" y="0"/>
                </a:lnTo>
                <a:lnTo>
                  <a:pt x="3569688" y="3123477"/>
                </a:lnTo>
                <a:lnTo>
                  <a:pt x="0" y="3123477"/>
                </a:lnTo>
                <a:lnTo>
                  <a:pt x="0" y="0"/>
                </a:lnTo>
                <a:close/>
              </a:path>
            </a:pathLst>
          </a:custGeom>
          <a:blipFill rotWithShape="1">
            <a:blip r:embed="rId5">
              <a:alphaModFix/>
            </a:blip>
            <a:stretch>
              <a:fillRect b="0" l="0" r="0" t="0"/>
            </a:stretch>
          </a:blipFill>
          <a:ln>
            <a:noFill/>
          </a:ln>
        </p:spPr>
      </p:sp>
      <p:grpSp>
        <p:nvGrpSpPr>
          <p:cNvPr id="426" name="Google Shape;426;p26"/>
          <p:cNvGrpSpPr/>
          <p:nvPr/>
        </p:nvGrpSpPr>
        <p:grpSpPr>
          <a:xfrm>
            <a:off x="7527559" y="648530"/>
            <a:ext cx="6295740" cy="1365760"/>
            <a:chOff x="0" y="-76200"/>
            <a:chExt cx="8394320" cy="1821013"/>
          </a:xfrm>
        </p:grpSpPr>
        <p:sp>
          <p:nvSpPr>
            <p:cNvPr id="427" name="Google Shape;427;p26"/>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6"/>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6"/>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Trong khi nghe</a:t>
              </a:r>
              <a:endParaRPr/>
            </a:p>
          </p:txBody>
        </p:sp>
      </p:grpSp>
      <p:sp>
        <p:nvSpPr>
          <p:cNvPr id="430" name="Google Shape;430;p26"/>
          <p:cNvSpPr/>
          <p:nvPr/>
        </p:nvSpPr>
        <p:spPr>
          <a:xfrm>
            <a:off x="5611462" y="2468568"/>
            <a:ext cx="11970353" cy="5935605"/>
          </a:xfrm>
          <a:custGeom>
            <a:rect b="b" l="l" r="r" t="t"/>
            <a:pathLst>
              <a:path extrusionOk="0" h="7914140" w="15960470">
                <a:moveTo>
                  <a:pt x="0" y="1978494"/>
                </a:moveTo>
                <a:lnTo>
                  <a:pt x="12366678" y="1978494"/>
                </a:lnTo>
                <a:lnTo>
                  <a:pt x="12366678" y="0"/>
                </a:lnTo>
                <a:lnTo>
                  <a:pt x="15960470" y="3957151"/>
                </a:lnTo>
                <a:lnTo>
                  <a:pt x="12366678" y="7914139"/>
                </a:lnTo>
                <a:lnTo>
                  <a:pt x="12366678" y="5935645"/>
                </a:lnTo>
                <a:lnTo>
                  <a:pt x="0" y="5935645"/>
                </a:lnTo>
                <a:close/>
              </a:path>
            </a:pathLst>
          </a:custGeom>
          <a:solidFill>
            <a:srgbClr val="018146">
              <a:alpha val="80000"/>
            </a:srgbClr>
          </a:solidFill>
          <a:ln>
            <a:noFill/>
          </a:ln>
        </p:spPr>
      </p:sp>
      <p:grpSp>
        <p:nvGrpSpPr>
          <p:cNvPr id="431" name="Google Shape;431;p26"/>
          <p:cNvGrpSpPr/>
          <p:nvPr/>
        </p:nvGrpSpPr>
        <p:grpSpPr>
          <a:xfrm>
            <a:off x="5953971" y="4314747"/>
            <a:ext cx="3279600" cy="2243273"/>
            <a:chOff x="0" y="-38100"/>
            <a:chExt cx="4372800" cy="2991030"/>
          </a:xfrm>
        </p:grpSpPr>
        <p:sp>
          <p:nvSpPr>
            <p:cNvPr id="432" name="Google Shape;432;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1" i="0" lang="en-US" sz="2499" u="none" cap="none" strike="noStrike">
                  <a:solidFill>
                    <a:srgbClr val="FFFFFF"/>
                  </a:solidFill>
                  <a:latin typeface="Roboto"/>
                  <a:ea typeface="Roboto"/>
                  <a:cs typeface="Roboto"/>
                  <a:sym typeface="Roboto"/>
                </a:rPr>
                <a:t>Xác định vùng</a:t>
              </a:r>
              <a:r>
                <a:rPr b="0" i="0" lang="en-US" sz="2499" u="none" cap="none" strike="noStrike">
                  <a:solidFill>
                    <a:srgbClr val="FFFFFF"/>
                  </a:solidFill>
                  <a:latin typeface="Roboto"/>
                  <a:ea typeface="Roboto"/>
                  <a:cs typeface="Roboto"/>
                  <a:sym typeface="Roboto"/>
                </a:rPr>
                <a:t> thông tin chứa đáp án</a:t>
              </a:r>
              <a:endParaRPr/>
            </a:p>
          </p:txBody>
        </p:sp>
      </p:grpSp>
      <p:grpSp>
        <p:nvGrpSpPr>
          <p:cNvPr id="435" name="Google Shape;435;p26"/>
          <p:cNvGrpSpPr/>
          <p:nvPr/>
        </p:nvGrpSpPr>
        <p:grpSpPr>
          <a:xfrm>
            <a:off x="9749984" y="4314759"/>
            <a:ext cx="3279600" cy="2243273"/>
            <a:chOff x="0" y="-38100"/>
            <a:chExt cx="4372800" cy="2991030"/>
          </a:xfrm>
        </p:grpSpPr>
        <p:sp>
          <p:nvSpPr>
            <p:cNvPr id="436" name="Google Shape;436;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rtl="0" algn="ctr">
                <a:lnSpc>
                  <a:spcPct val="135014"/>
                </a:lnSpc>
                <a:spcBef>
                  <a:spcPts val="0"/>
                </a:spcBef>
                <a:spcAft>
                  <a:spcPts val="0"/>
                </a:spcAft>
                <a:buClr>
                  <a:schemeClr val="dk1"/>
                </a:buClr>
                <a:buFont typeface="Arial"/>
                <a:buNone/>
              </a:pPr>
              <a:r>
                <a:rPr lang="en-US" sz="2499">
                  <a:solidFill>
                    <a:schemeClr val="lt1"/>
                  </a:solidFill>
                  <a:latin typeface="Roboto"/>
                  <a:ea typeface="Roboto"/>
                  <a:cs typeface="Roboto"/>
                  <a:sym typeface="Roboto"/>
                </a:rPr>
                <a:t>Nhận diện </a:t>
              </a:r>
              <a:r>
                <a:rPr b="1" lang="en-US" sz="2499">
                  <a:solidFill>
                    <a:schemeClr val="lt1"/>
                  </a:solidFill>
                  <a:latin typeface="Roboto"/>
                  <a:ea typeface="Roboto"/>
                  <a:cs typeface="Roboto"/>
                  <a:sym typeface="Roboto"/>
                </a:rPr>
                <a:t>từ khóa</a:t>
              </a:r>
              <a:r>
                <a:rPr lang="en-US" sz="2499">
                  <a:solidFill>
                    <a:schemeClr val="lt1"/>
                  </a:solidFill>
                  <a:latin typeface="Roboto"/>
                  <a:ea typeface="Roboto"/>
                  <a:cs typeface="Roboto"/>
                  <a:sym typeface="Roboto"/>
                </a:rPr>
                <a:t> và các từ liên quan cùng các yếu tố gây nhiễu</a:t>
              </a:r>
              <a:endParaRPr>
                <a:latin typeface="Roboto"/>
                <a:ea typeface="Roboto"/>
                <a:cs typeface="Roboto"/>
                <a:sym typeface="Roboto"/>
              </a:endParaRPr>
            </a:p>
          </p:txBody>
        </p:sp>
      </p:grpSp>
      <p:grpSp>
        <p:nvGrpSpPr>
          <p:cNvPr id="439" name="Google Shape;439;p26"/>
          <p:cNvGrpSpPr/>
          <p:nvPr/>
        </p:nvGrpSpPr>
        <p:grpSpPr>
          <a:xfrm>
            <a:off x="13417245" y="4300459"/>
            <a:ext cx="3279600" cy="2243273"/>
            <a:chOff x="0" y="-38100"/>
            <a:chExt cx="4372800" cy="2991030"/>
          </a:xfrm>
        </p:grpSpPr>
        <p:sp>
          <p:nvSpPr>
            <p:cNvPr id="440" name="Google Shape;440;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rtl="0" algn="ctr">
                <a:lnSpc>
                  <a:spcPct val="135014"/>
                </a:lnSpc>
                <a:spcBef>
                  <a:spcPts val="0"/>
                </a:spcBef>
                <a:spcAft>
                  <a:spcPts val="0"/>
                </a:spcAft>
                <a:buNone/>
              </a:pPr>
              <a:r>
                <a:rPr b="1" lang="en-US" sz="2499">
                  <a:solidFill>
                    <a:srgbClr val="FFFFFF"/>
                  </a:solidFill>
                  <a:latin typeface="Roboto"/>
                  <a:ea typeface="Roboto"/>
                  <a:cs typeface="Roboto"/>
                  <a:sym typeface="Roboto"/>
                </a:rPr>
                <a:t>Ghi chú</a:t>
              </a:r>
              <a:r>
                <a:rPr lang="en-US" sz="2499">
                  <a:solidFill>
                    <a:srgbClr val="FFFFFF"/>
                  </a:solidFill>
                  <a:latin typeface="Roboto"/>
                  <a:ea typeface="Roboto"/>
                  <a:cs typeface="Roboto"/>
                  <a:sym typeface="Roboto"/>
                </a:rPr>
                <a:t> thông tin những câu chưa tìm được đáp án để nghe lần 2</a:t>
              </a:r>
              <a:endParaRPr b="1" sz="2499">
                <a:solidFill>
                  <a:srgbClr val="FFFFFF"/>
                </a:solidFill>
                <a:latin typeface="Roboto"/>
                <a:ea typeface="Roboto"/>
                <a:cs typeface="Roboto"/>
                <a:sym typeface="Roboto"/>
              </a:endParaRPr>
            </a:p>
          </p:txBody>
        </p:sp>
      </p:grpSp>
      <p:grpSp>
        <p:nvGrpSpPr>
          <p:cNvPr id="443" name="Google Shape;443;p26"/>
          <p:cNvGrpSpPr/>
          <p:nvPr/>
        </p:nvGrpSpPr>
        <p:grpSpPr>
          <a:xfrm rot="10800000">
            <a:off x="15561046" y="-410238"/>
            <a:ext cx="7681773" cy="4260605"/>
            <a:chOff x="0" y="-38100"/>
            <a:chExt cx="406400" cy="225405"/>
          </a:xfrm>
        </p:grpSpPr>
        <p:sp>
          <p:nvSpPr>
            <p:cNvPr id="444" name="Google Shape;444;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5" name="Google Shape;445;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6" name="Google Shape;446;p26"/>
          <p:cNvSpPr/>
          <p:nvPr/>
        </p:nvSpPr>
        <p:spPr>
          <a:xfrm>
            <a:off x="5649291" y="722357"/>
            <a:ext cx="1160990"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47" name="Google Shape;447;p26"/>
          <p:cNvGrpSpPr/>
          <p:nvPr/>
        </p:nvGrpSpPr>
        <p:grpSpPr>
          <a:xfrm>
            <a:off x="-2718010" y="9274530"/>
            <a:ext cx="7950378" cy="1707223"/>
            <a:chOff x="0" y="-384760"/>
            <a:chExt cx="10600504" cy="2276297"/>
          </a:xfrm>
        </p:grpSpPr>
        <p:grpSp>
          <p:nvGrpSpPr>
            <p:cNvPr id="448" name="Google Shape;448;p26"/>
            <p:cNvGrpSpPr/>
            <p:nvPr/>
          </p:nvGrpSpPr>
          <p:grpSpPr>
            <a:xfrm>
              <a:off x="0" y="-384760"/>
              <a:ext cx="10600504" cy="2276297"/>
              <a:chOff x="0" y="-38100"/>
              <a:chExt cx="1049690" cy="225405"/>
            </a:xfrm>
          </p:grpSpPr>
          <p:sp>
            <p:nvSpPr>
              <p:cNvPr id="449" name="Google Shape;449;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0" name="Google Shape;450;p2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1" name="Google Shape;451;p2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cxnSp>
        <p:nvCxnSpPr>
          <p:cNvPr id="457" name="Google Shape;457;p27"/>
          <p:cNvCxnSpPr/>
          <p:nvPr/>
        </p:nvCxnSpPr>
        <p:spPr>
          <a:xfrm>
            <a:off x="-61151"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458" name="Google Shape;458;p2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59" name="Google Shape;459;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60" name="Google Shape;460;p27"/>
          <p:cNvGrpSpPr/>
          <p:nvPr/>
        </p:nvGrpSpPr>
        <p:grpSpPr>
          <a:xfrm>
            <a:off x="6755182" y="443278"/>
            <a:ext cx="6295740" cy="1365760"/>
            <a:chOff x="0" y="-76200"/>
            <a:chExt cx="8394320" cy="1821013"/>
          </a:xfrm>
        </p:grpSpPr>
        <p:sp>
          <p:nvSpPr>
            <p:cNvPr id="461" name="Google Shape;461;p27"/>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7"/>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Sau khi nghe</a:t>
              </a:r>
              <a:endParaRPr/>
            </a:p>
          </p:txBody>
        </p:sp>
      </p:grpSp>
      <p:sp>
        <p:nvSpPr>
          <p:cNvPr id="464" name="Google Shape;464;p27"/>
          <p:cNvSpPr/>
          <p:nvPr/>
        </p:nvSpPr>
        <p:spPr>
          <a:xfrm>
            <a:off x="5208632" y="517105"/>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65" name="Google Shape;465;p27"/>
          <p:cNvGrpSpPr/>
          <p:nvPr/>
        </p:nvGrpSpPr>
        <p:grpSpPr>
          <a:xfrm rot="10800000">
            <a:off x="15561046" y="-410238"/>
            <a:ext cx="7681773" cy="4260605"/>
            <a:chOff x="0" y="-38100"/>
            <a:chExt cx="406400" cy="225405"/>
          </a:xfrm>
        </p:grpSpPr>
        <p:sp>
          <p:nvSpPr>
            <p:cNvPr id="466" name="Google Shape;466;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67" name="Google Shape;467;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8" name="Google Shape;468;p27"/>
          <p:cNvSpPr/>
          <p:nvPr/>
        </p:nvSpPr>
        <p:spPr>
          <a:xfrm>
            <a:off x="9745027" y="7166408"/>
            <a:ext cx="3569688" cy="3123477"/>
          </a:xfrm>
          <a:custGeom>
            <a:rect b="b" l="l" r="r" t="t"/>
            <a:pathLst>
              <a:path extrusionOk="0" h="3123477" w="3569688">
                <a:moveTo>
                  <a:pt x="0" y="0"/>
                </a:moveTo>
                <a:lnTo>
                  <a:pt x="3569687" y="0"/>
                </a:lnTo>
                <a:lnTo>
                  <a:pt x="3569687" y="3123477"/>
                </a:lnTo>
                <a:lnTo>
                  <a:pt x="0" y="3123477"/>
                </a:lnTo>
                <a:lnTo>
                  <a:pt x="0" y="0"/>
                </a:lnTo>
                <a:close/>
              </a:path>
            </a:pathLst>
          </a:custGeom>
          <a:blipFill rotWithShape="1">
            <a:blip r:embed="rId5">
              <a:alphaModFix/>
            </a:blip>
            <a:stretch>
              <a:fillRect b="0" l="0" r="0" t="0"/>
            </a:stretch>
          </a:blipFill>
          <a:ln>
            <a:noFill/>
          </a:ln>
        </p:spPr>
      </p:sp>
      <p:sp>
        <p:nvSpPr>
          <p:cNvPr id="469" name="Google Shape;469;p27"/>
          <p:cNvSpPr txBox="1"/>
          <p:nvPr/>
        </p:nvSpPr>
        <p:spPr>
          <a:xfrm>
            <a:off x="6490737" y="2954660"/>
            <a:ext cx="9742200" cy="6000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EA222A"/>
              </a:buClr>
              <a:buSzPts val="3899"/>
              <a:buFont typeface="Arial"/>
              <a:buChar char="•"/>
            </a:pPr>
            <a:r>
              <a:rPr b="1" i="0" lang="en-US" sz="3899" u="none" cap="none" strike="noStrike">
                <a:solidFill>
                  <a:srgbClr val="EA222A"/>
                </a:solidFill>
                <a:latin typeface="Roboto"/>
                <a:ea typeface="Roboto"/>
                <a:cs typeface="Roboto"/>
                <a:sym typeface="Roboto"/>
              </a:rPr>
              <a:t>Kiểm tra lại</a:t>
            </a:r>
            <a:r>
              <a:rPr b="0" i="0" lang="en-US" sz="3899" u="none" cap="none" strike="noStrike">
                <a:solidFill>
                  <a:srgbClr val="000000"/>
                </a:solidFill>
                <a:latin typeface="Roboto"/>
                <a:ea typeface="Roboto"/>
                <a:cs typeface="Roboto"/>
                <a:sym typeface="Roboto"/>
              </a:rPr>
              <a:t> các đáp án mình đã chọn</a:t>
            </a:r>
            <a:endParaRPr b="0" i="0" sz="3899" u="none" cap="none" strike="noStrike">
              <a:solidFill>
                <a:srgbClr val="000000"/>
              </a:solidFill>
              <a:latin typeface="Roboto"/>
              <a:ea typeface="Roboto"/>
              <a:cs typeface="Roboto"/>
              <a:sym typeface="Roboto"/>
            </a:endParaRPr>
          </a:p>
        </p:txBody>
      </p:sp>
      <p:sp>
        <p:nvSpPr>
          <p:cNvPr id="470" name="Google Shape;470;p27"/>
          <p:cNvSpPr txBox="1"/>
          <p:nvPr/>
        </p:nvSpPr>
        <p:spPr>
          <a:xfrm>
            <a:off x="6490737" y="4123372"/>
            <a:ext cx="10078200" cy="22206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lang="en-US" sz="3899">
                <a:latin typeface="Roboto"/>
                <a:ea typeface="Roboto"/>
                <a:cs typeface="Roboto"/>
                <a:sym typeface="Roboto"/>
              </a:rPr>
              <a:t>Với các câu chưa lựa chọn được đáp án, tận dụng lần nghe thứ hai để chắc chắn phương án đưa ra đã chính xác </a:t>
            </a:r>
            <a:endParaRPr/>
          </a:p>
        </p:txBody>
      </p:sp>
      <p:grpSp>
        <p:nvGrpSpPr>
          <p:cNvPr id="471" name="Google Shape;471;p27"/>
          <p:cNvGrpSpPr/>
          <p:nvPr/>
        </p:nvGrpSpPr>
        <p:grpSpPr>
          <a:xfrm>
            <a:off x="-2718010" y="9274530"/>
            <a:ext cx="7950378" cy="1707223"/>
            <a:chOff x="0" y="-384760"/>
            <a:chExt cx="10600504" cy="2276297"/>
          </a:xfrm>
        </p:grpSpPr>
        <p:grpSp>
          <p:nvGrpSpPr>
            <p:cNvPr id="472" name="Google Shape;472;p27"/>
            <p:cNvGrpSpPr/>
            <p:nvPr/>
          </p:nvGrpSpPr>
          <p:grpSpPr>
            <a:xfrm>
              <a:off x="0" y="-384760"/>
              <a:ext cx="10600504" cy="2276297"/>
              <a:chOff x="0" y="-38100"/>
              <a:chExt cx="1049690" cy="225405"/>
            </a:xfrm>
          </p:grpSpPr>
          <p:sp>
            <p:nvSpPr>
              <p:cNvPr id="473" name="Google Shape;473;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4" name="Google Shape;474;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cxnSp>
        <p:nvCxnSpPr>
          <p:cNvPr id="481" name="Google Shape;481;p28"/>
          <p:cNvCxnSpPr/>
          <p:nvPr/>
        </p:nvCxnSpPr>
        <p:spPr>
          <a:xfrm flipH="1" rot="10800000">
            <a:off x="7543801" y="1816517"/>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482" name="Google Shape;482;p28"/>
          <p:cNvGrpSpPr/>
          <p:nvPr/>
        </p:nvGrpSpPr>
        <p:grpSpPr>
          <a:xfrm rot="10800000">
            <a:off x="15785091" y="-536942"/>
            <a:ext cx="7681766" cy="4260610"/>
            <a:chOff x="0" y="-38100"/>
            <a:chExt cx="406400" cy="225405"/>
          </a:xfrm>
        </p:grpSpPr>
        <p:sp>
          <p:nvSpPr>
            <p:cNvPr id="483" name="Google Shape;483;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4" name="Google Shape;484;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86" name="Google Shape;486;p28"/>
          <p:cNvGrpSpPr/>
          <p:nvPr/>
        </p:nvGrpSpPr>
        <p:grpSpPr>
          <a:xfrm>
            <a:off x="-2718010" y="9274528"/>
            <a:ext cx="7950400" cy="1707231"/>
            <a:chOff x="0" y="-384762"/>
            <a:chExt cx="10600533" cy="2276307"/>
          </a:xfrm>
        </p:grpSpPr>
        <p:grpSp>
          <p:nvGrpSpPr>
            <p:cNvPr id="487" name="Google Shape;487;p28"/>
            <p:cNvGrpSpPr/>
            <p:nvPr/>
          </p:nvGrpSpPr>
          <p:grpSpPr>
            <a:xfrm>
              <a:off x="0" y="-384762"/>
              <a:ext cx="10600533" cy="2276307"/>
              <a:chOff x="0" y="-38100"/>
              <a:chExt cx="1049690" cy="225405"/>
            </a:xfrm>
          </p:grpSpPr>
          <p:sp>
            <p:nvSpPr>
              <p:cNvPr id="488" name="Google Shape;488;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89" name="Google Shape;489;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0" name="Google Shape;490;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1" name="Google Shape;491;p28"/>
          <p:cNvSpPr txBox="1"/>
          <p:nvPr/>
        </p:nvSpPr>
        <p:spPr>
          <a:xfrm>
            <a:off x="6592847" y="660250"/>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92" name="Google Shape;492;p28"/>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 Ken calls to plan a visit. When does Ken want to visit?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a:t>
            </a:r>
            <a:r>
              <a:rPr lang="en-US" sz="2500">
                <a:solidFill>
                  <a:schemeClr val="dk1"/>
                </a:solidFill>
                <a:latin typeface="Roboto"/>
                <a:ea typeface="Roboto"/>
                <a:cs typeface="Roboto"/>
                <a:sym typeface="Roboto"/>
              </a:rPr>
              <a:t> at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after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before 7.30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2. Alan calls his friend to suggest ways of travelling to his city. How do most people get there?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Bus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Train</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Plane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3. Monica leaves you a message about her son Mark. What does he eat every morning?</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fish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milk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eggs</a:t>
            </a:r>
            <a:endParaRPr sz="2500">
              <a:solidFill>
                <a:schemeClr val="dk1"/>
              </a:solidFill>
              <a:latin typeface="Roboto"/>
              <a:ea typeface="Roboto"/>
              <a:cs typeface="Roboto"/>
              <a:sym typeface="Roboto"/>
            </a:endParaRPr>
          </a:p>
        </p:txBody>
      </p:sp>
      <p:pic>
        <p:nvPicPr>
          <p:cNvPr id="493" name="Google Shape;493;p28" title="Q1.MP3">
            <a:hlinkClick r:id="rId4"/>
          </p:cNvPr>
          <p:cNvPicPr preferRelativeResize="0"/>
          <p:nvPr/>
        </p:nvPicPr>
        <p:blipFill>
          <a:blip r:embed="rId5">
            <a:alphaModFix/>
          </a:blip>
          <a:stretch>
            <a:fillRect/>
          </a:stretch>
        </p:blipFill>
        <p:spPr>
          <a:xfrm>
            <a:off x="11227825" y="2821826"/>
            <a:ext cx="901850" cy="901850"/>
          </a:xfrm>
          <a:prstGeom prst="rect">
            <a:avLst/>
          </a:prstGeom>
          <a:noFill/>
          <a:ln>
            <a:noFill/>
          </a:ln>
        </p:spPr>
      </p:pic>
      <p:pic>
        <p:nvPicPr>
          <p:cNvPr id="494" name="Google Shape;494;p28" title="Q2.MP3">
            <a:hlinkClick r:id="rId6"/>
          </p:cNvPr>
          <p:cNvPicPr preferRelativeResize="0"/>
          <p:nvPr/>
        </p:nvPicPr>
        <p:blipFill>
          <a:blip r:embed="rId5">
            <a:alphaModFix/>
          </a:blip>
          <a:stretch>
            <a:fillRect/>
          </a:stretch>
        </p:blipFill>
        <p:spPr>
          <a:xfrm>
            <a:off x="11227825" y="5132825"/>
            <a:ext cx="901850" cy="901850"/>
          </a:xfrm>
          <a:prstGeom prst="rect">
            <a:avLst/>
          </a:prstGeom>
          <a:noFill/>
          <a:ln>
            <a:noFill/>
          </a:ln>
        </p:spPr>
      </p:pic>
      <p:pic>
        <p:nvPicPr>
          <p:cNvPr id="495" name="Google Shape;495;p28" title="Q3.MP3">
            <a:hlinkClick r:id="rId7"/>
          </p:cNvPr>
          <p:cNvPicPr preferRelativeResize="0"/>
          <p:nvPr/>
        </p:nvPicPr>
        <p:blipFill>
          <a:blip r:embed="rId5">
            <a:alphaModFix/>
          </a:blip>
          <a:stretch>
            <a:fillRect/>
          </a:stretch>
        </p:blipFill>
        <p:spPr>
          <a:xfrm>
            <a:off x="11227825" y="8058090"/>
            <a:ext cx="901850" cy="901850"/>
          </a:xfrm>
          <a:prstGeom prst="rect">
            <a:avLst/>
          </a:prstGeom>
          <a:noFill/>
          <a:ln>
            <a:noFill/>
          </a:ln>
        </p:spPr>
      </p:pic>
      <p:cxnSp>
        <p:nvCxnSpPr>
          <p:cNvPr id="496" name="Google Shape;496;p28"/>
          <p:cNvCxnSpPr/>
          <p:nvPr/>
        </p:nvCxnSpPr>
        <p:spPr>
          <a:xfrm>
            <a:off x="10418625" y="2753600"/>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497" name="Google Shape;497;p28"/>
          <p:cNvCxnSpPr/>
          <p:nvPr/>
        </p:nvCxnSpPr>
        <p:spPr>
          <a:xfrm>
            <a:off x="13473550" y="2732800"/>
            <a:ext cx="1004400" cy="0"/>
          </a:xfrm>
          <a:prstGeom prst="straightConnector1">
            <a:avLst/>
          </a:prstGeom>
          <a:noFill/>
          <a:ln cap="flat" cmpd="sng" w="38100">
            <a:solidFill>
              <a:srgbClr val="980000"/>
            </a:solidFill>
            <a:prstDash val="solid"/>
            <a:round/>
            <a:headEnd len="med" w="med" type="none"/>
            <a:tailEnd len="med" w="med" type="none"/>
          </a:ln>
        </p:spPr>
      </p:cxnSp>
      <p:cxnSp>
        <p:nvCxnSpPr>
          <p:cNvPr id="498" name="Google Shape;498;p28"/>
          <p:cNvCxnSpPr/>
          <p:nvPr/>
        </p:nvCxnSpPr>
        <p:spPr>
          <a:xfrm>
            <a:off x="6592850" y="5653025"/>
            <a:ext cx="1004400" cy="0"/>
          </a:xfrm>
          <a:prstGeom prst="straightConnector1">
            <a:avLst/>
          </a:prstGeom>
          <a:noFill/>
          <a:ln cap="flat" cmpd="sng" w="38100">
            <a:solidFill>
              <a:srgbClr val="980000"/>
            </a:solidFill>
            <a:prstDash val="solid"/>
            <a:round/>
            <a:headEnd len="med" w="med" type="none"/>
            <a:tailEnd len="med" w="med" type="none"/>
          </a:ln>
        </p:spPr>
      </p:cxnSp>
      <p:cxnSp>
        <p:nvCxnSpPr>
          <p:cNvPr id="499" name="Google Shape;499;p28"/>
          <p:cNvCxnSpPr/>
          <p:nvPr/>
        </p:nvCxnSpPr>
        <p:spPr>
          <a:xfrm>
            <a:off x="16673500" y="4984175"/>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500" name="Google Shape;500;p28"/>
          <p:cNvCxnSpPr/>
          <p:nvPr/>
        </p:nvCxnSpPr>
        <p:spPr>
          <a:xfrm>
            <a:off x="16092075" y="7890175"/>
            <a:ext cx="779400" cy="0"/>
          </a:xfrm>
          <a:prstGeom prst="straightConnector1">
            <a:avLst/>
          </a:prstGeom>
          <a:noFill/>
          <a:ln cap="flat" cmpd="sng" w="38100">
            <a:solidFill>
              <a:srgbClr val="980000"/>
            </a:solidFill>
            <a:prstDash val="solid"/>
            <a:round/>
            <a:headEnd len="med" w="med" type="none"/>
            <a:tailEnd len="med" w="med" type="none"/>
          </a:ln>
        </p:spPr>
      </p:cxnSp>
      <p:cxnSp>
        <p:nvCxnSpPr>
          <p:cNvPr id="501" name="Google Shape;501;p28"/>
          <p:cNvCxnSpPr/>
          <p:nvPr/>
        </p:nvCxnSpPr>
        <p:spPr>
          <a:xfrm>
            <a:off x="6592850" y="8509025"/>
            <a:ext cx="2135400" cy="255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29"/>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08" name="Google Shape;508;p29"/>
          <p:cNvGrpSpPr/>
          <p:nvPr/>
        </p:nvGrpSpPr>
        <p:grpSpPr>
          <a:xfrm rot="10800000">
            <a:off x="15785084" y="-536938"/>
            <a:ext cx="7681773" cy="4260605"/>
            <a:chOff x="0" y="-38100"/>
            <a:chExt cx="406400" cy="225405"/>
          </a:xfrm>
        </p:grpSpPr>
        <p:sp>
          <p:nvSpPr>
            <p:cNvPr id="509" name="Google Shape;509;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0" name="Google Shape;510;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1" name="Google Shape;511;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12" name="Google Shape;512;p29"/>
          <p:cNvGrpSpPr/>
          <p:nvPr/>
        </p:nvGrpSpPr>
        <p:grpSpPr>
          <a:xfrm>
            <a:off x="-2718010" y="9274530"/>
            <a:ext cx="7950378" cy="1707223"/>
            <a:chOff x="0" y="-384760"/>
            <a:chExt cx="10600504" cy="2276297"/>
          </a:xfrm>
        </p:grpSpPr>
        <p:grpSp>
          <p:nvGrpSpPr>
            <p:cNvPr id="513" name="Google Shape;513;p29"/>
            <p:cNvGrpSpPr/>
            <p:nvPr/>
          </p:nvGrpSpPr>
          <p:grpSpPr>
            <a:xfrm>
              <a:off x="0" y="-384760"/>
              <a:ext cx="10600504" cy="2276297"/>
              <a:chOff x="0" y="-38100"/>
              <a:chExt cx="1049690" cy="225405"/>
            </a:xfrm>
          </p:grpSpPr>
          <p:sp>
            <p:nvSpPr>
              <p:cNvPr id="514" name="Google Shape;514;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15" name="Google Shape;515;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6" name="Google Shape;516;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7" name="Google Shape;517;p29"/>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18" name="Google Shape;518;p29"/>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4</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Ana calls you to change when her party is. What day will the party be?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Saturday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Thursday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Friday</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5</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Martin leaves his friend Maggie a message after a party. What did he lose?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money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glasses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bag</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6</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Listen to two friends discussing their plans. What do they decide to do?</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The friends are going to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go to the park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go swimming</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go to the woods</a:t>
            </a:r>
            <a:endParaRPr sz="2500">
              <a:solidFill>
                <a:schemeClr val="dk1"/>
              </a:solidFill>
              <a:latin typeface="Roboto"/>
              <a:ea typeface="Roboto"/>
              <a:cs typeface="Roboto"/>
              <a:sym typeface="Roboto"/>
            </a:endParaRPr>
          </a:p>
        </p:txBody>
      </p:sp>
      <p:pic>
        <p:nvPicPr>
          <p:cNvPr id="519" name="Google Shape;519;p29" title="Q4.MP3">
            <a:hlinkClick r:id="rId4"/>
          </p:cNvPr>
          <p:cNvPicPr preferRelativeResize="0"/>
          <p:nvPr/>
        </p:nvPicPr>
        <p:blipFill>
          <a:blip r:embed="rId5">
            <a:alphaModFix/>
          </a:blip>
          <a:stretch>
            <a:fillRect/>
          </a:stretch>
        </p:blipFill>
        <p:spPr>
          <a:xfrm>
            <a:off x="10380600" y="2780341"/>
            <a:ext cx="815875" cy="815875"/>
          </a:xfrm>
          <a:prstGeom prst="rect">
            <a:avLst/>
          </a:prstGeom>
          <a:noFill/>
          <a:ln>
            <a:noFill/>
          </a:ln>
        </p:spPr>
      </p:pic>
      <p:pic>
        <p:nvPicPr>
          <p:cNvPr id="520" name="Google Shape;520;p29" title="Q5.MP3">
            <a:hlinkClick r:id="rId6"/>
          </p:cNvPr>
          <p:cNvPicPr preferRelativeResize="0"/>
          <p:nvPr/>
        </p:nvPicPr>
        <p:blipFill>
          <a:blip r:embed="rId5">
            <a:alphaModFix/>
          </a:blip>
          <a:stretch>
            <a:fillRect/>
          </a:stretch>
        </p:blipFill>
        <p:spPr>
          <a:xfrm>
            <a:off x="10380600" y="5142366"/>
            <a:ext cx="815875" cy="815875"/>
          </a:xfrm>
          <a:prstGeom prst="rect">
            <a:avLst/>
          </a:prstGeom>
          <a:noFill/>
          <a:ln>
            <a:noFill/>
          </a:ln>
        </p:spPr>
      </p:pic>
      <p:pic>
        <p:nvPicPr>
          <p:cNvPr id="521" name="Google Shape;521;p29" title="Q6.MP3">
            <a:hlinkClick r:id="rId7"/>
          </p:cNvPr>
          <p:cNvPicPr preferRelativeResize="0"/>
          <p:nvPr/>
        </p:nvPicPr>
        <p:blipFill>
          <a:blip r:embed="rId5">
            <a:alphaModFix/>
          </a:blip>
          <a:stretch>
            <a:fillRect/>
          </a:stretch>
        </p:blipFill>
        <p:spPr>
          <a:xfrm>
            <a:off x="11613463" y="8088092"/>
            <a:ext cx="815875" cy="815875"/>
          </a:xfrm>
          <a:prstGeom prst="rect">
            <a:avLst/>
          </a:prstGeom>
          <a:noFill/>
          <a:ln>
            <a:noFill/>
          </a:ln>
        </p:spPr>
      </p:pic>
      <p:cxnSp>
        <p:nvCxnSpPr>
          <p:cNvPr id="522" name="Google Shape;522;p29"/>
          <p:cNvCxnSpPr/>
          <p:nvPr/>
        </p:nvCxnSpPr>
        <p:spPr>
          <a:xfrm flipH="1" rot="10800000">
            <a:off x="9213300" y="2767450"/>
            <a:ext cx="1939500" cy="12900"/>
          </a:xfrm>
          <a:prstGeom prst="straightConnector1">
            <a:avLst/>
          </a:prstGeom>
          <a:noFill/>
          <a:ln cap="flat" cmpd="sng" w="38100">
            <a:solidFill>
              <a:srgbClr val="980000"/>
            </a:solidFill>
            <a:prstDash val="solid"/>
            <a:round/>
            <a:headEnd len="med" w="med" type="none"/>
            <a:tailEnd len="med" w="med" type="none"/>
          </a:ln>
        </p:spPr>
      </p:cxnSp>
      <p:cxnSp>
        <p:nvCxnSpPr>
          <p:cNvPr id="523" name="Google Shape;523;p29"/>
          <p:cNvCxnSpPr/>
          <p:nvPr/>
        </p:nvCxnSpPr>
        <p:spPr>
          <a:xfrm flipH="1" rot="10800000">
            <a:off x="13193000" y="2767600"/>
            <a:ext cx="1129200" cy="6300"/>
          </a:xfrm>
          <a:prstGeom prst="straightConnector1">
            <a:avLst/>
          </a:prstGeom>
          <a:noFill/>
          <a:ln cap="flat" cmpd="sng" w="38100">
            <a:solidFill>
              <a:srgbClr val="980000"/>
            </a:solidFill>
            <a:prstDash val="solid"/>
            <a:round/>
            <a:headEnd len="med" w="med" type="none"/>
            <a:tailEnd len="med" w="med" type="none"/>
          </a:ln>
        </p:spPr>
      </p:cxnSp>
      <p:cxnSp>
        <p:nvCxnSpPr>
          <p:cNvPr id="524" name="Google Shape;524;p29"/>
          <p:cNvCxnSpPr/>
          <p:nvPr/>
        </p:nvCxnSpPr>
        <p:spPr>
          <a:xfrm>
            <a:off x="13120250" y="5063825"/>
            <a:ext cx="1773300" cy="6900"/>
          </a:xfrm>
          <a:prstGeom prst="straightConnector1">
            <a:avLst/>
          </a:prstGeom>
          <a:noFill/>
          <a:ln cap="flat" cmpd="sng" w="38100">
            <a:solidFill>
              <a:srgbClr val="980000"/>
            </a:solidFill>
            <a:prstDash val="solid"/>
            <a:round/>
            <a:headEnd len="med" w="med" type="none"/>
            <a:tailEnd len="med" w="med" type="none"/>
          </a:ln>
        </p:spPr>
      </p:cxnSp>
      <p:cxnSp>
        <p:nvCxnSpPr>
          <p:cNvPr id="525" name="Google Shape;525;p29"/>
          <p:cNvCxnSpPr/>
          <p:nvPr/>
        </p:nvCxnSpPr>
        <p:spPr>
          <a:xfrm flipH="1" rot="10800000">
            <a:off x="6592850" y="5624975"/>
            <a:ext cx="680700" cy="6900"/>
          </a:xfrm>
          <a:prstGeom prst="straightConnector1">
            <a:avLst/>
          </a:prstGeom>
          <a:noFill/>
          <a:ln cap="flat" cmpd="sng" w="38100">
            <a:solidFill>
              <a:srgbClr val="980000"/>
            </a:solidFill>
            <a:prstDash val="solid"/>
            <a:round/>
            <a:headEnd len="med" w="med" type="none"/>
            <a:tailEnd len="med" w="med" type="none"/>
          </a:ln>
        </p:spPr>
      </p:cxnSp>
      <p:cxnSp>
        <p:nvCxnSpPr>
          <p:cNvPr id="526" name="Google Shape;526;p29"/>
          <p:cNvCxnSpPr/>
          <p:nvPr/>
        </p:nvCxnSpPr>
        <p:spPr>
          <a:xfrm>
            <a:off x="11516600" y="7928275"/>
            <a:ext cx="1558800" cy="17400"/>
          </a:xfrm>
          <a:prstGeom prst="straightConnector1">
            <a:avLst/>
          </a:prstGeom>
          <a:noFill/>
          <a:ln cap="flat" cmpd="sng" w="38100">
            <a:solidFill>
              <a:srgbClr val="980000"/>
            </a:solidFill>
            <a:prstDash val="solid"/>
            <a:round/>
            <a:headEnd len="med" w="med" type="none"/>
            <a:tailEnd len="med" w="med" type="none"/>
          </a:ln>
        </p:spPr>
      </p:cxnSp>
      <p:cxnSp>
        <p:nvCxnSpPr>
          <p:cNvPr id="527" name="Google Shape;527;p29"/>
          <p:cNvCxnSpPr/>
          <p:nvPr/>
        </p:nvCxnSpPr>
        <p:spPr>
          <a:xfrm flipH="1" rot="10800000">
            <a:off x="15170725" y="7928275"/>
            <a:ext cx="1731900" cy="87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cxnSp>
        <p:nvCxnSpPr>
          <p:cNvPr id="533" name="Google Shape;533;p30"/>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34" name="Google Shape;534;p30"/>
          <p:cNvGrpSpPr/>
          <p:nvPr/>
        </p:nvGrpSpPr>
        <p:grpSpPr>
          <a:xfrm rot="10800000">
            <a:off x="15785084" y="-536938"/>
            <a:ext cx="7681773" cy="4260605"/>
            <a:chOff x="0" y="-38100"/>
            <a:chExt cx="406400" cy="225405"/>
          </a:xfrm>
        </p:grpSpPr>
        <p:sp>
          <p:nvSpPr>
            <p:cNvPr id="535" name="Google Shape;535;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6" name="Google Shape;536;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7" name="Google Shape;537;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38" name="Google Shape;538;p30"/>
          <p:cNvGrpSpPr/>
          <p:nvPr/>
        </p:nvGrpSpPr>
        <p:grpSpPr>
          <a:xfrm>
            <a:off x="-2718010" y="9274530"/>
            <a:ext cx="7950378" cy="1707223"/>
            <a:chOff x="0" y="-384760"/>
            <a:chExt cx="10600504" cy="2276297"/>
          </a:xfrm>
        </p:grpSpPr>
        <p:grpSp>
          <p:nvGrpSpPr>
            <p:cNvPr id="539" name="Google Shape;539;p30"/>
            <p:cNvGrpSpPr/>
            <p:nvPr/>
          </p:nvGrpSpPr>
          <p:grpSpPr>
            <a:xfrm>
              <a:off x="0" y="-384760"/>
              <a:ext cx="10600504" cy="2276297"/>
              <a:chOff x="0" y="-38100"/>
              <a:chExt cx="1049690" cy="225405"/>
            </a:xfrm>
          </p:grpSpPr>
          <p:sp>
            <p:nvSpPr>
              <p:cNvPr id="540" name="Google Shape;540;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1" name="Google Shape;541;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 name="Google Shape;542;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3" name="Google Shape;543;p30"/>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44" name="Google Shape;544;p30"/>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7</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Listen to a woman in a shop. What type of TV does she want to buy?</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The woman wants to buy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an old-fashioned TV</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 flat screen TV</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an expensive TV</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8</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Listen to a person talking about a house. What doesn’t she like about 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doors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carpet</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windows</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9</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Listen to the radio announcement. Whose birthday is it in May?</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Kitty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Paul</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George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545" name="Google Shape;545;p30" title="Q7.MP3">
            <a:hlinkClick r:id="rId4"/>
          </p:cNvPr>
          <p:cNvPicPr preferRelativeResize="0"/>
          <p:nvPr/>
        </p:nvPicPr>
        <p:blipFill>
          <a:blip r:embed="rId5">
            <a:alphaModFix/>
          </a:blip>
          <a:stretch>
            <a:fillRect/>
          </a:stretch>
        </p:blipFill>
        <p:spPr>
          <a:xfrm>
            <a:off x="10892000" y="3544665"/>
            <a:ext cx="833600" cy="833600"/>
          </a:xfrm>
          <a:prstGeom prst="rect">
            <a:avLst/>
          </a:prstGeom>
          <a:noFill/>
          <a:ln>
            <a:noFill/>
          </a:ln>
        </p:spPr>
      </p:pic>
      <p:pic>
        <p:nvPicPr>
          <p:cNvPr id="546" name="Google Shape;546;p30" title="Q8.MP3">
            <a:hlinkClick r:id="rId6"/>
          </p:cNvPr>
          <p:cNvPicPr preferRelativeResize="0"/>
          <p:nvPr/>
        </p:nvPicPr>
        <p:blipFill>
          <a:blip r:embed="rId5">
            <a:alphaModFix/>
          </a:blip>
          <a:stretch>
            <a:fillRect/>
          </a:stretch>
        </p:blipFill>
        <p:spPr>
          <a:xfrm>
            <a:off x="10892000" y="5867316"/>
            <a:ext cx="833600" cy="833600"/>
          </a:xfrm>
          <a:prstGeom prst="rect">
            <a:avLst/>
          </a:prstGeom>
          <a:noFill/>
          <a:ln>
            <a:noFill/>
          </a:ln>
        </p:spPr>
      </p:pic>
      <p:pic>
        <p:nvPicPr>
          <p:cNvPr id="547" name="Google Shape;547;p30" title="Q9.MP3">
            <a:hlinkClick r:id="rId7"/>
          </p:cNvPr>
          <p:cNvPicPr preferRelativeResize="0"/>
          <p:nvPr/>
        </p:nvPicPr>
        <p:blipFill>
          <a:blip r:embed="rId5">
            <a:alphaModFix/>
          </a:blip>
          <a:stretch>
            <a:fillRect/>
          </a:stretch>
        </p:blipFill>
        <p:spPr>
          <a:xfrm>
            <a:off x="10892000" y="8189966"/>
            <a:ext cx="833600" cy="833600"/>
          </a:xfrm>
          <a:prstGeom prst="rect">
            <a:avLst/>
          </a:prstGeom>
          <a:noFill/>
          <a:ln>
            <a:noFill/>
          </a:ln>
        </p:spPr>
      </p:pic>
      <p:cxnSp>
        <p:nvCxnSpPr>
          <p:cNvPr id="548" name="Google Shape;548;p30"/>
          <p:cNvCxnSpPr/>
          <p:nvPr/>
        </p:nvCxnSpPr>
        <p:spPr>
          <a:xfrm>
            <a:off x="11880275" y="2784775"/>
            <a:ext cx="1420200" cy="3600"/>
          </a:xfrm>
          <a:prstGeom prst="straightConnector1">
            <a:avLst/>
          </a:prstGeom>
          <a:noFill/>
          <a:ln cap="flat" cmpd="sng" w="38100">
            <a:solidFill>
              <a:srgbClr val="980000"/>
            </a:solidFill>
            <a:prstDash val="solid"/>
            <a:round/>
            <a:headEnd len="med" w="med" type="none"/>
            <a:tailEnd len="med" w="med" type="none"/>
          </a:ln>
        </p:spPr>
      </p:cxnSp>
      <p:cxnSp>
        <p:nvCxnSpPr>
          <p:cNvPr id="549" name="Google Shape;549;p30"/>
          <p:cNvCxnSpPr/>
          <p:nvPr/>
        </p:nvCxnSpPr>
        <p:spPr>
          <a:xfrm>
            <a:off x="14893625" y="2788225"/>
            <a:ext cx="1420200" cy="17400"/>
          </a:xfrm>
          <a:prstGeom prst="straightConnector1">
            <a:avLst/>
          </a:prstGeom>
          <a:noFill/>
          <a:ln cap="flat" cmpd="sng" w="38100">
            <a:solidFill>
              <a:srgbClr val="980000"/>
            </a:solidFill>
            <a:prstDash val="solid"/>
            <a:round/>
            <a:headEnd len="med" w="med" type="none"/>
            <a:tailEnd len="med" w="med" type="none"/>
          </a:ln>
        </p:spPr>
      </p:cxnSp>
      <p:cxnSp>
        <p:nvCxnSpPr>
          <p:cNvPr id="550" name="Google Shape;550;p30"/>
          <p:cNvCxnSpPr/>
          <p:nvPr/>
        </p:nvCxnSpPr>
        <p:spPr>
          <a:xfrm flipH="1" rot="10800000">
            <a:off x="7838200" y="3879300"/>
            <a:ext cx="1894500" cy="12900"/>
          </a:xfrm>
          <a:prstGeom prst="straightConnector1">
            <a:avLst/>
          </a:prstGeom>
          <a:noFill/>
          <a:ln cap="flat" cmpd="sng" w="38100">
            <a:solidFill>
              <a:srgbClr val="980000"/>
            </a:solidFill>
            <a:prstDash val="solid"/>
            <a:round/>
            <a:headEnd len="med" w="med" type="none"/>
            <a:tailEnd len="med" w="med" type="none"/>
          </a:ln>
        </p:spPr>
      </p:cxnSp>
      <p:cxnSp>
        <p:nvCxnSpPr>
          <p:cNvPr id="551" name="Google Shape;551;p30"/>
          <p:cNvCxnSpPr/>
          <p:nvPr/>
        </p:nvCxnSpPr>
        <p:spPr>
          <a:xfrm>
            <a:off x="7626925" y="4454225"/>
            <a:ext cx="1482600" cy="13800"/>
          </a:xfrm>
          <a:prstGeom prst="straightConnector1">
            <a:avLst/>
          </a:prstGeom>
          <a:noFill/>
          <a:ln cap="flat" cmpd="sng" w="38100">
            <a:solidFill>
              <a:srgbClr val="980000"/>
            </a:solidFill>
            <a:prstDash val="solid"/>
            <a:round/>
            <a:headEnd len="med" w="med" type="none"/>
            <a:tailEnd len="med" w="med" type="none"/>
          </a:ln>
        </p:spPr>
      </p:cxnSp>
      <p:cxnSp>
        <p:nvCxnSpPr>
          <p:cNvPr id="552" name="Google Shape;552;p30"/>
          <p:cNvCxnSpPr/>
          <p:nvPr/>
        </p:nvCxnSpPr>
        <p:spPr>
          <a:xfrm>
            <a:off x="7762025" y="5056900"/>
            <a:ext cx="1451400" cy="17400"/>
          </a:xfrm>
          <a:prstGeom prst="straightConnector1">
            <a:avLst/>
          </a:prstGeom>
          <a:noFill/>
          <a:ln cap="flat" cmpd="sng" w="38100">
            <a:solidFill>
              <a:srgbClr val="980000"/>
            </a:solidFill>
            <a:prstDash val="solid"/>
            <a:round/>
            <a:headEnd len="med" w="med" type="none"/>
            <a:tailEnd len="med" w="med" type="none"/>
          </a:ln>
        </p:spPr>
      </p:cxnSp>
      <p:cxnSp>
        <p:nvCxnSpPr>
          <p:cNvPr id="553" name="Google Shape;553;p30"/>
          <p:cNvCxnSpPr/>
          <p:nvPr/>
        </p:nvCxnSpPr>
        <p:spPr>
          <a:xfrm flipH="1" rot="10800000">
            <a:off x="11519200" y="5576500"/>
            <a:ext cx="1157700" cy="13800"/>
          </a:xfrm>
          <a:prstGeom prst="straightConnector1">
            <a:avLst/>
          </a:prstGeom>
          <a:noFill/>
          <a:ln cap="flat" cmpd="sng" w="38100">
            <a:solidFill>
              <a:srgbClr val="980000"/>
            </a:solidFill>
            <a:prstDash val="solid"/>
            <a:round/>
            <a:headEnd len="med" w="med" type="none"/>
            <a:tailEnd len="med" w="med" type="none"/>
          </a:ln>
        </p:spPr>
      </p:cxnSp>
      <p:cxnSp>
        <p:nvCxnSpPr>
          <p:cNvPr id="554" name="Google Shape;554;p30"/>
          <p:cNvCxnSpPr/>
          <p:nvPr/>
        </p:nvCxnSpPr>
        <p:spPr>
          <a:xfrm>
            <a:off x="13591325" y="5583400"/>
            <a:ext cx="1004400" cy="0"/>
          </a:xfrm>
          <a:prstGeom prst="straightConnector1">
            <a:avLst/>
          </a:prstGeom>
          <a:noFill/>
          <a:ln cap="flat" cmpd="sng" w="38100">
            <a:solidFill>
              <a:srgbClr val="980000"/>
            </a:solidFill>
            <a:prstDash val="solid"/>
            <a:round/>
            <a:headEnd len="med" w="med" type="none"/>
            <a:tailEnd len="med" w="med" type="none"/>
          </a:ln>
        </p:spPr>
      </p:cxnSp>
      <p:cxnSp>
        <p:nvCxnSpPr>
          <p:cNvPr id="555" name="Google Shape;555;p30"/>
          <p:cNvCxnSpPr/>
          <p:nvPr/>
        </p:nvCxnSpPr>
        <p:spPr>
          <a:xfrm>
            <a:off x="15309425" y="5583400"/>
            <a:ext cx="1645200" cy="10500"/>
          </a:xfrm>
          <a:prstGeom prst="straightConnector1">
            <a:avLst/>
          </a:prstGeom>
          <a:noFill/>
          <a:ln cap="flat" cmpd="sng" w="38100">
            <a:solidFill>
              <a:srgbClr val="980000"/>
            </a:solidFill>
            <a:prstDash val="solid"/>
            <a:round/>
            <a:headEnd len="med" w="med" type="none"/>
            <a:tailEnd len="med" w="med" type="none"/>
          </a:ln>
        </p:spPr>
      </p:cxnSp>
      <p:cxnSp>
        <p:nvCxnSpPr>
          <p:cNvPr id="556" name="Google Shape;556;p30"/>
          <p:cNvCxnSpPr/>
          <p:nvPr/>
        </p:nvCxnSpPr>
        <p:spPr>
          <a:xfrm>
            <a:off x="11880275" y="7883225"/>
            <a:ext cx="2199300" cy="13800"/>
          </a:xfrm>
          <a:prstGeom prst="straightConnector1">
            <a:avLst/>
          </a:prstGeom>
          <a:noFill/>
          <a:ln cap="flat" cmpd="sng" w="38100">
            <a:solidFill>
              <a:srgbClr val="980000"/>
            </a:solidFill>
            <a:prstDash val="solid"/>
            <a:round/>
            <a:headEnd len="med" w="med" type="none"/>
            <a:tailEnd len="med" w="med" type="none"/>
          </a:ln>
        </p:spPr>
      </p:cxnSp>
      <p:cxnSp>
        <p:nvCxnSpPr>
          <p:cNvPr id="557" name="Google Shape;557;p30"/>
          <p:cNvCxnSpPr/>
          <p:nvPr/>
        </p:nvCxnSpPr>
        <p:spPr>
          <a:xfrm>
            <a:off x="15015025" y="7890125"/>
            <a:ext cx="779100" cy="36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600"/>
                                        <p:tgtEl>
                                          <p:spTgt spid="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cxnSp>
        <p:nvCxnSpPr>
          <p:cNvPr id="563" name="Google Shape;563;p3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64" name="Google Shape;564;p31"/>
          <p:cNvGrpSpPr/>
          <p:nvPr/>
        </p:nvGrpSpPr>
        <p:grpSpPr>
          <a:xfrm rot="10800000">
            <a:off x="15785084" y="-536938"/>
            <a:ext cx="7681773" cy="4260605"/>
            <a:chOff x="0" y="-38100"/>
            <a:chExt cx="406400" cy="225405"/>
          </a:xfrm>
        </p:grpSpPr>
        <p:sp>
          <p:nvSpPr>
            <p:cNvPr id="565" name="Google Shape;565;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6" name="Google Shape;566;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7" name="Google Shape;567;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68" name="Google Shape;568;p31"/>
          <p:cNvGrpSpPr/>
          <p:nvPr/>
        </p:nvGrpSpPr>
        <p:grpSpPr>
          <a:xfrm>
            <a:off x="-2718010" y="9274530"/>
            <a:ext cx="7950378" cy="1707223"/>
            <a:chOff x="0" y="-384760"/>
            <a:chExt cx="10600504" cy="2276297"/>
          </a:xfrm>
        </p:grpSpPr>
        <p:grpSp>
          <p:nvGrpSpPr>
            <p:cNvPr id="569" name="Google Shape;569;p31"/>
            <p:cNvGrpSpPr/>
            <p:nvPr/>
          </p:nvGrpSpPr>
          <p:grpSpPr>
            <a:xfrm>
              <a:off x="0" y="-384760"/>
              <a:ext cx="10600504" cy="2276297"/>
              <a:chOff x="0" y="-38100"/>
              <a:chExt cx="1049690" cy="225405"/>
            </a:xfrm>
          </p:grpSpPr>
          <p:sp>
            <p:nvSpPr>
              <p:cNvPr id="570" name="Google Shape;570;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71" name="Google Shape;571;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2" name="Google Shape;572;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 name="Google Shape;573;p3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74" name="Google Shape;574;p31"/>
          <p:cNvSpPr txBox="1"/>
          <p:nvPr/>
        </p:nvSpPr>
        <p:spPr>
          <a:xfrm>
            <a:off x="6476650" y="2293675"/>
            <a:ext cx="11089500" cy="68265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10</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Alana calls her colleague. What time is the car getting her?</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car is coming at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2.30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12.45</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12.30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11</a:t>
            </a:r>
            <a:r>
              <a:rPr b="1" lang="en-US" sz="2500">
                <a:solidFill>
                  <a:srgbClr val="018345"/>
                </a:solidFill>
                <a:latin typeface="Roboto"/>
                <a:ea typeface="Roboto"/>
                <a:cs typeface="Roboto"/>
                <a:sym typeface="Roboto"/>
              </a:rPr>
              <a:t>. </a:t>
            </a:r>
            <a:r>
              <a:rPr b="1" lang="en-US" sz="2500">
                <a:solidFill>
                  <a:srgbClr val="018345"/>
                </a:solidFill>
                <a:latin typeface="Roboto"/>
                <a:ea typeface="Roboto"/>
                <a:cs typeface="Roboto"/>
                <a:sym typeface="Roboto"/>
              </a:rPr>
              <a:t>Two friends are talking about a job. Why is the job difficult?</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difficult thing about the job is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with doctors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at weekends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long hours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575" name="Google Shape;575;p31" title="Q10.MP3">
            <a:hlinkClick r:id="rId4"/>
          </p:cNvPr>
          <p:cNvPicPr preferRelativeResize="0"/>
          <p:nvPr/>
        </p:nvPicPr>
        <p:blipFill>
          <a:blip r:embed="rId5">
            <a:alphaModFix/>
          </a:blip>
          <a:stretch>
            <a:fillRect/>
          </a:stretch>
        </p:blipFill>
        <p:spPr>
          <a:xfrm>
            <a:off x="10851075" y="3296065"/>
            <a:ext cx="923400" cy="923400"/>
          </a:xfrm>
          <a:prstGeom prst="rect">
            <a:avLst/>
          </a:prstGeom>
          <a:noFill/>
          <a:ln>
            <a:noFill/>
          </a:ln>
        </p:spPr>
      </p:pic>
      <p:pic>
        <p:nvPicPr>
          <p:cNvPr id="576" name="Google Shape;576;p31" title="Q11.MP3">
            <a:hlinkClick r:id="rId6"/>
          </p:cNvPr>
          <p:cNvPicPr preferRelativeResize="0"/>
          <p:nvPr/>
        </p:nvPicPr>
        <p:blipFill>
          <a:blip r:embed="rId5">
            <a:alphaModFix/>
          </a:blip>
          <a:stretch>
            <a:fillRect/>
          </a:stretch>
        </p:blipFill>
        <p:spPr>
          <a:xfrm>
            <a:off x="10895975" y="6577040"/>
            <a:ext cx="833600" cy="833600"/>
          </a:xfrm>
          <a:prstGeom prst="rect">
            <a:avLst/>
          </a:prstGeom>
          <a:noFill/>
          <a:ln>
            <a:noFill/>
          </a:ln>
        </p:spPr>
      </p:pic>
      <p:cxnSp>
        <p:nvCxnSpPr>
          <p:cNvPr id="577" name="Google Shape;577;p31"/>
          <p:cNvCxnSpPr/>
          <p:nvPr/>
        </p:nvCxnSpPr>
        <p:spPr>
          <a:xfrm flipH="1" rot="10800000">
            <a:off x="10895975" y="2795175"/>
            <a:ext cx="1434600" cy="6900"/>
          </a:xfrm>
          <a:prstGeom prst="straightConnector1">
            <a:avLst/>
          </a:prstGeom>
          <a:noFill/>
          <a:ln cap="flat" cmpd="sng" w="38100">
            <a:solidFill>
              <a:srgbClr val="980000"/>
            </a:solidFill>
            <a:prstDash val="solid"/>
            <a:round/>
            <a:headEnd len="med" w="med" type="none"/>
            <a:tailEnd len="med" w="med" type="none"/>
          </a:ln>
        </p:spPr>
      </p:cxnSp>
      <p:cxnSp>
        <p:nvCxnSpPr>
          <p:cNvPr id="578" name="Google Shape;578;p31"/>
          <p:cNvCxnSpPr/>
          <p:nvPr/>
        </p:nvCxnSpPr>
        <p:spPr>
          <a:xfrm>
            <a:off x="13296925" y="2798625"/>
            <a:ext cx="1995000" cy="13800"/>
          </a:xfrm>
          <a:prstGeom prst="straightConnector1">
            <a:avLst/>
          </a:prstGeom>
          <a:noFill/>
          <a:ln cap="flat" cmpd="sng" w="38100">
            <a:solidFill>
              <a:srgbClr val="980000"/>
            </a:solidFill>
            <a:prstDash val="solid"/>
            <a:round/>
            <a:headEnd len="med" w="med" type="none"/>
            <a:tailEnd len="med" w="med" type="none"/>
          </a:ln>
        </p:spPr>
      </p:cxnSp>
      <p:cxnSp>
        <p:nvCxnSpPr>
          <p:cNvPr id="579" name="Google Shape;579;p31"/>
          <p:cNvCxnSpPr/>
          <p:nvPr/>
        </p:nvCxnSpPr>
        <p:spPr>
          <a:xfrm>
            <a:off x="12185075" y="5635325"/>
            <a:ext cx="682200" cy="0"/>
          </a:xfrm>
          <a:prstGeom prst="straightConnector1">
            <a:avLst/>
          </a:prstGeom>
          <a:noFill/>
          <a:ln cap="flat" cmpd="sng" w="38100">
            <a:solidFill>
              <a:srgbClr val="980000"/>
            </a:solidFill>
            <a:prstDash val="solid"/>
            <a:round/>
            <a:headEnd len="med" w="med" type="none"/>
            <a:tailEnd len="med" w="med" type="none"/>
          </a:ln>
        </p:spPr>
      </p:cxnSp>
      <p:cxnSp>
        <p:nvCxnSpPr>
          <p:cNvPr id="580" name="Google Shape;580;p31"/>
          <p:cNvCxnSpPr/>
          <p:nvPr/>
        </p:nvCxnSpPr>
        <p:spPr>
          <a:xfrm flipH="1" rot="10800000">
            <a:off x="13792225" y="5617925"/>
            <a:ext cx="1603800" cy="174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cxnSp>
        <p:nvCxnSpPr>
          <p:cNvPr id="586" name="Google Shape;586;p3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87" name="Google Shape;587;p32"/>
          <p:cNvGrpSpPr/>
          <p:nvPr/>
        </p:nvGrpSpPr>
        <p:grpSpPr>
          <a:xfrm rot="10800000">
            <a:off x="15785084" y="-536938"/>
            <a:ext cx="7681773" cy="4260605"/>
            <a:chOff x="0" y="-38100"/>
            <a:chExt cx="406400" cy="225405"/>
          </a:xfrm>
        </p:grpSpPr>
        <p:sp>
          <p:nvSpPr>
            <p:cNvPr id="588" name="Google Shape;588;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9" name="Google Shape;589;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0" name="Google Shape;590;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91" name="Google Shape;591;p32"/>
          <p:cNvGrpSpPr/>
          <p:nvPr/>
        </p:nvGrpSpPr>
        <p:grpSpPr>
          <a:xfrm>
            <a:off x="-2718010" y="9274530"/>
            <a:ext cx="7950378" cy="1707223"/>
            <a:chOff x="0" y="-384760"/>
            <a:chExt cx="10600504" cy="2276297"/>
          </a:xfrm>
        </p:grpSpPr>
        <p:grpSp>
          <p:nvGrpSpPr>
            <p:cNvPr id="592" name="Google Shape;592;p32"/>
            <p:cNvGrpSpPr/>
            <p:nvPr/>
          </p:nvGrpSpPr>
          <p:grpSpPr>
            <a:xfrm>
              <a:off x="0" y="-384760"/>
              <a:ext cx="10600504" cy="2276297"/>
              <a:chOff x="0" y="-38100"/>
              <a:chExt cx="1049690" cy="225405"/>
            </a:xfrm>
          </p:grpSpPr>
          <p:sp>
            <p:nvSpPr>
              <p:cNvPr id="593" name="Google Shape;593;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94" name="Google Shape;594;p3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5" name="Google Shape;595;p3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6" name="Google Shape;596;p3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97" name="Google Shape;597;p32"/>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12. </a:t>
            </a:r>
            <a:r>
              <a:rPr b="1" lang="en-US" sz="2500">
                <a:solidFill>
                  <a:srgbClr val="018345"/>
                </a:solidFill>
                <a:latin typeface="Roboto"/>
                <a:ea typeface="Roboto"/>
                <a:cs typeface="Roboto"/>
                <a:sym typeface="Roboto"/>
              </a:rPr>
              <a:t>Listen to an announcement in a department store. Which items have the best reductions this weekend?</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This weekend, the best reductions are on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fridges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sport clothing</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casual shoes</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13. </a:t>
            </a:r>
            <a:r>
              <a:rPr b="1" lang="en-US" sz="2500">
                <a:solidFill>
                  <a:srgbClr val="018345"/>
                </a:solidFill>
                <a:latin typeface="Roboto"/>
                <a:ea typeface="Roboto"/>
                <a:cs typeface="Roboto"/>
                <a:sym typeface="Roboto"/>
              </a:rPr>
              <a:t>Listen to the announcement about a new shop. Who is the new shop for?</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new shop is for people who like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deals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luxury items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c. food</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598" name="Google Shape;598;p32" title="Q12.MP3">
            <a:hlinkClick r:id="rId4"/>
          </p:cNvPr>
          <p:cNvPicPr preferRelativeResize="0"/>
          <p:nvPr/>
        </p:nvPicPr>
        <p:blipFill>
          <a:blip r:embed="rId5">
            <a:alphaModFix/>
          </a:blip>
          <a:stretch>
            <a:fillRect/>
          </a:stretch>
        </p:blipFill>
        <p:spPr>
          <a:xfrm>
            <a:off x="10994300" y="4040466"/>
            <a:ext cx="813150" cy="813150"/>
          </a:xfrm>
          <a:prstGeom prst="rect">
            <a:avLst/>
          </a:prstGeom>
          <a:noFill/>
          <a:ln>
            <a:noFill/>
          </a:ln>
        </p:spPr>
      </p:pic>
      <p:pic>
        <p:nvPicPr>
          <p:cNvPr id="599" name="Google Shape;599;p32" title="Q13.MP3">
            <a:hlinkClick r:id="rId6"/>
          </p:cNvPr>
          <p:cNvPicPr preferRelativeResize="0"/>
          <p:nvPr/>
        </p:nvPicPr>
        <p:blipFill>
          <a:blip r:embed="rId5">
            <a:alphaModFix/>
          </a:blip>
          <a:stretch>
            <a:fillRect/>
          </a:stretch>
        </p:blipFill>
        <p:spPr>
          <a:xfrm>
            <a:off x="10994300" y="7170291"/>
            <a:ext cx="813150" cy="813150"/>
          </a:xfrm>
          <a:prstGeom prst="rect">
            <a:avLst/>
          </a:prstGeom>
          <a:noFill/>
          <a:ln>
            <a:noFill/>
          </a:ln>
        </p:spPr>
      </p:pic>
      <p:cxnSp>
        <p:nvCxnSpPr>
          <p:cNvPr id="600" name="Google Shape;600;p32"/>
          <p:cNvCxnSpPr/>
          <p:nvPr/>
        </p:nvCxnSpPr>
        <p:spPr>
          <a:xfrm flipH="1" rot="10800000">
            <a:off x="15205375" y="2743225"/>
            <a:ext cx="865800" cy="6900"/>
          </a:xfrm>
          <a:prstGeom prst="straightConnector1">
            <a:avLst/>
          </a:prstGeom>
          <a:noFill/>
          <a:ln cap="flat" cmpd="sng" w="38100">
            <a:solidFill>
              <a:srgbClr val="980000"/>
            </a:solidFill>
            <a:prstDash val="solid"/>
            <a:round/>
            <a:headEnd len="med" w="med" type="none"/>
            <a:tailEnd len="med" w="med" type="none"/>
          </a:ln>
        </p:spPr>
      </p:cxnSp>
      <p:cxnSp>
        <p:nvCxnSpPr>
          <p:cNvPr id="601" name="Google Shape;601;p32"/>
          <p:cNvCxnSpPr/>
          <p:nvPr/>
        </p:nvCxnSpPr>
        <p:spPr>
          <a:xfrm>
            <a:off x="6592850" y="3335475"/>
            <a:ext cx="2118300" cy="13800"/>
          </a:xfrm>
          <a:prstGeom prst="straightConnector1">
            <a:avLst/>
          </a:prstGeom>
          <a:noFill/>
          <a:ln cap="flat" cmpd="sng" w="38100">
            <a:solidFill>
              <a:srgbClr val="980000"/>
            </a:solidFill>
            <a:prstDash val="solid"/>
            <a:round/>
            <a:headEnd len="med" w="med" type="none"/>
            <a:tailEnd len="med" w="med" type="none"/>
          </a:ln>
        </p:spPr>
      </p:cxnSp>
      <p:cxnSp>
        <p:nvCxnSpPr>
          <p:cNvPr id="602" name="Google Shape;602;p32"/>
          <p:cNvCxnSpPr/>
          <p:nvPr/>
        </p:nvCxnSpPr>
        <p:spPr>
          <a:xfrm flipH="1" rot="10800000">
            <a:off x="15420100" y="6189425"/>
            <a:ext cx="1811400" cy="26100"/>
          </a:xfrm>
          <a:prstGeom prst="straightConnector1">
            <a:avLst/>
          </a:prstGeom>
          <a:noFill/>
          <a:ln cap="flat" cmpd="sng" w="38100">
            <a:solidFill>
              <a:srgbClr val="980000"/>
            </a:solidFill>
            <a:prstDash val="solid"/>
            <a:round/>
            <a:headEnd len="med" w="med" type="none"/>
            <a:tailEnd len="med" w="med" type="none"/>
          </a:ln>
        </p:spPr>
      </p:cxnSp>
      <p:cxnSp>
        <p:nvCxnSpPr>
          <p:cNvPr id="603" name="Google Shape;603;p32"/>
          <p:cNvCxnSpPr/>
          <p:nvPr/>
        </p:nvCxnSpPr>
        <p:spPr>
          <a:xfrm flipH="1" rot="10800000">
            <a:off x="13736775" y="6200825"/>
            <a:ext cx="827700" cy="3300"/>
          </a:xfrm>
          <a:prstGeom prst="straightConnector1">
            <a:avLst/>
          </a:prstGeom>
          <a:noFill/>
          <a:ln cap="flat" cmpd="sng" w="38100">
            <a:solidFill>
              <a:srgbClr val="98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cxnSp>
        <p:nvCxnSpPr>
          <p:cNvPr id="609" name="Google Shape;609;p33"/>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610" name="Google Shape;610;p33"/>
          <p:cNvGrpSpPr/>
          <p:nvPr/>
        </p:nvGrpSpPr>
        <p:grpSpPr>
          <a:xfrm rot="10800000">
            <a:off x="15785084" y="-536938"/>
            <a:ext cx="7681773" cy="4260605"/>
            <a:chOff x="0" y="-38100"/>
            <a:chExt cx="406400" cy="225405"/>
          </a:xfrm>
        </p:grpSpPr>
        <p:sp>
          <p:nvSpPr>
            <p:cNvPr id="611" name="Google Shape;611;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12" name="Google Shape;612;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3" name="Google Shape;613;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614" name="Google Shape;614;p33"/>
          <p:cNvGrpSpPr/>
          <p:nvPr/>
        </p:nvGrpSpPr>
        <p:grpSpPr>
          <a:xfrm>
            <a:off x="-2718010" y="9274530"/>
            <a:ext cx="7950378" cy="1707223"/>
            <a:chOff x="0" y="-384760"/>
            <a:chExt cx="10600504" cy="2276297"/>
          </a:xfrm>
        </p:grpSpPr>
        <p:grpSp>
          <p:nvGrpSpPr>
            <p:cNvPr id="615" name="Google Shape;615;p33"/>
            <p:cNvGrpSpPr/>
            <p:nvPr/>
          </p:nvGrpSpPr>
          <p:grpSpPr>
            <a:xfrm>
              <a:off x="0" y="-384760"/>
              <a:ext cx="10600504" cy="2276297"/>
              <a:chOff x="0" y="-38100"/>
              <a:chExt cx="1049690" cy="225405"/>
            </a:xfrm>
          </p:grpSpPr>
          <p:sp>
            <p:nvSpPr>
              <p:cNvPr id="616" name="Google Shape;616;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17" name="Google Shape;617;p3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8" name="Google Shape;618;p3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9" name="Google Shape;619;p33"/>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620" name="Google Shape;620;p33"/>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 </a:t>
            </a:r>
            <a:r>
              <a:rPr b="1" lang="en-US" sz="2500">
                <a:solidFill>
                  <a:srgbClr val="018345"/>
                </a:solidFill>
                <a:latin typeface="Roboto"/>
                <a:ea typeface="Roboto"/>
                <a:cs typeface="Roboto"/>
                <a:sym typeface="Roboto"/>
              </a:rPr>
              <a:t>Ken calls to plan a visit. When does Ken want to visit?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at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after 7.30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before 7.30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2. Alan calls his friend to suggest ways of travelling to his city. How do most people get there?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Bus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Train</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Plane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3. Monica leaves you a message about her son Mark. What does he eat every morning?</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fish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milk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eggs</a:t>
            </a:r>
            <a:endParaRPr sz="2500">
              <a:solidFill>
                <a:schemeClr val="dk1"/>
              </a:solidFill>
              <a:latin typeface="Roboto"/>
              <a:ea typeface="Roboto"/>
              <a:cs typeface="Roboto"/>
              <a:sym typeface="Roboto"/>
            </a:endParaRPr>
          </a:p>
        </p:txBody>
      </p:sp>
      <p:pic>
        <p:nvPicPr>
          <p:cNvPr id="621" name="Google Shape;621;p33" title="Q1.MP3">
            <a:hlinkClick r:id="rId5"/>
          </p:cNvPr>
          <p:cNvPicPr preferRelativeResize="0"/>
          <p:nvPr/>
        </p:nvPicPr>
        <p:blipFill>
          <a:blip r:embed="rId6">
            <a:alphaModFix/>
          </a:blip>
          <a:stretch>
            <a:fillRect/>
          </a:stretch>
        </p:blipFill>
        <p:spPr>
          <a:xfrm>
            <a:off x="11227825" y="2821826"/>
            <a:ext cx="901850" cy="901850"/>
          </a:xfrm>
          <a:prstGeom prst="rect">
            <a:avLst/>
          </a:prstGeom>
          <a:noFill/>
          <a:ln>
            <a:noFill/>
          </a:ln>
        </p:spPr>
      </p:pic>
      <p:pic>
        <p:nvPicPr>
          <p:cNvPr id="622" name="Google Shape;622;p33" title="Q2.MP3">
            <a:hlinkClick r:id="rId7"/>
          </p:cNvPr>
          <p:cNvPicPr preferRelativeResize="0"/>
          <p:nvPr/>
        </p:nvPicPr>
        <p:blipFill>
          <a:blip r:embed="rId6">
            <a:alphaModFix/>
          </a:blip>
          <a:stretch>
            <a:fillRect/>
          </a:stretch>
        </p:blipFill>
        <p:spPr>
          <a:xfrm>
            <a:off x="11227825" y="5132825"/>
            <a:ext cx="901850" cy="901850"/>
          </a:xfrm>
          <a:prstGeom prst="rect">
            <a:avLst/>
          </a:prstGeom>
          <a:noFill/>
          <a:ln>
            <a:noFill/>
          </a:ln>
        </p:spPr>
      </p:pic>
      <p:pic>
        <p:nvPicPr>
          <p:cNvPr id="623" name="Google Shape;623;p33" title="Q3.MP3">
            <a:hlinkClick r:id="rId8"/>
          </p:cNvPr>
          <p:cNvPicPr preferRelativeResize="0"/>
          <p:nvPr/>
        </p:nvPicPr>
        <p:blipFill>
          <a:blip r:embed="rId6">
            <a:alphaModFix/>
          </a:blip>
          <a:stretch>
            <a:fillRect/>
          </a:stretch>
        </p:blipFill>
        <p:spPr>
          <a:xfrm>
            <a:off x="11227825" y="8058090"/>
            <a:ext cx="901850" cy="901850"/>
          </a:xfrm>
          <a:prstGeom prst="rect">
            <a:avLst/>
          </a:prstGeom>
          <a:noFill/>
          <a:ln>
            <a:noFill/>
          </a:ln>
        </p:spPr>
      </p:pic>
      <p:sp>
        <p:nvSpPr>
          <p:cNvPr id="624" name="Google Shape;624;p33"/>
          <p:cNvSpPr/>
          <p:nvPr/>
        </p:nvSpPr>
        <p:spPr>
          <a:xfrm>
            <a:off x="6801525" y="39534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5" name="Google Shape;625;p33"/>
          <p:cNvSpPr/>
          <p:nvPr/>
        </p:nvSpPr>
        <p:spPr>
          <a:xfrm>
            <a:off x="6801525" y="6183425"/>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6" name="Google Shape;626;p33"/>
          <p:cNvSpPr/>
          <p:nvPr/>
        </p:nvSpPr>
        <p:spPr>
          <a:xfrm>
            <a:off x="6801525" y="9669475"/>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cxnSp>
        <p:nvCxnSpPr>
          <p:cNvPr id="632" name="Google Shape;632;p34"/>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633" name="Google Shape;633;p34"/>
          <p:cNvGrpSpPr/>
          <p:nvPr/>
        </p:nvGrpSpPr>
        <p:grpSpPr>
          <a:xfrm rot="10800000">
            <a:off x="15785084" y="-536938"/>
            <a:ext cx="7681773" cy="4260605"/>
            <a:chOff x="0" y="-38100"/>
            <a:chExt cx="406400" cy="225405"/>
          </a:xfrm>
        </p:grpSpPr>
        <p:sp>
          <p:nvSpPr>
            <p:cNvPr id="634" name="Google Shape;634;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35" name="Google Shape;635;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6" name="Google Shape;636;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637" name="Google Shape;637;p34"/>
          <p:cNvGrpSpPr/>
          <p:nvPr/>
        </p:nvGrpSpPr>
        <p:grpSpPr>
          <a:xfrm>
            <a:off x="-2718010" y="9274530"/>
            <a:ext cx="7950378" cy="1707223"/>
            <a:chOff x="0" y="-384760"/>
            <a:chExt cx="10600504" cy="2276297"/>
          </a:xfrm>
        </p:grpSpPr>
        <p:grpSp>
          <p:nvGrpSpPr>
            <p:cNvPr id="638" name="Google Shape;638;p34"/>
            <p:cNvGrpSpPr/>
            <p:nvPr/>
          </p:nvGrpSpPr>
          <p:grpSpPr>
            <a:xfrm>
              <a:off x="0" y="-384760"/>
              <a:ext cx="10600504" cy="2276297"/>
              <a:chOff x="0" y="-38100"/>
              <a:chExt cx="1049690" cy="225405"/>
            </a:xfrm>
          </p:grpSpPr>
          <p:sp>
            <p:nvSpPr>
              <p:cNvPr id="639" name="Google Shape;639;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40" name="Google Shape;640;p3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1" name="Google Shape;641;p3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2" name="Google Shape;642;p34"/>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643" name="Google Shape;643;p34"/>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4. Ana calls you to change when her party is. What day will the party be?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Saturday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Thursday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Friday</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5. Martin leaves his friend Maggie a message after a party. What did he lose?</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money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glasses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bag</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6. Listen to two friends discussing their plans. What do they decide to do?</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The friends are going to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go to the park</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go swimming</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go to the woods</a:t>
            </a:r>
            <a:endParaRPr sz="2500">
              <a:solidFill>
                <a:schemeClr val="dk1"/>
              </a:solidFill>
              <a:latin typeface="Roboto"/>
              <a:ea typeface="Roboto"/>
              <a:cs typeface="Roboto"/>
              <a:sym typeface="Roboto"/>
            </a:endParaRPr>
          </a:p>
        </p:txBody>
      </p:sp>
      <p:pic>
        <p:nvPicPr>
          <p:cNvPr id="644" name="Google Shape;644;p34" title="Q4.MP3">
            <a:hlinkClick r:id="rId4"/>
          </p:cNvPr>
          <p:cNvPicPr preferRelativeResize="0"/>
          <p:nvPr/>
        </p:nvPicPr>
        <p:blipFill>
          <a:blip r:embed="rId5">
            <a:alphaModFix/>
          </a:blip>
          <a:stretch>
            <a:fillRect/>
          </a:stretch>
        </p:blipFill>
        <p:spPr>
          <a:xfrm>
            <a:off x="10380600" y="2780341"/>
            <a:ext cx="815875" cy="815875"/>
          </a:xfrm>
          <a:prstGeom prst="rect">
            <a:avLst/>
          </a:prstGeom>
          <a:noFill/>
          <a:ln>
            <a:noFill/>
          </a:ln>
        </p:spPr>
      </p:pic>
      <p:pic>
        <p:nvPicPr>
          <p:cNvPr id="645" name="Google Shape;645;p34" title="Q5.MP3">
            <a:hlinkClick r:id="rId6"/>
          </p:cNvPr>
          <p:cNvPicPr preferRelativeResize="0"/>
          <p:nvPr/>
        </p:nvPicPr>
        <p:blipFill>
          <a:blip r:embed="rId5">
            <a:alphaModFix/>
          </a:blip>
          <a:stretch>
            <a:fillRect/>
          </a:stretch>
        </p:blipFill>
        <p:spPr>
          <a:xfrm>
            <a:off x="10380600" y="5142366"/>
            <a:ext cx="815875" cy="815875"/>
          </a:xfrm>
          <a:prstGeom prst="rect">
            <a:avLst/>
          </a:prstGeom>
          <a:noFill/>
          <a:ln>
            <a:noFill/>
          </a:ln>
        </p:spPr>
      </p:pic>
      <p:pic>
        <p:nvPicPr>
          <p:cNvPr id="646" name="Google Shape;646;p34" title="Q6.MP3">
            <a:hlinkClick r:id="rId7"/>
          </p:cNvPr>
          <p:cNvPicPr preferRelativeResize="0"/>
          <p:nvPr/>
        </p:nvPicPr>
        <p:blipFill>
          <a:blip r:embed="rId5">
            <a:alphaModFix/>
          </a:blip>
          <a:stretch>
            <a:fillRect/>
          </a:stretch>
        </p:blipFill>
        <p:spPr>
          <a:xfrm>
            <a:off x="11613463" y="8088092"/>
            <a:ext cx="815875" cy="815875"/>
          </a:xfrm>
          <a:prstGeom prst="rect">
            <a:avLst/>
          </a:prstGeom>
          <a:noFill/>
          <a:ln>
            <a:noFill/>
          </a:ln>
        </p:spPr>
      </p:pic>
      <p:sp>
        <p:nvSpPr>
          <p:cNvPr id="647" name="Google Shape;647;p34"/>
          <p:cNvSpPr/>
          <p:nvPr/>
        </p:nvSpPr>
        <p:spPr>
          <a:xfrm>
            <a:off x="6801525" y="27803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8" name="Google Shape;648;p34"/>
          <p:cNvSpPr/>
          <p:nvPr/>
        </p:nvSpPr>
        <p:spPr>
          <a:xfrm>
            <a:off x="6801525" y="6223775"/>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9" name="Google Shape;649;p34"/>
          <p:cNvSpPr/>
          <p:nvPr/>
        </p:nvSpPr>
        <p:spPr>
          <a:xfrm>
            <a:off x="6801525" y="9119375"/>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cxnSp>
        <p:nvCxnSpPr>
          <p:cNvPr id="655" name="Google Shape;655;p35"/>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656" name="Google Shape;656;p35"/>
          <p:cNvGrpSpPr/>
          <p:nvPr/>
        </p:nvGrpSpPr>
        <p:grpSpPr>
          <a:xfrm rot="10800000">
            <a:off x="15785084" y="-536938"/>
            <a:ext cx="7681773" cy="4260605"/>
            <a:chOff x="0" y="-38100"/>
            <a:chExt cx="406400" cy="225405"/>
          </a:xfrm>
        </p:grpSpPr>
        <p:sp>
          <p:nvSpPr>
            <p:cNvPr id="657" name="Google Shape;657;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58" name="Google Shape;658;p3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9" name="Google Shape;659;p3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660" name="Google Shape;660;p35"/>
          <p:cNvGrpSpPr/>
          <p:nvPr/>
        </p:nvGrpSpPr>
        <p:grpSpPr>
          <a:xfrm>
            <a:off x="-2718010" y="9274530"/>
            <a:ext cx="7950378" cy="1707223"/>
            <a:chOff x="0" y="-384760"/>
            <a:chExt cx="10600504" cy="2276297"/>
          </a:xfrm>
        </p:grpSpPr>
        <p:grpSp>
          <p:nvGrpSpPr>
            <p:cNvPr id="661" name="Google Shape;661;p35"/>
            <p:cNvGrpSpPr/>
            <p:nvPr/>
          </p:nvGrpSpPr>
          <p:grpSpPr>
            <a:xfrm>
              <a:off x="0" y="-384760"/>
              <a:ext cx="10600504" cy="2276297"/>
              <a:chOff x="0" y="-38100"/>
              <a:chExt cx="1049690" cy="225405"/>
            </a:xfrm>
          </p:grpSpPr>
          <p:sp>
            <p:nvSpPr>
              <p:cNvPr id="662" name="Google Shape;662;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63" name="Google Shape;663;p3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4" name="Google Shape;664;p3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5" name="Google Shape;665;p35"/>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666" name="Google Shape;666;p35"/>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7. Listen to a woman in a shop. What type of TV does she want to buy?</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The woman wants to buy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an old-fashioned TV</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 flat screen TV</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an expensive TV</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8. Listen to a person talking about a house. What doesn’t she like about it?</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doors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carpet</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windows</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9. Listen to the radio announcement. Whose birthday is it in May?</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 Kitty</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b. Paul</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George</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667" name="Google Shape;667;p35" title="Q7.MP3">
            <a:hlinkClick r:id="rId4"/>
          </p:cNvPr>
          <p:cNvPicPr preferRelativeResize="0"/>
          <p:nvPr/>
        </p:nvPicPr>
        <p:blipFill>
          <a:blip r:embed="rId5">
            <a:alphaModFix/>
          </a:blip>
          <a:stretch>
            <a:fillRect/>
          </a:stretch>
        </p:blipFill>
        <p:spPr>
          <a:xfrm>
            <a:off x="10892000" y="3544665"/>
            <a:ext cx="833600" cy="833600"/>
          </a:xfrm>
          <a:prstGeom prst="rect">
            <a:avLst/>
          </a:prstGeom>
          <a:noFill/>
          <a:ln>
            <a:noFill/>
          </a:ln>
        </p:spPr>
      </p:pic>
      <p:pic>
        <p:nvPicPr>
          <p:cNvPr id="668" name="Google Shape;668;p35" title="Q8.MP3">
            <a:hlinkClick r:id="rId6"/>
          </p:cNvPr>
          <p:cNvPicPr preferRelativeResize="0"/>
          <p:nvPr/>
        </p:nvPicPr>
        <p:blipFill>
          <a:blip r:embed="rId5">
            <a:alphaModFix/>
          </a:blip>
          <a:stretch>
            <a:fillRect/>
          </a:stretch>
        </p:blipFill>
        <p:spPr>
          <a:xfrm>
            <a:off x="10892000" y="5867316"/>
            <a:ext cx="833600" cy="833600"/>
          </a:xfrm>
          <a:prstGeom prst="rect">
            <a:avLst/>
          </a:prstGeom>
          <a:noFill/>
          <a:ln>
            <a:noFill/>
          </a:ln>
        </p:spPr>
      </p:pic>
      <p:pic>
        <p:nvPicPr>
          <p:cNvPr id="669" name="Google Shape;669;p35" title="Q9.MP3">
            <a:hlinkClick r:id="rId7"/>
          </p:cNvPr>
          <p:cNvPicPr preferRelativeResize="0"/>
          <p:nvPr/>
        </p:nvPicPr>
        <p:blipFill>
          <a:blip r:embed="rId5">
            <a:alphaModFix/>
          </a:blip>
          <a:stretch>
            <a:fillRect/>
          </a:stretch>
        </p:blipFill>
        <p:spPr>
          <a:xfrm>
            <a:off x="10892000" y="8189966"/>
            <a:ext cx="833600" cy="833600"/>
          </a:xfrm>
          <a:prstGeom prst="rect">
            <a:avLst/>
          </a:prstGeom>
          <a:noFill/>
          <a:ln>
            <a:noFill/>
          </a:ln>
        </p:spPr>
      </p:pic>
      <p:sp>
        <p:nvSpPr>
          <p:cNvPr id="670" name="Google Shape;670;p35"/>
          <p:cNvSpPr/>
          <p:nvPr/>
        </p:nvSpPr>
        <p:spPr>
          <a:xfrm>
            <a:off x="6781350" y="342900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1" name="Google Shape;671;p35"/>
          <p:cNvSpPr/>
          <p:nvPr/>
        </p:nvSpPr>
        <p:spPr>
          <a:xfrm>
            <a:off x="6781350" y="565900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2" name="Google Shape;672;p35"/>
          <p:cNvSpPr/>
          <p:nvPr/>
        </p:nvSpPr>
        <p:spPr>
          <a:xfrm>
            <a:off x="6781350" y="91395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cxnSp>
        <p:nvCxnSpPr>
          <p:cNvPr id="678" name="Google Shape;678;p36"/>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679" name="Google Shape;679;p36"/>
          <p:cNvGrpSpPr/>
          <p:nvPr/>
        </p:nvGrpSpPr>
        <p:grpSpPr>
          <a:xfrm rot="10800000">
            <a:off x="15785084" y="-536938"/>
            <a:ext cx="7681773" cy="4260605"/>
            <a:chOff x="0" y="-38100"/>
            <a:chExt cx="406400" cy="225405"/>
          </a:xfrm>
        </p:grpSpPr>
        <p:sp>
          <p:nvSpPr>
            <p:cNvPr id="680" name="Google Shape;680;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81" name="Google Shape;681;p3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2" name="Google Shape;682;p3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683" name="Google Shape;683;p36"/>
          <p:cNvGrpSpPr/>
          <p:nvPr/>
        </p:nvGrpSpPr>
        <p:grpSpPr>
          <a:xfrm>
            <a:off x="-2718010" y="9274530"/>
            <a:ext cx="7950378" cy="1707223"/>
            <a:chOff x="0" y="-384760"/>
            <a:chExt cx="10600504" cy="2276297"/>
          </a:xfrm>
        </p:grpSpPr>
        <p:grpSp>
          <p:nvGrpSpPr>
            <p:cNvPr id="684" name="Google Shape;684;p36"/>
            <p:cNvGrpSpPr/>
            <p:nvPr/>
          </p:nvGrpSpPr>
          <p:grpSpPr>
            <a:xfrm>
              <a:off x="0" y="-384760"/>
              <a:ext cx="10600504" cy="2276297"/>
              <a:chOff x="0" y="-38100"/>
              <a:chExt cx="1049690" cy="225405"/>
            </a:xfrm>
          </p:grpSpPr>
          <p:sp>
            <p:nvSpPr>
              <p:cNvPr id="685" name="Google Shape;685;p3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86" name="Google Shape;686;p3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 name="Google Shape;687;p3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8" name="Google Shape;688;p36"/>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689" name="Google Shape;689;p36"/>
          <p:cNvSpPr txBox="1"/>
          <p:nvPr/>
        </p:nvSpPr>
        <p:spPr>
          <a:xfrm>
            <a:off x="6476650" y="2293675"/>
            <a:ext cx="11089500" cy="68265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10. Alana calls her colleague. What time is the car getting her?</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car is coming at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2.30</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12.45</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12.30</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11. Two friends are talking about a job. Why is the job difficult?</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difficult thing about the job is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with doctors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at weekends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long hours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690" name="Google Shape;690;p36" title="Q10.MP3">
            <a:hlinkClick r:id="rId4"/>
          </p:cNvPr>
          <p:cNvPicPr preferRelativeResize="0"/>
          <p:nvPr/>
        </p:nvPicPr>
        <p:blipFill>
          <a:blip r:embed="rId5">
            <a:alphaModFix/>
          </a:blip>
          <a:stretch>
            <a:fillRect/>
          </a:stretch>
        </p:blipFill>
        <p:spPr>
          <a:xfrm>
            <a:off x="10851075" y="3296065"/>
            <a:ext cx="923400" cy="923400"/>
          </a:xfrm>
          <a:prstGeom prst="rect">
            <a:avLst/>
          </a:prstGeom>
          <a:noFill/>
          <a:ln>
            <a:noFill/>
          </a:ln>
        </p:spPr>
      </p:pic>
      <p:pic>
        <p:nvPicPr>
          <p:cNvPr id="691" name="Google Shape;691;p36" title="Q11.MP3">
            <a:hlinkClick r:id="rId6"/>
          </p:cNvPr>
          <p:cNvPicPr preferRelativeResize="0"/>
          <p:nvPr/>
        </p:nvPicPr>
        <p:blipFill>
          <a:blip r:embed="rId5">
            <a:alphaModFix/>
          </a:blip>
          <a:stretch>
            <a:fillRect/>
          </a:stretch>
        </p:blipFill>
        <p:spPr>
          <a:xfrm>
            <a:off x="10895975" y="6577040"/>
            <a:ext cx="833600" cy="833600"/>
          </a:xfrm>
          <a:prstGeom prst="rect">
            <a:avLst/>
          </a:prstGeom>
          <a:noFill/>
          <a:ln>
            <a:noFill/>
          </a:ln>
        </p:spPr>
      </p:pic>
      <p:sp>
        <p:nvSpPr>
          <p:cNvPr id="692" name="Google Shape;692;p36"/>
          <p:cNvSpPr/>
          <p:nvPr/>
        </p:nvSpPr>
        <p:spPr>
          <a:xfrm>
            <a:off x="6741025" y="342900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93" name="Google Shape;693;p36"/>
          <p:cNvSpPr/>
          <p:nvPr/>
        </p:nvSpPr>
        <p:spPr>
          <a:xfrm>
            <a:off x="6741025" y="74106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cxnSp>
        <p:nvCxnSpPr>
          <p:cNvPr id="699" name="Google Shape;699;p37"/>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700" name="Google Shape;700;p37"/>
          <p:cNvGrpSpPr/>
          <p:nvPr/>
        </p:nvGrpSpPr>
        <p:grpSpPr>
          <a:xfrm rot="10800000">
            <a:off x="15785084" y="-536938"/>
            <a:ext cx="7681773" cy="4260605"/>
            <a:chOff x="0" y="-38100"/>
            <a:chExt cx="406400" cy="225405"/>
          </a:xfrm>
        </p:grpSpPr>
        <p:sp>
          <p:nvSpPr>
            <p:cNvPr id="701" name="Google Shape;701;p3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02" name="Google Shape;702;p3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3" name="Google Shape;703;p3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704" name="Google Shape;704;p37"/>
          <p:cNvGrpSpPr/>
          <p:nvPr/>
        </p:nvGrpSpPr>
        <p:grpSpPr>
          <a:xfrm>
            <a:off x="-2718010" y="9274530"/>
            <a:ext cx="7950378" cy="1707223"/>
            <a:chOff x="0" y="-384760"/>
            <a:chExt cx="10600504" cy="2276297"/>
          </a:xfrm>
        </p:grpSpPr>
        <p:grpSp>
          <p:nvGrpSpPr>
            <p:cNvPr id="705" name="Google Shape;705;p37"/>
            <p:cNvGrpSpPr/>
            <p:nvPr/>
          </p:nvGrpSpPr>
          <p:grpSpPr>
            <a:xfrm>
              <a:off x="0" y="-384760"/>
              <a:ext cx="10600504" cy="2276297"/>
              <a:chOff x="0" y="-38100"/>
              <a:chExt cx="1049690" cy="225405"/>
            </a:xfrm>
          </p:grpSpPr>
          <p:sp>
            <p:nvSpPr>
              <p:cNvPr id="706" name="Google Shape;706;p3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07" name="Google Shape;707;p3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8" name="Google Shape;708;p3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09" name="Google Shape;709;p37"/>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710" name="Google Shape;710;p37"/>
          <p:cNvSpPr txBox="1"/>
          <p:nvPr/>
        </p:nvSpPr>
        <p:spPr>
          <a:xfrm>
            <a:off x="6476650" y="2293675"/>
            <a:ext cx="11089500" cy="7980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12. Listen to an announcement in a department store. Which items have the best reductions this weekend?</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This weekend, the best reductions are on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fridges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sport clothing</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c. casual shoes</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rgbClr val="018345"/>
                </a:solidFill>
                <a:latin typeface="Roboto"/>
                <a:ea typeface="Roboto"/>
                <a:cs typeface="Roboto"/>
                <a:sym typeface="Roboto"/>
              </a:rPr>
              <a:t>13. Listen to the announcement about a new shop. Who is the new shop for?</a:t>
            </a:r>
            <a:endParaRPr b="1" sz="2500">
              <a:solidFill>
                <a:srgbClr val="018345"/>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The new shop is for people who like _______.</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 deals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b. luxury items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c. food</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711" name="Google Shape;711;p37" title="Q12.MP3">
            <a:hlinkClick r:id="rId4"/>
          </p:cNvPr>
          <p:cNvPicPr preferRelativeResize="0"/>
          <p:nvPr/>
        </p:nvPicPr>
        <p:blipFill>
          <a:blip r:embed="rId5">
            <a:alphaModFix/>
          </a:blip>
          <a:stretch>
            <a:fillRect/>
          </a:stretch>
        </p:blipFill>
        <p:spPr>
          <a:xfrm>
            <a:off x="10994300" y="4040466"/>
            <a:ext cx="813150" cy="813150"/>
          </a:xfrm>
          <a:prstGeom prst="rect">
            <a:avLst/>
          </a:prstGeom>
          <a:noFill/>
          <a:ln>
            <a:noFill/>
          </a:ln>
        </p:spPr>
      </p:pic>
      <p:pic>
        <p:nvPicPr>
          <p:cNvPr id="712" name="Google Shape;712;p37" title="Q13.MP3">
            <a:hlinkClick r:id="rId6"/>
          </p:cNvPr>
          <p:cNvPicPr preferRelativeResize="0"/>
          <p:nvPr/>
        </p:nvPicPr>
        <p:blipFill>
          <a:blip r:embed="rId5">
            <a:alphaModFix/>
          </a:blip>
          <a:stretch>
            <a:fillRect/>
          </a:stretch>
        </p:blipFill>
        <p:spPr>
          <a:xfrm>
            <a:off x="10994300" y="7170291"/>
            <a:ext cx="813150" cy="813150"/>
          </a:xfrm>
          <a:prstGeom prst="rect">
            <a:avLst/>
          </a:prstGeom>
          <a:noFill/>
          <a:ln>
            <a:noFill/>
          </a:ln>
        </p:spPr>
      </p:pic>
      <p:sp>
        <p:nvSpPr>
          <p:cNvPr id="713" name="Google Shape;713;p37"/>
          <p:cNvSpPr/>
          <p:nvPr/>
        </p:nvSpPr>
        <p:spPr>
          <a:xfrm>
            <a:off x="6801525" y="39534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4" name="Google Shape;714;p37"/>
          <p:cNvSpPr/>
          <p:nvPr/>
        </p:nvSpPr>
        <p:spPr>
          <a:xfrm>
            <a:off x="6801525" y="6788550"/>
            <a:ext cx="585000" cy="6051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cxnSp>
        <p:nvCxnSpPr>
          <p:cNvPr id="720" name="Google Shape;720;p38"/>
          <p:cNvCxnSpPr/>
          <p:nvPr/>
        </p:nvCxnSpPr>
        <p:spPr>
          <a:xfrm flipH="1" rot="10800000">
            <a:off x="4572001" y="122057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721" name="Google Shape;721;p38"/>
          <p:cNvGrpSpPr/>
          <p:nvPr/>
        </p:nvGrpSpPr>
        <p:grpSpPr>
          <a:xfrm rot="10800000">
            <a:off x="15785084" y="-536938"/>
            <a:ext cx="7681773" cy="4260605"/>
            <a:chOff x="0" y="-38100"/>
            <a:chExt cx="406400" cy="225405"/>
          </a:xfrm>
        </p:grpSpPr>
        <p:sp>
          <p:nvSpPr>
            <p:cNvPr id="722" name="Google Shape;722;p3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23" name="Google Shape;723;p3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4" name="Google Shape;724;p3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725" name="Google Shape;725;p38"/>
          <p:cNvGrpSpPr/>
          <p:nvPr/>
        </p:nvGrpSpPr>
        <p:grpSpPr>
          <a:xfrm>
            <a:off x="-2718010" y="9274530"/>
            <a:ext cx="7950378" cy="1707223"/>
            <a:chOff x="0" y="-384760"/>
            <a:chExt cx="10600504" cy="2276297"/>
          </a:xfrm>
        </p:grpSpPr>
        <p:grpSp>
          <p:nvGrpSpPr>
            <p:cNvPr id="726" name="Google Shape;726;p38"/>
            <p:cNvGrpSpPr/>
            <p:nvPr/>
          </p:nvGrpSpPr>
          <p:grpSpPr>
            <a:xfrm>
              <a:off x="0" y="-384760"/>
              <a:ext cx="10600504" cy="2276297"/>
              <a:chOff x="0" y="-38100"/>
              <a:chExt cx="1049690" cy="225405"/>
            </a:xfrm>
          </p:grpSpPr>
          <p:sp>
            <p:nvSpPr>
              <p:cNvPr id="727" name="Google Shape;727;p3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28" name="Google Shape;728;p3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29" name="Google Shape;729;p3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0" name="Google Shape;730;p38"/>
          <p:cNvSpPr txBox="1"/>
          <p:nvPr/>
        </p:nvSpPr>
        <p:spPr>
          <a:xfrm>
            <a:off x="3345397" y="2971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731" name="Google Shape;731;p38"/>
          <p:cNvSpPr txBox="1"/>
          <p:nvPr/>
        </p:nvSpPr>
        <p:spPr>
          <a:xfrm>
            <a:off x="822600" y="1441650"/>
            <a:ext cx="16642800" cy="8558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 C. Before 7.30</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t>
            </a:r>
            <a:r>
              <a:rPr lang="en-US" sz="2500">
                <a:solidFill>
                  <a:srgbClr val="0A0A0A"/>
                </a:solidFill>
                <a:latin typeface="Roboto"/>
                <a:ea typeface="Roboto"/>
                <a:cs typeface="Roboto"/>
                <a:sym typeface="Roboto"/>
              </a:rPr>
              <a:t>but I have a friend coming for dinner </a:t>
            </a:r>
            <a:r>
              <a:rPr b="1" lang="en-US" sz="2500">
                <a:solidFill>
                  <a:srgbClr val="FF0000"/>
                </a:solidFill>
                <a:latin typeface="Roboto"/>
                <a:ea typeface="Roboto"/>
                <a:cs typeface="Roboto"/>
                <a:sym typeface="Roboto"/>
              </a:rPr>
              <a:t>at 7.30, so before that</a:t>
            </a:r>
            <a:r>
              <a:rPr lang="en-US" sz="2500">
                <a:solidFill>
                  <a:srgbClr val="0A0A0A"/>
                </a:solidFill>
                <a:latin typeface="Roboto"/>
                <a:ea typeface="Roboto"/>
                <a:cs typeface="Roboto"/>
                <a:sym typeface="Roboto"/>
              </a:rPr>
              <a:t> is best….”</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2: B. Train</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t>
            </a:r>
            <a:r>
              <a:rPr b="1" lang="en-US" sz="2500">
                <a:solidFill>
                  <a:srgbClr val="FF0000"/>
                </a:solidFill>
                <a:latin typeface="Roboto"/>
                <a:ea typeface="Roboto"/>
                <a:cs typeface="Roboto"/>
                <a:sym typeface="Roboto"/>
              </a:rPr>
              <a:t>Most visitors take the train</a:t>
            </a:r>
            <a:r>
              <a:rPr lang="en-US" sz="2500">
                <a:solidFill>
                  <a:srgbClr val="0A0A0A"/>
                </a:solidFill>
                <a:latin typeface="Roboto"/>
                <a:ea typeface="Roboto"/>
                <a:cs typeface="Roboto"/>
                <a:sym typeface="Roboto"/>
              </a:rPr>
              <a:t>, but make sure you book early. It takes about eight hours….”</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3: C. Eggs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“just to let you know, in the morning he always gets up at about seven and usually </a:t>
            </a:r>
            <a:r>
              <a:rPr b="1" lang="en-US" sz="2500">
                <a:solidFill>
                  <a:srgbClr val="FF0000"/>
                </a:solidFill>
                <a:latin typeface="Roboto"/>
                <a:ea typeface="Roboto"/>
                <a:cs typeface="Roboto"/>
                <a:sym typeface="Roboto"/>
              </a:rPr>
              <a:t>has a couple of eggs</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4: A. Saturday</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“I'm happy, though, because it's to a place I really like. So, we're going to have the party </a:t>
            </a:r>
            <a:r>
              <a:rPr b="1" lang="en-US" sz="2500">
                <a:solidFill>
                  <a:srgbClr val="FF0000"/>
                </a:solidFill>
                <a:latin typeface="Roboto"/>
                <a:ea typeface="Roboto"/>
                <a:cs typeface="Roboto"/>
                <a:sym typeface="Roboto"/>
              </a:rPr>
              <a:t>on Saturday instead</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5: B. Glasses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“I had my keys and money, but </a:t>
            </a:r>
            <a:r>
              <a:rPr b="1" lang="en-US" sz="2500">
                <a:solidFill>
                  <a:srgbClr val="FF0000"/>
                </a:solidFill>
                <a:latin typeface="Roboto"/>
                <a:ea typeface="Roboto"/>
                <a:cs typeface="Roboto"/>
                <a:sym typeface="Roboto"/>
              </a:rPr>
              <a:t>my glasses weren't in my bag.</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6: B. Go swimming</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“I know you like to watch, but I get so bored. </a:t>
            </a:r>
            <a:r>
              <a:rPr b="1" lang="en-US" sz="2500">
                <a:solidFill>
                  <a:srgbClr val="FF0000"/>
                </a:solidFill>
                <a:latin typeface="Roboto"/>
                <a:ea typeface="Roboto"/>
                <a:cs typeface="Roboto"/>
                <a:sym typeface="Roboto"/>
              </a:rPr>
              <a:t>Let's go swimming instead</a:t>
            </a:r>
            <a:r>
              <a:rPr lang="en-US" sz="2500">
                <a:solidFill>
                  <a:srgbClr val="0A0A0A"/>
                </a:solidFill>
                <a:latin typeface="Roboto"/>
                <a:ea typeface="Roboto"/>
                <a:cs typeface="Roboto"/>
                <a:sym typeface="Roboto"/>
              </a:rPr>
              <a:t>. All right”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7: A. an old-fashion TV</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“So I don't need a flat screen either. Do you have any more </a:t>
            </a:r>
            <a:r>
              <a:rPr b="1" lang="en-US" sz="2500">
                <a:solidFill>
                  <a:srgbClr val="FF0000"/>
                </a:solidFill>
                <a:latin typeface="Roboto"/>
                <a:ea typeface="Roboto"/>
                <a:cs typeface="Roboto"/>
                <a:sym typeface="Roboto"/>
              </a:rPr>
              <a:t>old fashioned ones? Certainly</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rgbClr val="0A0A0A"/>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cxnSp>
        <p:nvCxnSpPr>
          <p:cNvPr id="737" name="Google Shape;737;p39"/>
          <p:cNvCxnSpPr/>
          <p:nvPr/>
        </p:nvCxnSpPr>
        <p:spPr>
          <a:xfrm flipH="1" rot="10800000">
            <a:off x="4572001" y="122057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738" name="Google Shape;738;p39"/>
          <p:cNvGrpSpPr/>
          <p:nvPr/>
        </p:nvGrpSpPr>
        <p:grpSpPr>
          <a:xfrm rot="10800000">
            <a:off x="15785084" y="-536938"/>
            <a:ext cx="7681773" cy="4260605"/>
            <a:chOff x="0" y="-38100"/>
            <a:chExt cx="406400" cy="225405"/>
          </a:xfrm>
        </p:grpSpPr>
        <p:sp>
          <p:nvSpPr>
            <p:cNvPr id="739" name="Google Shape;739;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40" name="Google Shape;740;p3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1" name="Google Shape;741;p3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742" name="Google Shape;742;p39"/>
          <p:cNvGrpSpPr/>
          <p:nvPr/>
        </p:nvGrpSpPr>
        <p:grpSpPr>
          <a:xfrm>
            <a:off x="-2718010" y="9274530"/>
            <a:ext cx="7950378" cy="1707223"/>
            <a:chOff x="0" y="-384760"/>
            <a:chExt cx="10600504" cy="2276297"/>
          </a:xfrm>
        </p:grpSpPr>
        <p:grpSp>
          <p:nvGrpSpPr>
            <p:cNvPr id="743" name="Google Shape;743;p39"/>
            <p:cNvGrpSpPr/>
            <p:nvPr/>
          </p:nvGrpSpPr>
          <p:grpSpPr>
            <a:xfrm>
              <a:off x="0" y="-384760"/>
              <a:ext cx="10600504" cy="2276297"/>
              <a:chOff x="0" y="-38100"/>
              <a:chExt cx="1049690" cy="225405"/>
            </a:xfrm>
          </p:grpSpPr>
          <p:sp>
            <p:nvSpPr>
              <p:cNvPr id="744" name="Google Shape;744;p3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45" name="Google Shape;745;p3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6" name="Google Shape;746;p3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7" name="Google Shape;747;p39"/>
          <p:cNvSpPr txBox="1"/>
          <p:nvPr/>
        </p:nvSpPr>
        <p:spPr>
          <a:xfrm>
            <a:off x="3345397" y="2971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748" name="Google Shape;748;p39"/>
          <p:cNvSpPr txBox="1"/>
          <p:nvPr/>
        </p:nvSpPr>
        <p:spPr>
          <a:xfrm>
            <a:off x="822600" y="1441650"/>
            <a:ext cx="16642800" cy="9135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8: A. doors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a:t>
            </a:r>
            <a:r>
              <a:rPr lang="en-US" sz="2500">
                <a:solidFill>
                  <a:srgbClr val="0A0A0A"/>
                </a:solidFill>
                <a:latin typeface="Roboto"/>
                <a:ea typeface="Roboto"/>
                <a:cs typeface="Roboto"/>
                <a:sym typeface="Roboto"/>
              </a:rPr>
              <a:t>The doors look older than the rest of the house, though. </a:t>
            </a:r>
            <a:r>
              <a:rPr b="1" lang="en-US" sz="2500">
                <a:solidFill>
                  <a:srgbClr val="FF0000"/>
                </a:solidFill>
                <a:latin typeface="Roboto"/>
                <a:ea typeface="Roboto"/>
                <a:cs typeface="Roboto"/>
                <a:sym typeface="Roboto"/>
              </a:rPr>
              <a:t>I'll need to change them</a:t>
            </a: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9: C. George</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a:t>
            </a:r>
            <a:r>
              <a:rPr lang="en-US" sz="2500">
                <a:solidFill>
                  <a:srgbClr val="0A0A0A"/>
                </a:solidFill>
                <a:latin typeface="Roboto"/>
                <a:ea typeface="Roboto"/>
                <a:cs typeface="Roboto"/>
                <a:sym typeface="Roboto"/>
              </a:rPr>
              <a:t>It's from Pete and Kitty and family</a:t>
            </a:r>
            <a:r>
              <a:rPr b="1" lang="en-US" sz="2500">
                <a:solidFill>
                  <a:srgbClr val="FF0000"/>
                </a:solidFill>
                <a:latin typeface="Roboto"/>
                <a:ea typeface="Roboto"/>
                <a:cs typeface="Roboto"/>
                <a:sym typeface="Roboto"/>
              </a:rPr>
              <a:t> for their old friend George. </a:t>
            </a:r>
            <a:r>
              <a:rPr lang="en-US" sz="2500">
                <a:solidFill>
                  <a:srgbClr val="0A0A0A"/>
                </a:solidFill>
                <a:latin typeface="Roboto"/>
                <a:ea typeface="Roboto"/>
                <a:cs typeface="Roboto"/>
                <a:sym typeface="Roboto"/>
              </a:rPr>
              <a:t>A very happy birthday to him.</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10: A. 2.30</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so </a:t>
            </a:r>
            <a:r>
              <a:rPr b="1" lang="en-US" sz="2500">
                <a:solidFill>
                  <a:srgbClr val="FF0000"/>
                </a:solidFill>
                <a:latin typeface="Roboto"/>
                <a:ea typeface="Roboto"/>
                <a:cs typeface="Roboto"/>
                <a:sym typeface="Roboto"/>
              </a:rPr>
              <a:t>he's picking you up at 2.30 now. </a:t>
            </a:r>
            <a:r>
              <a:rPr lang="en-US" sz="2500">
                <a:solidFill>
                  <a:srgbClr val="0A0A0A"/>
                </a:solidFill>
                <a:latin typeface="Roboto"/>
                <a:ea typeface="Roboto"/>
                <a:cs typeface="Roboto"/>
                <a:sym typeface="Roboto"/>
              </a:rPr>
              <a:t>The plane leaves at 5 o'clock. OK, that's great.</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11: C. long hours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It's just the </a:t>
            </a:r>
            <a:r>
              <a:rPr b="1" lang="en-US" sz="2500">
                <a:solidFill>
                  <a:srgbClr val="FF0000"/>
                </a:solidFill>
                <a:latin typeface="Roboto"/>
                <a:ea typeface="Roboto"/>
                <a:cs typeface="Roboto"/>
                <a:sym typeface="Roboto"/>
              </a:rPr>
              <a:t>long hours I don't like</a:t>
            </a:r>
            <a:r>
              <a:rPr lang="en-US" sz="2500">
                <a:solidFill>
                  <a:srgbClr val="0A0A0A"/>
                </a:solidFill>
                <a:latin typeface="Roboto"/>
                <a:ea typeface="Roboto"/>
                <a:cs typeface="Roboto"/>
                <a:sym typeface="Roboto"/>
              </a:rPr>
              <a:t>. I have to get up at six in the morning, and sometimes I don't finish till nine at night.</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12: A. Fridges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Come to the fourth floor to enjoy great savings on home appliances. </a:t>
            </a:r>
            <a:r>
              <a:rPr b="1" lang="en-US" sz="2500">
                <a:solidFill>
                  <a:srgbClr val="FF0000"/>
                </a:solidFill>
                <a:latin typeface="Roboto"/>
                <a:ea typeface="Roboto"/>
                <a:cs typeface="Roboto"/>
                <a:sym typeface="Roboto"/>
              </a:rPr>
              <a:t>Get up to 50% of fridges and freezers until Wednesday.</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13: A. deals</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If you are interested in getting t</a:t>
            </a:r>
            <a:r>
              <a:rPr b="1" lang="en-US" sz="2500">
                <a:solidFill>
                  <a:srgbClr val="FF0000"/>
                </a:solidFill>
                <a:latin typeface="Roboto"/>
                <a:ea typeface="Roboto"/>
                <a:cs typeface="Roboto"/>
                <a:sym typeface="Roboto"/>
              </a:rPr>
              <a:t>he best value for money,</a:t>
            </a:r>
            <a:r>
              <a:rPr lang="en-US" sz="2500">
                <a:solidFill>
                  <a:srgbClr val="0A0A0A"/>
                </a:solidFill>
                <a:latin typeface="Roboto"/>
                <a:ea typeface="Roboto"/>
                <a:cs typeface="Roboto"/>
                <a:sym typeface="Roboto"/>
              </a:rPr>
              <a:t> and who isn't, you've come to the right place</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rgbClr val="0A0A0A"/>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500"/>
                                        <p:tgtEl>
                                          <p:spTgt spid="7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cxnSp>
        <p:nvCxnSpPr>
          <p:cNvPr id="754" name="Google Shape;754;p40"/>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755" name="Google Shape;755;p4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56" name="Google Shape;756;p40"/>
          <p:cNvGrpSpPr/>
          <p:nvPr/>
        </p:nvGrpSpPr>
        <p:grpSpPr>
          <a:xfrm rot="10800000">
            <a:off x="15785084" y="-536938"/>
            <a:ext cx="7681773" cy="4260605"/>
            <a:chOff x="0" y="-38100"/>
            <a:chExt cx="406400" cy="225405"/>
          </a:xfrm>
        </p:grpSpPr>
        <p:sp>
          <p:nvSpPr>
            <p:cNvPr id="757" name="Google Shape;757;p4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58" name="Google Shape;758;p4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9" name="Google Shape;759;p4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60" name="Google Shape;760;p40"/>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761" name="Google Shape;761;p40"/>
          <p:cNvGrpSpPr/>
          <p:nvPr/>
        </p:nvGrpSpPr>
        <p:grpSpPr>
          <a:xfrm>
            <a:off x="-2718010" y="9274530"/>
            <a:ext cx="7950378" cy="1707223"/>
            <a:chOff x="0" y="-384760"/>
            <a:chExt cx="10600504" cy="2276297"/>
          </a:xfrm>
        </p:grpSpPr>
        <p:grpSp>
          <p:nvGrpSpPr>
            <p:cNvPr id="762" name="Google Shape;762;p40"/>
            <p:cNvGrpSpPr/>
            <p:nvPr/>
          </p:nvGrpSpPr>
          <p:grpSpPr>
            <a:xfrm>
              <a:off x="0" y="-384760"/>
              <a:ext cx="10600504" cy="2276297"/>
              <a:chOff x="0" y="-38100"/>
              <a:chExt cx="1049690" cy="225405"/>
            </a:xfrm>
          </p:grpSpPr>
          <p:sp>
            <p:nvSpPr>
              <p:cNvPr id="763" name="Google Shape;763;p4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64" name="Google Shape;764;p4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5" name="Google Shape;765;p4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6" name="Google Shape;766;p40"/>
          <p:cNvSpPr txBox="1"/>
          <p:nvPr/>
        </p:nvSpPr>
        <p:spPr>
          <a:xfrm>
            <a:off x="6671038" y="2132648"/>
            <a:ext cx="10990800" cy="38172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Colleague</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Đồng nghiệp</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Difficult</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Khó khăn</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Reduction</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Giảm bớt</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Announcement</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Thông báo</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cxnSp>
        <p:nvCxnSpPr>
          <p:cNvPr id="771" name="Google Shape;771;p41"/>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772" name="Google Shape;772;p4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773" name="Google Shape;773;p41"/>
          <p:cNvGrpSpPr/>
          <p:nvPr/>
        </p:nvGrpSpPr>
        <p:grpSpPr>
          <a:xfrm rot="10800000">
            <a:off x="15044552" y="-741521"/>
            <a:ext cx="7681766" cy="4260610"/>
            <a:chOff x="0" y="-38100"/>
            <a:chExt cx="406400" cy="225405"/>
          </a:xfrm>
        </p:grpSpPr>
        <p:sp>
          <p:nvSpPr>
            <p:cNvPr id="774" name="Google Shape;774;p4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75" name="Google Shape;775;p4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76" name="Google Shape;776;p4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77" name="Google Shape;777;p4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78" name="Google Shape;778;p41"/>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779" name="Google Shape;779;p41"/>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780" name="Google Shape;780;p41"/>
          <p:cNvGrpSpPr/>
          <p:nvPr/>
        </p:nvGrpSpPr>
        <p:grpSpPr>
          <a:xfrm>
            <a:off x="-2718010" y="9274528"/>
            <a:ext cx="7950400" cy="1707231"/>
            <a:chOff x="0" y="-384762"/>
            <a:chExt cx="10600533" cy="2276307"/>
          </a:xfrm>
        </p:grpSpPr>
        <p:grpSp>
          <p:nvGrpSpPr>
            <p:cNvPr id="781" name="Google Shape;781;p41"/>
            <p:cNvGrpSpPr/>
            <p:nvPr/>
          </p:nvGrpSpPr>
          <p:grpSpPr>
            <a:xfrm>
              <a:off x="0" y="-384762"/>
              <a:ext cx="10600533" cy="2276307"/>
              <a:chOff x="0" y="-38100"/>
              <a:chExt cx="1049690" cy="225405"/>
            </a:xfrm>
          </p:grpSpPr>
          <p:sp>
            <p:nvSpPr>
              <p:cNvPr id="782" name="Google Shape;782;p4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83" name="Google Shape;783;p4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4" name="Google Shape;784;p4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785" name="Google Shape;785;p41"/>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79"/>
                                        </p:tgtEl>
                                        <p:attrNameLst>
                                          <p:attrName>style.visibility</p:attrName>
                                        </p:attrNameLst>
                                      </p:cBhvr>
                                      <p:to>
                                        <p:strVal val="visible"/>
                                      </p:to>
                                    </p:set>
                                    <p:anim calcmode="lin" valueType="num">
                                      <p:cBhvr additive="base">
                                        <p:cTn dur="500"/>
                                        <p:tgtEl>
                                          <p:spTgt spid="779"/>
                                        </p:tgtEl>
                                        <p:attrNameLst>
                                          <p:attrName>ppt_w</p:attrName>
                                        </p:attrNameLst>
                                      </p:cBhvr>
                                      <p:tavLst>
                                        <p:tav fmla="" tm="0">
                                          <p:val>
                                            <p:strVal val="0"/>
                                          </p:val>
                                        </p:tav>
                                        <p:tav fmla="" tm="100000">
                                          <p:val>
                                            <p:strVal val="#ppt_w"/>
                                          </p:val>
                                        </p:tav>
                                      </p:tavLst>
                                    </p:anim>
                                    <p:anim calcmode="lin" valueType="num">
                                      <p:cBhvr additive="base">
                                        <p:cTn dur="500"/>
                                        <p:tgtEl>
                                          <p:spTgt spid="77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78"/>
                                        </p:tgtEl>
                                        <p:attrNameLst>
                                          <p:attrName>style.visibility</p:attrName>
                                        </p:attrNameLst>
                                      </p:cBhvr>
                                      <p:to>
                                        <p:strVal val="visible"/>
                                      </p:to>
                                    </p:set>
                                    <p:anim calcmode="lin" valueType="num">
                                      <p:cBhvr additive="base">
                                        <p:cTn dur="500"/>
                                        <p:tgtEl>
                                          <p:spTgt spid="778"/>
                                        </p:tgtEl>
                                        <p:attrNameLst>
                                          <p:attrName>ppt_w</p:attrName>
                                        </p:attrNameLst>
                                      </p:cBhvr>
                                      <p:tavLst>
                                        <p:tav fmla="" tm="0">
                                          <p:val>
                                            <p:strVal val="0"/>
                                          </p:val>
                                        </p:tav>
                                        <p:tav fmla="" tm="100000">
                                          <p:val>
                                            <p:strVal val="#ppt_w"/>
                                          </p:val>
                                        </p:tav>
                                      </p:tavLst>
                                    </p:anim>
                                    <p:anim calcmode="lin" valueType="num">
                                      <p:cBhvr additive="base">
                                        <p:cTn dur="500"/>
                                        <p:tgtEl>
                                          <p:spTgt spid="77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cxnSp>
        <p:nvCxnSpPr>
          <p:cNvPr id="791" name="Google Shape;791;p42"/>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792" name="Google Shape;792;p4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793" name="Google Shape;793;p42"/>
          <p:cNvGrpSpPr/>
          <p:nvPr/>
        </p:nvGrpSpPr>
        <p:grpSpPr>
          <a:xfrm rot="10800000">
            <a:off x="15044552" y="-741521"/>
            <a:ext cx="7681766" cy="4260610"/>
            <a:chOff x="0" y="-38100"/>
            <a:chExt cx="406400" cy="225405"/>
          </a:xfrm>
        </p:grpSpPr>
        <p:sp>
          <p:nvSpPr>
            <p:cNvPr id="794" name="Google Shape;794;p4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95" name="Google Shape;795;p4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96" name="Google Shape;796;p4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97" name="Google Shape;797;p42"/>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798" name="Google Shape;798;p42"/>
          <p:cNvGrpSpPr/>
          <p:nvPr/>
        </p:nvGrpSpPr>
        <p:grpSpPr>
          <a:xfrm rot="10800000">
            <a:off x="15828686" y="-13843"/>
            <a:ext cx="7681766" cy="4260610"/>
            <a:chOff x="0" y="-38100"/>
            <a:chExt cx="406400" cy="225405"/>
          </a:xfrm>
        </p:grpSpPr>
        <p:sp>
          <p:nvSpPr>
            <p:cNvPr id="799" name="Google Shape;799;p4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800" name="Google Shape;800;p4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01" name="Google Shape;801;p42"/>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802" name="Google Shape;802;p42"/>
          <p:cNvGrpSpPr/>
          <p:nvPr/>
        </p:nvGrpSpPr>
        <p:grpSpPr>
          <a:xfrm>
            <a:off x="5693855" y="6543482"/>
            <a:ext cx="11567835" cy="1261722"/>
            <a:chOff x="5693855" y="7590172"/>
            <a:chExt cx="11567835" cy="1261722"/>
          </a:xfrm>
        </p:grpSpPr>
        <p:grpSp>
          <p:nvGrpSpPr>
            <p:cNvPr id="803" name="Google Shape;803;p42"/>
            <p:cNvGrpSpPr/>
            <p:nvPr/>
          </p:nvGrpSpPr>
          <p:grpSpPr>
            <a:xfrm>
              <a:off x="5693855" y="7590172"/>
              <a:ext cx="11567834" cy="1261722"/>
              <a:chOff x="0" y="-38100"/>
              <a:chExt cx="3046672" cy="332305"/>
            </a:xfrm>
          </p:grpSpPr>
          <p:sp>
            <p:nvSpPr>
              <p:cNvPr id="804" name="Google Shape;804;p42"/>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805" name="Google Shape;805;p42"/>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06" name="Google Shape;806;p42"/>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807" name="Google Shape;807;p42"/>
          <p:cNvGrpSpPr/>
          <p:nvPr/>
        </p:nvGrpSpPr>
        <p:grpSpPr>
          <a:xfrm>
            <a:off x="-2718010" y="9274528"/>
            <a:ext cx="7950400" cy="1707231"/>
            <a:chOff x="0" y="-384762"/>
            <a:chExt cx="10600533" cy="2276307"/>
          </a:xfrm>
        </p:grpSpPr>
        <p:grpSp>
          <p:nvGrpSpPr>
            <p:cNvPr id="808" name="Google Shape;808;p42"/>
            <p:cNvGrpSpPr/>
            <p:nvPr/>
          </p:nvGrpSpPr>
          <p:grpSpPr>
            <a:xfrm>
              <a:off x="0" y="-384762"/>
              <a:ext cx="10600533" cy="2276307"/>
              <a:chOff x="0" y="-38100"/>
              <a:chExt cx="1049690" cy="225405"/>
            </a:xfrm>
          </p:grpSpPr>
          <p:sp>
            <p:nvSpPr>
              <p:cNvPr id="809" name="Google Shape;809;p4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810" name="Google Shape;810;p4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11" name="Google Shape;811;p4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801"/>
                                        </p:tgtEl>
                                        <p:attrNameLst>
                                          <p:attrName>style.visibility</p:attrName>
                                        </p:attrNameLst>
                                      </p:cBhvr>
                                      <p:to>
                                        <p:strVal val="visible"/>
                                      </p:to>
                                    </p:set>
                                    <p:anim calcmode="lin" valueType="num">
                                      <p:cBhvr additive="base">
                                        <p:cTn dur="500"/>
                                        <p:tgtEl>
                                          <p:spTgt spid="801"/>
                                        </p:tgtEl>
                                        <p:attrNameLst>
                                          <p:attrName>ppt_w</p:attrName>
                                        </p:attrNameLst>
                                      </p:cBhvr>
                                      <p:tavLst>
                                        <p:tav fmla="" tm="0">
                                          <p:val>
                                            <p:strVal val="0"/>
                                          </p:val>
                                        </p:tav>
                                        <p:tav fmla="" tm="100000">
                                          <p:val>
                                            <p:strVal val="#ppt_w"/>
                                          </p:val>
                                        </p:tav>
                                      </p:tavLst>
                                    </p:anim>
                                    <p:anim calcmode="lin" valueType="num">
                                      <p:cBhvr additive="base">
                                        <p:cTn dur="500"/>
                                        <p:tgtEl>
                                          <p:spTgt spid="80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