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10287000" cx="18288000"/>
  <p:notesSz cx="6858000" cy="9144000"/>
  <p:embeddedFontLst>
    <p:embeddedFont>
      <p:font typeface="Roboto"/>
      <p:regular r:id="rId26"/>
      <p:bold r:id="rId27"/>
      <p:italic r:id="rId28"/>
      <p:boldItalic r:id="rId29"/>
    </p:embeddedFont>
    <p:embeddedFont>
      <p:font typeface="Montserrat"/>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slide" Target="slides/slide20.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fntdata"/><Relationship Id="rId30" Type="http://schemas.openxmlformats.org/officeDocument/2006/relationships/font" Target="fonts/Montserrat-regular.fntdata"/><Relationship Id="rId11" Type="http://schemas.openxmlformats.org/officeDocument/2006/relationships/slide" Target="slides/slide6.xml"/><Relationship Id="rId33" Type="http://schemas.openxmlformats.org/officeDocument/2006/relationships/font" Target="fonts/Montserrat-boldItalic.fntdata"/><Relationship Id="rId10" Type="http://schemas.openxmlformats.org/officeDocument/2006/relationships/slide" Target="slides/slide5.xml"/><Relationship Id="rId32" Type="http://schemas.openxmlformats.org/officeDocument/2006/relationships/font" Target="fonts/Montserrat-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Giữ bình tĩnh và tự tin:</a:t>
            </a:r>
            <a:r>
              <a:rPr lang="en-US"/>
              <a:t> Điều quan trọng nhất là bạn phải giữ bình tĩnh và tự tin khi làm bài thi. Hãy hít thở sâu và tập trung vào việc trả lời các câu hỏi.</a:t>
            </a:r>
            <a:endParaRPr/>
          </a:p>
          <a:p>
            <a:pPr indent="0" lvl="0" marL="0" rtl="0" algn="l">
              <a:spcBef>
                <a:spcPts val="0"/>
              </a:spcBef>
              <a:spcAft>
                <a:spcPts val="0"/>
              </a:spcAft>
              <a:buNone/>
            </a:pPr>
            <a:r>
              <a:rPr b="1" lang="en-US"/>
              <a:t>Nghe kỹ hướng dẫn:</a:t>
            </a:r>
            <a:r>
              <a:rPr lang="en-US"/>
              <a:t> Hãy nghe kỹ hướng dẫn trước khi bắt đầu trả lời mỗi câu hỏi. Hãy chắc chắn rằng bạn hiểu rõ câu hỏi trước khi trả lời.</a:t>
            </a:r>
            <a:endParaRPr/>
          </a:p>
          <a:p>
            <a:pPr indent="0" lvl="0" marL="0" rtl="0" algn="l">
              <a:spcBef>
                <a:spcPts val="0"/>
              </a:spcBef>
              <a:spcAft>
                <a:spcPts val="0"/>
              </a:spcAft>
              <a:buNone/>
            </a:pPr>
            <a:r>
              <a:rPr b="1" lang="en-US"/>
              <a:t>Trả lời câu hỏi một cách ngắn gọn và súc tích:</a:t>
            </a:r>
            <a:r>
              <a:rPr lang="en-US"/>
              <a:t> Bạn chỉ có 30 giây để trả lời mỗi câu hỏi, vì vậy hãy trả lời một cách ngắn gọn và súc tích. Tránh đi lạc chủ đề hoặc đưa ra thông tin không liên quan.</a:t>
            </a:r>
            <a:endParaRPr/>
          </a:p>
          <a:p>
            <a:pPr indent="0" lvl="0" marL="0" rtl="0" algn="l">
              <a:spcBef>
                <a:spcPts val="0"/>
              </a:spcBef>
              <a:spcAft>
                <a:spcPts val="0"/>
              </a:spcAft>
              <a:buNone/>
            </a:pPr>
            <a:r>
              <a:rPr b="1" lang="en-US"/>
              <a:t>Nói rõ ràng và dễ hiểu:</a:t>
            </a:r>
            <a:r>
              <a:rPr lang="en-US"/>
              <a:t> Hãy nói rõ ràng và dễ hiểu để giám khảo có thể nghe và hiểu rõ câu trả lời của bạn.</a:t>
            </a:r>
            <a:endParaRPr/>
          </a:p>
          <a:p>
            <a:pPr indent="0" lvl="0" marL="0" rtl="0" algn="l">
              <a:spcBef>
                <a:spcPts val="0"/>
              </a:spcBef>
              <a:spcAft>
                <a:spcPts val="0"/>
              </a:spcAft>
              <a:buNone/>
            </a:pPr>
            <a:r>
              <a:rPr b="1" lang="en-US"/>
              <a:t>Sử dụng ngữ điệu và cách nhấn phù hợp:</a:t>
            </a:r>
            <a:r>
              <a:rPr lang="en-US"/>
              <a:t> Hãy sử dụng ngữ điệu và cách nhấn phù hợp để câu trả lời của bạn thêm sinh động và tự nhiên.</a:t>
            </a:r>
            <a:endParaRPr/>
          </a:p>
        </p:txBody>
      </p:sp>
      <p:sp>
        <p:nvSpPr>
          <p:cNvPr id="246" name="Google Shape;2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e0a1aa6bde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g2e0a1aa6bde_0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g2e0a1aa6bde_0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e14c94601e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g2e14c94601e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e14c94601e_0_2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g2e14c94601e_0_2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None/>
            </a:pPr>
            <a:r>
              <a:rPr b="0" i="0" lang="en-US">
                <a:solidFill>
                  <a:srgbClr val="01051C"/>
                </a:solidFill>
                <a:latin typeface="Cambria"/>
                <a:ea typeface="Cambria"/>
                <a:cs typeface="Cambria"/>
                <a:sym typeface="Cambria"/>
              </a:rPr>
              <a:t>Bước đầu tiên, thí sinh cần đọc lướt để hiểu nhanh ý chính đồng thời gạch chân từ khóa trong các câu hỏi và phương án. Nếu như từ khóa trong câu hỏi là “vũ khí” giúp thí sinh định vị vùng thông tin chứa đáp án, thì từ khóa trong các phương án sẽ giúp thí sinh nghe hiểu, lọc đáp án và thông tin gây nhiễu trong quá trình nghe</a:t>
            </a:r>
            <a:endParaRPr/>
          </a:p>
          <a:p>
            <a:pPr indent="0" lvl="0" marL="0" rtl="0" algn="just">
              <a:spcBef>
                <a:spcPts val="0"/>
              </a:spcBef>
              <a:spcAft>
                <a:spcPts val="0"/>
              </a:spcAft>
              <a:buNone/>
            </a:pPr>
            <a:r>
              <a:rPr b="0" i="0" lang="en-US">
                <a:solidFill>
                  <a:srgbClr val="01051C"/>
                </a:solidFill>
                <a:latin typeface="Cambria"/>
                <a:ea typeface="Cambria"/>
                <a:cs typeface="Cambria"/>
                <a:sym typeface="Cambria"/>
              </a:rPr>
              <a:t>***Lưu ý</a:t>
            </a:r>
            <a:r>
              <a:rPr b="0" i="1" lang="en-US">
                <a:solidFill>
                  <a:srgbClr val="01051C"/>
                </a:solidFill>
                <a:latin typeface="Cambria"/>
                <a:ea typeface="Cambria"/>
                <a:cs typeface="Cambria"/>
                <a:sym typeface="Cambria"/>
              </a:rPr>
              <a:t>: Thí sinh hoàn toàn có thể tận dụng thời gian nghe đoạn hướng dẫn để làm bước này.</a:t>
            </a:r>
            <a:endParaRPr b="0" i="0">
              <a:solidFill>
                <a:srgbClr val="01051C"/>
              </a:solidFill>
              <a:latin typeface="Cambria"/>
              <a:ea typeface="Cambria"/>
              <a:cs typeface="Cambria"/>
              <a:sym typeface="Cambria"/>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67" name="Google Shape;367;g2e14c94601e_0_2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e14c94601e_0_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g2e14c94601e_0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76200" lvl="0" marL="0" rtl="0" algn="just">
              <a:spcBef>
                <a:spcPts val="0"/>
              </a:spcBef>
              <a:spcAft>
                <a:spcPts val="0"/>
              </a:spcAft>
              <a:buClr>
                <a:srgbClr val="01051C"/>
              </a:buClr>
              <a:buSzPts val="1200"/>
              <a:buFont typeface="Calibri"/>
              <a:buAutoNum type="arabicPeriod"/>
            </a:pPr>
            <a:r>
              <a:rPr b="0" i="0" lang="en-US">
                <a:solidFill>
                  <a:srgbClr val="01051C"/>
                </a:solidFill>
                <a:latin typeface="Cambria"/>
                <a:ea typeface="Cambria"/>
                <a:cs typeface="Cambria"/>
                <a:sym typeface="Cambria"/>
              </a:rPr>
              <a:t>Củng cố mục đích nghe</a:t>
            </a:r>
            <a:endParaRPr/>
          </a:p>
          <a:p>
            <a:pPr indent="0" lvl="0" marL="0" rtl="0" algn="just">
              <a:spcBef>
                <a:spcPts val="0"/>
              </a:spcBef>
              <a:spcAft>
                <a:spcPts val="0"/>
              </a:spcAft>
              <a:buNone/>
            </a:pPr>
            <a:r>
              <a:rPr b="0" i="0" lang="en-US">
                <a:solidFill>
                  <a:srgbClr val="01051C"/>
                </a:solidFill>
                <a:latin typeface="Cambria"/>
                <a:ea typeface="Cambria"/>
                <a:cs typeface="Cambria"/>
                <a:sym typeface="Cambria"/>
              </a:rPr>
              <a:t>Khi đoạn băng đưa hiệu lệnh bắt đầu câu hỏi 1, thí sinh nhanh chóng đọc qua lại những từ khóa đã gạch chân trong câu hỏi 1 và các phương án để tự củng cố lại mục đích nghe cho câu hỏi này. Việc làm này sẽ giúp thí sinh chỉ tập trung nghe và phân tích thông tin trong khi làm bài, tránh tình trạng vừa nghe vừa đọc hiểu đề, dẫn đến mất tập trung.</a:t>
            </a:r>
            <a:endParaRPr/>
          </a:p>
          <a:p>
            <a:pPr indent="-76200" lvl="0" marL="0" rtl="0" algn="just">
              <a:spcBef>
                <a:spcPts val="0"/>
              </a:spcBef>
              <a:spcAft>
                <a:spcPts val="0"/>
              </a:spcAft>
              <a:buClr>
                <a:srgbClr val="01051C"/>
              </a:buClr>
              <a:buSzPts val="1200"/>
              <a:buFont typeface="Calibri"/>
              <a:buAutoNum type="arabicPeriod" startAt="2"/>
            </a:pPr>
            <a:r>
              <a:rPr b="0" i="0" lang="en-US">
                <a:solidFill>
                  <a:srgbClr val="01051C"/>
                </a:solidFill>
                <a:latin typeface="Cambria"/>
                <a:ea typeface="Cambria"/>
                <a:cs typeface="Cambria"/>
                <a:sym typeface="Cambria"/>
              </a:rPr>
              <a:t>Xác định vùng thông tin chứa đáp án</a:t>
            </a:r>
            <a:endParaRPr/>
          </a:p>
          <a:p>
            <a:pPr indent="0" lvl="0" marL="0" rtl="0" algn="just">
              <a:spcBef>
                <a:spcPts val="0"/>
              </a:spcBef>
              <a:spcAft>
                <a:spcPts val="0"/>
              </a:spcAft>
              <a:buNone/>
            </a:pPr>
            <a:r>
              <a:rPr b="0" i="0" lang="en-US">
                <a:solidFill>
                  <a:srgbClr val="01051C"/>
                </a:solidFill>
                <a:latin typeface="Cambria"/>
                <a:ea typeface="Cambria"/>
                <a:cs typeface="Cambria"/>
                <a:sym typeface="Cambria"/>
              </a:rPr>
              <a:t>Trong khi nghe VSTEP Listening Part 1, thí sinh xác định vùng thông tin chứa đáp án dựa vào từ khóa đã gạch chân trong câu hỏi.</a:t>
            </a:r>
            <a:endParaRPr/>
          </a:p>
          <a:p>
            <a:pPr indent="-76200" lvl="0" marL="0" rtl="0" algn="just">
              <a:spcBef>
                <a:spcPts val="0"/>
              </a:spcBef>
              <a:spcAft>
                <a:spcPts val="0"/>
              </a:spcAft>
              <a:buClr>
                <a:srgbClr val="01051C"/>
              </a:buClr>
              <a:buSzPts val="1200"/>
              <a:buFont typeface="Calibri"/>
              <a:buAutoNum type="arabicPeriod" startAt="3"/>
            </a:pPr>
            <a:r>
              <a:rPr b="0" i="0" lang="en-US">
                <a:solidFill>
                  <a:srgbClr val="01051C"/>
                </a:solidFill>
                <a:latin typeface="Cambria"/>
                <a:ea typeface="Cambria"/>
                <a:cs typeface="Cambria"/>
                <a:sym typeface="Cambria"/>
              </a:rPr>
              <a:t>Nhận diện yếu tố gây nhiễu</a:t>
            </a:r>
            <a:endParaRPr/>
          </a:p>
          <a:p>
            <a:pPr indent="0" lvl="0" marL="0" rtl="0" algn="just">
              <a:spcBef>
                <a:spcPts val="0"/>
              </a:spcBef>
              <a:spcAft>
                <a:spcPts val="0"/>
              </a:spcAft>
              <a:buNone/>
            </a:pPr>
            <a:r>
              <a:rPr b="0" i="0" lang="en-US">
                <a:solidFill>
                  <a:srgbClr val="01051C"/>
                </a:solidFill>
                <a:latin typeface="Cambria"/>
                <a:ea typeface="Cambria"/>
                <a:cs typeface="Cambria"/>
                <a:sym typeface="Cambria"/>
              </a:rPr>
              <a:t>Khi làm phần này, cả 4 phương án thường sẽ đều được nhắc đến trong đoạn băng, vì vậy, thí sinh cần xác định cả những lý do khiến phương án sai.</a:t>
            </a:r>
            <a:endParaRPr/>
          </a:p>
          <a:p>
            <a:pPr indent="-76200" lvl="0" marL="0" rtl="0" algn="just">
              <a:spcBef>
                <a:spcPts val="0"/>
              </a:spcBef>
              <a:spcAft>
                <a:spcPts val="0"/>
              </a:spcAft>
              <a:buClr>
                <a:srgbClr val="01051C"/>
              </a:buClr>
              <a:buSzPts val="1200"/>
              <a:buFont typeface="Calibri"/>
              <a:buAutoNum type="arabicPeriod" startAt="4"/>
            </a:pPr>
            <a:r>
              <a:rPr b="0" i="0" lang="en-US">
                <a:solidFill>
                  <a:srgbClr val="01051C"/>
                </a:solidFill>
                <a:latin typeface="Cambria"/>
                <a:ea typeface="Cambria"/>
                <a:cs typeface="Cambria"/>
                <a:sym typeface="Cambria"/>
              </a:rPr>
              <a:t>Ghi chú thông tin với những câu chưa tìm được đáp án</a:t>
            </a:r>
            <a:endParaRPr/>
          </a:p>
          <a:p>
            <a:pPr indent="0" lvl="0" marL="0" rtl="0" algn="just">
              <a:spcBef>
                <a:spcPts val="0"/>
              </a:spcBef>
              <a:spcAft>
                <a:spcPts val="0"/>
              </a:spcAft>
              <a:buNone/>
            </a:pPr>
            <a:r>
              <a:rPr b="0" i="0" lang="en-US">
                <a:solidFill>
                  <a:srgbClr val="01051C"/>
                </a:solidFill>
                <a:latin typeface="Cambria"/>
                <a:ea typeface="Cambria"/>
                <a:cs typeface="Cambria"/>
                <a:sym typeface="Cambria"/>
              </a:rPr>
              <a:t>Đối với những câu hỏi chưa nghe được đáp án, thí sinh có thể ghi chú lại các thông tin nghe được để đối chiếu</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solidFill>
                <a:srgbClr val="000000"/>
              </a:solidFill>
              <a:latin typeface="Calibri"/>
              <a:ea typeface="Calibri"/>
              <a:cs typeface="Calibri"/>
              <a:sym typeface="Calibri"/>
            </a:endParaRPr>
          </a:p>
          <a:p>
            <a:pPr indent="0" lvl="0" marL="0" rtl="0" algn="l">
              <a:spcBef>
                <a:spcPts val="0"/>
              </a:spcBef>
              <a:spcAft>
                <a:spcPts val="0"/>
              </a:spcAft>
              <a:buNone/>
            </a:pPr>
            <a:r>
              <a:t/>
            </a:r>
            <a:endParaRPr/>
          </a:p>
        </p:txBody>
      </p:sp>
      <p:sp>
        <p:nvSpPr>
          <p:cNvPr id="391" name="Google Shape;391;g2e14c94601e_0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2e14c94601e_0_3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g2e14c94601e_0_3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1051C"/>
              </a:buClr>
              <a:buSzPts val="1200"/>
              <a:buFont typeface="Cambria"/>
              <a:buNone/>
            </a:pPr>
            <a:r>
              <a:rPr b="0" i="0" lang="en-US">
                <a:solidFill>
                  <a:srgbClr val="01051C"/>
                </a:solidFill>
                <a:latin typeface="Cambria"/>
                <a:ea typeface="Cambria"/>
                <a:cs typeface="Cambria"/>
                <a:sym typeface="Cambria"/>
              </a:rPr>
              <a:t>Tại bước này, thí sinh kiểm tra lại các đáp án mình đã chọn. Với những câu chưa có đáp án, kiểm tra lại phần ghi chú và chọn phương án phù hợp nhất</a:t>
            </a:r>
            <a:endParaRPr/>
          </a:p>
          <a:p>
            <a:pPr indent="0" lvl="0" marL="0" rtl="0" algn="l">
              <a:spcBef>
                <a:spcPts val="0"/>
              </a:spcBef>
              <a:spcAft>
                <a:spcPts val="0"/>
              </a:spcAft>
              <a:buNone/>
            </a:pPr>
            <a:r>
              <a:t/>
            </a:r>
            <a:endParaRPr/>
          </a:p>
        </p:txBody>
      </p:sp>
      <p:sp>
        <p:nvSpPr>
          <p:cNvPr id="426" name="Google Shape;426;g2e14c94601e_0_3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2e16073c5a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g2e16073c5a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g2e16073c5af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2e14c94601e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g2e14c94601e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g2e14c94601e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2e0af1eb685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g2e0af1eb685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g2e0af1eb685_0_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e0af1eb685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g2e0af1eb685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g2e0af1eb685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6" name="Google Shape;54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11.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hyperlink" Target="http://drive.google.com/file/d/1MFpoMWdJjZHYAk6_LQYgXhqqXns2S4sy/view" TargetMode="External"/><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hyperlink" Target="http://drive.google.com/file/d/1MFpoMWdJjZHYAk6_LQYgXhqqXns2S4sy/view" TargetMode="External"/><Relationship Id="rId5"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87" name="Shape 87"/>
        <p:cNvGrpSpPr/>
        <p:nvPr/>
      </p:nvGrpSpPr>
      <p:grpSpPr>
        <a:xfrm>
          <a:off x="0" y="0"/>
          <a:ext cx="0" cy="0"/>
          <a:chOff x="0" y="0"/>
          <a:chExt cx="0" cy="0"/>
        </a:xfrm>
      </p:grpSpPr>
      <p:sp>
        <p:nvSpPr>
          <p:cNvPr id="88" name="Google Shape;88;p13"/>
          <p:cNvSpPr txBox="1"/>
          <p:nvPr/>
        </p:nvSpPr>
        <p:spPr>
          <a:xfrm>
            <a:off x="4788018" y="1722907"/>
            <a:ext cx="13410874" cy="1496479"/>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0" i="0" lang="en-US" sz="10416" u="none" cap="none" strike="noStrike">
                <a:solidFill>
                  <a:srgbClr val="FFFFFF"/>
                </a:solidFill>
                <a:latin typeface="Arial"/>
                <a:ea typeface="Arial"/>
                <a:cs typeface="Arial"/>
                <a:sym typeface="Arial"/>
              </a:rPr>
              <a:t>APTIS</a:t>
            </a:r>
            <a:endParaRPr/>
          </a:p>
        </p:txBody>
      </p:sp>
      <p:grpSp>
        <p:nvGrpSpPr>
          <p:cNvPr id="89" name="Google Shape;89;p13"/>
          <p:cNvGrpSpPr/>
          <p:nvPr/>
        </p:nvGrpSpPr>
        <p:grpSpPr>
          <a:xfrm>
            <a:off x="7338936" y="4396612"/>
            <a:ext cx="8593708" cy="2222589"/>
            <a:chOff x="0" y="-192881"/>
            <a:chExt cx="11458277" cy="2963451"/>
          </a:xfrm>
        </p:grpSpPr>
        <p:grpSp>
          <p:nvGrpSpPr>
            <p:cNvPr id="90" name="Google Shape;90;p13"/>
            <p:cNvGrpSpPr/>
            <p:nvPr/>
          </p:nvGrpSpPr>
          <p:grpSpPr>
            <a:xfrm>
              <a:off x="0" y="-192881"/>
              <a:ext cx="11458277" cy="2963451"/>
              <a:chOff x="0" y="-38100"/>
              <a:chExt cx="2263363" cy="585373"/>
            </a:xfrm>
          </p:grpSpPr>
          <p:sp>
            <p:nvSpPr>
              <p:cNvPr id="91" name="Google Shape;91;p13"/>
              <p:cNvSpPr/>
              <p:nvPr/>
            </p:nvSpPr>
            <p:spPr>
              <a:xfrm>
                <a:off x="0" y="0"/>
                <a:ext cx="2263363" cy="547273"/>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txBox="1"/>
              <p:nvPr/>
            </p:nvSpPr>
            <p:spPr>
              <a:xfrm>
                <a:off x="0" y="-38100"/>
                <a:ext cx="2263363" cy="58537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3" name="Google Shape;93;p13"/>
            <p:cNvSpPr txBox="1"/>
            <p:nvPr/>
          </p:nvSpPr>
          <p:spPr>
            <a:xfrm>
              <a:off x="793233" y="91935"/>
              <a:ext cx="9871800" cy="2557200"/>
            </a:xfrm>
            <a:prstGeom prst="rect">
              <a:avLst/>
            </a:prstGeom>
            <a:noFill/>
            <a:ln>
              <a:noFill/>
            </a:ln>
          </p:spPr>
          <p:txBody>
            <a:bodyPr anchorCtr="0" anchor="t" bIns="0" lIns="0" spcFirstLastPara="1" rIns="0" wrap="square" tIns="0">
              <a:spAutoFit/>
            </a:bodyPr>
            <a:lstStyle/>
            <a:p>
              <a:pPr indent="0" lvl="0" marL="0" marR="0" rtl="0" algn="ctr">
                <a:lnSpc>
                  <a:spcPct val="112006"/>
                </a:lnSpc>
                <a:spcBef>
                  <a:spcPts val="0"/>
                </a:spcBef>
                <a:spcAft>
                  <a:spcPts val="0"/>
                </a:spcAft>
                <a:buNone/>
              </a:pPr>
              <a:r>
                <a:rPr lang="en-US" sz="12460">
                  <a:solidFill>
                    <a:srgbClr val="018345"/>
                  </a:solidFill>
                </a:rPr>
                <a:t>Listening</a:t>
              </a:r>
              <a:endParaRPr/>
            </a:p>
          </p:txBody>
        </p:sp>
      </p:grpSp>
      <p:cxnSp>
        <p:nvCxnSpPr>
          <p:cNvPr id="94" name="Google Shape;94;p13"/>
          <p:cNvCxnSpPr/>
          <p:nvPr/>
        </p:nvCxnSpPr>
        <p:spPr>
          <a:xfrm>
            <a:off x="5559805" y="3724211"/>
            <a:ext cx="11699495"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nvSpPr>
        <p:spPr>
          <a:xfrm>
            <a:off x="4867241" y="698293"/>
            <a:ext cx="13215313" cy="1473407"/>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None/>
            </a:pPr>
            <a:r>
              <a:rPr b="0" i="0" lang="en-US" sz="10264" u="none" cap="none" strike="noStrike">
                <a:solidFill>
                  <a:srgbClr val="018345"/>
                </a:solidFill>
                <a:latin typeface="Arial"/>
                <a:ea typeface="Arial"/>
                <a:cs typeface="Arial"/>
                <a:sym typeface="Arial"/>
              </a:rPr>
              <a:t>Table of contents</a:t>
            </a:r>
            <a:endParaRPr/>
          </a:p>
        </p:txBody>
      </p:sp>
      <p:cxnSp>
        <p:nvCxnSpPr>
          <p:cNvPr id="101" name="Google Shape;101;p14"/>
          <p:cNvCxnSpPr/>
          <p:nvPr/>
        </p:nvCxnSpPr>
        <p:spPr>
          <a:xfrm>
            <a:off x="5943600" y="2152650"/>
            <a:ext cx="11579734" cy="0"/>
          </a:xfrm>
          <a:prstGeom prst="straightConnector1">
            <a:avLst/>
          </a:prstGeom>
          <a:noFill/>
          <a:ln cap="flat" cmpd="sng" w="38100">
            <a:solidFill>
              <a:srgbClr val="018345"/>
            </a:solidFill>
            <a:prstDash val="solid"/>
            <a:round/>
            <a:headEnd len="sm" w="sm" type="none"/>
            <a:tailEnd len="sm" w="sm" type="none"/>
          </a:ln>
        </p:spPr>
      </p:cxnSp>
      <p:grpSp>
        <p:nvGrpSpPr>
          <p:cNvPr id="102" name="Google Shape;102;p14"/>
          <p:cNvGrpSpPr/>
          <p:nvPr/>
        </p:nvGrpSpPr>
        <p:grpSpPr>
          <a:xfrm rot="10800000">
            <a:off x="14951203" y="-741521"/>
            <a:ext cx="7681766" cy="4260610"/>
            <a:chOff x="0" y="-38100"/>
            <a:chExt cx="406400" cy="225405"/>
          </a:xfrm>
        </p:grpSpPr>
        <p:sp>
          <p:nvSpPr>
            <p:cNvPr id="103" name="Google Shape;103;p1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4" name="Google Shape;104;p1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05" name="Google Shape;105;p1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grpSp>
        <p:nvGrpSpPr>
          <p:cNvPr id="106" name="Google Shape;106;p14"/>
          <p:cNvGrpSpPr/>
          <p:nvPr/>
        </p:nvGrpSpPr>
        <p:grpSpPr>
          <a:xfrm>
            <a:off x="6890415" y="2552700"/>
            <a:ext cx="10092845" cy="1384799"/>
            <a:chOff x="6375842" y="6151456"/>
            <a:chExt cx="10541964" cy="1433865"/>
          </a:xfrm>
        </p:grpSpPr>
        <p:sp>
          <p:nvSpPr>
            <p:cNvPr id="107" name="Google Shape;107;p14"/>
            <p:cNvSpPr/>
            <p:nvPr/>
          </p:nvSpPr>
          <p:spPr>
            <a:xfrm>
              <a:off x="6375842" y="6278356"/>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08" name="Google Shape;108;p14"/>
            <p:cNvSpPr txBox="1"/>
            <p:nvPr/>
          </p:nvSpPr>
          <p:spPr>
            <a:xfrm>
              <a:off x="6375842" y="6151456"/>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09" name="Google Shape;109;p14"/>
            <p:cNvSpPr/>
            <p:nvPr/>
          </p:nvSpPr>
          <p:spPr>
            <a:xfrm>
              <a:off x="6375842" y="6296117"/>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txBox="1"/>
            <p:nvPr/>
          </p:nvSpPr>
          <p:spPr>
            <a:xfrm>
              <a:off x="7917301" y="6581020"/>
              <a:ext cx="8651100" cy="510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3200" u="none" cap="none" strike="noStrike">
                  <a:solidFill>
                    <a:srgbClr val="FFFFFF"/>
                  </a:solidFill>
                  <a:latin typeface="Montserrat"/>
                  <a:ea typeface="Montserrat"/>
                  <a:cs typeface="Montserrat"/>
                  <a:sym typeface="Montserrat"/>
                </a:rPr>
                <a:t>Bài </a:t>
              </a:r>
              <a:r>
                <a:rPr b="1" lang="en-US" sz="3200">
                  <a:solidFill>
                    <a:srgbClr val="FFFFFF"/>
                  </a:solidFill>
                  <a:latin typeface="Montserrat"/>
                  <a:ea typeface="Montserrat"/>
                  <a:cs typeface="Montserrat"/>
                  <a:sym typeface="Montserrat"/>
                </a:rPr>
                <a:t>nghe</a:t>
              </a:r>
              <a:r>
                <a:rPr b="1" i="0" lang="en-US" sz="3200" u="none" cap="none" strike="noStrike">
                  <a:solidFill>
                    <a:srgbClr val="FFFFFF"/>
                  </a:solidFill>
                  <a:latin typeface="Montserrat"/>
                  <a:ea typeface="Montserrat"/>
                  <a:cs typeface="Montserrat"/>
                  <a:sym typeface="Montserrat"/>
                </a:rPr>
                <a:t> APTIS part </a:t>
              </a:r>
              <a:r>
                <a:rPr b="1" lang="en-US" sz="3200">
                  <a:solidFill>
                    <a:srgbClr val="FFFFFF"/>
                  </a:solidFill>
                  <a:latin typeface="Montserrat"/>
                  <a:ea typeface="Montserrat"/>
                  <a:cs typeface="Montserrat"/>
                  <a:sym typeface="Montserrat"/>
                </a:rPr>
                <a:t>2</a:t>
              </a:r>
              <a:endParaRPr/>
            </a:p>
          </p:txBody>
        </p:sp>
        <p:sp>
          <p:nvSpPr>
            <p:cNvPr descr="Books with solid fill" id="111" name="Google Shape;111;p14"/>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grpSp>
      <p:sp>
        <p:nvSpPr>
          <p:cNvPr id="112" name="Google Shape;112;p14"/>
          <p:cNvSpPr txBox="1"/>
          <p:nvPr/>
        </p:nvSpPr>
        <p:spPr>
          <a:xfrm>
            <a:off x="6487860" y="5519116"/>
            <a:ext cx="10092845" cy="1384799"/>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13" name="Google Shape;113;p14"/>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b="0" i="0" lang="en-US" sz="1876" u="none" cap="none" strike="noStrike">
                <a:solidFill>
                  <a:srgbClr val="FEFEFE"/>
                </a:solidFill>
                <a:latin typeface="Roboto"/>
                <a:ea typeface="Roboto"/>
                <a:cs typeface="Roboto"/>
                <a:sym typeface="Roboto"/>
              </a:rPr>
              <a:t>https://edulife.com.vn/</a:t>
            </a:r>
            <a:endParaRPr/>
          </a:p>
        </p:txBody>
      </p:sp>
      <p:grpSp>
        <p:nvGrpSpPr>
          <p:cNvPr id="114" name="Google Shape;114;p14"/>
          <p:cNvGrpSpPr/>
          <p:nvPr/>
        </p:nvGrpSpPr>
        <p:grpSpPr>
          <a:xfrm>
            <a:off x="-2718010" y="9274528"/>
            <a:ext cx="7950400" cy="1707231"/>
            <a:chOff x="0" y="-384762"/>
            <a:chExt cx="10600533" cy="2276307"/>
          </a:xfrm>
        </p:grpSpPr>
        <p:grpSp>
          <p:nvGrpSpPr>
            <p:cNvPr id="115" name="Google Shape;115;p14"/>
            <p:cNvGrpSpPr/>
            <p:nvPr/>
          </p:nvGrpSpPr>
          <p:grpSpPr>
            <a:xfrm>
              <a:off x="0" y="-384762"/>
              <a:ext cx="10600533" cy="2276307"/>
              <a:chOff x="0" y="-38100"/>
              <a:chExt cx="1049690" cy="225405"/>
            </a:xfrm>
          </p:grpSpPr>
          <p:sp>
            <p:nvSpPr>
              <p:cNvPr id="116" name="Google Shape;116;p1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17" name="Google Shape;117;p1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1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 name="Google Shape;119;p14"/>
          <p:cNvGrpSpPr/>
          <p:nvPr/>
        </p:nvGrpSpPr>
        <p:grpSpPr>
          <a:xfrm>
            <a:off x="6934201" y="4203214"/>
            <a:ext cx="10121389" cy="1245090"/>
            <a:chOff x="6934200" y="7048502"/>
            <a:chExt cx="9882630" cy="1159137"/>
          </a:xfrm>
        </p:grpSpPr>
        <p:grpSp>
          <p:nvGrpSpPr>
            <p:cNvPr id="120" name="Google Shape;120;p14"/>
            <p:cNvGrpSpPr/>
            <p:nvPr/>
          </p:nvGrpSpPr>
          <p:grpSpPr>
            <a:xfrm>
              <a:off x="6934200" y="7048502"/>
              <a:ext cx="9882630" cy="1159137"/>
              <a:chOff x="6487861" y="7950596"/>
              <a:chExt cx="10571780" cy="1289204"/>
            </a:xfrm>
          </p:grpSpPr>
          <p:sp>
            <p:nvSpPr>
              <p:cNvPr id="121" name="Google Shape;121;p14"/>
              <p:cNvSpPr/>
              <p:nvPr/>
            </p:nvSpPr>
            <p:spPr>
              <a:xfrm>
                <a:off x="6517678" y="7950596"/>
                <a:ext cx="10541963"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22" name="Google Shape;122;p14"/>
              <p:cNvSpPr/>
              <p:nvPr/>
            </p:nvSpPr>
            <p:spPr>
              <a:xfrm>
                <a:off x="6487861" y="796836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3" name="Google Shape;123;p14"/>
              <p:cNvSpPr txBox="1"/>
              <p:nvPr/>
            </p:nvSpPr>
            <p:spPr>
              <a:xfrm>
                <a:off x="7905394" y="8347046"/>
                <a:ext cx="7896000" cy="510000"/>
              </a:xfrm>
              <a:prstGeom prst="rect">
                <a:avLst/>
              </a:prstGeom>
              <a:noFill/>
              <a:ln>
                <a:noFill/>
              </a:ln>
            </p:spPr>
            <p:txBody>
              <a:bodyPr anchorCtr="0" anchor="t" bIns="0" lIns="0" spcFirstLastPara="1" rIns="0" wrap="square" tIns="0">
                <a:spAutoFit/>
              </a:bodyPr>
              <a:lstStyle/>
              <a:p>
                <a:pPr indent="0" lvl="0" marL="0" marR="0" rtl="0" algn="l">
                  <a:lnSpc>
                    <a:spcPct val="303906"/>
                  </a:lnSpc>
                  <a:spcBef>
                    <a:spcPts val="0"/>
                  </a:spcBef>
                  <a:spcAft>
                    <a:spcPts val="0"/>
                  </a:spcAft>
                  <a:buNone/>
                </a:pPr>
                <a:r>
                  <a:rPr b="1" lang="en-US" sz="3200">
                    <a:solidFill>
                      <a:schemeClr val="lt1"/>
                    </a:solidFill>
                    <a:latin typeface="Montserrat"/>
                    <a:ea typeface="Montserrat"/>
                    <a:cs typeface="Montserrat"/>
                    <a:sym typeface="Montserrat"/>
                  </a:rPr>
                  <a:t>Những lưu ý khi làm bài nghe Aptis</a:t>
                </a:r>
                <a:endParaRPr b="1" sz="3200">
                  <a:solidFill>
                    <a:schemeClr val="lt1"/>
                  </a:solidFill>
                  <a:latin typeface="Montserrat"/>
                  <a:ea typeface="Montserrat"/>
                  <a:cs typeface="Montserrat"/>
                  <a:sym typeface="Montserrat"/>
                </a:endParaRPr>
              </a:p>
            </p:txBody>
          </p:sp>
        </p:grpSp>
        <p:pic>
          <p:nvPicPr>
            <p:cNvPr descr="Envelope with solid fill" id="124" name="Google Shape;124;p14"/>
            <p:cNvPicPr preferRelativeResize="0"/>
            <p:nvPr/>
          </p:nvPicPr>
          <p:blipFill rotWithShape="1">
            <a:blip r:embed="rId4">
              <a:alphaModFix/>
            </a:blip>
            <a:srcRect b="0" l="0" r="0" t="0"/>
            <a:stretch/>
          </p:blipFill>
          <p:spPr>
            <a:xfrm>
              <a:off x="7167192" y="7214481"/>
              <a:ext cx="773941" cy="773941"/>
            </a:xfrm>
            <a:prstGeom prst="rect">
              <a:avLst/>
            </a:prstGeom>
            <a:noFill/>
            <a:ln>
              <a:noFill/>
            </a:ln>
          </p:spPr>
        </p:pic>
      </p:grpSp>
      <p:grpSp>
        <p:nvGrpSpPr>
          <p:cNvPr id="125" name="Google Shape;125;p14"/>
          <p:cNvGrpSpPr/>
          <p:nvPr/>
        </p:nvGrpSpPr>
        <p:grpSpPr>
          <a:xfrm>
            <a:off x="6962074" y="5727211"/>
            <a:ext cx="10149936" cy="1245089"/>
            <a:chOff x="6962073" y="8572500"/>
            <a:chExt cx="9910504" cy="1159136"/>
          </a:xfrm>
        </p:grpSpPr>
        <p:sp>
          <p:nvSpPr>
            <p:cNvPr id="126" name="Google Shape;126;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27" name="Google Shape;127;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8" name="Google Shape;128;p14"/>
            <p:cNvSpPr txBox="1"/>
            <p:nvPr/>
          </p:nvSpPr>
          <p:spPr>
            <a:xfrm>
              <a:off x="8403048" y="8840948"/>
              <a:ext cx="8469529" cy="52417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Đề mẫu</a:t>
              </a:r>
              <a:endParaRPr b="1" sz="3200">
                <a:solidFill>
                  <a:srgbClr val="FFFFFF"/>
                </a:solidFill>
                <a:latin typeface="Montserrat"/>
                <a:ea typeface="Montserrat"/>
                <a:cs typeface="Montserrat"/>
                <a:sym typeface="Montserrat"/>
              </a:endParaRPr>
            </a:p>
          </p:txBody>
        </p:sp>
        <p:pic>
          <p:nvPicPr>
            <p:cNvPr descr="Pencil with solid fill" id="129" name="Google Shape;129;p14"/>
            <p:cNvPicPr preferRelativeResize="0"/>
            <p:nvPr/>
          </p:nvPicPr>
          <p:blipFill rotWithShape="1">
            <a:blip r:embed="rId5">
              <a:alphaModFix/>
            </a:blip>
            <a:srcRect b="0" l="0" r="0" t="0"/>
            <a:stretch/>
          </p:blipFill>
          <p:spPr>
            <a:xfrm>
              <a:off x="7147974" y="8738481"/>
              <a:ext cx="797413" cy="797413"/>
            </a:xfrm>
            <a:prstGeom prst="rect">
              <a:avLst/>
            </a:prstGeom>
            <a:noFill/>
            <a:ln>
              <a:noFill/>
            </a:ln>
          </p:spPr>
        </p:pic>
      </p:grpSp>
      <p:grpSp>
        <p:nvGrpSpPr>
          <p:cNvPr id="130" name="Google Shape;130;p14"/>
          <p:cNvGrpSpPr/>
          <p:nvPr/>
        </p:nvGrpSpPr>
        <p:grpSpPr>
          <a:xfrm>
            <a:off x="6947410" y="7175011"/>
            <a:ext cx="10121390" cy="1245089"/>
            <a:chOff x="6947410" y="8856876"/>
            <a:chExt cx="9366600" cy="1016489"/>
          </a:xfrm>
        </p:grpSpPr>
        <p:grpSp>
          <p:nvGrpSpPr>
            <p:cNvPr id="131" name="Google Shape;131;p14"/>
            <p:cNvGrpSpPr/>
            <p:nvPr/>
          </p:nvGrpSpPr>
          <p:grpSpPr>
            <a:xfrm>
              <a:off x="6947410" y="8856876"/>
              <a:ext cx="9366600" cy="1016489"/>
              <a:chOff x="6962073" y="8572500"/>
              <a:chExt cx="9882631" cy="1159136"/>
            </a:xfrm>
          </p:grpSpPr>
          <p:sp>
            <p:nvSpPr>
              <p:cNvPr id="132" name="Google Shape;132;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3" name="Google Shape;133;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34" name="Google Shape;134;p14"/>
              <p:cNvSpPr txBox="1"/>
              <p:nvPr/>
            </p:nvSpPr>
            <p:spPr>
              <a:xfrm>
                <a:off x="8459833" y="8840948"/>
                <a:ext cx="8087261" cy="53599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Hướng dẫn trả lời</a:t>
                </a:r>
                <a:endParaRPr b="1" sz="3200">
                  <a:solidFill>
                    <a:srgbClr val="FFFFFF"/>
                  </a:solidFill>
                  <a:latin typeface="Montserrat"/>
                  <a:ea typeface="Montserrat"/>
                  <a:cs typeface="Montserrat"/>
                  <a:sym typeface="Montserrat"/>
                </a:endParaRPr>
              </a:p>
            </p:txBody>
          </p:sp>
        </p:grpSp>
        <p:pic>
          <p:nvPicPr>
            <p:cNvPr descr="Books on shelf with solid fill" id="135" name="Google Shape;135;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grpSp>
        <p:nvGrpSpPr>
          <p:cNvPr id="136" name="Google Shape;136;p14"/>
          <p:cNvGrpSpPr/>
          <p:nvPr/>
        </p:nvGrpSpPr>
        <p:grpSpPr>
          <a:xfrm>
            <a:off x="7010400" y="8669916"/>
            <a:ext cx="10121390" cy="1245089"/>
            <a:chOff x="6947410" y="8856876"/>
            <a:chExt cx="9366600" cy="1016489"/>
          </a:xfrm>
        </p:grpSpPr>
        <p:grpSp>
          <p:nvGrpSpPr>
            <p:cNvPr id="137" name="Google Shape;137;p14"/>
            <p:cNvGrpSpPr/>
            <p:nvPr/>
          </p:nvGrpSpPr>
          <p:grpSpPr>
            <a:xfrm>
              <a:off x="6947410" y="8856876"/>
              <a:ext cx="9366600" cy="1016489"/>
              <a:chOff x="6962073" y="8572500"/>
              <a:chExt cx="9882631" cy="1159136"/>
            </a:xfrm>
          </p:grpSpPr>
          <p:sp>
            <p:nvSpPr>
              <p:cNvPr id="138" name="Google Shape;138;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9" name="Google Shape;139;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40" name="Google Shape;140;p14"/>
              <p:cNvSpPr txBox="1"/>
              <p:nvPr/>
            </p:nvSpPr>
            <p:spPr>
              <a:xfrm>
                <a:off x="8459833" y="8840948"/>
                <a:ext cx="8087261" cy="53599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Luyện tập</a:t>
                </a:r>
                <a:endParaRPr b="1" sz="3200">
                  <a:solidFill>
                    <a:srgbClr val="FFFFFF"/>
                  </a:solidFill>
                  <a:latin typeface="Montserrat"/>
                  <a:ea typeface="Montserrat"/>
                  <a:cs typeface="Montserrat"/>
                  <a:sym typeface="Montserrat"/>
                </a:endParaRPr>
              </a:p>
            </p:txBody>
          </p:sp>
        </p:grpSp>
        <p:pic>
          <p:nvPicPr>
            <p:cNvPr descr="Books on shelf with solid fill" id="141" name="Google Shape;141;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ppt_w</p:attrName>
                                        </p:attrNameLst>
                                      </p:cBhvr>
                                      <p:tavLst>
                                        <p:tav fmla="" tm="0">
                                          <p:val>
                                            <p:strVal val="0"/>
                                          </p:val>
                                        </p:tav>
                                        <p:tav fmla="" tm="100000">
                                          <p:val>
                                            <p:strVal val="#ppt_w"/>
                                          </p:val>
                                        </p:tav>
                                      </p:tavLst>
                                    </p:anim>
                                    <p:anim calcmode="lin" valueType="num">
                                      <p:cBhvr additive="base">
                                        <p:cTn dur="500"/>
                                        <p:tgtEl>
                                          <p:spTgt spid="1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15"/>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147" name="Google Shape;147;p1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48" name="Google Shape;148;p15"/>
          <p:cNvGrpSpPr/>
          <p:nvPr/>
        </p:nvGrpSpPr>
        <p:grpSpPr>
          <a:xfrm rot="10800000">
            <a:off x="15044552" y="-741521"/>
            <a:ext cx="7681766" cy="4260610"/>
            <a:chOff x="0" y="-38100"/>
            <a:chExt cx="406400" cy="225405"/>
          </a:xfrm>
        </p:grpSpPr>
        <p:sp>
          <p:nvSpPr>
            <p:cNvPr id="149" name="Google Shape;149;p1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0" name="Google Shape;150;p1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151" name="Google Shape;151;p1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52" name="Google Shape;152;p1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53" name="Google Shape;153;p15"/>
          <p:cNvSpPr/>
          <p:nvPr/>
        </p:nvSpPr>
        <p:spPr>
          <a:xfrm>
            <a:off x="9121603" y="5737772"/>
            <a:ext cx="5199117" cy="4549228"/>
          </a:xfrm>
          <a:custGeom>
            <a:rect b="b" l="l" r="r" t="t"/>
            <a:pathLst>
              <a:path extrusionOk="0" h="4549228" w="5199117">
                <a:moveTo>
                  <a:pt x="0" y="0"/>
                </a:moveTo>
                <a:lnTo>
                  <a:pt x="5199117" y="0"/>
                </a:lnTo>
                <a:lnTo>
                  <a:pt x="5199117" y="4549228"/>
                </a:lnTo>
                <a:lnTo>
                  <a:pt x="0" y="4549228"/>
                </a:lnTo>
                <a:lnTo>
                  <a:pt x="0" y="0"/>
                </a:lnTo>
                <a:close/>
              </a:path>
            </a:pathLst>
          </a:custGeom>
          <a:blipFill rotWithShape="1">
            <a:blip r:embed="rId5">
              <a:alphaModFix/>
            </a:blip>
            <a:stretch>
              <a:fillRect b="0" l="0" r="0" t="0"/>
            </a:stretch>
          </a:blipFill>
          <a:ln>
            <a:noFill/>
          </a:ln>
        </p:spPr>
      </p:sp>
      <p:sp>
        <p:nvSpPr>
          <p:cNvPr id="154" name="Google Shape;154;p15"/>
          <p:cNvSpPr txBox="1"/>
          <p:nvPr/>
        </p:nvSpPr>
        <p:spPr>
          <a:xfrm>
            <a:off x="7315200" y="2540878"/>
            <a:ext cx="8643900" cy="2851500"/>
          </a:xfrm>
          <a:prstGeom prst="rect">
            <a:avLst/>
          </a:prstGeom>
          <a:noFill/>
          <a:ln>
            <a:noFill/>
          </a:ln>
        </p:spPr>
        <p:txBody>
          <a:bodyPr anchorCtr="0" anchor="t" bIns="0" lIns="0" spcFirstLastPara="1" rIns="0" wrap="square" tIns="0">
            <a:spAutoFit/>
          </a:bodyPr>
          <a:lstStyle/>
          <a:p>
            <a:pPr indent="0" lvl="0" marL="0" marR="0" rtl="0" algn="ctr">
              <a:lnSpc>
                <a:spcPct val="110511"/>
              </a:lnSpc>
              <a:spcBef>
                <a:spcPts val="0"/>
              </a:spcBef>
              <a:spcAft>
                <a:spcPts val="0"/>
              </a:spcAft>
              <a:buNone/>
            </a:pPr>
            <a:r>
              <a:rPr b="1" lang="en-US" sz="8800">
                <a:solidFill>
                  <a:srgbClr val="018345"/>
                </a:solidFill>
                <a:latin typeface="Montserrat"/>
                <a:ea typeface="Montserrat"/>
                <a:cs typeface="Montserrat"/>
                <a:sym typeface="Montserrat"/>
              </a:rPr>
              <a:t>Bài nghe APTIS part 2</a:t>
            </a:r>
            <a:endParaRPr/>
          </a:p>
        </p:txBody>
      </p:sp>
      <p:sp>
        <p:nvSpPr>
          <p:cNvPr id="155" name="Google Shape;155;p15"/>
          <p:cNvSpPr txBox="1"/>
          <p:nvPr/>
        </p:nvSpPr>
        <p:spPr>
          <a:xfrm>
            <a:off x="10210111" y="339710"/>
            <a:ext cx="214672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01</a:t>
            </a:r>
            <a:endParaRPr/>
          </a:p>
        </p:txBody>
      </p:sp>
      <p:sp>
        <p:nvSpPr>
          <p:cNvPr id="156" name="Google Shape;156;p15"/>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157" name="Google Shape;157;p15"/>
          <p:cNvGrpSpPr/>
          <p:nvPr/>
        </p:nvGrpSpPr>
        <p:grpSpPr>
          <a:xfrm>
            <a:off x="-2718010" y="9274528"/>
            <a:ext cx="7950400" cy="1707231"/>
            <a:chOff x="0" y="-384762"/>
            <a:chExt cx="10600533" cy="2276307"/>
          </a:xfrm>
        </p:grpSpPr>
        <p:grpSp>
          <p:nvGrpSpPr>
            <p:cNvPr id="158" name="Google Shape;158;p15"/>
            <p:cNvGrpSpPr/>
            <p:nvPr/>
          </p:nvGrpSpPr>
          <p:grpSpPr>
            <a:xfrm>
              <a:off x="0" y="-384762"/>
              <a:ext cx="10600533" cy="2276307"/>
              <a:chOff x="0" y="-38100"/>
              <a:chExt cx="1049690" cy="225405"/>
            </a:xfrm>
          </p:grpSpPr>
          <p:sp>
            <p:nvSpPr>
              <p:cNvPr id="159" name="Google Shape;159;p1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60" name="Google Shape;160;p1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1" name="Google Shape;161;p1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ppt_w</p:attrName>
                                        </p:attrNameLst>
                                      </p:cBhvr>
                                      <p:tavLst>
                                        <p:tav fmla="" tm="0">
                                          <p:val>
                                            <p:strVal val="0"/>
                                          </p:val>
                                        </p:tav>
                                        <p:tav fmla="" tm="100000">
                                          <p:val>
                                            <p:strVal val="#ppt_w"/>
                                          </p:val>
                                        </p:tav>
                                      </p:tavLst>
                                    </p:anim>
                                    <p:anim calcmode="lin" valueType="num">
                                      <p:cBhvr additive="base">
                                        <p:cTn dur="500"/>
                                        <p:tgtEl>
                                          <p:spTgt spid="1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6"/>
          <p:cNvSpPr/>
          <p:nvPr/>
        </p:nvSpPr>
        <p:spPr>
          <a:xfrm>
            <a:off x="5053637" y="6110389"/>
            <a:ext cx="4915200" cy="13185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
          <p:cNvSpPr/>
          <p:nvPr/>
        </p:nvSpPr>
        <p:spPr>
          <a:xfrm>
            <a:off x="6997386" y="3582199"/>
            <a:ext cx="4915200" cy="13185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9" name="Google Shape;169;p16"/>
          <p:cNvCxnSpPr/>
          <p:nvPr/>
        </p:nvCxnSpPr>
        <p:spPr>
          <a:xfrm flipH="1" rot="10800000">
            <a:off x="7543801" y="1599849"/>
            <a:ext cx="9909107" cy="50383"/>
          </a:xfrm>
          <a:prstGeom prst="straightConnector1">
            <a:avLst/>
          </a:prstGeom>
          <a:noFill/>
          <a:ln cap="flat" cmpd="sng" w="38100">
            <a:solidFill>
              <a:srgbClr val="018345"/>
            </a:solidFill>
            <a:prstDash val="solid"/>
            <a:round/>
            <a:headEnd len="sm" w="sm" type="none"/>
            <a:tailEnd len="sm" w="sm" type="none"/>
          </a:ln>
        </p:spPr>
      </p:cxnSp>
      <p:cxnSp>
        <p:nvCxnSpPr>
          <p:cNvPr id="170" name="Google Shape;170;p1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71" name="Google Shape;171;p16"/>
          <p:cNvGrpSpPr/>
          <p:nvPr/>
        </p:nvGrpSpPr>
        <p:grpSpPr>
          <a:xfrm rot="10800000">
            <a:off x="15785091" y="-536942"/>
            <a:ext cx="7681766" cy="4260610"/>
            <a:chOff x="0" y="-38100"/>
            <a:chExt cx="406400" cy="225405"/>
          </a:xfrm>
        </p:grpSpPr>
        <p:sp>
          <p:nvSpPr>
            <p:cNvPr id="172" name="Google Shape;172;p1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73" name="Google Shape;173;p1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4" name="Google Shape;174;p1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175" name="Google Shape;175;p16"/>
          <p:cNvGrpSpPr/>
          <p:nvPr/>
        </p:nvGrpSpPr>
        <p:grpSpPr>
          <a:xfrm>
            <a:off x="-2718010" y="9274528"/>
            <a:ext cx="7950400" cy="1707231"/>
            <a:chOff x="0" y="-384762"/>
            <a:chExt cx="10600533" cy="2276307"/>
          </a:xfrm>
        </p:grpSpPr>
        <p:grpSp>
          <p:nvGrpSpPr>
            <p:cNvPr id="176" name="Google Shape;176;p16"/>
            <p:cNvGrpSpPr/>
            <p:nvPr/>
          </p:nvGrpSpPr>
          <p:grpSpPr>
            <a:xfrm>
              <a:off x="0" y="-384762"/>
              <a:ext cx="10600533" cy="2276307"/>
              <a:chOff x="0" y="-38100"/>
              <a:chExt cx="1049690" cy="225405"/>
            </a:xfrm>
          </p:grpSpPr>
          <p:sp>
            <p:nvSpPr>
              <p:cNvPr id="177" name="Google Shape;177;p1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78" name="Google Shape;178;p1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9" name="Google Shape;179;p1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0" name="Google Shape;180;p16"/>
          <p:cNvSpPr txBox="1"/>
          <p:nvPr/>
        </p:nvSpPr>
        <p:spPr>
          <a:xfrm>
            <a:off x="6107221" y="622074"/>
            <a:ext cx="11880900" cy="7389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Phần 2: Nối thông tin chính xác</a:t>
            </a:r>
            <a:endParaRPr b="1" sz="4800">
              <a:solidFill>
                <a:srgbClr val="018345"/>
              </a:solidFill>
              <a:latin typeface="Montserrat"/>
              <a:ea typeface="Montserrat"/>
              <a:cs typeface="Montserrat"/>
              <a:sym typeface="Montserrat"/>
            </a:endParaRPr>
          </a:p>
        </p:txBody>
      </p:sp>
      <p:grpSp>
        <p:nvGrpSpPr>
          <p:cNvPr id="181" name="Google Shape;181;p16"/>
          <p:cNvGrpSpPr/>
          <p:nvPr/>
        </p:nvGrpSpPr>
        <p:grpSpPr>
          <a:xfrm>
            <a:off x="9563502" y="2587607"/>
            <a:ext cx="7889409" cy="6359218"/>
            <a:chOff x="7810502" y="2279932"/>
            <a:chExt cx="7889409" cy="6359218"/>
          </a:xfrm>
        </p:grpSpPr>
        <p:grpSp>
          <p:nvGrpSpPr>
            <p:cNvPr id="182" name="Google Shape;182;p16"/>
            <p:cNvGrpSpPr/>
            <p:nvPr/>
          </p:nvGrpSpPr>
          <p:grpSpPr>
            <a:xfrm>
              <a:off x="7810502" y="2279932"/>
              <a:ext cx="7889409" cy="6359218"/>
              <a:chOff x="695515" y="76899"/>
              <a:chExt cx="7889409" cy="6359218"/>
            </a:xfrm>
          </p:grpSpPr>
          <p:sp>
            <p:nvSpPr>
              <p:cNvPr id="183" name="Google Shape;183;p16"/>
              <p:cNvSpPr/>
              <p:nvPr/>
            </p:nvSpPr>
            <p:spPr>
              <a:xfrm>
                <a:off x="2991522" y="365952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a:off x="2791890" y="397944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2553972" y="4256426"/>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a:off x="2838380"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
              <p:cNvSpPr/>
              <p:nvPr/>
            </p:nvSpPr>
            <p:spPr>
              <a:xfrm>
                <a:off x="31428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6"/>
              <p:cNvSpPr/>
              <p:nvPr/>
            </p:nvSpPr>
            <p:spPr>
              <a:xfrm>
                <a:off x="3446391" y="7689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
              <p:cNvSpPr/>
              <p:nvPr/>
            </p:nvSpPr>
            <p:spPr>
              <a:xfrm>
                <a:off x="37499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
              <p:cNvSpPr/>
              <p:nvPr/>
            </p:nvSpPr>
            <p:spPr>
              <a:xfrm>
                <a:off x="4054402"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
              <p:cNvSpPr/>
              <p:nvPr/>
            </p:nvSpPr>
            <p:spPr>
              <a:xfrm>
                <a:off x="3446391" y="459715"/>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
              <p:cNvSpPr/>
              <p:nvPr/>
            </p:nvSpPr>
            <p:spPr>
              <a:xfrm>
                <a:off x="3446391" y="842531"/>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6"/>
              <p:cNvSpPr/>
              <p:nvPr/>
            </p:nvSpPr>
            <p:spPr>
              <a:xfrm>
                <a:off x="1592275" y="5088831"/>
                <a:ext cx="4915200" cy="13185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
              <p:cNvSpPr txBox="1"/>
              <p:nvPr/>
            </p:nvSpPr>
            <p:spPr>
              <a:xfrm>
                <a:off x="1516651" y="5246317"/>
                <a:ext cx="5303400" cy="118980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4000">
                    <a:solidFill>
                      <a:schemeClr val="lt1"/>
                    </a:solidFill>
                    <a:latin typeface="Roboto"/>
                    <a:ea typeface="Roboto"/>
                    <a:cs typeface="Roboto"/>
                    <a:sym typeface="Roboto"/>
                  </a:rPr>
                  <a:t>2 lần nghe</a:t>
                </a:r>
                <a:endParaRPr b="1" sz="4000">
                  <a:solidFill>
                    <a:schemeClr val="lt1"/>
                  </a:solidFill>
                  <a:latin typeface="Roboto"/>
                  <a:ea typeface="Roboto"/>
                  <a:cs typeface="Roboto"/>
                  <a:sym typeface="Roboto"/>
                </a:endParaRPr>
              </a:p>
            </p:txBody>
          </p:sp>
          <p:sp>
            <p:nvSpPr>
              <p:cNvPr id="195" name="Google Shape;195;p16"/>
              <p:cNvSpPr/>
              <p:nvPr/>
            </p:nvSpPr>
            <p:spPr>
              <a:xfrm>
                <a:off x="695515" y="4108036"/>
                <a:ext cx="1676384" cy="1630492"/>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6"/>
              <p:cNvSpPr/>
              <p:nvPr/>
            </p:nvSpPr>
            <p:spPr>
              <a:xfrm>
                <a:off x="3669724" y="2510116"/>
                <a:ext cx="4915200" cy="13185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6"/>
              <p:cNvSpPr txBox="1"/>
              <p:nvPr/>
            </p:nvSpPr>
            <p:spPr>
              <a:xfrm>
                <a:off x="3446394" y="2555999"/>
                <a:ext cx="4786500" cy="1189800"/>
              </a:xfrm>
              <a:prstGeom prst="rect">
                <a:avLst/>
              </a:prstGeom>
              <a:noFill/>
              <a:ln>
                <a:noFill/>
              </a:ln>
            </p:spPr>
            <p:txBody>
              <a:bodyPr anchorCtr="0" anchor="ctr" bIns="182875" lIns="1040350" spcFirstLastPara="1" rIns="182875" wrap="square" tIns="182875">
                <a:noAutofit/>
              </a:bodyPr>
              <a:lstStyle/>
              <a:p>
                <a:pPr indent="0" lvl="0" marL="0" rtl="0" algn="l">
                  <a:lnSpc>
                    <a:spcPct val="90000"/>
                  </a:lnSpc>
                  <a:spcBef>
                    <a:spcPts val="0"/>
                  </a:spcBef>
                  <a:spcAft>
                    <a:spcPts val="0"/>
                  </a:spcAft>
                  <a:buClr>
                    <a:schemeClr val="lt1"/>
                  </a:buClr>
                  <a:buSzPts val="4800"/>
                  <a:buFont typeface="Roboto"/>
                  <a:buNone/>
                </a:pPr>
                <a:r>
                  <a:rPr b="1" lang="en-US" sz="4000">
                    <a:solidFill>
                      <a:schemeClr val="lt1"/>
                    </a:solidFill>
                    <a:latin typeface="Roboto"/>
                    <a:ea typeface="Roboto"/>
                    <a:cs typeface="Roboto"/>
                    <a:sym typeface="Roboto"/>
                  </a:rPr>
                  <a:t>Lựa chọn</a:t>
                </a:r>
                <a:r>
                  <a:rPr b="1" lang="en-US" sz="4000">
                    <a:solidFill>
                      <a:schemeClr val="lt1"/>
                    </a:solidFill>
                    <a:latin typeface="Roboto"/>
                    <a:ea typeface="Roboto"/>
                    <a:cs typeface="Roboto"/>
                    <a:sym typeface="Roboto"/>
                  </a:rPr>
                  <a:t> </a:t>
                </a:r>
                <a:endParaRPr b="1" sz="4000">
                  <a:solidFill>
                    <a:schemeClr val="lt1"/>
                  </a:solidFill>
                  <a:latin typeface="Roboto"/>
                  <a:ea typeface="Roboto"/>
                  <a:cs typeface="Roboto"/>
                  <a:sym typeface="Roboto"/>
                </a:endParaRPr>
              </a:p>
              <a:p>
                <a:pPr indent="0" lvl="0" marL="0" rtl="0" algn="l">
                  <a:lnSpc>
                    <a:spcPct val="90000"/>
                  </a:lnSpc>
                  <a:spcBef>
                    <a:spcPts val="0"/>
                  </a:spcBef>
                  <a:spcAft>
                    <a:spcPts val="0"/>
                  </a:spcAft>
                  <a:buClr>
                    <a:schemeClr val="lt1"/>
                  </a:buClr>
                  <a:buSzPts val="4800"/>
                  <a:buFont typeface="Roboto"/>
                  <a:buNone/>
                </a:pPr>
                <a:r>
                  <a:rPr b="1" lang="en-US" sz="4000">
                    <a:solidFill>
                      <a:schemeClr val="lt1"/>
                    </a:solidFill>
                    <a:latin typeface="Roboto"/>
                    <a:ea typeface="Roboto"/>
                    <a:cs typeface="Roboto"/>
                    <a:sym typeface="Roboto"/>
                  </a:rPr>
                  <a:t>(6 phương án)</a:t>
                </a:r>
                <a:endParaRPr b="1" sz="4000">
                  <a:solidFill>
                    <a:schemeClr val="lt1"/>
                  </a:solidFill>
                  <a:latin typeface="Roboto"/>
                  <a:ea typeface="Roboto"/>
                  <a:cs typeface="Roboto"/>
                  <a:sym typeface="Roboto"/>
                </a:endParaRPr>
              </a:p>
            </p:txBody>
          </p:sp>
          <p:sp>
            <p:nvSpPr>
              <p:cNvPr id="198" name="Google Shape;198;p16"/>
              <p:cNvSpPr/>
              <p:nvPr/>
            </p:nvSpPr>
            <p:spPr>
              <a:xfrm>
                <a:off x="2564182" y="1520638"/>
                <a:ext cx="1764418" cy="1674153"/>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Bullseye with solid fill" id="199" name="Google Shape;199;p16"/>
            <p:cNvPicPr preferRelativeResize="0"/>
            <p:nvPr/>
          </p:nvPicPr>
          <p:blipFill rotWithShape="1">
            <a:blip r:embed="rId4">
              <a:alphaModFix/>
            </a:blip>
            <a:srcRect b="0" l="0" r="0" t="0"/>
            <a:stretch/>
          </p:blipFill>
          <p:spPr>
            <a:xfrm>
              <a:off x="8077200" y="6515100"/>
              <a:ext cx="1219200" cy="1219200"/>
            </a:xfrm>
            <a:prstGeom prst="rect">
              <a:avLst/>
            </a:prstGeom>
            <a:noFill/>
            <a:ln>
              <a:noFill/>
            </a:ln>
          </p:spPr>
        </p:pic>
        <p:pic>
          <p:nvPicPr>
            <p:cNvPr descr="Lightbulb and gear with solid fill" id="200" name="Google Shape;200;p16"/>
            <p:cNvPicPr preferRelativeResize="0"/>
            <p:nvPr/>
          </p:nvPicPr>
          <p:blipFill rotWithShape="1">
            <a:blip r:embed="rId5">
              <a:alphaModFix/>
            </a:blip>
            <a:srcRect b="0" l="0" r="0" t="0"/>
            <a:stretch/>
          </p:blipFill>
          <p:spPr>
            <a:xfrm>
              <a:off x="10001250" y="3943350"/>
              <a:ext cx="1200150" cy="1200150"/>
            </a:xfrm>
            <a:prstGeom prst="rect">
              <a:avLst/>
            </a:prstGeom>
            <a:noFill/>
            <a:ln>
              <a:noFill/>
            </a:ln>
          </p:spPr>
        </p:pic>
      </p:grpSp>
      <p:sp>
        <p:nvSpPr>
          <p:cNvPr id="201" name="Google Shape;201;p16"/>
          <p:cNvSpPr txBox="1"/>
          <p:nvPr/>
        </p:nvSpPr>
        <p:spPr>
          <a:xfrm>
            <a:off x="7061732" y="3646545"/>
            <a:ext cx="4786500" cy="118980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4000">
                <a:solidFill>
                  <a:schemeClr val="lt1"/>
                </a:solidFill>
                <a:latin typeface="Roboto"/>
                <a:ea typeface="Roboto"/>
                <a:cs typeface="Roboto"/>
                <a:sym typeface="Roboto"/>
              </a:rPr>
              <a:t>1</a:t>
            </a:r>
            <a:r>
              <a:rPr b="1" lang="en-US" sz="4000">
                <a:solidFill>
                  <a:schemeClr val="lt1"/>
                </a:solidFill>
                <a:latin typeface="Roboto"/>
                <a:ea typeface="Roboto"/>
                <a:cs typeface="Roboto"/>
                <a:sym typeface="Roboto"/>
              </a:rPr>
              <a:t> câu hỏi</a:t>
            </a:r>
            <a:endParaRPr b="1" sz="4000">
              <a:solidFill>
                <a:schemeClr val="lt1"/>
              </a:solidFill>
              <a:latin typeface="Roboto"/>
              <a:ea typeface="Roboto"/>
              <a:cs typeface="Roboto"/>
              <a:sym typeface="Roboto"/>
            </a:endParaRPr>
          </a:p>
          <a:p>
            <a:pPr indent="0" lvl="0" marL="0" marR="0" rtl="0" algn="l">
              <a:lnSpc>
                <a:spcPct val="90000"/>
              </a:lnSpc>
              <a:spcBef>
                <a:spcPts val="0"/>
              </a:spcBef>
              <a:spcAft>
                <a:spcPts val="0"/>
              </a:spcAft>
              <a:buClr>
                <a:schemeClr val="lt1"/>
              </a:buClr>
              <a:buSzPts val="4800"/>
              <a:buFont typeface="Roboto"/>
              <a:buNone/>
            </a:pPr>
            <a:r>
              <a:rPr b="1" lang="en-US" sz="4000">
                <a:solidFill>
                  <a:schemeClr val="lt1"/>
                </a:solidFill>
                <a:latin typeface="Roboto"/>
                <a:ea typeface="Roboto"/>
                <a:cs typeface="Roboto"/>
                <a:sym typeface="Roboto"/>
              </a:rPr>
              <a:t>4 chỗ trống</a:t>
            </a:r>
            <a:endParaRPr b="1" sz="4000">
              <a:solidFill>
                <a:schemeClr val="lt1"/>
              </a:solidFill>
              <a:latin typeface="Roboto"/>
              <a:ea typeface="Roboto"/>
              <a:cs typeface="Roboto"/>
              <a:sym typeface="Roboto"/>
            </a:endParaRPr>
          </a:p>
        </p:txBody>
      </p:sp>
      <p:sp>
        <p:nvSpPr>
          <p:cNvPr id="202" name="Google Shape;202;p16"/>
          <p:cNvSpPr txBox="1"/>
          <p:nvPr/>
        </p:nvSpPr>
        <p:spPr>
          <a:xfrm>
            <a:off x="4572000" y="6174750"/>
            <a:ext cx="5303400" cy="118980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4000">
                <a:solidFill>
                  <a:schemeClr val="lt1"/>
                </a:solidFill>
                <a:latin typeface="Roboto"/>
                <a:ea typeface="Roboto"/>
                <a:cs typeface="Roboto"/>
                <a:sym typeface="Roboto"/>
              </a:rPr>
              <a:t>Hội thoại 4 người</a:t>
            </a:r>
            <a:endParaRPr b="1" sz="4000">
              <a:solidFill>
                <a:schemeClr val="lt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500"/>
                                        <p:tgtEl>
                                          <p:spTgt spid="1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1000"/>
                                        <p:tgtEl>
                                          <p:spTgt spid="167"/>
                                        </p:tgtEl>
                                      </p:cBhvr>
                                    </p:animEffect>
                                  </p:childTnLst>
                                </p:cTn>
                              </p:par>
                              <p:par>
                                <p:cTn fill="hold" nodeType="with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par>
                                <p:cTn fill="hold" nodeType="with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par>
                                <p:cTn fill="hold" nodeType="with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000"/>
                                        <p:tgtEl>
                                          <p:spTgt spid="181"/>
                                        </p:tgtEl>
                                      </p:cBhvr>
                                    </p:animEffect>
                                  </p:childTnLst>
                                </p:cTn>
                              </p:par>
                              <p:par>
                                <p:cTn fill="hold" nodeType="with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1000"/>
                                        <p:tgtEl>
                                          <p:spTgt spid="201"/>
                                        </p:tgtEl>
                                      </p:cBhvr>
                                    </p:animEffect>
                                  </p:childTnLst>
                                </p:cTn>
                              </p:par>
                              <p:par>
                                <p:cTn fill="hold" nodeType="with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cxnSp>
        <p:nvCxnSpPr>
          <p:cNvPr id="207" name="Google Shape;207;p17"/>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08" name="Google Shape;208;p1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09" name="Google Shape;209;p17"/>
          <p:cNvGrpSpPr/>
          <p:nvPr/>
        </p:nvGrpSpPr>
        <p:grpSpPr>
          <a:xfrm rot="10800000">
            <a:off x="15044552" y="-741521"/>
            <a:ext cx="7681766" cy="4260610"/>
            <a:chOff x="0" y="-38100"/>
            <a:chExt cx="406400" cy="225405"/>
          </a:xfrm>
        </p:grpSpPr>
        <p:sp>
          <p:nvSpPr>
            <p:cNvPr id="210" name="Google Shape;210;p1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11" name="Google Shape;211;p1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12" name="Google Shape;212;p1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13" name="Google Shape;213;p17"/>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14" name="Google Shape;214;p17"/>
          <p:cNvSpPr txBox="1"/>
          <p:nvPr/>
        </p:nvSpPr>
        <p:spPr>
          <a:xfrm>
            <a:off x="5511794" y="2502271"/>
            <a:ext cx="11760300" cy="2512800"/>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Lưu ý khi làm bài nghe APTIS</a:t>
            </a:r>
            <a:endParaRPr/>
          </a:p>
        </p:txBody>
      </p:sp>
      <p:sp>
        <p:nvSpPr>
          <p:cNvPr id="215" name="Google Shape;215;p17"/>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02</a:t>
            </a:r>
            <a:endParaRPr/>
          </a:p>
        </p:txBody>
      </p:sp>
      <p:sp>
        <p:nvSpPr>
          <p:cNvPr id="216" name="Google Shape;216;p17"/>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17" name="Google Shape;217;p17"/>
          <p:cNvGrpSpPr/>
          <p:nvPr/>
        </p:nvGrpSpPr>
        <p:grpSpPr>
          <a:xfrm>
            <a:off x="-2718010" y="9274528"/>
            <a:ext cx="7950400" cy="1707231"/>
            <a:chOff x="0" y="-384762"/>
            <a:chExt cx="10600533" cy="2276307"/>
          </a:xfrm>
        </p:grpSpPr>
        <p:grpSp>
          <p:nvGrpSpPr>
            <p:cNvPr id="218" name="Google Shape;218;p17"/>
            <p:cNvGrpSpPr/>
            <p:nvPr/>
          </p:nvGrpSpPr>
          <p:grpSpPr>
            <a:xfrm>
              <a:off x="0" y="-384762"/>
              <a:ext cx="10600533" cy="2276307"/>
              <a:chOff x="0" y="-38100"/>
              <a:chExt cx="1049690" cy="225405"/>
            </a:xfrm>
          </p:grpSpPr>
          <p:sp>
            <p:nvSpPr>
              <p:cNvPr id="219" name="Google Shape;219;p1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20" name="Google Shape;220;p1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1" name="Google Shape;221;p1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Stressed Out Woman Cartoon Images – Browse 1,008 Stock Photos, Vectors, and  Video | Adobe Stock" id="222" name="Google Shape;222;p17"/>
          <p:cNvPicPr preferRelativeResize="0"/>
          <p:nvPr/>
        </p:nvPicPr>
        <p:blipFill rotWithShape="1">
          <a:blip r:embed="rId5">
            <a:alphaModFix/>
          </a:blip>
          <a:srcRect b="0" l="0" r="0" t="0"/>
          <a:stretch/>
        </p:blipFill>
        <p:spPr>
          <a:xfrm>
            <a:off x="8305800" y="4969014"/>
            <a:ext cx="7127824" cy="39906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15"/>
                                        </p:tgtEl>
                                        <p:attrNameLst>
                                          <p:attrName>style.visibility</p:attrName>
                                        </p:attrNameLst>
                                      </p:cBhvr>
                                      <p:to>
                                        <p:strVal val="visible"/>
                                      </p:to>
                                    </p:set>
                                    <p:anim calcmode="lin" valueType="num">
                                      <p:cBhvr additive="base">
                                        <p:cTn dur="500"/>
                                        <p:tgtEl>
                                          <p:spTgt spid="215"/>
                                        </p:tgtEl>
                                        <p:attrNameLst>
                                          <p:attrName>ppt_w</p:attrName>
                                        </p:attrNameLst>
                                      </p:cBhvr>
                                      <p:tavLst>
                                        <p:tav fmla="" tm="0">
                                          <p:val>
                                            <p:strVal val="0"/>
                                          </p:val>
                                        </p:tav>
                                        <p:tav fmla="" tm="100000">
                                          <p:val>
                                            <p:strVal val="#ppt_w"/>
                                          </p:val>
                                        </p:tav>
                                      </p:tavLst>
                                    </p:anim>
                                    <p:anim calcmode="lin" valueType="num">
                                      <p:cBhvr additive="base">
                                        <p:cTn dur="500"/>
                                        <p:tgtEl>
                                          <p:spTgt spid="21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14"/>
                                        </p:tgtEl>
                                        <p:attrNameLst>
                                          <p:attrName>style.visibility</p:attrName>
                                        </p:attrNameLst>
                                      </p:cBhvr>
                                      <p:to>
                                        <p:strVal val="visible"/>
                                      </p:to>
                                    </p:set>
                                    <p:anim calcmode="lin" valueType="num">
                                      <p:cBhvr additive="base">
                                        <p:cTn dur="500"/>
                                        <p:tgtEl>
                                          <p:spTgt spid="214"/>
                                        </p:tgtEl>
                                        <p:attrNameLst>
                                          <p:attrName>ppt_w</p:attrName>
                                        </p:attrNameLst>
                                      </p:cBhvr>
                                      <p:tavLst>
                                        <p:tav fmla="" tm="0">
                                          <p:val>
                                            <p:strVal val="0"/>
                                          </p:val>
                                        </p:tav>
                                        <p:tav fmla="" tm="100000">
                                          <p:val>
                                            <p:strVal val="#ppt_w"/>
                                          </p:val>
                                        </p:tav>
                                      </p:tavLst>
                                    </p:anim>
                                    <p:anim calcmode="lin" valueType="num">
                                      <p:cBhvr additive="base">
                                        <p:cTn dur="500"/>
                                        <p:tgtEl>
                                          <p:spTgt spid="21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cxnSp>
        <p:nvCxnSpPr>
          <p:cNvPr id="228" name="Google Shape;228;p18"/>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29" name="Google Shape;229;p18"/>
          <p:cNvGrpSpPr/>
          <p:nvPr/>
        </p:nvGrpSpPr>
        <p:grpSpPr>
          <a:xfrm rot="10800000">
            <a:off x="15785091" y="-536942"/>
            <a:ext cx="7681766" cy="4260610"/>
            <a:chOff x="0" y="-38100"/>
            <a:chExt cx="406400" cy="225405"/>
          </a:xfrm>
        </p:grpSpPr>
        <p:sp>
          <p:nvSpPr>
            <p:cNvPr id="230" name="Google Shape;230;p1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31" name="Google Shape;231;p1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2" name="Google Shape;232;p18"/>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33" name="Google Shape;233;p18"/>
          <p:cNvSpPr txBox="1"/>
          <p:nvPr/>
        </p:nvSpPr>
        <p:spPr>
          <a:xfrm>
            <a:off x="3359002" y="401132"/>
            <a:ext cx="11880900" cy="7389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 khi làm bài nghe APTIS</a:t>
            </a:r>
            <a:endParaRPr/>
          </a:p>
        </p:txBody>
      </p:sp>
      <p:grpSp>
        <p:nvGrpSpPr>
          <p:cNvPr id="234" name="Google Shape;234;p18"/>
          <p:cNvGrpSpPr/>
          <p:nvPr/>
        </p:nvGrpSpPr>
        <p:grpSpPr>
          <a:xfrm>
            <a:off x="-2718010" y="9274528"/>
            <a:ext cx="7950400" cy="1707231"/>
            <a:chOff x="0" y="-384762"/>
            <a:chExt cx="10600533" cy="2276307"/>
          </a:xfrm>
        </p:grpSpPr>
        <p:grpSp>
          <p:nvGrpSpPr>
            <p:cNvPr id="235" name="Google Shape;235;p18"/>
            <p:cNvGrpSpPr/>
            <p:nvPr/>
          </p:nvGrpSpPr>
          <p:grpSpPr>
            <a:xfrm>
              <a:off x="0" y="-384762"/>
              <a:ext cx="10600533" cy="2276307"/>
              <a:chOff x="0" y="-38100"/>
              <a:chExt cx="1049690" cy="225405"/>
            </a:xfrm>
          </p:grpSpPr>
          <p:sp>
            <p:nvSpPr>
              <p:cNvPr id="236" name="Google Shape;236;p1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37" name="Google Shape;237;p1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8" name="Google Shape;238;p1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9" name="Google Shape;239;p18"/>
          <p:cNvSpPr txBox="1"/>
          <p:nvPr/>
        </p:nvSpPr>
        <p:spPr>
          <a:xfrm>
            <a:off x="7245275" y="2117525"/>
            <a:ext cx="10810500" cy="1631700"/>
          </a:xfrm>
          <a:prstGeom prst="rect">
            <a:avLst/>
          </a:prstGeom>
          <a:noFill/>
          <a:ln>
            <a:noFill/>
          </a:ln>
        </p:spPr>
        <p:txBody>
          <a:bodyPr anchorCtr="0" anchor="t" bIns="45700" lIns="91425" spcFirstLastPara="1" rIns="91425" wrap="square" tIns="45700">
            <a:spAutoFit/>
          </a:bodyPr>
          <a:lstStyle/>
          <a:p>
            <a:pPr indent="-482600" lvl="0" marL="457200" marR="0" rtl="0" algn="l">
              <a:lnSpc>
                <a:spcPct val="150000"/>
              </a:lnSpc>
              <a:spcBef>
                <a:spcPts val="0"/>
              </a:spcBef>
              <a:spcAft>
                <a:spcPts val="0"/>
              </a:spcAft>
              <a:buClr>
                <a:schemeClr val="dk1"/>
              </a:buClr>
              <a:buSzPts val="4000"/>
              <a:buFont typeface="Roboto"/>
              <a:buChar char="➢"/>
            </a:pPr>
            <a:r>
              <a:rPr lang="en-US" sz="4000">
                <a:solidFill>
                  <a:schemeClr val="dk1"/>
                </a:solidFill>
                <a:latin typeface="Roboto"/>
                <a:ea typeface="Roboto"/>
                <a:cs typeface="Roboto"/>
                <a:sym typeface="Roboto"/>
              </a:rPr>
              <a:t>Gạch chân từ khóa trong các lựa chọn được đề bài đưa ra</a:t>
            </a:r>
            <a:endParaRPr>
              <a:latin typeface="Roboto"/>
              <a:ea typeface="Roboto"/>
              <a:cs typeface="Roboto"/>
              <a:sym typeface="Roboto"/>
            </a:endParaRPr>
          </a:p>
        </p:txBody>
      </p:sp>
      <p:sp>
        <p:nvSpPr>
          <p:cNvPr id="240" name="Google Shape;240;p18"/>
          <p:cNvSpPr txBox="1"/>
          <p:nvPr/>
        </p:nvSpPr>
        <p:spPr>
          <a:xfrm>
            <a:off x="7245275" y="4036719"/>
            <a:ext cx="10810500" cy="1631700"/>
          </a:xfrm>
          <a:prstGeom prst="rect">
            <a:avLst/>
          </a:prstGeom>
          <a:noFill/>
          <a:ln>
            <a:noFill/>
          </a:ln>
        </p:spPr>
        <p:txBody>
          <a:bodyPr anchorCtr="0" anchor="t" bIns="45700" lIns="91425" spcFirstLastPara="1" rIns="91425" wrap="square" tIns="45700">
            <a:spAutoFit/>
          </a:bodyPr>
          <a:lstStyle/>
          <a:p>
            <a:pPr indent="-482600" lvl="0" marL="457200" marR="0" rtl="0" algn="l">
              <a:lnSpc>
                <a:spcPct val="150000"/>
              </a:lnSpc>
              <a:spcBef>
                <a:spcPts val="0"/>
              </a:spcBef>
              <a:spcAft>
                <a:spcPts val="0"/>
              </a:spcAft>
              <a:buClr>
                <a:schemeClr val="dk1"/>
              </a:buClr>
              <a:buSzPts val="4000"/>
              <a:buFont typeface="Roboto"/>
              <a:buChar char="➢"/>
            </a:pPr>
            <a:r>
              <a:rPr lang="en-US" sz="4000">
                <a:solidFill>
                  <a:schemeClr val="dk1"/>
                </a:solidFill>
                <a:latin typeface="Roboto"/>
                <a:ea typeface="Roboto"/>
                <a:cs typeface="Roboto"/>
                <a:sym typeface="Roboto"/>
              </a:rPr>
              <a:t>Mỗi câu hỏi được nghe 2 lần, bao gồm 4 đoạn độc thoại của 4 người</a:t>
            </a:r>
            <a:endParaRPr>
              <a:latin typeface="Roboto"/>
              <a:ea typeface="Roboto"/>
              <a:cs typeface="Roboto"/>
              <a:sym typeface="Roboto"/>
            </a:endParaRPr>
          </a:p>
        </p:txBody>
      </p:sp>
      <p:sp>
        <p:nvSpPr>
          <p:cNvPr id="241" name="Google Shape;241;p18"/>
          <p:cNvSpPr txBox="1"/>
          <p:nvPr/>
        </p:nvSpPr>
        <p:spPr>
          <a:xfrm>
            <a:off x="7245275" y="5964906"/>
            <a:ext cx="10810500" cy="1631700"/>
          </a:xfrm>
          <a:prstGeom prst="rect">
            <a:avLst/>
          </a:prstGeom>
          <a:noFill/>
          <a:ln>
            <a:noFill/>
          </a:ln>
        </p:spPr>
        <p:txBody>
          <a:bodyPr anchorCtr="0" anchor="t" bIns="45700" lIns="91425" spcFirstLastPara="1" rIns="91425" wrap="square" tIns="45700">
            <a:spAutoFit/>
          </a:bodyPr>
          <a:lstStyle/>
          <a:p>
            <a:pPr indent="-482600" lvl="0" marL="457200" marR="0" rtl="0" algn="l">
              <a:lnSpc>
                <a:spcPct val="150000"/>
              </a:lnSpc>
              <a:spcBef>
                <a:spcPts val="0"/>
              </a:spcBef>
              <a:spcAft>
                <a:spcPts val="0"/>
              </a:spcAft>
              <a:buClr>
                <a:schemeClr val="dk1"/>
              </a:buClr>
              <a:buSzPts val="4000"/>
              <a:buFont typeface="Roboto"/>
              <a:buChar char="➢"/>
            </a:pPr>
            <a:r>
              <a:rPr lang="en-US" sz="4000">
                <a:solidFill>
                  <a:schemeClr val="dk1"/>
                </a:solidFill>
                <a:latin typeface="Roboto"/>
                <a:ea typeface="Roboto"/>
                <a:cs typeface="Roboto"/>
                <a:sym typeface="Roboto"/>
              </a:rPr>
              <a:t>Chú ý các yếu tố gây nhiễu, và các từ/cụm từ có thể được paraphrase</a:t>
            </a:r>
            <a:endParaRPr>
              <a:latin typeface="Roboto"/>
              <a:ea typeface="Roboto"/>
              <a:cs typeface="Roboto"/>
              <a:sym typeface="Roboto"/>
            </a:endParaRPr>
          </a:p>
        </p:txBody>
      </p:sp>
      <p:sp>
        <p:nvSpPr>
          <p:cNvPr id="242" name="Google Shape;242;p18"/>
          <p:cNvSpPr txBox="1"/>
          <p:nvPr/>
        </p:nvSpPr>
        <p:spPr>
          <a:xfrm>
            <a:off x="7245275" y="8032475"/>
            <a:ext cx="10810500" cy="1631700"/>
          </a:xfrm>
          <a:prstGeom prst="rect">
            <a:avLst/>
          </a:prstGeom>
          <a:noFill/>
          <a:ln>
            <a:noFill/>
          </a:ln>
        </p:spPr>
        <p:txBody>
          <a:bodyPr anchorCtr="0" anchor="t" bIns="45700" lIns="91425" spcFirstLastPara="1" rIns="91425" wrap="square" tIns="45700">
            <a:spAutoFit/>
          </a:bodyPr>
          <a:lstStyle/>
          <a:p>
            <a:pPr indent="-482600" lvl="0" marL="457200" marR="0" rtl="0" algn="l">
              <a:lnSpc>
                <a:spcPct val="150000"/>
              </a:lnSpc>
              <a:spcBef>
                <a:spcPts val="0"/>
              </a:spcBef>
              <a:spcAft>
                <a:spcPts val="0"/>
              </a:spcAft>
              <a:buClr>
                <a:schemeClr val="dk1"/>
              </a:buClr>
              <a:buSzPts val="4000"/>
              <a:buFont typeface="Roboto"/>
              <a:buChar char="➢"/>
            </a:pPr>
            <a:r>
              <a:rPr lang="en-US" sz="4000">
                <a:solidFill>
                  <a:schemeClr val="dk1"/>
                </a:solidFill>
                <a:latin typeface="Roboto"/>
                <a:ea typeface="Roboto"/>
                <a:cs typeface="Roboto"/>
                <a:sym typeface="Roboto"/>
              </a:rPr>
              <a:t>Nghe kỹ thông tin từng nhân vật và take notes để tìm được đáp án phù hợp</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cxnSp>
        <p:nvCxnSpPr>
          <p:cNvPr id="248" name="Google Shape;248;p19"/>
          <p:cNvCxnSpPr/>
          <p:nvPr/>
        </p:nvCxnSpPr>
        <p:spPr>
          <a:xfrm>
            <a:off x="3154"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49" name="Google Shape;249;p19"/>
          <p:cNvGrpSpPr/>
          <p:nvPr/>
        </p:nvGrpSpPr>
        <p:grpSpPr>
          <a:xfrm rot="10800000">
            <a:off x="15785091" y="-536942"/>
            <a:ext cx="7681766" cy="4260610"/>
            <a:chOff x="0" y="-38100"/>
            <a:chExt cx="406400" cy="225405"/>
          </a:xfrm>
        </p:grpSpPr>
        <p:sp>
          <p:nvSpPr>
            <p:cNvPr id="250" name="Google Shape;250;p1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51" name="Google Shape;251;p1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2" name="Google Shape;252;p19"/>
          <p:cNvSpPr txBox="1"/>
          <p:nvPr/>
        </p:nvSpPr>
        <p:spPr>
          <a:xfrm>
            <a:off x="6866001" y="910025"/>
            <a:ext cx="10787700" cy="7389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a:t>
            </a:r>
            <a:endParaRPr/>
          </a:p>
        </p:txBody>
      </p:sp>
      <p:grpSp>
        <p:nvGrpSpPr>
          <p:cNvPr id="253" name="Google Shape;253;p19"/>
          <p:cNvGrpSpPr/>
          <p:nvPr/>
        </p:nvGrpSpPr>
        <p:grpSpPr>
          <a:xfrm>
            <a:off x="-2718010" y="9274528"/>
            <a:ext cx="7950400" cy="1707231"/>
            <a:chOff x="0" y="-384762"/>
            <a:chExt cx="10600533" cy="2276307"/>
          </a:xfrm>
        </p:grpSpPr>
        <p:grpSp>
          <p:nvGrpSpPr>
            <p:cNvPr id="254" name="Google Shape;254;p19"/>
            <p:cNvGrpSpPr/>
            <p:nvPr/>
          </p:nvGrpSpPr>
          <p:grpSpPr>
            <a:xfrm>
              <a:off x="0" y="-384762"/>
              <a:ext cx="10600533" cy="2276307"/>
              <a:chOff x="0" y="-38100"/>
              <a:chExt cx="1049690" cy="225405"/>
            </a:xfrm>
          </p:grpSpPr>
          <p:sp>
            <p:nvSpPr>
              <p:cNvPr id="255" name="Google Shape;255;p1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56" name="Google Shape;256;p1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7" name="Google Shape;257;p1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8" name="Google Shape;258;p19"/>
          <p:cNvSpPr/>
          <p:nvPr/>
        </p:nvSpPr>
        <p:spPr>
          <a:xfrm>
            <a:off x="7720637" y="2270061"/>
            <a:ext cx="10186363" cy="70044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9"/>
          <p:cNvSpPr/>
          <p:nvPr/>
        </p:nvSpPr>
        <p:spPr>
          <a:xfrm>
            <a:off x="-52203" y="1059893"/>
            <a:ext cx="9424803" cy="9424803"/>
          </a:xfrm>
          <a:prstGeom prst="blockArc">
            <a:avLst>
              <a:gd fmla="val 19397388" name="adj1"/>
              <a:gd fmla="val 1908187" name="adj2"/>
              <a:gd fmla="val 0" name="adj3"/>
            </a:avLst>
          </a:prstGeom>
          <a:no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0" name="Google Shape;260;p19"/>
          <p:cNvCxnSpPr/>
          <p:nvPr/>
        </p:nvCxnSpPr>
        <p:spPr>
          <a:xfrm>
            <a:off x="7690000" y="1972100"/>
            <a:ext cx="9381900" cy="40500"/>
          </a:xfrm>
          <a:prstGeom prst="straightConnector1">
            <a:avLst/>
          </a:prstGeom>
          <a:noFill/>
          <a:ln cap="flat" cmpd="sng" w="38100">
            <a:solidFill>
              <a:srgbClr val="018345"/>
            </a:solidFill>
            <a:prstDash val="solid"/>
            <a:round/>
            <a:headEnd len="sm" w="sm" type="none"/>
            <a:tailEnd len="sm" w="sm" type="none"/>
          </a:ln>
        </p:spPr>
      </p:cxnSp>
      <p:grpSp>
        <p:nvGrpSpPr>
          <p:cNvPr id="261" name="Google Shape;261;p19"/>
          <p:cNvGrpSpPr/>
          <p:nvPr/>
        </p:nvGrpSpPr>
        <p:grpSpPr>
          <a:xfrm>
            <a:off x="8158730" y="3207820"/>
            <a:ext cx="8684450" cy="1094798"/>
            <a:chOff x="7100641" y="2598220"/>
            <a:chExt cx="8684450" cy="1094798"/>
          </a:xfrm>
        </p:grpSpPr>
        <p:sp>
          <p:nvSpPr>
            <p:cNvPr id="262" name="Google Shape;262;p19"/>
            <p:cNvSpPr/>
            <p:nvPr/>
          </p:nvSpPr>
          <p:spPr>
            <a:xfrm>
              <a:off x="7648040" y="2707700"/>
              <a:ext cx="8137051" cy="875838"/>
            </a:xfrm>
            <a:custGeom>
              <a:rect b="b" l="l" r="r" t="t"/>
              <a:pathLst>
                <a:path extrusionOk="0" h="875838" w="9428479">
                  <a:moveTo>
                    <a:pt x="0" y="0"/>
                  </a:moveTo>
                  <a:lnTo>
                    <a:pt x="9428479" y="0"/>
                  </a:lnTo>
                  <a:lnTo>
                    <a:pt x="94284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Roboto"/>
                  <a:ea typeface="Roboto"/>
                  <a:cs typeface="Roboto"/>
                  <a:sym typeface="Roboto"/>
                </a:rPr>
                <a:t>Giữ bình tĩnh và tự tin</a:t>
              </a:r>
              <a:endParaRPr sz="4600">
                <a:solidFill>
                  <a:schemeClr val="lt1"/>
                </a:solidFill>
                <a:latin typeface="Roboto"/>
                <a:ea typeface="Roboto"/>
                <a:cs typeface="Roboto"/>
                <a:sym typeface="Roboto"/>
              </a:endParaRPr>
            </a:p>
          </p:txBody>
        </p:sp>
        <p:sp>
          <p:nvSpPr>
            <p:cNvPr id="263" name="Google Shape;263;p19"/>
            <p:cNvSpPr/>
            <p:nvPr/>
          </p:nvSpPr>
          <p:spPr>
            <a:xfrm>
              <a:off x="7100641" y="2598220"/>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 name="Google Shape;264;p19"/>
          <p:cNvGrpSpPr/>
          <p:nvPr/>
        </p:nvGrpSpPr>
        <p:grpSpPr>
          <a:xfrm>
            <a:off x="8786330" y="4444957"/>
            <a:ext cx="8056850" cy="1094798"/>
            <a:chOff x="7728241" y="3911557"/>
            <a:chExt cx="8056850" cy="1094798"/>
          </a:xfrm>
        </p:grpSpPr>
        <p:sp>
          <p:nvSpPr>
            <p:cNvPr id="265" name="Google Shape;265;p19"/>
            <p:cNvSpPr/>
            <p:nvPr/>
          </p:nvSpPr>
          <p:spPr>
            <a:xfrm>
              <a:off x="8275640" y="4021037"/>
              <a:ext cx="7509451" cy="875838"/>
            </a:xfrm>
            <a:custGeom>
              <a:rect b="b" l="l" r="r" t="t"/>
              <a:pathLst>
                <a:path extrusionOk="0" h="875838" w="8800879">
                  <a:moveTo>
                    <a:pt x="0" y="0"/>
                  </a:moveTo>
                  <a:lnTo>
                    <a:pt x="8800879" y="0"/>
                  </a:lnTo>
                  <a:lnTo>
                    <a:pt x="88008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Roboto"/>
                  <a:ea typeface="Roboto"/>
                  <a:cs typeface="Roboto"/>
                  <a:sym typeface="Roboto"/>
                </a:rPr>
                <a:t>Nghe kỹ hướng dẫn</a:t>
              </a:r>
              <a:endParaRPr sz="4600">
                <a:solidFill>
                  <a:schemeClr val="lt1"/>
                </a:solidFill>
                <a:latin typeface="Roboto"/>
                <a:ea typeface="Roboto"/>
                <a:cs typeface="Roboto"/>
                <a:sym typeface="Roboto"/>
              </a:endParaRPr>
            </a:p>
          </p:txBody>
        </p:sp>
        <p:sp>
          <p:nvSpPr>
            <p:cNvPr id="266" name="Google Shape;266;p19"/>
            <p:cNvSpPr/>
            <p:nvPr/>
          </p:nvSpPr>
          <p:spPr>
            <a:xfrm>
              <a:off x="7728241" y="3911557"/>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7" name="Google Shape;267;p19"/>
          <p:cNvGrpSpPr/>
          <p:nvPr/>
        </p:nvGrpSpPr>
        <p:grpSpPr>
          <a:xfrm>
            <a:off x="8978953" y="5758295"/>
            <a:ext cx="7864227" cy="1094798"/>
            <a:chOff x="7920864" y="5224895"/>
            <a:chExt cx="7864227" cy="1094798"/>
          </a:xfrm>
        </p:grpSpPr>
        <p:sp>
          <p:nvSpPr>
            <p:cNvPr id="268" name="Google Shape;268;p19"/>
            <p:cNvSpPr/>
            <p:nvPr/>
          </p:nvSpPr>
          <p:spPr>
            <a:xfrm>
              <a:off x="8468263" y="5334375"/>
              <a:ext cx="7316828" cy="875838"/>
            </a:xfrm>
            <a:custGeom>
              <a:rect b="b" l="l" r="r" t="t"/>
              <a:pathLst>
                <a:path extrusionOk="0" h="875838" w="8608256">
                  <a:moveTo>
                    <a:pt x="0" y="0"/>
                  </a:moveTo>
                  <a:lnTo>
                    <a:pt x="8608256" y="0"/>
                  </a:lnTo>
                  <a:lnTo>
                    <a:pt x="8608256"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Roboto"/>
                  <a:ea typeface="Roboto"/>
                  <a:cs typeface="Roboto"/>
                  <a:sym typeface="Roboto"/>
                </a:rPr>
                <a:t>Theo sát các từ khóa</a:t>
              </a:r>
              <a:endParaRPr sz="4600">
                <a:solidFill>
                  <a:schemeClr val="lt1"/>
                </a:solidFill>
                <a:latin typeface="Roboto"/>
                <a:ea typeface="Roboto"/>
                <a:cs typeface="Roboto"/>
                <a:sym typeface="Roboto"/>
              </a:endParaRPr>
            </a:p>
          </p:txBody>
        </p:sp>
        <p:sp>
          <p:nvSpPr>
            <p:cNvPr id="269" name="Google Shape;269;p19"/>
            <p:cNvSpPr/>
            <p:nvPr/>
          </p:nvSpPr>
          <p:spPr>
            <a:xfrm>
              <a:off x="7920864" y="5224895"/>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0" name="Google Shape;270;p19"/>
          <p:cNvGrpSpPr/>
          <p:nvPr/>
        </p:nvGrpSpPr>
        <p:grpSpPr>
          <a:xfrm>
            <a:off x="8786330" y="6995432"/>
            <a:ext cx="8056850" cy="1094798"/>
            <a:chOff x="7728241" y="6538232"/>
            <a:chExt cx="8056850" cy="1094798"/>
          </a:xfrm>
        </p:grpSpPr>
        <p:sp>
          <p:nvSpPr>
            <p:cNvPr id="271" name="Google Shape;271;p19"/>
            <p:cNvSpPr/>
            <p:nvPr/>
          </p:nvSpPr>
          <p:spPr>
            <a:xfrm>
              <a:off x="8275640" y="6647712"/>
              <a:ext cx="7509451" cy="875838"/>
            </a:xfrm>
            <a:custGeom>
              <a:rect b="b" l="l" r="r" t="t"/>
              <a:pathLst>
                <a:path extrusionOk="0" h="875838" w="8800879">
                  <a:moveTo>
                    <a:pt x="0" y="0"/>
                  </a:moveTo>
                  <a:lnTo>
                    <a:pt x="8800879" y="0"/>
                  </a:lnTo>
                  <a:lnTo>
                    <a:pt x="88008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Roboto"/>
                  <a:ea typeface="Roboto"/>
                  <a:cs typeface="Roboto"/>
                  <a:sym typeface="Roboto"/>
                </a:rPr>
                <a:t>Luôn kiểm tra lại đáp án</a:t>
              </a:r>
              <a:endParaRPr sz="4600">
                <a:solidFill>
                  <a:schemeClr val="lt1"/>
                </a:solidFill>
                <a:latin typeface="Roboto"/>
                <a:ea typeface="Roboto"/>
                <a:cs typeface="Roboto"/>
                <a:sym typeface="Roboto"/>
              </a:endParaRPr>
            </a:p>
          </p:txBody>
        </p:sp>
        <p:sp>
          <p:nvSpPr>
            <p:cNvPr id="272" name="Google Shape;272;p19"/>
            <p:cNvSpPr/>
            <p:nvPr/>
          </p:nvSpPr>
          <p:spPr>
            <a:xfrm>
              <a:off x="7728241" y="6538232"/>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cxnSp>
        <p:nvCxnSpPr>
          <p:cNvPr id="277" name="Google Shape;277;p20"/>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78" name="Google Shape;278;p20"/>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79" name="Google Shape;279;p20"/>
          <p:cNvGrpSpPr/>
          <p:nvPr/>
        </p:nvGrpSpPr>
        <p:grpSpPr>
          <a:xfrm rot="10800000">
            <a:off x="15044552" y="-741521"/>
            <a:ext cx="7681766" cy="4260610"/>
            <a:chOff x="0" y="-38100"/>
            <a:chExt cx="406400" cy="225405"/>
          </a:xfrm>
        </p:grpSpPr>
        <p:sp>
          <p:nvSpPr>
            <p:cNvPr id="280" name="Google Shape;280;p2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81" name="Google Shape;281;p20"/>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82" name="Google Shape;282;p20"/>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83" name="Google Shape;283;p20"/>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84" name="Google Shape;284;p20"/>
          <p:cNvSpPr txBox="1"/>
          <p:nvPr/>
        </p:nvSpPr>
        <p:spPr>
          <a:xfrm>
            <a:off x="5511794" y="2502271"/>
            <a:ext cx="11760300" cy="1015800"/>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Đề mẫu</a:t>
            </a:r>
            <a:endParaRPr b="1" sz="6600">
              <a:solidFill>
                <a:srgbClr val="018345"/>
              </a:solidFill>
              <a:latin typeface="Montserrat"/>
              <a:ea typeface="Montserrat"/>
              <a:cs typeface="Montserrat"/>
              <a:sym typeface="Montserrat"/>
            </a:endParaRPr>
          </a:p>
        </p:txBody>
      </p:sp>
      <p:sp>
        <p:nvSpPr>
          <p:cNvPr id="285" name="Google Shape;285;p20"/>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03</a:t>
            </a:r>
            <a:endParaRPr/>
          </a:p>
        </p:txBody>
      </p:sp>
      <p:sp>
        <p:nvSpPr>
          <p:cNvPr id="286" name="Google Shape;286;p20"/>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87" name="Google Shape;287;p20"/>
          <p:cNvGrpSpPr/>
          <p:nvPr/>
        </p:nvGrpSpPr>
        <p:grpSpPr>
          <a:xfrm>
            <a:off x="-2718010" y="9274528"/>
            <a:ext cx="7950400" cy="1707231"/>
            <a:chOff x="0" y="-384762"/>
            <a:chExt cx="10600533" cy="2276307"/>
          </a:xfrm>
        </p:grpSpPr>
        <p:grpSp>
          <p:nvGrpSpPr>
            <p:cNvPr id="288" name="Google Shape;288;p20"/>
            <p:cNvGrpSpPr/>
            <p:nvPr/>
          </p:nvGrpSpPr>
          <p:grpSpPr>
            <a:xfrm>
              <a:off x="0" y="-384762"/>
              <a:ext cx="10600533" cy="2276307"/>
              <a:chOff x="0" y="-38100"/>
              <a:chExt cx="1049690" cy="225405"/>
            </a:xfrm>
          </p:grpSpPr>
          <p:sp>
            <p:nvSpPr>
              <p:cNvPr id="289" name="Google Shape;289;p2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90" name="Google Shape;290;p20"/>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1" name="Google Shape;291;p20"/>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292" name="Google Shape;292;p20"/>
          <p:cNvPicPr preferRelativeResize="0"/>
          <p:nvPr/>
        </p:nvPicPr>
        <p:blipFill rotWithShape="1">
          <a:blip r:embed="rId5">
            <a:alphaModFix/>
          </a:blip>
          <a:srcRect b="10096" l="0" r="0" t="10547"/>
          <a:stretch/>
        </p:blipFill>
        <p:spPr>
          <a:xfrm>
            <a:off x="7772400" y="4099418"/>
            <a:ext cx="6391277" cy="50719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500"/>
                                        <p:tgtEl>
                                          <p:spTgt spid="285"/>
                                        </p:tgtEl>
                                        <p:attrNameLst>
                                          <p:attrName>ppt_w</p:attrName>
                                        </p:attrNameLst>
                                      </p:cBhvr>
                                      <p:tavLst>
                                        <p:tav fmla="" tm="0">
                                          <p:val>
                                            <p:strVal val="0"/>
                                          </p:val>
                                        </p:tav>
                                        <p:tav fmla="" tm="100000">
                                          <p:val>
                                            <p:strVal val="#ppt_w"/>
                                          </p:val>
                                        </p:tav>
                                      </p:tavLst>
                                    </p:anim>
                                    <p:anim calcmode="lin" valueType="num">
                                      <p:cBhvr additive="base">
                                        <p:cTn dur="500"/>
                                        <p:tgtEl>
                                          <p:spTgt spid="28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84"/>
                                        </p:tgtEl>
                                        <p:attrNameLst>
                                          <p:attrName>style.visibility</p:attrName>
                                        </p:attrNameLst>
                                      </p:cBhvr>
                                      <p:to>
                                        <p:strVal val="visible"/>
                                      </p:to>
                                    </p:set>
                                    <p:anim calcmode="lin" valueType="num">
                                      <p:cBhvr additive="base">
                                        <p:cTn dur="500"/>
                                        <p:tgtEl>
                                          <p:spTgt spid="284"/>
                                        </p:tgtEl>
                                        <p:attrNameLst>
                                          <p:attrName>ppt_w</p:attrName>
                                        </p:attrNameLst>
                                      </p:cBhvr>
                                      <p:tavLst>
                                        <p:tav fmla="" tm="0">
                                          <p:val>
                                            <p:strVal val="0"/>
                                          </p:val>
                                        </p:tav>
                                        <p:tav fmla="" tm="100000">
                                          <p:val>
                                            <p:strVal val="#ppt_w"/>
                                          </p:val>
                                        </p:tav>
                                      </p:tavLst>
                                    </p:anim>
                                    <p:anim calcmode="lin" valueType="num">
                                      <p:cBhvr additive="base">
                                        <p:cTn dur="500"/>
                                        <p:tgtEl>
                                          <p:spTgt spid="28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cxnSp>
        <p:nvCxnSpPr>
          <p:cNvPr id="298" name="Google Shape;298;p21"/>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299" name="Google Shape;299;p21"/>
          <p:cNvGrpSpPr/>
          <p:nvPr/>
        </p:nvGrpSpPr>
        <p:grpSpPr>
          <a:xfrm rot="10800000">
            <a:off x="15785084" y="-536938"/>
            <a:ext cx="7681773" cy="4260605"/>
            <a:chOff x="0" y="-38100"/>
            <a:chExt cx="406400" cy="225405"/>
          </a:xfrm>
        </p:grpSpPr>
        <p:sp>
          <p:nvSpPr>
            <p:cNvPr id="300" name="Google Shape;300;p2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01" name="Google Shape;301;p2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2" name="Google Shape;302;p2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303" name="Google Shape;303;p21"/>
          <p:cNvGrpSpPr/>
          <p:nvPr/>
        </p:nvGrpSpPr>
        <p:grpSpPr>
          <a:xfrm>
            <a:off x="-2718010" y="9274530"/>
            <a:ext cx="7950378" cy="1707223"/>
            <a:chOff x="0" y="-384760"/>
            <a:chExt cx="10600504" cy="2276297"/>
          </a:xfrm>
        </p:grpSpPr>
        <p:grpSp>
          <p:nvGrpSpPr>
            <p:cNvPr id="304" name="Google Shape;304;p21"/>
            <p:cNvGrpSpPr/>
            <p:nvPr/>
          </p:nvGrpSpPr>
          <p:grpSpPr>
            <a:xfrm>
              <a:off x="0" y="-384760"/>
              <a:ext cx="10600504" cy="2276297"/>
              <a:chOff x="0" y="-38100"/>
              <a:chExt cx="1049690" cy="225405"/>
            </a:xfrm>
          </p:grpSpPr>
          <p:sp>
            <p:nvSpPr>
              <p:cNvPr id="305" name="Google Shape;305;p2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06" name="Google Shape;306;p21"/>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7" name="Google Shape;307;p21"/>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8" name="Google Shape;308;p21"/>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309" name="Google Shape;309;p21"/>
          <p:cNvSpPr txBox="1"/>
          <p:nvPr/>
        </p:nvSpPr>
        <p:spPr>
          <a:xfrm>
            <a:off x="7384250" y="2306100"/>
            <a:ext cx="11089500" cy="7980900"/>
          </a:xfrm>
          <a:prstGeom prst="rect">
            <a:avLst/>
          </a:prstGeom>
          <a:noFill/>
          <a:ln>
            <a:noFill/>
          </a:ln>
        </p:spPr>
        <p:txBody>
          <a:bodyPr anchorCtr="0" anchor="t" bIns="45700" lIns="91425" spcFirstLastPara="1" rIns="91425" wrap="square" tIns="45700">
            <a:spAutoFit/>
          </a:bodyPr>
          <a:lstStyle/>
          <a:p>
            <a:pPr indent="0" lvl="0" marL="45720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Four people are talking about their weekends.</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Complete the sentences below.</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rgbClr val="0A0A0A"/>
                </a:solidFill>
                <a:latin typeface="Roboto"/>
                <a:ea typeface="Roboto"/>
                <a:cs typeface="Roboto"/>
                <a:sym typeface="Roboto"/>
              </a:rPr>
              <a:t>Speaker A ____________ .</a:t>
            </a:r>
            <a:endParaRPr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rgbClr val="0A0A0A"/>
                </a:solidFill>
                <a:latin typeface="Roboto"/>
                <a:ea typeface="Roboto"/>
                <a:cs typeface="Roboto"/>
                <a:sym typeface="Roboto"/>
              </a:rPr>
              <a:t>Speaker B ____________ .</a:t>
            </a:r>
            <a:endParaRPr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rgbClr val="0A0A0A"/>
                </a:solidFill>
                <a:latin typeface="Roboto"/>
                <a:ea typeface="Roboto"/>
                <a:cs typeface="Roboto"/>
                <a:sym typeface="Roboto"/>
              </a:rPr>
              <a:t>Speaker C ____________ .</a:t>
            </a:r>
            <a:endParaRPr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rgbClr val="0A0A0A"/>
                </a:solidFill>
                <a:latin typeface="Roboto"/>
                <a:ea typeface="Roboto"/>
                <a:cs typeface="Roboto"/>
                <a:sym typeface="Roboto"/>
              </a:rPr>
              <a:t>Speaker D ____________ .</a:t>
            </a:r>
            <a:endParaRPr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t/>
            </a:r>
            <a:endParaRPr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1. 	has busy mornings before relaxing.</a:t>
            </a:r>
            <a:endParaRPr b="1"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2. 	goes cycling in the park.</a:t>
            </a:r>
            <a:endParaRPr b="1"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3. 	has quiet mornings.</a:t>
            </a:r>
            <a:endParaRPr b="1"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4. 	doesn’t relax during the day.</a:t>
            </a:r>
            <a:endParaRPr b="1"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5. 	relaxes by keeping busy.</a:t>
            </a:r>
            <a:endParaRPr b="1"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6. 	meets friends in the morning</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t/>
            </a:r>
            <a:endParaRPr b="1" sz="2500">
              <a:solidFill>
                <a:srgbClr val="018345"/>
              </a:solidFill>
              <a:latin typeface="Roboto"/>
              <a:ea typeface="Roboto"/>
              <a:cs typeface="Roboto"/>
              <a:sym typeface="Roboto"/>
            </a:endParaRPr>
          </a:p>
        </p:txBody>
      </p:sp>
      <p:pic>
        <p:nvPicPr>
          <p:cNvPr id="310" name="Google Shape;310;p21" title="Q14 Part 2.MP3">
            <a:hlinkClick r:id="rId4"/>
          </p:cNvPr>
          <p:cNvPicPr preferRelativeResize="0"/>
          <p:nvPr/>
        </p:nvPicPr>
        <p:blipFill>
          <a:blip r:embed="rId5">
            <a:alphaModFix/>
          </a:blip>
          <a:stretch>
            <a:fillRect/>
          </a:stretch>
        </p:blipFill>
        <p:spPr>
          <a:xfrm>
            <a:off x="13968350" y="3723687"/>
            <a:ext cx="923400" cy="923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cxnSp>
        <p:nvCxnSpPr>
          <p:cNvPr id="315" name="Google Shape;315;p22"/>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316" name="Google Shape;316;p22"/>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17" name="Google Shape;317;p22"/>
          <p:cNvGrpSpPr/>
          <p:nvPr/>
        </p:nvGrpSpPr>
        <p:grpSpPr>
          <a:xfrm rot="10800000">
            <a:off x="15044552" y="-741521"/>
            <a:ext cx="7681766" cy="4260610"/>
            <a:chOff x="0" y="-38100"/>
            <a:chExt cx="406400" cy="225405"/>
          </a:xfrm>
        </p:grpSpPr>
        <p:sp>
          <p:nvSpPr>
            <p:cNvPr id="318" name="Google Shape;318;p2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19" name="Google Shape;319;p2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320" name="Google Shape;320;p22"/>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21" name="Google Shape;321;p22"/>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22" name="Google Shape;322;p22"/>
          <p:cNvSpPr txBox="1"/>
          <p:nvPr/>
        </p:nvSpPr>
        <p:spPr>
          <a:xfrm>
            <a:off x="5232390" y="2564021"/>
            <a:ext cx="11760300" cy="831300"/>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Hướng dẫn trả lời</a:t>
            </a:r>
            <a:r>
              <a:rPr b="1" lang="en-US" sz="5400">
                <a:solidFill>
                  <a:srgbClr val="018345"/>
                </a:solidFill>
                <a:latin typeface="Montserrat"/>
                <a:ea typeface="Montserrat"/>
                <a:cs typeface="Montserrat"/>
                <a:sym typeface="Montserrat"/>
              </a:rPr>
              <a:t> &amp; Đáp án</a:t>
            </a:r>
            <a:endParaRPr/>
          </a:p>
        </p:txBody>
      </p:sp>
      <p:sp>
        <p:nvSpPr>
          <p:cNvPr id="323" name="Google Shape;323;p22"/>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04</a:t>
            </a:r>
            <a:endParaRPr/>
          </a:p>
        </p:txBody>
      </p:sp>
      <p:sp>
        <p:nvSpPr>
          <p:cNvPr id="324" name="Google Shape;324;p22"/>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325" name="Google Shape;325;p22"/>
          <p:cNvGrpSpPr/>
          <p:nvPr/>
        </p:nvGrpSpPr>
        <p:grpSpPr>
          <a:xfrm>
            <a:off x="-2718010" y="9274528"/>
            <a:ext cx="7950400" cy="1707231"/>
            <a:chOff x="0" y="-384762"/>
            <a:chExt cx="10600533" cy="2276307"/>
          </a:xfrm>
        </p:grpSpPr>
        <p:grpSp>
          <p:nvGrpSpPr>
            <p:cNvPr id="326" name="Google Shape;326;p22"/>
            <p:cNvGrpSpPr/>
            <p:nvPr/>
          </p:nvGrpSpPr>
          <p:grpSpPr>
            <a:xfrm>
              <a:off x="0" y="-384762"/>
              <a:ext cx="10600533" cy="2276307"/>
              <a:chOff x="0" y="-38100"/>
              <a:chExt cx="1049690" cy="225405"/>
            </a:xfrm>
          </p:grpSpPr>
          <p:sp>
            <p:nvSpPr>
              <p:cNvPr id="327" name="Google Shape;327;p2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28" name="Google Shape;328;p22"/>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9" name="Google Shape;329;p22"/>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0" name="Google Shape;330;p22"/>
          <p:cNvSpPr/>
          <p:nvPr/>
        </p:nvSpPr>
        <p:spPr>
          <a:xfrm>
            <a:off x="9563099" y="4749873"/>
            <a:ext cx="3276055" cy="3301942"/>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23"/>
                                        </p:tgtEl>
                                        <p:attrNameLst>
                                          <p:attrName>style.visibility</p:attrName>
                                        </p:attrNameLst>
                                      </p:cBhvr>
                                      <p:to>
                                        <p:strVal val="visible"/>
                                      </p:to>
                                    </p:set>
                                    <p:anim calcmode="lin" valueType="num">
                                      <p:cBhvr additive="base">
                                        <p:cTn dur="500"/>
                                        <p:tgtEl>
                                          <p:spTgt spid="323"/>
                                        </p:tgtEl>
                                        <p:attrNameLst>
                                          <p:attrName>ppt_w</p:attrName>
                                        </p:attrNameLst>
                                      </p:cBhvr>
                                      <p:tavLst>
                                        <p:tav fmla="" tm="0">
                                          <p:val>
                                            <p:strVal val="0"/>
                                          </p:val>
                                        </p:tav>
                                        <p:tav fmla="" tm="100000">
                                          <p:val>
                                            <p:strVal val="#ppt_w"/>
                                          </p:val>
                                        </p:tav>
                                      </p:tavLst>
                                    </p:anim>
                                    <p:anim calcmode="lin" valueType="num">
                                      <p:cBhvr additive="base">
                                        <p:cTn dur="500"/>
                                        <p:tgtEl>
                                          <p:spTgt spid="32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22"/>
                                        </p:tgtEl>
                                        <p:attrNameLst>
                                          <p:attrName>style.visibility</p:attrName>
                                        </p:attrNameLst>
                                      </p:cBhvr>
                                      <p:to>
                                        <p:strVal val="visible"/>
                                      </p:to>
                                    </p:set>
                                    <p:anim calcmode="lin" valueType="num">
                                      <p:cBhvr additive="base">
                                        <p:cTn dur="500"/>
                                        <p:tgtEl>
                                          <p:spTgt spid="322"/>
                                        </p:tgtEl>
                                        <p:attrNameLst>
                                          <p:attrName>ppt_w</p:attrName>
                                        </p:attrNameLst>
                                      </p:cBhvr>
                                      <p:tavLst>
                                        <p:tav fmla="" tm="0">
                                          <p:val>
                                            <p:strVal val="0"/>
                                          </p:val>
                                        </p:tav>
                                        <p:tav fmla="" tm="100000">
                                          <p:val>
                                            <p:strVal val="#ppt_w"/>
                                          </p:val>
                                        </p:tav>
                                      </p:tavLst>
                                    </p:anim>
                                    <p:anim calcmode="lin" valueType="num">
                                      <p:cBhvr additive="base">
                                        <p:cTn dur="500"/>
                                        <p:tgtEl>
                                          <p:spTgt spid="32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cxnSp>
        <p:nvCxnSpPr>
          <p:cNvPr id="335" name="Google Shape;335;p23"/>
          <p:cNvCxnSpPr/>
          <p:nvPr/>
        </p:nvCxnSpPr>
        <p:spPr>
          <a:xfrm>
            <a:off x="5571910" y="2437219"/>
            <a:ext cx="11880900" cy="0"/>
          </a:xfrm>
          <a:prstGeom prst="straightConnector1">
            <a:avLst/>
          </a:prstGeom>
          <a:noFill/>
          <a:ln cap="flat" cmpd="sng" w="38100">
            <a:solidFill>
              <a:srgbClr val="018345"/>
            </a:solidFill>
            <a:prstDash val="solid"/>
            <a:round/>
            <a:headEnd len="sm" w="sm" type="none"/>
            <a:tailEnd len="sm" w="sm" type="none"/>
          </a:ln>
        </p:spPr>
      </p:cxnSp>
      <p:cxnSp>
        <p:nvCxnSpPr>
          <p:cNvPr id="336" name="Google Shape;336;p23"/>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337" name="Google Shape;337;p23"/>
          <p:cNvGrpSpPr/>
          <p:nvPr/>
        </p:nvGrpSpPr>
        <p:grpSpPr>
          <a:xfrm rot="10800000">
            <a:off x="15785084" y="-536938"/>
            <a:ext cx="7681773" cy="4260605"/>
            <a:chOff x="0" y="-38100"/>
            <a:chExt cx="406400" cy="225405"/>
          </a:xfrm>
        </p:grpSpPr>
        <p:sp>
          <p:nvSpPr>
            <p:cNvPr id="338" name="Google Shape;338;p2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39" name="Google Shape;339;p2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340" name="Google Shape;340;p23"/>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41" name="Google Shape;341;p2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342" name="Google Shape;342;p23"/>
          <p:cNvGrpSpPr/>
          <p:nvPr/>
        </p:nvGrpSpPr>
        <p:grpSpPr>
          <a:xfrm>
            <a:off x="6146917" y="3357868"/>
            <a:ext cx="3360600" cy="2221525"/>
            <a:chOff x="0" y="-57150"/>
            <a:chExt cx="4480800" cy="2962033"/>
          </a:xfrm>
        </p:grpSpPr>
        <p:sp>
          <p:nvSpPr>
            <p:cNvPr id="343" name="Google Shape;343;p23"/>
            <p:cNvSpPr/>
            <p:nvPr/>
          </p:nvSpPr>
          <p:spPr>
            <a:xfrm>
              <a:off x="21587" y="23176"/>
              <a:ext cx="4437608" cy="2858534"/>
            </a:xfrm>
            <a:custGeom>
              <a:rect b="b" l="l" r="r" t="t"/>
              <a:pathLst>
                <a:path extrusionOk="0" h="2858534" w="4437608">
                  <a:moveTo>
                    <a:pt x="0" y="285838"/>
                  </a:moveTo>
                  <a:cubicBezTo>
                    <a:pt x="0" y="127932"/>
                    <a:pt x="119162" y="0"/>
                    <a:pt x="266242" y="0"/>
                  </a:cubicBezTo>
                  <a:lnTo>
                    <a:pt x="4171366" y="0"/>
                  </a:lnTo>
                  <a:cubicBezTo>
                    <a:pt x="4318447" y="0"/>
                    <a:pt x="4437609" y="127932"/>
                    <a:pt x="4437609" y="285838"/>
                  </a:cubicBezTo>
                  <a:lnTo>
                    <a:pt x="4437609" y="2572696"/>
                  </a:lnTo>
                  <a:cubicBezTo>
                    <a:pt x="4437609" y="2730602"/>
                    <a:pt x="4318447" y="2858534"/>
                    <a:pt x="4171366" y="2858534"/>
                  </a:cubicBezTo>
                  <a:lnTo>
                    <a:pt x="266242" y="2858534"/>
                  </a:lnTo>
                  <a:cubicBezTo>
                    <a:pt x="119162" y="2858534"/>
                    <a:pt x="0" y="2730602"/>
                    <a:pt x="0" y="2572696"/>
                  </a:cubicBezTo>
                  <a:lnTo>
                    <a:pt x="0" y="285838"/>
                  </a:ln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3"/>
            <p:cNvSpPr/>
            <p:nvPr/>
          </p:nvSpPr>
          <p:spPr>
            <a:xfrm>
              <a:off x="0" y="0"/>
              <a:ext cx="4480780" cy="2904883"/>
            </a:xfrm>
            <a:custGeom>
              <a:rect b="b" l="l" r="r" t="t"/>
              <a:pathLst>
                <a:path extrusionOk="0" h="2904883" w="4480780">
                  <a:moveTo>
                    <a:pt x="0" y="309014"/>
                  </a:moveTo>
                  <a:cubicBezTo>
                    <a:pt x="0" y="138284"/>
                    <a:pt x="128804" y="0"/>
                    <a:pt x="287829" y="0"/>
                  </a:cubicBezTo>
                  <a:lnTo>
                    <a:pt x="287829" y="23176"/>
                  </a:lnTo>
                  <a:lnTo>
                    <a:pt x="287829" y="0"/>
                  </a:lnTo>
                  <a:lnTo>
                    <a:pt x="4192953" y="0"/>
                  </a:lnTo>
                  <a:lnTo>
                    <a:pt x="4192953" y="23176"/>
                  </a:lnTo>
                  <a:lnTo>
                    <a:pt x="4192953" y="0"/>
                  </a:lnTo>
                  <a:cubicBezTo>
                    <a:pt x="4351979" y="0"/>
                    <a:pt x="4480780" y="138284"/>
                    <a:pt x="4480780" y="309014"/>
                  </a:cubicBezTo>
                  <a:lnTo>
                    <a:pt x="4459196" y="309014"/>
                  </a:lnTo>
                  <a:lnTo>
                    <a:pt x="4480780" y="309014"/>
                  </a:lnTo>
                  <a:lnTo>
                    <a:pt x="4480780" y="2595872"/>
                  </a:lnTo>
                  <a:lnTo>
                    <a:pt x="4459196" y="2595872"/>
                  </a:lnTo>
                  <a:lnTo>
                    <a:pt x="4480780" y="2595872"/>
                  </a:lnTo>
                  <a:cubicBezTo>
                    <a:pt x="4480780" y="2766602"/>
                    <a:pt x="4351979" y="2904883"/>
                    <a:pt x="4192953" y="2904883"/>
                  </a:cubicBezTo>
                  <a:lnTo>
                    <a:pt x="4192953" y="2881710"/>
                  </a:lnTo>
                  <a:lnTo>
                    <a:pt x="4192953" y="2904883"/>
                  </a:lnTo>
                  <a:lnTo>
                    <a:pt x="287829" y="2904883"/>
                  </a:lnTo>
                  <a:lnTo>
                    <a:pt x="287829" y="2881710"/>
                  </a:lnTo>
                  <a:lnTo>
                    <a:pt x="287829" y="2904883"/>
                  </a:lnTo>
                  <a:cubicBezTo>
                    <a:pt x="128804" y="2904883"/>
                    <a:pt x="0" y="2766602"/>
                    <a:pt x="0" y="2595872"/>
                  </a:cubicBezTo>
                  <a:lnTo>
                    <a:pt x="21587" y="2595872"/>
                  </a:lnTo>
                  <a:lnTo>
                    <a:pt x="0" y="2595872"/>
                  </a:lnTo>
                  <a:lnTo>
                    <a:pt x="0" y="309014"/>
                  </a:lnTo>
                  <a:lnTo>
                    <a:pt x="21587" y="309014"/>
                  </a:lnTo>
                  <a:lnTo>
                    <a:pt x="0" y="309014"/>
                  </a:lnTo>
                  <a:moveTo>
                    <a:pt x="43174" y="309014"/>
                  </a:moveTo>
                  <a:lnTo>
                    <a:pt x="43174" y="2595872"/>
                  </a:lnTo>
                  <a:cubicBezTo>
                    <a:pt x="43174" y="2740954"/>
                    <a:pt x="152693" y="2858534"/>
                    <a:pt x="287829" y="2858534"/>
                  </a:cubicBezTo>
                  <a:lnTo>
                    <a:pt x="4192953" y="2858534"/>
                  </a:lnTo>
                  <a:cubicBezTo>
                    <a:pt x="4328090" y="2858534"/>
                    <a:pt x="4437609" y="2740954"/>
                    <a:pt x="4437609" y="2595872"/>
                  </a:cubicBezTo>
                  <a:lnTo>
                    <a:pt x="4437609" y="309014"/>
                  </a:lnTo>
                  <a:cubicBezTo>
                    <a:pt x="4437609" y="163932"/>
                    <a:pt x="4328090" y="46352"/>
                    <a:pt x="4192953" y="46352"/>
                  </a:cubicBezTo>
                  <a:lnTo>
                    <a:pt x="287829" y="46352"/>
                  </a:lnTo>
                  <a:cubicBezTo>
                    <a:pt x="152693" y="46352"/>
                    <a:pt x="43174" y="163932"/>
                    <a:pt x="43174" y="309014"/>
                  </a:cubicBez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3"/>
            <p:cNvSpPr txBox="1"/>
            <p:nvPr/>
          </p:nvSpPr>
          <p:spPr>
            <a:xfrm>
              <a:off x="0" y="-57150"/>
              <a:ext cx="4480800" cy="2961900"/>
            </a:xfrm>
            <a:prstGeom prst="rect">
              <a:avLst/>
            </a:prstGeom>
            <a:solidFill>
              <a:srgbClr val="018146"/>
            </a:solidFill>
            <a:ln>
              <a:noFill/>
            </a:ln>
          </p:spPr>
          <p:txBody>
            <a:bodyPr anchorCtr="0" anchor="ctr" bIns="50800" lIns="50800" spcFirstLastPara="1" rIns="50800" wrap="square" tIns="50800">
              <a:noAutofit/>
            </a:bodyPr>
            <a:lstStyle/>
            <a:p>
              <a:pPr indent="0" lvl="0" marL="0" marR="0" rtl="0" algn="ctr">
                <a:lnSpc>
                  <a:spcPct val="135009"/>
                </a:lnSpc>
                <a:spcBef>
                  <a:spcPts val="0"/>
                </a:spcBef>
                <a:spcAft>
                  <a:spcPts val="0"/>
                </a:spcAft>
                <a:buNone/>
              </a:pPr>
              <a:r>
                <a:rPr b="1" i="0" lang="en-US" sz="3899" u="none" cap="none" strike="noStrike">
                  <a:solidFill>
                    <a:srgbClr val="FFFFFF"/>
                  </a:solidFill>
                  <a:latin typeface="Roboto"/>
                  <a:ea typeface="Roboto"/>
                  <a:cs typeface="Roboto"/>
                  <a:sym typeface="Roboto"/>
                </a:rPr>
                <a:t>Trước</a:t>
              </a:r>
              <a:endParaRPr/>
            </a:p>
            <a:p>
              <a:pPr indent="0" lvl="0" marL="0" marR="0" rtl="0" algn="ctr">
                <a:lnSpc>
                  <a:spcPct val="135009"/>
                </a:lnSpc>
                <a:spcBef>
                  <a:spcPts val="0"/>
                </a:spcBef>
                <a:spcAft>
                  <a:spcPts val="0"/>
                </a:spcAft>
                <a:buNone/>
              </a:pPr>
              <a:r>
                <a:rPr b="0" i="0" lang="en-US" sz="3899" u="none" cap="none" strike="noStrike">
                  <a:solidFill>
                    <a:srgbClr val="FFFFFF"/>
                  </a:solidFill>
                  <a:latin typeface="Roboto"/>
                  <a:ea typeface="Roboto"/>
                  <a:cs typeface="Roboto"/>
                  <a:sym typeface="Roboto"/>
                </a:rPr>
                <a:t> khi nghe</a:t>
              </a:r>
              <a:endParaRPr/>
            </a:p>
          </p:txBody>
        </p:sp>
      </p:grpSp>
      <p:sp>
        <p:nvSpPr>
          <p:cNvPr id="346" name="Google Shape;346;p23"/>
          <p:cNvSpPr/>
          <p:nvPr/>
        </p:nvSpPr>
        <p:spPr>
          <a:xfrm>
            <a:off x="5266540" y="3818361"/>
            <a:ext cx="705669" cy="1007457"/>
          </a:xfrm>
          <a:custGeom>
            <a:rect b="b" l="l" r="r" t="t"/>
            <a:pathLst>
              <a:path extrusionOk="0" h="1185243" w="830199">
                <a:moveTo>
                  <a:pt x="0" y="236987"/>
                </a:moveTo>
                <a:lnTo>
                  <a:pt x="415036" y="236987"/>
                </a:lnTo>
                <a:lnTo>
                  <a:pt x="415036" y="0"/>
                </a:lnTo>
                <a:lnTo>
                  <a:pt x="830199" y="592700"/>
                </a:lnTo>
                <a:lnTo>
                  <a:pt x="415036" y="1185244"/>
                </a:lnTo>
                <a:lnTo>
                  <a:pt x="415036" y="948257"/>
                </a:lnTo>
                <a:lnTo>
                  <a:pt x="0" y="948257"/>
                </a:lnTo>
                <a:lnTo>
                  <a:pt x="0" y="236987"/>
                </a:lnTo>
                <a:close/>
              </a:path>
            </a:pathLst>
          </a:custGeom>
          <a:solidFill>
            <a:srgbClr val="018146"/>
          </a:solidFill>
          <a:ln>
            <a:noFill/>
          </a:ln>
        </p:spPr>
      </p:sp>
      <p:grpSp>
        <p:nvGrpSpPr>
          <p:cNvPr id="347" name="Google Shape;347;p23"/>
          <p:cNvGrpSpPr/>
          <p:nvPr/>
        </p:nvGrpSpPr>
        <p:grpSpPr>
          <a:xfrm>
            <a:off x="9976655" y="5264180"/>
            <a:ext cx="3360600" cy="2470725"/>
            <a:chOff x="0" y="-57150"/>
            <a:chExt cx="4480800" cy="3294300"/>
          </a:xfrm>
        </p:grpSpPr>
        <p:sp>
          <p:nvSpPr>
            <p:cNvPr id="348" name="Google Shape;348;p23"/>
            <p:cNvSpPr/>
            <p:nvPr/>
          </p:nvSpPr>
          <p:spPr>
            <a:xfrm>
              <a:off x="21587" y="25826"/>
              <a:ext cx="4437608" cy="3185422"/>
            </a:xfrm>
            <a:custGeom>
              <a:rect b="b" l="l" r="r" t="t"/>
              <a:pathLst>
                <a:path extrusionOk="0" h="3185422" w="4437608">
                  <a:moveTo>
                    <a:pt x="0" y="318525"/>
                  </a:moveTo>
                  <a:cubicBezTo>
                    <a:pt x="0" y="142562"/>
                    <a:pt x="119162" y="0"/>
                    <a:pt x="266242" y="0"/>
                  </a:cubicBezTo>
                  <a:lnTo>
                    <a:pt x="4171366" y="0"/>
                  </a:lnTo>
                  <a:cubicBezTo>
                    <a:pt x="4318447" y="0"/>
                    <a:pt x="4437609" y="142562"/>
                    <a:pt x="4437609" y="318525"/>
                  </a:cubicBezTo>
                  <a:lnTo>
                    <a:pt x="4437609" y="2866897"/>
                  </a:lnTo>
                  <a:cubicBezTo>
                    <a:pt x="4437609" y="3042861"/>
                    <a:pt x="4318447" y="3185422"/>
                    <a:pt x="4171366" y="3185422"/>
                  </a:cubicBezTo>
                  <a:lnTo>
                    <a:pt x="266242" y="3185422"/>
                  </a:lnTo>
                  <a:cubicBezTo>
                    <a:pt x="119162" y="3185422"/>
                    <a:pt x="0" y="3042861"/>
                    <a:pt x="0" y="2866897"/>
                  </a:cubicBezTo>
                  <a:lnTo>
                    <a:pt x="0" y="318525"/>
                  </a:ln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3"/>
            <p:cNvSpPr/>
            <p:nvPr/>
          </p:nvSpPr>
          <p:spPr>
            <a:xfrm>
              <a:off x="0" y="0"/>
              <a:ext cx="4480780" cy="3237069"/>
            </a:xfrm>
            <a:custGeom>
              <a:rect b="b" l="l" r="r" t="t"/>
              <a:pathLst>
                <a:path extrusionOk="0" h="3237069" w="4480780">
                  <a:moveTo>
                    <a:pt x="0" y="344351"/>
                  </a:moveTo>
                  <a:cubicBezTo>
                    <a:pt x="0" y="154097"/>
                    <a:pt x="128804" y="0"/>
                    <a:pt x="287829" y="0"/>
                  </a:cubicBezTo>
                  <a:lnTo>
                    <a:pt x="287829" y="25826"/>
                  </a:lnTo>
                  <a:lnTo>
                    <a:pt x="287829" y="0"/>
                  </a:lnTo>
                  <a:lnTo>
                    <a:pt x="4192953" y="0"/>
                  </a:lnTo>
                  <a:lnTo>
                    <a:pt x="4192953" y="25826"/>
                  </a:lnTo>
                  <a:lnTo>
                    <a:pt x="4192953" y="0"/>
                  </a:lnTo>
                  <a:cubicBezTo>
                    <a:pt x="4351979" y="0"/>
                    <a:pt x="4480780" y="154097"/>
                    <a:pt x="4480780" y="344351"/>
                  </a:cubicBezTo>
                  <a:lnTo>
                    <a:pt x="4459196" y="344351"/>
                  </a:lnTo>
                  <a:lnTo>
                    <a:pt x="4480780" y="344351"/>
                  </a:lnTo>
                  <a:lnTo>
                    <a:pt x="4480780" y="2892723"/>
                  </a:lnTo>
                  <a:lnTo>
                    <a:pt x="4459196" y="2892723"/>
                  </a:lnTo>
                  <a:lnTo>
                    <a:pt x="4480780" y="2892723"/>
                  </a:lnTo>
                  <a:cubicBezTo>
                    <a:pt x="4480780" y="3082978"/>
                    <a:pt x="4351979" y="3237069"/>
                    <a:pt x="4192953" y="3237069"/>
                  </a:cubicBezTo>
                  <a:lnTo>
                    <a:pt x="4192953" y="3211248"/>
                  </a:lnTo>
                  <a:lnTo>
                    <a:pt x="4192953" y="3237069"/>
                  </a:lnTo>
                  <a:lnTo>
                    <a:pt x="287829" y="3237069"/>
                  </a:lnTo>
                  <a:lnTo>
                    <a:pt x="287829" y="3211248"/>
                  </a:lnTo>
                  <a:lnTo>
                    <a:pt x="287829" y="3237069"/>
                  </a:lnTo>
                  <a:cubicBezTo>
                    <a:pt x="128804" y="3237069"/>
                    <a:pt x="0" y="3082978"/>
                    <a:pt x="0" y="2892723"/>
                  </a:cubicBezTo>
                  <a:lnTo>
                    <a:pt x="21587" y="2892723"/>
                  </a:lnTo>
                  <a:lnTo>
                    <a:pt x="0" y="2892723"/>
                  </a:lnTo>
                  <a:lnTo>
                    <a:pt x="0" y="344351"/>
                  </a:lnTo>
                  <a:lnTo>
                    <a:pt x="21587" y="344351"/>
                  </a:lnTo>
                  <a:lnTo>
                    <a:pt x="0" y="344351"/>
                  </a:lnTo>
                  <a:moveTo>
                    <a:pt x="43174" y="344351"/>
                  </a:moveTo>
                  <a:lnTo>
                    <a:pt x="43174" y="2892723"/>
                  </a:lnTo>
                  <a:cubicBezTo>
                    <a:pt x="43174" y="3054396"/>
                    <a:pt x="152693" y="3185422"/>
                    <a:pt x="287829" y="3185422"/>
                  </a:cubicBezTo>
                  <a:lnTo>
                    <a:pt x="4192953" y="3185422"/>
                  </a:lnTo>
                  <a:cubicBezTo>
                    <a:pt x="4328090" y="3185422"/>
                    <a:pt x="4437609" y="3054396"/>
                    <a:pt x="4437609" y="2892723"/>
                  </a:cubicBezTo>
                  <a:lnTo>
                    <a:pt x="4437609" y="344351"/>
                  </a:lnTo>
                  <a:cubicBezTo>
                    <a:pt x="4437609" y="182678"/>
                    <a:pt x="4328090" y="51653"/>
                    <a:pt x="4192953" y="51653"/>
                  </a:cubicBezTo>
                  <a:lnTo>
                    <a:pt x="287829" y="51653"/>
                  </a:lnTo>
                  <a:cubicBezTo>
                    <a:pt x="152693" y="51653"/>
                    <a:pt x="43174" y="182678"/>
                    <a:pt x="43174" y="34435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3"/>
            <p:cNvSpPr txBox="1"/>
            <p:nvPr/>
          </p:nvSpPr>
          <p:spPr>
            <a:xfrm>
              <a:off x="0" y="-57150"/>
              <a:ext cx="4480800" cy="3294300"/>
            </a:xfrm>
            <a:prstGeom prst="rect">
              <a:avLst/>
            </a:prstGeom>
            <a:noFill/>
            <a:ln>
              <a:noFill/>
            </a:ln>
          </p:spPr>
          <p:txBody>
            <a:bodyPr anchorCtr="0" anchor="ctr" bIns="50800" lIns="50800" spcFirstLastPara="1" rIns="50800" wrap="square" tIns="50800">
              <a:noAutofit/>
            </a:bodyPr>
            <a:lstStyle/>
            <a:p>
              <a:pPr indent="0" lvl="0" marL="0" marR="0" rtl="0" algn="ctr">
                <a:lnSpc>
                  <a:spcPct val="135009"/>
                </a:lnSpc>
                <a:spcBef>
                  <a:spcPts val="0"/>
                </a:spcBef>
                <a:spcAft>
                  <a:spcPts val="0"/>
                </a:spcAft>
                <a:buNone/>
              </a:pPr>
              <a:r>
                <a:rPr b="1" i="0" lang="en-US" sz="3899" u="none" cap="none" strike="noStrike">
                  <a:solidFill>
                    <a:srgbClr val="FFFFFF"/>
                  </a:solidFill>
                  <a:latin typeface="Roboto"/>
                  <a:ea typeface="Roboto"/>
                  <a:cs typeface="Roboto"/>
                  <a:sym typeface="Roboto"/>
                </a:rPr>
                <a:t>Trong </a:t>
              </a:r>
              <a:endParaRPr/>
            </a:p>
            <a:p>
              <a:pPr indent="0" lvl="0" marL="0" marR="0" rtl="0" algn="ctr">
                <a:lnSpc>
                  <a:spcPct val="135009"/>
                </a:lnSpc>
                <a:spcBef>
                  <a:spcPts val="0"/>
                </a:spcBef>
                <a:spcAft>
                  <a:spcPts val="0"/>
                </a:spcAft>
                <a:buNone/>
              </a:pPr>
              <a:r>
                <a:rPr b="0" i="0" lang="en-US" sz="3899" u="none" cap="none" strike="noStrike">
                  <a:solidFill>
                    <a:srgbClr val="FFFFFF"/>
                  </a:solidFill>
                  <a:latin typeface="Roboto"/>
                  <a:ea typeface="Roboto"/>
                  <a:cs typeface="Roboto"/>
                  <a:sym typeface="Roboto"/>
                </a:rPr>
                <a:t>khi nghe</a:t>
              </a:r>
              <a:endParaRPr b="0" i="0" sz="3899" u="none" cap="none" strike="noStrike">
                <a:solidFill>
                  <a:srgbClr val="FFFFFF"/>
                </a:solidFill>
                <a:latin typeface="Roboto"/>
                <a:ea typeface="Roboto"/>
                <a:cs typeface="Roboto"/>
                <a:sym typeface="Roboto"/>
              </a:endParaRPr>
            </a:p>
          </p:txBody>
        </p:sp>
      </p:grpSp>
      <p:sp>
        <p:nvSpPr>
          <p:cNvPr id="351" name="Google Shape;351;p23"/>
          <p:cNvSpPr/>
          <p:nvPr/>
        </p:nvSpPr>
        <p:spPr>
          <a:xfrm>
            <a:off x="8977911" y="5911448"/>
            <a:ext cx="705669" cy="1013265"/>
          </a:xfrm>
          <a:custGeom>
            <a:rect b="b" l="l" r="r" t="t"/>
            <a:pathLst>
              <a:path extrusionOk="0" h="1192077" w="830199">
                <a:moveTo>
                  <a:pt x="0" y="238353"/>
                </a:moveTo>
                <a:lnTo>
                  <a:pt x="415036" y="238353"/>
                </a:lnTo>
                <a:lnTo>
                  <a:pt x="415036" y="0"/>
                </a:lnTo>
                <a:lnTo>
                  <a:pt x="830199" y="596117"/>
                </a:lnTo>
                <a:lnTo>
                  <a:pt x="415036" y="1192077"/>
                </a:lnTo>
                <a:lnTo>
                  <a:pt x="415036" y="953724"/>
                </a:lnTo>
                <a:lnTo>
                  <a:pt x="0" y="953724"/>
                </a:lnTo>
                <a:lnTo>
                  <a:pt x="0" y="238353"/>
                </a:lnTo>
                <a:close/>
              </a:path>
            </a:pathLst>
          </a:custGeom>
          <a:solidFill>
            <a:srgbClr val="018146"/>
          </a:solidFill>
          <a:ln>
            <a:noFill/>
          </a:ln>
        </p:spPr>
      </p:sp>
      <p:grpSp>
        <p:nvGrpSpPr>
          <p:cNvPr id="352" name="Google Shape;352;p23"/>
          <p:cNvGrpSpPr/>
          <p:nvPr/>
        </p:nvGrpSpPr>
        <p:grpSpPr>
          <a:xfrm>
            <a:off x="13738169" y="7379270"/>
            <a:ext cx="3360600" cy="2296204"/>
            <a:chOff x="0" y="-57150"/>
            <a:chExt cx="4480800" cy="3061605"/>
          </a:xfrm>
        </p:grpSpPr>
        <p:sp>
          <p:nvSpPr>
            <p:cNvPr id="353" name="Google Shape;353;p23"/>
            <p:cNvSpPr/>
            <p:nvPr/>
          </p:nvSpPr>
          <p:spPr>
            <a:xfrm>
              <a:off x="21587" y="23970"/>
              <a:ext cx="4437608" cy="2956518"/>
            </a:xfrm>
            <a:custGeom>
              <a:rect b="b" l="l" r="r" t="t"/>
              <a:pathLst>
                <a:path extrusionOk="0" h="2956518" w="4437608">
                  <a:moveTo>
                    <a:pt x="0" y="295636"/>
                  </a:moveTo>
                  <a:cubicBezTo>
                    <a:pt x="0" y="132317"/>
                    <a:pt x="119162" y="0"/>
                    <a:pt x="266242" y="0"/>
                  </a:cubicBezTo>
                  <a:lnTo>
                    <a:pt x="4171366" y="0"/>
                  </a:lnTo>
                  <a:cubicBezTo>
                    <a:pt x="4318447" y="0"/>
                    <a:pt x="4437609" y="132317"/>
                    <a:pt x="4437609" y="295636"/>
                  </a:cubicBezTo>
                  <a:lnTo>
                    <a:pt x="4437609" y="2660883"/>
                  </a:lnTo>
                  <a:cubicBezTo>
                    <a:pt x="4437609" y="2824201"/>
                    <a:pt x="4318447" y="2956518"/>
                    <a:pt x="4171366" y="2956518"/>
                  </a:cubicBezTo>
                  <a:lnTo>
                    <a:pt x="266242" y="2956518"/>
                  </a:lnTo>
                  <a:cubicBezTo>
                    <a:pt x="119162" y="2956518"/>
                    <a:pt x="0" y="2824201"/>
                    <a:pt x="0" y="2660883"/>
                  </a:cubicBezTo>
                  <a:lnTo>
                    <a:pt x="0" y="295636"/>
                  </a:lnTo>
                  <a:close/>
                </a:path>
              </a:pathLst>
            </a:custGeom>
            <a:solidFill>
              <a:srgbClr val="006B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3"/>
            <p:cNvSpPr/>
            <p:nvPr/>
          </p:nvSpPr>
          <p:spPr>
            <a:xfrm>
              <a:off x="0" y="0"/>
              <a:ext cx="4480780" cy="3004455"/>
            </a:xfrm>
            <a:custGeom>
              <a:rect b="b" l="l" r="r" t="t"/>
              <a:pathLst>
                <a:path extrusionOk="0" h="3004455" w="4480780">
                  <a:moveTo>
                    <a:pt x="0" y="319606"/>
                  </a:moveTo>
                  <a:cubicBezTo>
                    <a:pt x="0" y="143024"/>
                    <a:pt x="128804" y="0"/>
                    <a:pt x="287829" y="0"/>
                  </a:cubicBezTo>
                  <a:lnTo>
                    <a:pt x="287829" y="23970"/>
                  </a:lnTo>
                  <a:lnTo>
                    <a:pt x="287829" y="0"/>
                  </a:lnTo>
                  <a:lnTo>
                    <a:pt x="4192953" y="0"/>
                  </a:lnTo>
                  <a:lnTo>
                    <a:pt x="4192953" y="23970"/>
                  </a:lnTo>
                  <a:lnTo>
                    <a:pt x="4192953" y="0"/>
                  </a:lnTo>
                  <a:cubicBezTo>
                    <a:pt x="4351979" y="0"/>
                    <a:pt x="4480780" y="143024"/>
                    <a:pt x="4480780" y="319606"/>
                  </a:cubicBezTo>
                  <a:lnTo>
                    <a:pt x="4459196" y="319606"/>
                  </a:lnTo>
                  <a:lnTo>
                    <a:pt x="4480780" y="319606"/>
                  </a:lnTo>
                  <a:lnTo>
                    <a:pt x="4480780" y="2684853"/>
                  </a:lnTo>
                  <a:lnTo>
                    <a:pt x="4459196" y="2684853"/>
                  </a:lnTo>
                  <a:lnTo>
                    <a:pt x="4480780" y="2684853"/>
                  </a:lnTo>
                  <a:cubicBezTo>
                    <a:pt x="4480780" y="2861435"/>
                    <a:pt x="4351979" y="3004455"/>
                    <a:pt x="4192953" y="3004455"/>
                  </a:cubicBezTo>
                  <a:lnTo>
                    <a:pt x="4192953" y="2980488"/>
                  </a:lnTo>
                  <a:lnTo>
                    <a:pt x="4192953" y="3004455"/>
                  </a:lnTo>
                  <a:lnTo>
                    <a:pt x="287829" y="3004455"/>
                  </a:lnTo>
                  <a:lnTo>
                    <a:pt x="287829" y="2980488"/>
                  </a:lnTo>
                  <a:lnTo>
                    <a:pt x="287829" y="3004455"/>
                  </a:lnTo>
                  <a:cubicBezTo>
                    <a:pt x="128804" y="3004455"/>
                    <a:pt x="0" y="2861435"/>
                    <a:pt x="0" y="2684853"/>
                  </a:cubicBezTo>
                  <a:lnTo>
                    <a:pt x="21587" y="2684853"/>
                  </a:lnTo>
                  <a:lnTo>
                    <a:pt x="0" y="2684853"/>
                  </a:lnTo>
                  <a:lnTo>
                    <a:pt x="0" y="319606"/>
                  </a:lnTo>
                  <a:lnTo>
                    <a:pt x="21587" y="319606"/>
                  </a:lnTo>
                  <a:lnTo>
                    <a:pt x="0" y="319606"/>
                  </a:lnTo>
                  <a:moveTo>
                    <a:pt x="43174" y="319606"/>
                  </a:moveTo>
                  <a:lnTo>
                    <a:pt x="43174" y="2684853"/>
                  </a:lnTo>
                  <a:cubicBezTo>
                    <a:pt x="43174" y="2834908"/>
                    <a:pt x="152693" y="2956518"/>
                    <a:pt x="287829" y="2956518"/>
                  </a:cubicBezTo>
                  <a:lnTo>
                    <a:pt x="4192953" y="2956518"/>
                  </a:lnTo>
                  <a:cubicBezTo>
                    <a:pt x="4328090" y="2956518"/>
                    <a:pt x="4437609" y="2834908"/>
                    <a:pt x="4437609" y="2684853"/>
                  </a:cubicBezTo>
                  <a:lnTo>
                    <a:pt x="4437609" y="319606"/>
                  </a:lnTo>
                  <a:cubicBezTo>
                    <a:pt x="4437609" y="169551"/>
                    <a:pt x="4328090" y="47941"/>
                    <a:pt x="4192953" y="47941"/>
                  </a:cubicBezTo>
                  <a:lnTo>
                    <a:pt x="287829" y="47941"/>
                  </a:lnTo>
                  <a:cubicBezTo>
                    <a:pt x="152693" y="47941"/>
                    <a:pt x="43174" y="169551"/>
                    <a:pt x="43174" y="31960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3"/>
            <p:cNvSpPr txBox="1"/>
            <p:nvPr/>
          </p:nvSpPr>
          <p:spPr>
            <a:xfrm>
              <a:off x="0" y="-57150"/>
              <a:ext cx="4480800" cy="3061500"/>
            </a:xfrm>
            <a:prstGeom prst="rect">
              <a:avLst/>
            </a:prstGeom>
            <a:solidFill>
              <a:srgbClr val="018146"/>
            </a:solidFill>
            <a:ln>
              <a:noFill/>
            </a:ln>
          </p:spPr>
          <p:txBody>
            <a:bodyPr anchorCtr="0" anchor="ctr" bIns="50800" lIns="50800" spcFirstLastPara="1" rIns="50800" wrap="square" tIns="50800">
              <a:noAutofit/>
            </a:bodyPr>
            <a:lstStyle/>
            <a:p>
              <a:pPr indent="0" lvl="0" marL="0" marR="0" rtl="0" algn="ctr">
                <a:lnSpc>
                  <a:spcPct val="135009"/>
                </a:lnSpc>
                <a:spcBef>
                  <a:spcPts val="0"/>
                </a:spcBef>
                <a:spcAft>
                  <a:spcPts val="0"/>
                </a:spcAft>
                <a:buNone/>
              </a:pPr>
              <a:r>
                <a:rPr b="1" i="0" lang="en-US" sz="3899" u="none" cap="none" strike="noStrike">
                  <a:solidFill>
                    <a:srgbClr val="FFFFFF"/>
                  </a:solidFill>
                  <a:latin typeface="Roboto"/>
                  <a:ea typeface="Roboto"/>
                  <a:cs typeface="Roboto"/>
                  <a:sym typeface="Roboto"/>
                </a:rPr>
                <a:t>Sau </a:t>
              </a:r>
              <a:endParaRPr/>
            </a:p>
            <a:p>
              <a:pPr indent="0" lvl="0" marL="0" marR="0" rtl="0" algn="ctr">
                <a:lnSpc>
                  <a:spcPct val="135009"/>
                </a:lnSpc>
                <a:spcBef>
                  <a:spcPts val="0"/>
                </a:spcBef>
                <a:spcAft>
                  <a:spcPts val="0"/>
                </a:spcAft>
                <a:buNone/>
              </a:pPr>
              <a:r>
                <a:rPr b="0" i="0" lang="en-US" sz="3899" u="none" cap="none" strike="noStrike">
                  <a:solidFill>
                    <a:srgbClr val="FFFFFF"/>
                  </a:solidFill>
                  <a:latin typeface="Roboto"/>
                  <a:ea typeface="Roboto"/>
                  <a:cs typeface="Roboto"/>
                  <a:sym typeface="Roboto"/>
                </a:rPr>
                <a:t>khi nghe</a:t>
              </a:r>
              <a:endParaRPr/>
            </a:p>
          </p:txBody>
        </p:sp>
      </p:grpSp>
      <p:sp>
        <p:nvSpPr>
          <p:cNvPr id="356" name="Google Shape;356;p23"/>
          <p:cNvSpPr txBox="1"/>
          <p:nvPr/>
        </p:nvSpPr>
        <p:spPr>
          <a:xfrm>
            <a:off x="5571910" y="1208799"/>
            <a:ext cx="11880900" cy="847200"/>
          </a:xfrm>
          <a:prstGeom prst="rect">
            <a:avLst/>
          </a:prstGeom>
          <a:noFill/>
          <a:ln>
            <a:noFill/>
          </a:ln>
        </p:spPr>
        <p:txBody>
          <a:bodyPr anchorCtr="0" anchor="t" bIns="0" lIns="0" spcFirstLastPara="1" rIns="0" wrap="square" tIns="0">
            <a:spAutoFit/>
          </a:bodyPr>
          <a:lstStyle/>
          <a:p>
            <a:pPr indent="0" lvl="0" marL="0" marR="0" rtl="0" algn="l">
              <a:lnSpc>
                <a:spcPct val="134992"/>
              </a:lnSpc>
              <a:spcBef>
                <a:spcPts val="0"/>
              </a:spcBef>
              <a:spcAft>
                <a:spcPts val="0"/>
              </a:spcAft>
              <a:buNone/>
            </a:pPr>
            <a:r>
              <a:rPr b="1" i="0" lang="en-US" sz="5504" u="none" cap="none" strike="noStrike">
                <a:solidFill>
                  <a:srgbClr val="018345"/>
                </a:solidFill>
                <a:latin typeface="Montserrat"/>
                <a:ea typeface="Montserrat"/>
                <a:cs typeface="Montserrat"/>
                <a:sym typeface="Montserrat"/>
              </a:rPr>
              <a:t>KỸ NĂNG LÀM BÀI NGHE PART 1</a:t>
            </a:r>
            <a:endParaRPr/>
          </a:p>
        </p:txBody>
      </p:sp>
      <p:sp>
        <p:nvSpPr>
          <p:cNvPr id="357" name="Google Shape;357;p23"/>
          <p:cNvSpPr/>
          <p:nvPr/>
        </p:nvSpPr>
        <p:spPr>
          <a:xfrm>
            <a:off x="12620854" y="8092172"/>
            <a:ext cx="705669" cy="1041715"/>
          </a:xfrm>
          <a:custGeom>
            <a:rect b="b" l="l" r="r" t="t"/>
            <a:pathLst>
              <a:path extrusionOk="0" h="1225547" w="830199">
                <a:moveTo>
                  <a:pt x="0" y="245045"/>
                </a:moveTo>
                <a:lnTo>
                  <a:pt x="415036" y="245045"/>
                </a:lnTo>
                <a:lnTo>
                  <a:pt x="415036" y="0"/>
                </a:lnTo>
                <a:lnTo>
                  <a:pt x="830199" y="612853"/>
                </a:lnTo>
                <a:lnTo>
                  <a:pt x="415036" y="1225547"/>
                </a:lnTo>
                <a:lnTo>
                  <a:pt x="415036" y="980501"/>
                </a:lnTo>
                <a:lnTo>
                  <a:pt x="0" y="980501"/>
                </a:lnTo>
                <a:lnTo>
                  <a:pt x="0" y="245045"/>
                </a:lnTo>
                <a:close/>
              </a:path>
            </a:pathLst>
          </a:custGeom>
          <a:solidFill>
            <a:srgbClr val="018146"/>
          </a:solidFill>
          <a:ln>
            <a:noFill/>
          </a:ln>
        </p:spPr>
      </p:sp>
      <p:sp>
        <p:nvSpPr>
          <p:cNvPr id="358" name="Google Shape;358;p23"/>
          <p:cNvSpPr/>
          <p:nvPr/>
        </p:nvSpPr>
        <p:spPr>
          <a:xfrm>
            <a:off x="14885603" y="3060651"/>
            <a:ext cx="2567304" cy="2246391"/>
          </a:xfrm>
          <a:custGeom>
            <a:rect b="b" l="l" r="r" t="t"/>
            <a:pathLst>
              <a:path extrusionOk="0" h="2246391" w="2567304">
                <a:moveTo>
                  <a:pt x="0" y="0"/>
                </a:moveTo>
                <a:lnTo>
                  <a:pt x="2567304" y="0"/>
                </a:lnTo>
                <a:lnTo>
                  <a:pt x="2567304" y="2246391"/>
                </a:lnTo>
                <a:lnTo>
                  <a:pt x="0" y="2246391"/>
                </a:lnTo>
                <a:lnTo>
                  <a:pt x="0" y="0"/>
                </a:lnTo>
                <a:close/>
              </a:path>
            </a:pathLst>
          </a:custGeom>
          <a:blipFill rotWithShape="1">
            <a:blip r:embed="rId5">
              <a:alphaModFix/>
            </a:blip>
            <a:stretch>
              <a:fillRect b="0" l="0" r="0" t="0"/>
            </a:stretch>
          </a:blipFill>
          <a:ln>
            <a:noFill/>
          </a:ln>
        </p:spPr>
      </p:sp>
      <p:grpSp>
        <p:nvGrpSpPr>
          <p:cNvPr id="359" name="Google Shape;359;p23"/>
          <p:cNvGrpSpPr/>
          <p:nvPr/>
        </p:nvGrpSpPr>
        <p:grpSpPr>
          <a:xfrm>
            <a:off x="-2718010" y="9274530"/>
            <a:ext cx="7950378" cy="1707223"/>
            <a:chOff x="0" y="-384760"/>
            <a:chExt cx="10600504" cy="2276297"/>
          </a:xfrm>
        </p:grpSpPr>
        <p:grpSp>
          <p:nvGrpSpPr>
            <p:cNvPr id="360" name="Google Shape;360;p23"/>
            <p:cNvGrpSpPr/>
            <p:nvPr/>
          </p:nvGrpSpPr>
          <p:grpSpPr>
            <a:xfrm>
              <a:off x="0" y="-384760"/>
              <a:ext cx="10600504" cy="2276297"/>
              <a:chOff x="0" y="-38100"/>
              <a:chExt cx="1049690" cy="225405"/>
            </a:xfrm>
          </p:grpSpPr>
          <p:sp>
            <p:nvSpPr>
              <p:cNvPr id="361" name="Google Shape;361;p2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62" name="Google Shape;362;p23"/>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3" name="Google Shape;363;p23"/>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500"/>
                                        <p:tgtEl>
                                          <p:spTgt spid="35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500"/>
                                        <p:tgtEl>
                                          <p:spTgt spid="34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500"/>
                                        <p:tgtEl>
                                          <p:spTgt spid="3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cxnSp>
        <p:nvCxnSpPr>
          <p:cNvPr id="369" name="Google Shape;369;p24"/>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sp>
        <p:nvSpPr>
          <p:cNvPr id="370" name="Google Shape;370;p24"/>
          <p:cNvSpPr txBox="1"/>
          <p:nvPr/>
        </p:nvSpPr>
        <p:spPr>
          <a:xfrm>
            <a:off x="-2113814" y="8271858"/>
            <a:ext cx="7123800" cy="20181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371" name="Google Shape;371;p24"/>
          <p:cNvGrpSpPr/>
          <p:nvPr/>
        </p:nvGrpSpPr>
        <p:grpSpPr>
          <a:xfrm rot="10800000">
            <a:off x="15561046" y="-410238"/>
            <a:ext cx="7681773" cy="4260605"/>
            <a:chOff x="0" y="-38100"/>
            <a:chExt cx="406400" cy="225405"/>
          </a:xfrm>
        </p:grpSpPr>
        <p:sp>
          <p:nvSpPr>
            <p:cNvPr id="372" name="Google Shape;372;p2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73" name="Google Shape;373;p2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374" name="Google Shape;374;p2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75" name="Google Shape;375;p2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76" name="Google Shape;376;p24"/>
          <p:cNvSpPr/>
          <p:nvPr/>
        </p:nvSpPr>
        <p:spPr>
          <a:xfrm>
            <a:off x="15561053" y="8025621"/>
            <a:ext cx="2861837" cy="2504108"/>
          </a:xfrm>
          <a:custGeom>
            <a:rect b="b" l="l" r="r" t="t"/>
            <a:pathLst>
              <a:path extrusionOk="0" h="2504108" w="2861837">
                <a:moveTo>
                  <a:pt x="0" y="0"/>
                </a:moveTo>
                <a:lnTo>
                  <a:pt x="2861837" y="0"/>
                </a:lnTo>
                <a:lnTo>
                  <a:pt x="2861837" y="2504108"/>
                </a:lnTo>
                <a:lnTo>
                  <a:pt x="0" y="2504108"/>
                </a:lnTo>
                <a:lnTo>
                  <a:pt x="0" y="0"/>
                </a:lnTo>
                <a:close/>
              </a:path>
            </a:pathLst>
          </a:custGeom>
          <a:blipFill rotWithShape="1">
            <a:blip r:embed="rId5">
              <a:alphaModFix/>
            </a:blip>
            <a:stretch>
              <a:fillRect b="0" l="0" r="0" t="0"/>
            </a:stretch>
          </a:blipFill>
          <a:ln>
            <a:noFill/>
          </a:ln>
        </p:spPr>
      </p:sp>
      <p:grpSp>
        <p:nvGrpSpPr>
          <p:cNvPr id="377" name="Google Shape;377;p24"/>
          <p:cNvGrpSpPr/>
          <p:nvPr/>
        </p:nvGrpSpPr>
        <p:grpSpPr>
          <a:xfrm>
            <a:off x="6435332" y="443278"/>
            <a:ext cx="6295740" cy="1365760"/>
            <a:chOff x="0" y="-76200"/>
            <a:chExt cx="8394320" cy="1821013"/>
          </a:xfrm>
        </p:grpSpPr>
        <p:sp>
          <p:nvSpPr>
            <p:cNvPr id="378" name="Google Shape;378;p24"/>
            <p:cNvSpPr/>
            <p:nvPr/>
          </p:nvSpPr>
          <p:spPr>
            <a:xfrm>
              <a:off x="40442" y="13921"/>
              <a:ext cx="8313463" cy="1716968"/>
            </a:xfrm>
            <a:custGeom>
              <a:rect b="b" l="l" r="r" t="t"/>
              <a:pathLst>
                <a:path extrusionOk="0" h="1716968" w="8313463">
                  <a:moveTo>
                    <a:pt x="0" y="171687"/>
                  </a:moveTo>
                  <a:cubicBezTo>
                    <a:pt x="0" y="76841"/>
                    <a:pt x="223238" y="0"/>
                    <a:pt x="498781" y="0"/>
                  </a:cubicBezTo>
                  <a:lnTo>
                    <a:pt x="7814682" y="0"/>
                  </a:lnTo>
                  <a:cubicBezTo>
                    <a:pt x="8090225" y="0"/>
                    <a:pt x="8313463" y="76841"/>
                    <a:pt x="8313463" y="171687"/>
                  </a:cubicBezTo>
                  <a:lnTo>
                    <a:pt x="8313463" y="1545280"/>
                  </a:lnTo>
                  <a:cubicBezTo>
                    <a:pt x="8313463" y="1640126"/>
                    <a:pt x="8090225" y="1716968"/>
                    <a:pt x="7814682" y="1716968"/>
                  </a:cubicBezTo>
                  <a:lnTo>
                    <a:pt x="498781" y="1716968"/>
                  </a:lnTo>
                  <a:cubicBezTo>
                    <a:pt x="223238" y="1716968"/>
                    <a:pt x="0" y="1640126"/>
                    <a:pt x="0" y="1545280"/>
                  </a:cubicBezTo>
                  <a:lnTo>
                    <a:pt x="0" y="171687"/>
                  </a:lnTo>
                  <a:close/>
                </a:path>
              </a:pathLst>
            </a:custGeom>
            <a:solidFill>
              <a:srgbClr val="00B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4"/>
            <p:cNvSpPr/>
            <p:nvPr/>
          </p:nvSpPr>
          <p:spPr>
            <a:xfrm>
              <a:off x="0" y="0"/>
              <a:ext cx="8394320" cy="1744813"/>
            </a:xfrm>
            <a:custGeom>
              <a:rect b="b" l="l" r="r" t="t"/>
              <a:pathLst>
                <a:path extrusionOk="0" h="1744813" w="8394320">
                  <a:moveTo>
                    <a:pt x="0" y="185608"/>
                  </a:moveTo>
                  <a:cubicBezTo>
                    <a:pt x="0" y="83060"/>
                    <a:pt x="241302" y="0"/>
                    <a:pt x="539223" y="0"/>
                  </a:cubicBezTo>
                  <a:lnTo>
                    <a:pt x="539223" y="13921"/>
                  </a:lnTo>
                  <a:lnTo>
                    <a:pt x="539223" y="0"/>
                  </a:lnTo>
                  <a:lnTo>
                    <a:pt x="7855124" y="0"/>
                  </a:lnTo>
                  <a:lnTo>
                    <a:pt x="7855124" y="13921"/>
                  </a:lnTo>
                  <a:lnTo>
                    <a:pt x="7855124" y="0"/>
                  </a:lnTo>
                  <a:cubicBezTo>
                    <a:pt x="8153044" y="0"/>
                    <a:pt x="8394320" y="83060"/>
                    <a:pt x="8394320" y="185608"/>
                  </a:cubicBezTo>
                  <a:lnTo>
                    <a:pt x="8353905" y="185608"/>
                  </a:lnTo>
                  <a:lnTo>
                    <a:pt x="8394320" y="185608"/>
                  </a:lnTo>
                  <a:lnTo>
                    <a:pt x="8394320" y="1559201"/>
                  </a:lnTo>
                  <a:lnTo>
                    <a:pt x="8353905" y="1559201"/>
                  </a:lnTo>
                  <a:lnTo>
                    <a:pt x="8394320" y="1559201"/>
                  </a:lnTo>
                  <a:cubicBezTo>
                    <a:pt x="8394320" y="1661750"/>
                    <a:pt x="8153044" y="1744813"/>
                    <a:pt x="7855124" y="1744813"/>
                  </a:cubicBezTo>
                  <a:lnTo>
                    <a:pt x="7855124" y="1730889"/>
                  </a:lnTo>
                  <a:lnTo>
                    <a:pt x="7855124" y="1744813"/>
                  </a:lnTo>
                  <a:lnTo>
                    <a:pt x="539223" y="1744813"/>
                  </a:lnTo>
                  <a:lnTo>
                    <a:pt x="539223" y="1730889"/>
                  </a:lnTo>
                  <a:lnTo>
                    <a:pt x="539223" y="1744813"/>
                  </a:lnTo>
                  <a:cubicBezTo>
                    <a:pt x="241302" y="1744813"/>
                    <a:pt x="0" y="1661750"/>
                    <a:pt x="0" y="1559201"/>
                  </a:cubicBezTo>
                  <a:lnTo>
                    <a:pt x="40442" y="1559201"/>
                  </a:lnTo>
                  <a:lnTo>
                    <a:pt x="0" y="1559201"/>
                  </a:lnTo>
                  <a:lnTo>
                    <a:pt x="0" y="185608"/>
                  </a:lnTo>
                  <a:lnTo>
                    <a:pt x="40442" y="185608"/>
                  </a:lnTo>
                  <a:lnTo>
                    <a:pt x="0" y="185608"/>
                  </a:lnTo>
                  <a:moveTo>
                    <a:pt x="80883" y="185608"/>
                  </a:moveTo>
                  <a:lnTo>
                    <a:pt x="80883" y="1559201"/>
                  </a:lnTo>
                  <a:cubicBezTo>
                    <a:pt x="80883" y="1646344"/>
                    <a:pt x="286058" y="1716968"/>
                    <a:pt x="539223" y="1716968"/>
                  </a:cubicBezTo>
                  <a:lnTo>
                    <a:pt x="7855124" y="1716968"/>
                  </a:lnTo>
                  <a:cubicBezTo>
                    <a:pt x="8108290" y="1716968"/>
                    <a:pt x="8313463" y="1646344"/>
                    <a:pt x="8313463" y="1559201"/>
                  </a:cubicBezTo>
                  <a:lnTo>
                    <a:pt x="8313463" y="185608"/>
                  </a:lnTo>
                  <a:cubicBezTo>
                    <a:pt x="8313463" y="98465"/>
                    <a:pt x="8108290" y="27841"/>
                    <a:pt x="7855124" y="27841"/>
                  </a:cubicBezTo>
                  <a:lnTo>
                    <a:pt x="539223" y="27841"/>
                  </a:lnTo>
                  <a:cubicBezTo>
                    <a:pt x="286058" y="27841"/>
                    <a:pt x="80883" y="98465"/>
                    <a:pt x="80883" y="18560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4"/>
            <p:cNvSpPr txBox="1"/>
            <p:nvPr/>
          </p:nvSpPr>
          <p:spPr>
            <a:xfrm>
              <a:off x="0" y="-76200"/>
              <a:ext cx="8394300" cy="1821000"/>
            </a:xfrm>
            <a:prstGeom prst="rect">
              <a:avLst/>
            </a:prstGeom>
            <a:solidFill>
              <a:srgbClr val="018146"/>
            </a:solidFill>
            <a:ln>
              <a:noFill/>
            </a:ln>
          </p:spPr>
          <p:txBody>
            <a:bodyPr anchorCtr="0" anchor="ctr" bIns="50800" lIns="50800" spcFirstLastPara="1" rIns="50800" wrap="square" tIns="50800">
              <a:noAutofit/>
            </a:bodyPr>
            <a:lstStyle/>
            <a:p>
              <a:pPr indent="0" lvl="0" marL="0" marR="0" rtl="0" algn="ctr">
                <a:lnSpc>
                  <a:spcPct val="135007"/>
                </a:lnSpc>
                <a:spcBef>
                  <a:spcPts val="0"/>
                </a:spcBef>
                <a:spcAft>
                  <a:spcPts val="0"/>
                </a:spcAft>
                <a:buNone/>
              </a:pPr>
              <a:r>
                <a:rPr b="1" i="0" lang="en-US" sz="4499" u="none" cap="none" strike="noStrike">
                  <a:solidFill>
                    <a:srgbClr val="FFFFFF"/>
                  </a:solidFill>
                  <a:latin typeface="Roboto"/>
                  <a:ea typeface="Roboto"/>
                  <a:cs typeface="Roboto"/>
                  <a:sym typeface="Roboto"/>
                </a:rPr>
                <a:t>Trước khi nghe</a:t>
              </a:r>
              <a:endParaRPr/>
            </a:p>
          </p:txBody>
        </p:sp>
      </p:grpSp>
      <p:sp>
        <p:nvSpPr>
          <p:cNvPr id="381" name="Google Shape;381;p24"/>
          <p:cNvSpPr/>
          <p:nvPr/>
        </p:nvSpPr>
        <p:spPr>
          <a:xfrm>
            <a:off x="5071395" y="535659"/>
            <a:ext cx="1160989" cy="1275408"/>
          </a:xfrm>
          <a:custGeom>
            <a:rect b="b" l="l" r="r" t="t"/>
            <a:pathLst>
              <a:path extrusionOk="0" h="1500480" w="1365870">
                <a:moveTo>
                  <a:pt x="0" y="300017"/>
                </a:moveTo>
                <a:lnTo>
                  <a:pt x="682831" y="300017"/>
                </a:lnTo>
                <a:lnTo>
                  <a:pt x="682831" y="0"/>
                </a:lnTo>
                <a:lnTo>
                  <a:pt x="1365871" y="750338"/>
                </a:lnTo>
                <a:lnTo>
                  <a:pt x="682831" y="1500479"/>
                </a:lnTo>
                <a:lnTo>
                  <a:pt x="682831" y="1200462"/>
                </a:lnTo>
                <a:lnTo>
                  <a:pt x="0" y="1200462"/>
                </a:lnTo>
                <a:lnTo>
                  <a:pt x="0" y="300017"/>
                </a:lnTo>
                <a:close/>
              </a:path>
            </a:pathLst>
          </a:custGeom>
          <a:solidFill>
            <a:srgbClr val="018146"/>
          </a:solidFill>
          <a:ln>
            <a:noFill/>
          </a:ln>
        </p:spPr>
      </p:sp>
      <p:sp>
        <p:nvSpPr>
          <p:cNvPr id="382" name="Google Shape;382;p24"/>
          <p:cNvSpPr txBox="1"/>
          <p:nvPr/>
        </p:nvSpPr>
        <p:spPr>
          <a:xfrm>
            <a:off x="6091023" y="2580716"/>
            <a:ext cx="10879800" cy="3030900"/>
          </a:xfrm>
          <a:prstGeom prst="rect">
            <a:avLst/>
          </a:prstGeom>
          <a:noFill/>
          <a:ln>
            <a:noFill/>
          </a:ln>
        </p:spPr>
        <p:txBody>
          <a:bodyPr anchorCtr="0" anchor="t" bIns="0" lIns="0" spcFirstLastPara="1" rIns="0" wrap="square" tIns="0">
            <a:spAutoFit/>
          </a:bodyPr>
          <a:lstStyle/>
          <a:p>
            <a:pPr indent="-352901" lvl="1" marL="705801" marR="0" rtl="0" algn="just">
              <a:lnSpc>
                <a:spcPct val="135009"/>
              </a:lnSpc>
              <a:spcBef>
                <a:spcPts val="0"/>
              </a:spcBef>
              <a:spcAft>
                <a:spcPts val="0"/>
              </a:spcAft>
              <a:buClr>
                <a:srgbClr val="000000"/>
              </a:buClr>
              <a:buSzPts val="3899"/>
              <a:buFont typeface="Arial"/>
              <a:buChar char="•"/>
            </a:pPr>
            <a:r>
              <a:rPr lang="en-US" sz="3899">
                <a:latin typeface="Roboto"/>
                <a:ea typeface="Roboto"/>
                <a:cs typeface="Roboto"/>
                <a:sym typeface="Roboto"/>
              </a:rPr>
              <a:t>Xác định ngữ cảnh được đề bài đưa ra</a:t>
            </a:r>
            <a:r>
              <a:rPr b="0" i="0" lang="en-US" sz="3899" u="none" cap="none" strike="noStrike">
                <a:solidFill>
                  <a:srgbClr val="000000"/>
                </a:solidFill>
                <a:latin typeface="Roboto"/>
                <a:ea typeface="Roboto"/>
                <a:cs typeface="Roboto"/>
                <a:sym typeface="Roboto"/>
              </a:rPr>
              <a:t> đồng thời </a:t>
            </a:r>
            <a:r>
              <a:rPr b="1" i="0" lang="en-US" sz="3899" u="none" cap="none" strike="noStrike">
                <a:solidFill>
                  <a:srgbClr val="EA222A"/>
                </a:solidFill>
                <a:latin typeface="Roboto"/>
                <a:ea typeface="Roboto"/>
                <a:cs typeface="Roboto"/>
                <a:sym typeface="Roboto"/>
              </a:rPr>
              <a:t>gạch chân từ khóa</a:t>
            </a:r>
            <a:r>
              <a:rPr b="0" i="0" lang="en-US" sz="3899" u="none" cap="none" strike="noStrike">
                <a:solidFill>
                  <a:srgbClr val="000000"/>
                </a:solidFill>
                <a:latin typeface="Roboto"/>
                <a:ea typeface="Roboto"/>
                <a:cs typeface="Roboto"/>
                <a:sym typeface="Roboto"/>
              </a:rPr>
              <a:t> trong</a:t>
            </a:r>
            <a:r>
              <a:rPr lang="en-US" sz="3899">
                <a:latin typeface="Roboto"/>
                <a:ea typeface="Roboto"/>
                <a:cs typeface="Roboto"/>
                <a:sym typeface="Roboto"/>
              </a:rPr>
              <a:t> câu hỏi và 6 lựa chọn nhằm khoanh vùng những gì cần nghe </a:t>
            </a:r>
            <a:endParaRPr b="0" i="0" sz="3899" u="none" cap="none" strike="noStrike">
              <a:solidFill>
                <a:srgbClr val="000000"/>
              </a:solidFill>
              <a:latin typeface="Roboto"/>
              <a:ea typeface="Roboto"/>
              <a:cs typeface="Roboto"/>
              <a:sym typeface="Roboto"/>
            </a:endParaRPr>
          </a:p>
          <a:p>
            <a:pPr indent="0" lvl="0" marL="914400" marR="0" rtl="0" algn="just">
              <a:lnSpc>
                <a:spcPct val="135009"/>
              </a:lnSpc>
              <a:spcBef>
                <a:spcPts val="0"/>
              </a:spcBef>
              <a:spcAft>
                <a:spcPts val="0"/>
              </a:spcAft>
              <a:buNone/>
            </a:pPr>
            <a:r>
              <a:rPr lang="en-US" sz="3899">
                <a:latin typeface="Roboto"/>
                <a:ea typeface="Roboto"/>
                <a:cs typeface="Roboto"/>
                <a:sym typeface="Roboto"/>
              </a:rPr>
              <a:t> </a:t>
            </a:r>
            <a:endParaRPr sz="3899">
              <a:latin typeface="Roboto"/>
              <a:ea typeface="Roboto"/>
              <a:cs typeface="Roboto"/>
              <a:sym typeface="Roboto"/>
            </a:endParaRPr>
          </a:p>
        </p:txBody>
      </p:sp>
      <p:grpSp>
        <p:nvGrpSpPr>
          <p:cNvPr id="383" name="Google Shape;383;p24"/>
          <p:cNvGrpSpPr/>
          <p:nvPr/>
        </p:nvGrpSpPr>
        <p:grpSpPr>
          <a:xfrm>
            <a:off x="-2718010" y="9274530"/>
            <a:ext cx="7950378" cy="1707223"/>
            <a:chOff x="0" y="-384760"/>
            <a:chExt cx="10600504" cy="2276297"/>
          </a:xfrm>
        </p:grpSpPr>
        <p:grpSp>
          <p:nvGrpSpPr>
            <p:cNvPr id="384" name="Google Shape;384;p24"/>
            <p:cNvGrpSpPr/>
            <p:nvPr/>
          </p:nvGrpSpPr>
          <p:grpSpPr>
            <a:xfrm>
              <a:off x="0" y="-384760"/>
              <a:ext cx="10600504" cy="2276297"/>
              <a:chOff x="0" y="-38100"/>
              <a:chExt cx="1049690" cy="225405"/>
            </a:xfrm>
          </p:grpSpPr>
          <p:sp>
            <p:nvSpPr>
              <p:cNvPr id="385" name="Google Shape;385;p2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86" name="Google Shape;386;p24"/>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7" name="Google Shape;387;p24"/>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2"/>
                                        </p:tgtEl>
                                        <p:attrNameLst>
                                          <p:attrName>style.visibility</p:attrName>
                                        </p:attrNameLst>
                                      </p:cBhvr>
                                      <p:to>
                                        <p:strVal val="visible"/>
                                      </p:to>
                                    </p:set>
                                    <p:anim calcmode="lin" valueType="num">
                                      <p:cBhvr additive="base">
                                        <p:cTn dur="500"/>
                                        <p:tgtEl>
                                          <p:spTgt spid="38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cxnSp>
        <p:nvCxnSpPr>
          <p:cNvPr id="393" name="Google Shape;393;p25"/>
          <p:cNvCxnSpPr/>
          <p:nvPr/>
        </p:nvCxnSpPr>
        <p:spPr>
          <a:xfrm>
            <a:off x="-249883" y="5460507"/>
            <a:ext cx="5303400" cy="0"/>
          </a:xfrm>
          <a:prstGeom prst="straightConnector1">
            <a:avLst/>
          </a:prstGeom>
          <a:noFill/>
          <a:ln cap="flat" cmpd="sng" w="38100">
            <a:solidFill>
              <a:srgbClr val="FFFFFF"/>
            </a:solidFill>
            <a:prstDash val="solid"/>
            <a:round/>
            <a:headEnd len="sm" w="sm" type="none"/>
            <a:tailEnd len="sm" w="sm" type="none"/>
          </a:ln>
        </p:spPr>
      </p:cxnSp>
      <p:sp>
        <p:nvSpPr>
          <p:cNvPr descr="Books with solid fill" id="394" name="Google Shape;394;p25"/>
          <p:cNvSpPr/>
          <p:nvPr/>
        </p:nvSpPr>
        <p:spPr>
          <a:xfrm>
            <a:off x="3052586"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95" name="Google Shape;395;p2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96" name="Google Shape;396;p25"/>
          <p:cNvSpPr/>
          <p:nvPr/>
        </p:nvSpPr>
        <p:spPr>
          <a:xfrm>
            <a:off x="9604943" y="7541690"/>
            <a:ext cx="3569688" cy="3123477"/>
          </a:xfrm>
          <a:custGeom>
            <a:rect b="b" l="l" r="r" t="t"/>
            <a:pathLst>
              <a:path extrusionOk="0" h="3123477" w="3569688">
                <a:moveTo>
                  <a:pt x="0" y="0"/>
                </a:moveTo>
                <a:lnTo>
                  <a:pt x="3569688" y="0"/>
                </a:lnTo>
                <a:lnTo>
                  <a:pt x="3569688" y="3123477"/>
                </a:lnTo>
                <a:lnTo>
                  <a:pt x="0" y="3123477"/>
                </a:lnTo>
                <a:lnTo>
                  <a:pt x="0" y="0"/>
                </a:lnTo>
                <a:close/>
              </a:path>
            </a:pathLst>
          </a:custGeom>
          <a:blipFill rotWithShape="1">
            <a:blip r:embed="rId5">
              <a:alphaModFix/>
            </a:blip>
            <a:stretch>
              <a:fillRect b="0" l="0" r="0" t="0"/>
            </a:stretch>
          </a:blipFill>
          <a:ln>
            <a:noFill/>
          </a:ln>
        </p:spPr>
      </p:sp>
      <p:grpSp>
        <p:nvGrpSpPr>
          <p:cNvPr id="397" name="Google Shape;397;p25"/>
          <p:cNvGrpSpPr/>
          <p:nvPr/>
        </p:nvGrpSpPr>
        <p:grpSpPr>
          <a:xfrm>
            <a:off x="7527559" y="648530"/>
            <a:ext cx="6295740" cy="1365760"/>
            <a:chOff x="0" y="-76200"/>
            <a:chExt cx="8394320" cy="1821013"/>
          </a:xfrm>
        </p:grpSpPr>
        <p:sp>
          <p:nvSpPr>
            <p:cNvPr id="398" name="Google Shape;398;p25"/>
            <p:cNvSpPr/>
            <p:nvPr/>
          </p:nvSpPr>
          <p:spPr>
            <a:xfrm>
              <a:off x="40442" y="13921"/>
              <a:ext cx="8313463" cy="1716968"/>
            </a:xfrm>
            <a:custGeom>
              <a:rect b="b" l="l" r="r" t="t"/>
              <a:pathLst>
                <a:path extrusionOk="0" h="1716968" w="8313463">
                  <a:moveTo>
                    <a:pt x="0" y="171687"/>
                  </a:moveTo>
                  <a:cubicBezTo>
                    <a:pt x="0" y="76841"/>
                    <a:pt x="223238" y="0"/>
                    <a:pt x="498781" y="0"/>
                  </a:cubicBezTo>
                  <a:lnTo>
                    <a:pt x="7814682" y="0"/>
                  </a:lnTo>
                  <a:cubicBezTo>
                    <a:pt x="8090225" y="0"/>
                    <a:pt x="8313463" y="76841"/>
                    <a:pt x="8313463" y="171687"/>
                  </a:cubicBezTo>
                  <a:lnTo>
                    <a:pt x="8313463" y="1545280"/>
                  </a:lnTo>
                  <a:cubicBezTo>
                    <a:pt x="8313463" y="1640126"/>
                    <a:pt x="8090225" y="1716968"/>
                    <a:pt x="7814682" y="1716968"/>
                  </a:cubicBezTo>
                  <a:lnTo>
                    <a:pt x="498781" y="1716968"/>
                  </a:lnTo>
                  <a:cubicBezTo>
                    <a:pt x="223238" y="1716968"/>
                    <a:pt x="0" y="1640126"/>
                    <a:pt x="0" y="1545280"/>
                  </a:cubicBezTo>
                  <a:lnTo>
                    <a:pt x="0" y="171687"/>
                  </a:ln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5"/>
            <p:cNvSpPr/>
            <p:nvPr/>
          </p:nvSpPr>
          <p:spPr>
            <a:xfrm>
              <a:off x="0" y="0"/>
              <a:ext cx="8394320" cy="1744813"/>
            </a:xfrm>
            <a:custGeom>
              <a:rect b="b" l="l" r="r" t="t"/>
              <a:pathLst>
                <a:path extrusionOk="0" h="1744813" w="8394320">
                  <a:moveTo>
                    <a:pt x="0" y="185608"/>
                  </a:moveTo>
                  <a:cubicBezTo>
                    <a:pt x="0" y="83060"/>
                    <a:pt x="241302" y="0"/>
                    <a:pt x="539223" y="0"/>
                  </a:cubicBezTo>
                  <a:lnTo>
                    <a:pt x="539223" y="13921"/>
                  </a:lnTo>
                  <a:lnTo>
                    <a:pt x="539223" y="0"/>
                  </a:lnTo>
                  <a:lnTo>
                    <a:pt x="7855124" y="0"/>
                  </a:lnTo>
                  <a:lnTo>
                    <a:pt x="7855124" y="13921"/>
                  </a:lnTo>
                  <a:lnTo>
                    <a:pt x="7855124" y="0"/>
                  </a:lnTo>
                  <a:cubicBezTo>
                    <a:pt x="8153044" y="0"/>
                    <a:pt x="8394320" y="83060"/>
                    <a:pt x="8394320" y="185608"/>
                  </a:cubicBezTo>
                  <a:lnTo>
                    <a:pt x="8353905" y="185608"/>
                  </a:lnTo>
                  <a:lnTo>
                    <a:pt x="8394320" y="185608"/>
                  </a:lnTo>
                  <a:lnTo>
                    <a:pt x="8394320" y="1559201"/>
                  </a:lnTo>
                  <a:lnTo>
                    <a:pt x="8353905" y="1559201"/>
                  </a:lnTo>
                  <a:lnTo>
                    <a:pt x="8394320" y="1559201"/>
                  </a:lnTo>
                  <a:cubicBezTo>
                    <a:pt x="8394320" y="1661750"/>
                    <a:pt x="8153044" y="1744813"/>
                    <a:pt x="7855124" y="1744813"/>
                  </a:cubicBezTo>
                  <a:lnTo>
                    <a:pt x="7855124" y="1730889"/>
                  </a:lnTo>
                  <a:lnTo>
                    <a:pt x="7855124" y="1744813"/>
                  </a:lnTo>
                  <a:lnTo>
                    <a:pt x="539223" y="1744813"/>
                  </a:lnTo>
                  <a:lnTo>
                    <a:pt x="539223" y="1730889"/>
                  </a:lnTo>
                  <a:lnTo>
                    <a:pt x="539223" y="1744813"/>
                  </a:lnTo>
                  <a:cubicBezTo>
                    <a:pt x="241302" y="1744813"/>
                    <a:pt x="0" y="1661750"/>
                    <a:pt x="0" y="1559201"/>
                  </a:cubicBezTo>
                  <a:lnTo>
                    <a:pt x="40442" y="1559201"/>
                  </a:lnTo>
                  <a:lnTo>
                    <a:pt x="0" y="1559201"/>
                  </a:lnTo>
                  <a:lnTo>
                    <a:pt x="0" y="185608"/>
                  </a:lnTo>
                  <a:lnTo>
                    <a:pt x="40442" y="185608"/>
                  </a:lnTo>
                  <a:lnTo>
                    <a:pt x="0" y="185608"/>
                  </a:lnTo>
                  <a:moveTo>
                    <a:pt x="80883" y="185608"/>
                  </a:moveTo>
                  <a:lnTo>
                    <a:pt x="80883" y="1559201"/>
                  </a:lnTo>
                  <a:cubicBezTo>
                    <a:pt x="80883" y="1646344"/>
                    <a:pt x="286058" y="1716968"/>
                    <a:pt x="539223" y="1716968"/>
                  </a:cubicBezTo>
                  <a:lnTo>
                    <a:pt x="7855124" y="1716968"/>
                  </a:lnTo>
                  <a:cubicBezTo>
                    <a:pt x="8108290" y="1716968"/>
                    <a:pt x="8313463" y="1646344"/>
                    <a:pt x="8313463" y="1559201"/>
                  </a:cubicBezTo>
                  <a:lnTo>
                    <a:pt x="8313463" y="185608"/>
                  </a:lnTo>
                  <a:cubicBezTo>
                    <a:pt x="8313463" y="98465"/>
                    <a:pt x="8108290" y="27841"/>
                    <a:pt x="7855124" y="27841"/>
                  </a:cubicBezTo>
                  <a:lnTo>
                    <a:pt x="539223" y="27841"/>
                  </a:lnTo>
                  <a:cubicBezTo>
                    <a:pt x="286058" y="27841"/>
                    <a:pt x="80883" y="98465"/>
                    <a:pt x="80883" y="185608"/>
                  </a:cubicBez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5"/>
            <p:cNvSpPr txBox="1"/>
            <p:nvPr/>
          </p:nvSpPr>
          <p:spPr>
            <a:xfrm>
              <a:off x="0" y="-76200"/>
              <a:ext cx="8394300" cy="1821000"/>
            </a:xfrm>
            <a:prstGeom prst="rect">
              <a:avLst/>
            </a:prstGeom>
            <a:solidFill>
              <a:srgbClr val="018146"/>
            </a:solidFill>
            <a:ln>
              <a:noFill/>
            </a:ln>
          </p:spPr>
          <p:txBody>
            <a:bodyPr anchorCtr="0" anchor="ctr" bIns="50800" lIns="50800" spcFirstLastPara="1" rIns="50800" wrap="square" tIns="50800">
              <a:noAutofit/>
            </a:bodyPr>
            <a:lstStyle/>
            <a:p>
              <a:pPr indent="0" lvl="0" marL="0" marR="0" rtl="0" algn="ctr">
                <a:lnSpc>
                  <a:spcPct val="135007"/>
                </a:lnSpc>
                <a:spcBef>
                  <a:spcPts val="0"/>
                </a:spcBef>
                <a:spcAft>
                  <a:spcPts val="0"/>
                </a:spcAft>
                <a:buNone/>
              </a:pPr>
              <a:r>
                <a:rPr b="1" i="0" lang="en-US" sz="4499" u="none" cap="none" strike="noStrike">
                  <a:solidFill>
                    <a:srgbClr val="FFFFFF"/>
                  </a:solidFill>
                  <a:latin typeface="Roboto"/>
                  <a:ea typeface="Roboto"/>
                  <a:cs typeface="Roboto"/>
                  <a:sym typeface="Roboto"/>
                </a:rPr>
                <a:t>Trong khi nghe</a:t>
              </a:r>
              <a:endParaRPr/>
            </a:p>
          </p:txBody>
        </p:sp>
      </p:grpSp>
      <p:sp>
        <p:nvSpPr>
          <p:cNvPr id="401" name="Google Shape;401;p25"/>
          <p:cNvSpPr/>
          <p:nvPr/>
        </p:nvSpPr>
        <p:spPr>
          <a:xfrm>
            <a:off x="5611462" y="2468568"/>
            <a:ext cx="11970353" cy="5935605"/>
          </a:xfrm>
          <a:custGeom>
            <a:rect b="b" l="l" r="r" t="t"/>
            <a:pathLst>
              <a:path extrusionOk="0" h="7914140" w="15960470">
                <a:moveTo>
                  <a:pt x="0" y="1978494"/>
                </a:moveTo>
                <a:lnTo>
                  <a:pt x="12366678" y="1978494"/>
                </a:lnTo>
                <a:lnTo>
                  <a:pt x="12366678" y="0"/>
                </a:lnTo>
                <a:lnTo>
                  <a:pt x="15960470" y="3957151"/>
                </a:lnTo>
                <a:lnTo>
                  <a:pt x="12366678" y="7914139"/>
                </a:lnTo>
                <a:lnTo>
                  <a:pt x="12366678" y="5935645"/>
                </a:lnTo>
                <a:lnTo>
                  <a:pt x="0" y="5935645"/>
                </a:lnTo>
                <a:close/>
              </a:path>
            </a:pathLst>
          </a:custGeom>
          <a:solidFill>
            <a:srgbClr val="018146">
              <a:alpha val="80000"/>
            </a:srgbClr>
          </a:solidFill>
          <a:ln>
            <a:noFill/>
          </a:ln>
        </p:spPr>
      </p:sp>
      <p:grpSp>
        <p:nvGrpSpPr>
          <p:cNvPr id="402" name="Google Shape;402;p25"/>
          <p:cNvGrpSpPr/>
          <p:nvPr/>
        </p:nvGrpSpPr>
        <p:grpSpPr>
          <a:xfrm>
            <a:off x="5953971" y="4314747"/>
            <a:ext cx="3279600" cy="2243273"/>
            <a:chOff x="0" y="-38100"/>
            <a:chExt cx="4372800" cy="2991030"/>
          </a:xfrm>
        </p:grpSpPr>
        <p:sp>
          <p:nvSpPr>
            <p:cNvPr id="403" name="Google Shape;403;p25"/>
            <p:cNvSpPr/>
            <p:nvPr/>
          </p:nvSpPr>
          <p:spPr>
            <a:xfrm>
              <a:off x="21352" y="22594"/>
              <a:ext cx="4329964" cy="2907741"/>
            </a:xfrm>
            <a:custGeom>
              <a:rect b="b" l="l" r="r" t="t"/>
              <a:pathLst>
                <a:path extrusionOk="0" h="2907741" w="4329964">
                  <a:moveTo>
                    <a:pt x="0" y="484574"/>
                  </a:moveTo>
                  <a:cubicBezTo>
                    <a:pt x="0" y="217057"/>
                    <a:pt x="205117" y="0"/>
                    <a:pt x="457920" y="0"/>
                  </a:cubicBezTo>
                  <a:lnTo>
                    <a:pt x="3872043" y="0"/>
                  </a:lnTo>
                  <a:cubicBezTo>
                    <a:pt x="4124988" y="0"/>
                    <a:pt x="4329964" y="217057"/>
                    <a:pt x="4329964" y="484574"/>
                  </a:cubicBezTo>
                  <a:lnTo>
                    <a:pt x="4329964" y="2423168"/>
                  </a:lnTo>
                  <a:cubicBezTo>
                    <a:pt x="4329964" y="2690836"/>
                    <a:pt x="4124846" y="2907742"/>
                    <a:pt x="3872043" y="2907742"/>
                  </a:cubicBezTo>
                  <a:lnTo>
                    <a:pt x="457920" y="2907742"/>
                  </a:lnTo>
                  <a:cubicBezTo>
                    <a:pt x="204975" y="2907742"/>
                    <a:pt x="0" y="2690685"/>
                    <a:pt x="0" y="2423168"/>
                  </a:cubicBezTo>
                  <a:lnTo>
                    <a:pt x="0" y="484574"/>
                  </a:lnTo>
                  <a:close/>
                </a:path>
              </a:pathLst>
            </a:custGeom>
            <a:solidFill>
              <a:srgbClr val="D85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5"/>
            <p:cNvSpPr/>
            <p:nvPr/>
          </p:nvSpPr>
          <p:spPr>
            <a:xfrm>
              <a:off x="0" y="0"/>
              <a:ext cx="4372668" cy="2952930"/>
            </a:xfrm>
            <a:custGeom>
              <a:rect b="b" l="l" r="r" t="t"/>
              <a:pathLst>
                <a:path extrusionOk="0" h="2952930" w="4372668">
                  <a:moveTo>
                    <a:pt x="0" y="507168"/>
                  </a:moveTo>
                  <a:cubicBezTo>
                    <a:pt x="0" y="227148"/>
                    <a:pt x="214655" y="0"/>
                    <a:pt x="479272" y="0"/>
                  </a:cubicBezTo>
                  <a:lnTo>
                    <a:pt x="479272" y="22594"/>
                  </a:lnTo>
                  <a:lnTo>
                    <a:pt x="479272" y="0"/>
                  </a:lnTo>
                  <a:lnTo>
                    <a:pt x="3893395" y="0"/>
                  </a:lnTo>
                  <a:lnTo>
                    <a:pt x="3893395" y="22594"/>
                  </a:lnTo>
                  <a:lnTo>
                    <a:pt x="3893395" y="0"/>
                  </a:lnTo>
                  <a:cubicBezTo>
                    <a:pt x="4158155" y="0"/>
                    <a:pt x="4372668" y="227148"/>
                    <a:pt x="4372668" y="507168"/>
                  </a:cubicBezTo>
                  <a:lnTo>
                    <a:pt x="4351316" y="507168"/>
                  </a:lnTo>
                  <a:lnTo>
                    <a:pt x="4372668" y="507168"/>
                  </a:lnTo>
                  <a:lnTo>
                    <a:pt x="4372668" y="2445762"/>
                  </a:lnTo>
                  <a:lnTo>
                    <a:pt x="4351316" y="2445762"/>
                  </a:lnTo>
                  <a:lnTo>
                    <a:pt x="4372668" y="2445762"/>
                  </a:lnTo>
                  <a:cubicBezTo>
                    <a:pt x="4372668" y="2725932"/>
                    <a:pt x="4158012" y="2952930"/>
                    <a:pt x="3893395" y="2952930"/>
                  </a:cubicBezTo>
                  <a:lnTo>
                    <a:pt x="3893395" y="2930336"/>
                  </a:lnTo>
                  <a:lnTo>
                    <a:pt x="3893395" y="2952930"/>
                  </a:lnTo>
                  <a:lnTo>
                    <a:pt x="479272" y="2952930"/>
                  </a:lnTo>
                  <a:lnTo>
                    <a:pt x="479272" y="2930336"/>
                  </a:lnTo>
                  <a:lnTo>
                    <a:pt x="479272" y="2952930"/>
                  </a:lnTo>
                  <a:cubicBezTo>
                    <a:pt x="214655" y="2952930"/>
                    <a:pt x="0" y="2725932"/>
                    <a:pt x="0" y="2445762"/>
                  </a:cubicBezTo>
                  <a:lnTo>
                    <a:pt x="21352" y="2445762"/>
                  </a:lnTo>
                  <a:lnTo>
                    <a:pt x="0" y="2445762"/>
                  </a:lnTo>
                  <a:lnTo>
                    <a:pt x="0" y="507168"/>
                  </a:lnTo>
                  <a:lnTo>
                    <a:pt x="21352" y="507168"/>
                  </a:lnTo>
                  <a:lnTo>
                    <a:pt x="0" y="507168"/>
                  </a:lnTo>
                  <a:moveTo>
                    <a:pt x="42703" y="507168"/>
                  </a:moveTo>
                  <a:lnTo>
                    <a:pt x="42703" y="2445762"/>
                  </a:lnTo>
                  <a:cubicBezTo>
                    <a:pt x="42703" y="2700928"/>
                    <a:pt x="238142" y="2907741"/>
                    <a:pt x="479273" y="2907741"/>
                  </a:cubicBezTo>
                  <a:lnTo>
                    <a:pt x="3893395" y="2907741"/>
                  </a:lnTo>
                  <a:cubicBezTo>
                    <a:pt x="4134526" y="2907741"/>
                    <a:pt x="4329964" y="2700928"/>
                    <a:pt x="4329964" y="2445762"/>
                  </a:cubicBezTo>
                  <a:lnTo>
                    <a:pt x="4329964" y="507168"/>
                  </a:lnTo>
                  <a:cubicBezTo>
                    <a:pt x="4330107" y="252002"/>
                    <a:pt x="4134526" y="45189"/>
                    <a:pt x="3893395" y="45189"/>
                  </a:cubicBezTo>
                  <a:lnTo>
                    <a:pt x="479272" y="45189"/>
                  </a:lnTo>
                  <a:cubicBezTo>
                    <a:pt x="238142" y="45189"/>
                    <a:pt x="42703" y="252002"/>
                    <a:pt x="42703" y="50716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5"/>
            <p:cNvSpPr txBox="1"/>
            <p:nvPr/>
          </p:nvSpPr>
          <p:spPr>
            <a:xfrm>
              <a:off x="0" y="-38100"/>
              <a:ext cx="4372800" cy="2991000"/>
            </a:xfrm>
            <a:prstGeom prst="rect">
              <a:avLst/>
            </a:prstGeom>
            <a:noFill/>
            <a:ln>
              <a:noFill/>
            </a:ln>
          </p:spPr>
          <p:txBody>
            <a:bodyPr anchorCtr="0" anchor="ctr" bIns="50800" lIns="50800" spcFirstLastPara="1" rIns="50800" wrap="square" tIns="50800">
              <a:noAutofit/>
            </a:bodyPr>
            <a:lstStyle/>
            <a:p>
              <a:pPr indent="0" lvl="0" marL="0" marR="0" rtl="0" algn="ctr">
                <a:lnSpc>
                  <a:spcPct val="135014"/>
                </a:lnSpc>
                <a:spcBef>
                  <a:spcPts val="0"/>
                </a:spcBef>
                <a:spcAft>
                  <a:spcPts val="0"/>
                </a:spcAft>
                <a:buNone/>
              </a:pPr>
              <a:r>
                <a:rPr b="1" i="0" lang="en-US" sz="2499" u="none" cap="none" strike="noStrike">
                  <a:solidFill>
                    <a:srgbClr val="FFFFFF"/>
                  </a:solidFill>
                  <a:latin typeface="Roboto"/>
                  <a:ea typeface="Roboto"/>
                  <a:cs typeface="Roboto"/>
                  <a:sym typeface="Roboto"/>
                </a:rPr>
                <a:t>Xác định vùng</a:t>
              </a:r>
              <a:r>
                <a:rPr b="0" i="0" lang="en-US" sz="2499" u="none" cap="none" strike="noStrike">
                  <a:solidFill>
                    <a:srgbClr val="FFFFFF"/>
                  </a:solidFill>
                  <a:latin typeface="Roboto"/>
                  <a:ea typeface="Roboto"/>
                  <a:cs typeface="Roboto"/>
                  <a:sym typeface="Roboto"/>
                </a:rPr>
                <a:t> thông tin chứa đáp án</a:t>
              </a:r>
              <a:endParaRPr/>
            </a:p>
          </p:txBody>
        </p:sp>
      </p:grpSp>
      <p:grpSp>
        <p:nvGrpSpPr>
          <p:cNvPr id="406" name="Google Shape;406;p25"/>
          <p:cNvGrpSpPr/>
          <p:nvPr/>
        </p:nvGrpSpPr>
        <p:grpSpPr>
          <a:xfrm>
            <a:off x="9749984" y="4314759"/>
            <a:ext cx="3279600" cy="2243273"/>
            <a:chOff x="0" y="-38100"/>
            <a:chExt cx="4372800" cy="2991030"/>
          </a:xfrm>
        </p:grpSpPr>
        <p:sp>
          <p:nvSpPr>
            <p:cNvPr id="407" name="Google Shape;407;p25"/>
            <p:cNvSpPr/>
            <p:nvPr/>
          </p:nvSpPr>
          <p:spPr>
            <a:xfrm>
              <a:off x="21352" y="22594"/>
              <a:ext cx="4329964" cy="2907741"/>
            </a:xfrm>
            <a:custGeom>
              <a:rect b="b" l="l" r="r" t="t"/>
              <a:pathLst>
                <a:path extrusionOk="0" h="2907741" w="4329964">
                  <a:moveTo>
                    <a:pt x="0" y="484574"/>
                  </a:moveTo>
                  <a:cubicBezTo>
                    <a:pt x="0" y="217057"/>
                    <a:pt x="205117" y="0"/>
                    <a:pt x="457920" y="0"/>
                  </a:cubicBezTo>
                  <a:lnTo>
                    <a:pt x="3872043" y="0"/>
                  </a:lnTo>
                  <a:cubicBezTo>
                    <a:pt x="4124988" y="0"/>
                    <a:pt x="4329964" y="217057"/>
                    <a:pt x="4329964" y="484574"/>
                  </a:cubicBezTo>
                  <a:lnTo>
                    <a:pt x="4329964" y="2423168"/>
                  </a:lnTo>
                  <a:cubicBezTo>
                    <a:pt x="4329964" y="2690836"/>
                    <a:pt x="4124846" y="2907742"/>
                    <a:pt x="3872043" y="2907742"/>
                  </a:cubicBezTo>
                  <a:lnTo>
                    <a:pt x="457920" y="2907742"/>
                  </a:lnTo>
                  <a:cubicBezTo>
                    <a:pt x="204975" y="2907742"/>
                    <a:pt x="0" y="2690685"/>
                    <a:pt x="0" y="2423168"/>
                  </a:cubicBezTo>
                  <a:lnTo>
                    <a:pt x="0" y="484574"/>
                  </a:lnTo>
                  <a:close/>
                </a:path>
              </a:pathLst>
            </a:custGeom>
            <a:solidFill>
              <a:srgbClr val="D85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5"/>
            <p:cNvSpPr/>
            <p:nvPr/>
          </p:nvSpPr>
          <p:spPr>
            <a:xfrm>
              <a:off x="0" y="0"/>
              <a:ext cx="4372668" cy="2952930"/>
            </a:xfrm>
            <a:custGeom>
              <a:rect b="b" l="l" r="r" t="t"/>
              <a:pathLst>
                <a:path extrusionOk="0" h="2952930" w="4372668">
                  <a:moveTo>
                    <a:pt x="0" y="507168"/>
                  </a:moveTo>
                  <a:cubicBezTo>
                    <a:pt x="0" y="227148"/>
                    <a:pt x="214655" y="0"/>
                    <a:pt x="479272" y="0"/>
                  </a:cubicBezTo>
                  <a:lnTo>
                    <a:pt x="479272" y="22594"/>
                  </a:lnTo>
                  <a:lnTo>
                    <a:pt x="479272" y="0"/>
                  </a:lnTo>
                  <a:lnTo>
                    <a:pt x="3893395" y="0"/>
                  </a:lnTo>
                  <a:lnTo>
                    <a:pt x="3893395" y="22594"/>
                  </a:lnTo>
                  <a:lnTo>
                    <a:pt x="3893395" y="0"/>
                  </a:lnTo>
                  <a:cubicBezTo>
                    <a:pt x="4158155" y="0"/>
                    <a:pt x="4372668" y="227148"/>
                    <a:pt x="4372668" y="507168"/>
                  </a:cubicBezTo>
                  <a:lnTo>
                    <a:pt x="4351316" y="507168"/>
                  </a:lnTo>
                  <a:lnTo>
                    <a:pt x="4372668" y="507168"/>
                  </a:lnTo>
                  <a:lnTo>
                    <a:pt x="4372668" y="2445762"/>
                  </a:lnTo>
                  <a:lnTo>
                    <a:pt x="4351316" y="2445762"/>
                  </a:lnTo>
                  <a:lnTo>
                    <a:pt x="4372668" y="2445762"/>
                  </a:lnTo>
                  <a:cubicBezTo>
                    <a:pt x="4372668" y="2725932"/>
                    <a:pt x="4158012" y="2952930"/>
                    <a:pt x="3893395" y="2952930"/>
                  </a:cubicBezTo>
                  <a:lnTo>
                    <a:pt x="3893395" y="2930336"/>
                  </a:lnTo>
                  <a:lnTo>
                    <a:pt x="3893395" y="2952930"/>
                  </a:lnTo>
                  <a:lnTo>
                    <a:pt x="479272" y="2952930"/>
                  </a:lnTo>
                  <a:lnTo>
                    <a:pt x="479272" y="2930336"/>
                  </a:lnTo>
                  <a:lnTo>
                    <a:pt x="479272" y="2952930"/>
                  </a:lnTo>
                  <a:cubicBezTo>
                    <a:pt x="214655" y="2952930"/>
                    <a:pt x="0" y="2725932"/>
                    <a:pt x="0" y="2445762"/>
                  </a:cubicBezTo>
                  <a:lnTo>
                    <a:pt x="21352" y="2445762"/>
                  </a:lnTo>
                  <a:lnTo>
                    <a:pt x="0" y="2445762"/>
                  </a:lnTo>
                  <a:lnTo>
                    <a:pt x="0" y="507168"/>
                  </a:lnTo>
                  <a:lnTo>
                    <a:pt x="21352" y="507168"/>
                  </a:lnTo>
                  <a:lnTo>
                    <a:pt x="0" y="507168"/>
                  </a:lnTo>
                  <a:moveTo>
                    <a:pt x="42703" y="507168"/>
                  </a:moveTo>
                  <a:lnTo>
                    <a:pt x="42703" y="2445762"/>
                  </a:lnTo>
                  <a:cubicBezTo>
                    <a:pt x="42703" y="2700928"/>
                    <a:pt x="238142" y="2907741"/>
                    <a:pt x="479273" y="2907741"/>
                  </a:cubicBezTo>
                  <a:lnTo>
                    <a:pt x="3893395" y="2907741"/>
                  </a:lnTo>
                  <a:cubicBezTo>
                    <a:pt x="4134526" y="2907741"/>
                    <a:pt x="4329964" y="2700928"/>
                    <a:pt x="4329964" y="2445762"/>
                  </a:cubicBezTo>
                  <a:lnTo>
                    <a:pt x="4329964" y="507168"/>
                  </a:lnTo>
                  <a:cubicBezTo>
                    <a:pt x="4330107" y="252002"/>
                    <a:pt x="4134526" y="45189"/>
                    <a:pt x="3893395" y="45189"/>
                  </a:cubicBezTo>
                  <a:lnTo>
                    <a:pt x="479272" y="45189"/>
                  </a:lnTo>
                  <a:cubicBezTo>
                    <a:pt x="238142" y="45189"/>
                    <a:pt x="42703" y="252002"/>
                    <a:pt x="42703" y="50716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5"/>
            <p:cNvSpPr txBox="1"/>
            <p:nvPr/>
          </p:nvSpPr>
          <p:spPr>
            <a:xfrm>
              <a:off x="0" y="-38100"/>
              <a:ext cx="4372800" cy="2991000"/>
            </a:xfrm>
            <a:prstGeom prst="rect">
              <a:avLst/>
            </a:prstGeom>
            <a:noFill/>
            <a:ln>
              <a:noFill/>
            </a:ln>
          </p:spPr>
          <p:txBody>
            <a:bodyPr anchorCtr="0" anchor="ctr" bIns="50800" lIns="50800" spcFirstLastPara="1" rIns="50800" wrap="square" tIns="50800">
              <a:noAutofit/>
            </a:bodyPr>
            <a:lstStyle/>
            <a:p>
              <a:pPr indent="0" lvl="0" marL="0" marR="0" rtl="0" algn="ctr">
                <a:lnSpc>
                  <a:spcPct val="135014"/>
                </a:lnSpc>
                <a:spcBef>
                  <a:spcPts val="0"/>
                </a:spcBef>
                <a:spcAft>
                  <a:spcPts val="0"/>
                </a:spcAft>
                <a:buNone/>
              </a:pPr>
              <a:r>
                <a:rPr b="0" i="0" lang="en-US" sz="2499" u="none" cap="none" strike="noStrike">
                  <a:solidFill>
                    <a:srgbClr val="FFFFFF"/>
                  </a:solidFill>
                  <a:latin typeface="Roboto"/>
                  <a:ea typeface="Roboto"/>
                  <a:cs typeface="Roboto"/>
                  <a:sym typeface="Roboto"/>
                </a:rPr>
                <a:t>Nhận diện </a:t>
              </a:r>
              <a:r>
                <a:rPr lang="en-US" sz="2499">
                  <a:solidFill>
                    <a:srgbClr val="FFFFFF"/>
                  </a:solidFill>
                  <a:latin typeface="Roboto"/>
                  <a:ea typeface="Roboto"/>
                  <a:cs typeface="Roboto"/>
                  <a:sym typeface="Roboto"/>
                </a:rPr>
                <a:t>các yếu tố gây nhiễu và các từ được paraphase</a:t>
              </a:r>
              <a:endParaRPr>
                <a:latin typeface="Roboto"/>
                <a:ea typeface="Roboto"/>
                <a:cs typeface="Roboto"/>
                <a:sym typeface="Roboto"/>
              </a:endParaRPr>
            </a:p>
          </p:txBody>
        </p:sp>
      </p:grpSp>
      <p:grpSp>
        <p:nvGrpSpPr>
          <p:cNvPr id="410" name="Google Shape;410;p25"/>
          <p:cNvGrpSpPr/>
          <p:nvPr/>
        </p:nvGrpSpPr>
        <p:grpSpPr>
          <a:xfrm>
            <a:off x="13417245" y="4300459"/>
            <a:ext cx="3279600" cy="2243273"/>
            <a:chOff x="0" y="-38100"/>
            <a:chExt cx="4372800" cy="2991030"/>
          </a:xfrm>
        </p:grpSpPr>
        <p:sp>
          <p:nvSpPr>
            <p:cNvPr id="411" name="Google Shape;411;p25"/>
            <p:cNvSpPr/>
            <p:nvPr/>
          </p:nvSpPr>
          <p:spPr>
            <a:xfrm>
              <a:off x="21352" y="22594"/>
              <a:ext cx="4329964" cy="2907741"/>
            </a:xfrm>
            <a:custGeom>
              <a:rect b="b" l="l" r="r" t="t"/>
              <a:pathLst>
                <a:path extrusionOk="0" h="2907741" w="4329964">
                  <a:moveTo>
                    <a:pt x="0" y="484574"/>
                  </a:moveTo>
                  <a:cubicBezTo>
                    <a:pt x="0" y="217057"/>
                    <a:pt x="205117" y="0"/>
                    <a:pt x="457920" y="0"/>
                  </a:cubicBezTo>
                  <a:lnTo>
                    <a:pt x="3872043" y="0"/>
                  </a:lnTo>
                  <a:cubicBezTo>
                    <a:pt x="4124988" y="0"/>
                    <a:pt x="4329964" y="217057"/>
                    <a:pt x="4329964" y="484574"/>
                  </a:cubicBezTo>
                  <a:lnTo>
                    <a:pt x="4329964" y="2423168"/>
                  </a:lnTo>
                  <a:cubicBezTo>
                    <a:pt x="4329964" y="2690836"/>
                    <a:pt x="4124846" y="2907742"/>
                    <a:pt x="3872043" y="2907742"/>
                  </a:cubicBezTo>
                  <a:lnTo>
                    <a:pt x="457920" y="2907742"/>
                  </a:lnTo>
                  <a:cubicBezTo>
                    <a:pt x="204975" y="2907742"/>
                    <a:pt x="0" y="2690685"/>
                    <a:pt x="0" y="2423168"/>
                  </a:cubicBezTo>
                  <a:lnTo>
                    <a:pt x="0" y="484574"/>
                  </a:lnTo>
                  <a:close/>
                </a:path>
              </a:pathLst>
            </a:custGeom>
            <a:solidFill>
              <a:srgbClr val="D85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5"/>
            <p:cNvSpPr/>
            <p:nvPr/>
          </p:nvSpPr>
          <p:spPr>
            <a:xfrm>
              <a:off x="0" y="0"/>
              <a:ext cx="4372668" cy="2952930"/>
            </a:xfrm>
            <a:custGeom>
              <a:rect b="b" l="l" r="r" t="t"/>
              <a:pathLst>
                <a:path extrusionOk="0" h="2952930" w="4372668">
                  <a:moveTo>
                    <a:pt x="0" y="507168"/>
                  </a:moveTo>
                  <a:cubicBezTo>
                    <a:pt x="0" y="227148"/>
                    <a:pt x="214655" y="0"/>
                    <a:pt x="479272" y="0"/>
                  </a:cubicBezTo>
                  <a:lnTo>
                    <a:pt x="479272" y="22594"/>
                  </a:lnTo>
                  <a:lnTo>
                    <a:pt x="479272" y="0"/>
                  </a:lnTo>
                  <a:lnTo>
                    <a:pt x="3893395" y="0"/>
                  </a:lnTo>
                  <a:lnTo>
                    <a:pt x="3893395" y="22594"/>
                  </a:lnTo>
                  <a:lnTo>
                    <a:pt x="3893395" y="0"/>
                  </a:lnTo>
                  <a:cubicBezTo>
                    <a:pt x="4158155" y="0"/>
                    <a:pt x="4372668" y="227148"/>
                    <a:pt x="4372668" y="507168"/>
                  </a:cubicBezTo>
                  <a:lnTo>
                    <a:pt x="4351316" y="507168"/>
                  </a:lnTo>
                  <a:lnTo>
                    <a:pt x="4372668" y="507168"/>
                  </a:lnTo>
                  <a:lnTo>
                    <a:pt x="4372668" y="2445762"/>
                  </a:lnTo>
                  <a:lnTo>
                    <a:pt x="4351316" y="2445762"/>
                  </a:lnTo>
                  <a:lnTo>
                    <a:pt x="4372668" y="2445762"/>
                  </a:lnTo>
                  <a:cubicBezTo>
                    <a:pt x="4372668" y="2725932"/>
                    <a:pt x="4158012" y="2952930"/>
                    <a:pt x="3893395" y="2952930"/>
                  </a:cubicBezTo>
                  <a:lnTo>
                    <a:pt x="3893395" y="2930336"/>
                  </a:lnTo>
                  <a:lnTo>
                    <a:pt x="3893395" y="2952930"/>
                  </a:lnTo>
                  <a:lnTo>
                    <a:pt x="479272" y="2952930"/>
                  </a:lnTo>
                  <a:lnTo>
                    <a:pt x="479272" y="2930336"/>
                  </a:lnTo>
                  <a:lnTo>
                    <a:pt x="479272" y="2952930"/>
                  </a:lnTo>
                  <a:cubicBezTo>
                    <a:pt x="214655" y="2952930"/>
                    <a:pt x="0" y="2725932"/>
                    <a:pt x="0" y="2445762"/>
                  </a:cubicBezTo>
                  <a:lnTo>
                    <a:pt x="21352" y="2445762"/>
                  </a:lnTo>
                  <a:lnTo>
                    <a:pt x="0" y="2445762"/>
                  </a:lnTo>
                  <a:lnTo>
                    <a:pt x="0" y="507168"/>
                  </a:lnTo>
                  <a:lnTo>
                    <a:pt x="21352" y="507168"/>
                  </a:lnTo>
                  <a:lnTo>
                    <a:pt x="0" y="507168"/>
                  </a:lnTo>
                  <a:moveTo>
                    <a:pt x="42703" y="507168"/>
                  </a:moveTo>
                  <a:lnTo>
                    <a:pt x="42703" y="2445762"/>
                  </a:lnTo>
                  <a:cubicBezTo>
                    <a:pt x="42703" y="2700928"/>
                    <a:pt x="238142" y="2907741"/>
                    <a:pt x="479273" y="2907741"/>
                  </a:cubicBezTo>
                  <a:lnTo>
                    <a:pt x="3893395" y="2907741"/>
                  </a:lnTo>
                  <a:cubicBezTo>
                    <a:pt x="4134526" y="2907741"/>
                    <a:pt x="4329964" y="2700928"/>
                    <a:pt x="4329964" y="2445762"/>
                  </a:cubicBezTo>
                  <a:lnTo>
                    <a:pt x="4329964" y="507168"/>
                  </a:lnTo>
                  <a:cubicBezTo>
                    <a:pt x="4330107" y="252002"/>
                    <a:pt x="4134526" y="45189"/>
                    <a:pt x="3893395" y="45189"/>
                  </a:cubicBezTo>
                  <a:lnTo>
                    <a:pt x="479272" y="45189"/>
                  </a:lnTo>
                  <a:cubicBezTo>
                    <a:pt x="238142" y="45189"/>
                    <a:pt x="42703" y="252002"/>
                    <a:pt x="42703" y="50716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5"/>
            <p:cNvSpPr txBox="1"/>
            <p:nvPr/>
          </p:nvSpPr>
          <p:spPr>
            <a:xfrm>
              <a:off x="0" y="-38100"/>
              <a:ext cx="4372800" cy="2991000"/>
            </a:xfrm>
            <a:prstGeom prst="rect">
              <a:avLst/>
            </a:prstGeom>
            <a:noFill/>
            <a:ln>
              <a:noFill/>
            </a:ln>
          </p:spPr>
          <p:txBody>
            <a:bodyPr anchorCtr="0" anchor="ctr" bIns="50800" lIns="50800" spcFirstLastPara="1" rIns="50800" wrap="square" tIns="50800">
              <a:noAutofit/>
            </a:bodyPr>
            <a:lstStyle/>
            <a:p>
              <a:pPr indent="0" lvl="0" marL="0" marR="0" rtl="0" algn="ctr">
                <a:lnSpc>
                  <a:spcPct val="135014"/>
                </a:lnSpc>
                <a:spcBef>
                  <a:spcPts val="0"/>
                </a:spcBef>
                <a:spcAft>
                  <a:spcPts val="0"/>
                </a:spcAft>
                <a:buNone/>
              </a:pPr>
              <a:r>
                <a:rPr b="1" i="0" lang="en-US" sz="2499" u="none" cap="none" strike="noStrike">
                  <a:solidFill>
                    <a:srgbClr val="FFFFFF"/>
                  </a:solidFill>
                  <a:latin typeface="Roboto"/>
                  <a:ea typeface="Roboto"/>
                  <a:cs typeface="Roboto"/>
                  <a:sym typeface="Roboto"/>
                </a:rPr>
                <a:t>Ghi chú</a:t>
              </a:r>
              <a:r>
                <a:rPr b="0" i="0" lang="en-US" sz="2499" u="none" cap="none" strike="noStrike">
                  <a:solidFill>
                    <a:srgbClr val="FFFFFF"/>
                  </a:solidFill>
                  <a:latin typeface="Roboto"/>
                  <a:ea typeface="Roboto"/>
                  <a:cs typeface="Roboto"/>
                  <a:sym typeface="Roboto"/>
                </a:rPr>
                <a:t> thông tin </a:t>
              </a:r>
              <a:r>
                <a:rPr lang="en-US" sz="2499">
                  <a:solidFill>
                    <a:srgbClr val="FFFFFF"/>
                  </a:solidFill>
                  <a:latin typeface="Roboto"/>
                  <a:ea typeface="Roboto"/>
                  <a:cs typeface="Roboto"/>
                  <a:sym typeface="Roboto"/>
                </a:rPr>
                <a:t>đã</a:t>
              </a:r>
              <a:r>
                <a:rPr b="0" i="0" lang="en-US" sz="2499" u="none" cap="none" strike="noStrike">
                  <a:solidFill>
                    <a:srgbClr val="FFFFFF"/>
                  </a:solidFill>
                  <a:latin typeface="Roboto"/>
                  <a:ea typeface="Roboto"/>
                  <a:cs typeface="Roboto"/>
                  <a:sym typeface="Roboto"/>
                </a:rPr>
                <a:t> </a:t>
              </a:r>
              <a:r>
                <a:rPr lang="en-US" sz="2499">
                  <a:solidFill>
                    <a:srgbClr val="FFFFFF"/>
                  </a:solidFill>
                  <a:latin typeface="Roboto"/>
                  <a:ea typeface="Roboto"/>
                  <a:cs typeface="Roboto"/>
                  <a:sym typeface="Roboto"/>
                </a:rPr>
                <a:t>nghe được để nghe lại lần thứ hai</a:t>
              </a:r>
              <a:endParaRPr/>
            </a:p>
          </p:txBody>
        </p:sp>
      </p:grpSp>
      <p:grpSp>
        <p:nvGrpSpPr>
          <p:cNvPr id="414" name="Google Shape;414;p25"/>
          <p:cNvGrpSpPr/>
          <p:nvPr/>
        </p:nvGrpSpPr>
        <p:grpSpPr>
          <a:xfrm rot="10800000">
            <a:off x="15561046" y="-410238"/>
            <a:ext cx="7681773" cy="4260605"/>
            <a:chOff x="0" y="-38100"/>
            <a:chExt cx="406400" cy="225405"/>
          </a:xfrm>
        </p:grpSpPr>
        <p:sp>
          <p:nvSpPr>
            <p:cNvPr id="415" name="Google Shape;415;p2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16" name="Google Shape;416;p25"/>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17" name="Google Shape;417;p25"/>
          <p:cNvSpPr/>
          <p:nvPr/>
        </p:nvSpPr>
        <p:spPr>
          <a:xfrm>
            <a:off x="5649291" y="722357"/>
            <a:ext cx="1160990" cy="1275408"/>
          </a:xfrm>
          <a:custGeom>
            <a:rect b="b" l="l" r="r" t="t"/>
            <a:pathLst>
              <a:path extrusionOk="0" h="1500480" w="1365870">
                <a:moveTo>
                  <a:pt x="0" y="300017"/>
                </a:moveTo>
                <a:lnTo>
                  <a:pt x="682831" y="300017"/>
                </a:lnTo>
                <a:lnTo>
                  <a:pt x="682831" y="0"/>
                </a:lnTo>
                <a:lnTo>
                  <a:pt x="1365871" y="750338"/>
                </a:lnTo>
                <a:lnTo>
                  <a:pt x="682831" y="1500479"/>
                </a:lnTo>
                <a:lnTo>
                  <a:pt x="682831" y="1200462"/>
                </a:lnTo>
                <a:lnTo>
                  <a:pt x="0" y="1200462"/>
                </a:lnTo>
                <a:lnTo>
                  <a:pt x="0" y="300017"/>
                </a:lnTo>
                <a:close/>
              </a:path>
            </a:pathLst>
          </a:custGeom>
          <a:solidFill>
            <a:srgbClr val="018146"/>
          </a:solidFill>
          <a:ln>
            <a:noFill/>
          </a:ln>
        </p:spPr>
      </p:sp>
      <p:grpSp>
        <p:nvGrpSpPr>
          <p:cNvPr id="418" name="Google Shape;418;p25"/>
          <p:cNvGrpSpPr/>
          <p:nvPr/>
        </p:nvGrpSpPr>
        <p:grpSpPr>
          <a:xfrm>
            <a:off x="-2718010" y="9274530"/>
            <a:ext cx="7950378" cy="1707223"/>
            <a:chOff x="0" y="-384760"/>
            <a:chExt cx="10600504" cy="2276297"/>
          </a:xfrm>
        </p:grpSpPr>
        <p:grpSp>
          <p:nvGrpSpPr>
            <p:cNvPr id="419" name="Google Shape;419;p25"/>
            <p:cNvGrpSpPr/>
            <p:nvPr/>
          </p:nvGrpSpPr>
          <p:grpSpPr>
            <a:xfrm>
              <a:off x="0" y="-384760"/>
              <a:ext cx="10600504" cy="2276297"/>
              <a:chOff x="0" y="-38100"/>
              <a:chExt cx="1049690" cy="225405"/>
            </a:xfrm>
          </p:grpSpPr>
          <p:sp>
            <p:nvSpPr>
              <p:cNvPr id="420" name="Google Shape;420;p2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21" name="Google Shape;421;p25"/>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2" name="Google Shape;422;p25"/>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500"/>
                                        <p:tgtEl>
                                          <p:spTgt spid="4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500"/>
                                        <p:tgtEl>
                                          <p:spTgt spid="4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500"/>
                                        <p:tgtEl>
                                          <p:spTgt spid="4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cxnSp>
        <p:nvCxnSpPr>
          <p:cNvPr id="428" name="Google Shape;428;p26"/>
          <p:cNvCxnSpPr/>
          <p:nvPr/>
        </p:nvCxnSpPr>
        <p:spPr>
          <a:xfrm>
            <a:off x="-61151" y="5460507"/>
            <a:ext cx="5303400" cy="0"/>
          </a:xfrm>
          <a:prstGeom prst="straightConnector1">
            <a:avLst/>
          </a:prstGeom>
          <a:noFill/>
          <a:ln cap="flat" cmpd="sng" w="38100">
            <a:solidFill>
              <a:srgbClr val="FFFFFF"/>
            </a:solidFill>
            <a:prstDash val="solid"/>
            <a:round/>
            <a:headEnd len="sm" w="sm" type="none"/>
            <a:tailEnd len="sm" w="sm" type="none"/>
          </a:ln>
        </p:spPr>
      </p:cxnSp>
      <p:sp>
        <p:nvSpPr>
          <p:cNvPr descr="Books with solid fill" id="429" name="Google Shape;429;p26"/>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430" name="Google Shape;430;p2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431" name="Google Shape;431;p26"/>
          <p:cNvGrpSpPr/>
          <p:nvPr/>
        </p:nvGrpSpPr>
        <p:grpSpPr>
          <a:xfrm>
            <a:off x="6755182" y="443278"/>
            <a:ext cx="6295740" cy="1365760"/>
            <a:chOff x="0" y="-76200"/>
            <a:chExt cx="8394320" cy="1821013"/>
          </a:xfrm>
        </p:grpSpPr>
        <p:sp>
          <p:nvSpPr>
            <p:cNvPr id="432" name="Google Shape;432;p26"/>
            <p:cNvSpPr/>
            <p:nvPr/>
          </p:nvSpPr>
          <p:spPr>
            <a:xfrm>
              <a:off x="40442" y="13921"/>
              <a:ext cx="8313463" cy="1716968"/>
            </a:xfrm>
            <a:custGeom>
              <a:rect b="b" l="l" r="r" t="t"/>
              <a:pathLst>
                <a:path extrusionOk="0" h="1716968" w="8313463">
                  <a:moveTo>
                    <a:pt x="0" y="171687"/>
                  </a:moveTo>
                  <a:cubicBezTo>
                    <a:pt x="0" y="76841"/>
                    <a:pt x="223238" y="0"/>
                    <a:pt x="498781" y="0"/>
                  </a:cubicBezTo>
                  <a:lnTo>
                    <a:pt x="7814682" y="0"/>
                  </a:lnTo>
                  <a:cubicBezTo>
                    <a:pt x="8090225" y="0"/>
                    <a:pt x="8313463" y="76841"/>
                    <a:pt x="8313463" y="171687"/>
                  </a:cubicBezTo>
                  <a:lnTo>
                    <a:pt x="8313463" y="1545280"/>
                  </a:lnTo>
                  <a:cubicBezTo>
                    <a:pt x="8313463" y="1640126"/>
                    <a:pt x="8090225" y="1716968"/>
                    <a:pt x="7814682" y="1716968"/>
                  </a:cubicBezTo>
                  <a:lnTo>
                    <a:pt x="498781" y="1716968"/>
                  </a:lnTo>
                  <a:cubicBezTo>
                    <a:pt x="223238" y="1716968"/>
                    <a:pt x="0" y="1640126"/>
                    <a:pt x="0" y="1545280"/>
                  </a:cubicBezTo>
                  <a:lnTo>
                    <a:pt x="0" y="171687"/>
                  </a:ln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6"/>
            <p:cNvSpPr/>
            <p:nvPr/>
          </p:nvSpPr>
          <p:spPr>
            <a:xfrm>
              <a:off x="0" y="0"/>
              <a:ext cx="8394320" cy="1744813"/>
            </a:xfrm>
            <a:custGeom>
              <a:rect b="b" l="l" r="r" t="t"/>
              <a:pathLst>
                <a:path extrusionOk="0" h="1744813" w="8394320">
                  <a:moveTo>
                    <a:pt x="0" y="185608"/>
                  </a:moveTo>
                  <a:cubicBezTo>
                    <a:pt x="0" y="83060"/>
                    <a:pt x="241302" y="0"/>
                    <a:pt x="539223" y="0"/>
                  </a:cubicBezTo>
                  <a:lnTo>
                    <a:pt x="539223" y="13921"/>
                  </a:lnTo>
                  <a:lnTo>
                    <a:pt x="539223" y="0"/>
                  </a:lnTo>
                  <a:lnTo>
                    <a:pt x="7855124" y="0"/>
                  </a:lnTo>
                  <a:lnTo>
                    <a:pt x="7855124" y="13921"/>
                  </a:lnTo>
                  <a:lnTo>
                    <a:pt x="7855124" y="0"/>
                  </a:lnTo>
                  <a:cubicBezTo>
                    <a:pt x="8153044" y="0"/>
                    <a:pt x="8394320" y="83060"/>
                    <a:pt x="8394320" y="185608"/>
                  </a:cubicBezTo>
                  <a:lnTo>
                    <a:pt x="8353905" y="185608"/>
                  </a:lnTo>
                  <a:lnTo>
                    <a:pt x="8394320" y="185608"/>
                  </a:lnTo>
                  <a:lnTo>
                    <a:pt x="8394320" y="1559201"/>
                  </a:lnTo>
                  <a:lnTo>
                    <a:pt x="8353905" y="1559201"/>
                  </a:lnTo>
                  <a:lnTo>
                    <a:pt x="8394320" y="1559201"/>
                  </a:lnTo>
                  <a:cubicBezTo>
                    <a:pt x="8394320" y="1661750"/>
                    <a:pt x="8153044" y="1744813"/>
                    <a:pt x="7855124" y="1744813"/>
                  </a:cubicBezTo>
                  <a:lnTo>
                    <a:pt x="7855124" y="1730889"/>
                  </a:lnTo>
                  <a:lnTo>
                    <a:pt x="7855124" y="1744813"/>
                  </a:lnTo>
                  <a:lnTo>
                    <a:pt x="539223" y="1744813"/>
                  </a:lnTo>
                  <a:lnTo>
                    <a:pt x="539223" y="1730889"/>
                  </a:lnTo>
                  <a:lnTo>
                    <a:pt x="539223" y="1744813"/>
                  </a:lnTo>
                  <a:cubicBezTo>
                    <a:pt x="241302" y="1744813"/>
                    <a:pt x="0" y="1661750"/>
                    <a:pt x="0" y="1559201"/>
                  </a:cubicBezTo>
                  <a:lnTo>
                    <a:pt x="40442" y="1559201"/>
                  </a:lnTo>
                  <a:lnTo>
                    <a:pt x="0" y="1559201"/>
                  </a:lnTo>
                  <a:lnTo>
                    <a:pt x="0" y="185608"/>
                  </a:lnTo>
                  <a:lnTo>
                    <a:pt x="40442" y="185608"/>
                  </a:lnTo>
                  <a:lnTo>
                    <a:pt x="0" y="185608"/>
                  </a:lnTo>
                  <a:moveTo>
                    <a:pt x="80883" y="185608"/>
                  </a:moveTo>
                  <a:lnTo>
                    <a:pt x="80883" y="1559201"/>
                  </a:lnTo>
                  <a:cubicBezTo>
                    <a:pt x="80883" y="1646344"/>
                    <a:pt x="286058" y="1716968"/>
                    <a:pt x="539223" y="1716968"/>
                  </a:cubicBezTo>
                  <a:lnTo>
                    <a:pt x="7855124" y="1716968"/>
                  </a:lnTo>
                  <a:cubicBezTo>
                    <a:pt x="8108290" y="1716968"/>
                    <a:pt x="8313463" y="1646344"/>
                    <a:pt x="8313463" y="1559201"/>
                  </a:cubicBezTo>
                  <a:lnTo>
                    <a:pt x="8313463" y="185608"/>
                  </a:lnTo>
                  <a:cubicBezTo>
                    <a:pt x="8313463" y="98465"/>
                    <a:pt x="8108290" y="27841"/>
                    <a:pt x="7855124" y="27841"/>
                  </a:cubicBezTo>
                  <a:lnTo>
                    <a:pt x="539223" y="27841"/>
                  </a:lnTo>
                  <a:cubicBezTo>
                    <a:pt x="286058" y="27841"/>
                    <a:pt x="80883" y="98465"/>
                    <a:pt x="80883" y="185608"/>
                  </a:cubicBez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6"/>
            <p:cNvSpPr txBox="1"/>
            <p:nvPr/>
          </p:nvSpPr>
          <p:spPr>
            <a:xfrm>
              <a:off x="0" y="-76200"/>
              <a:ext cx="8394300" cy="1821000"/>
            </a:xfrm>
            <a:prstGeom prst="rect">
              <a:avLst/>
            </a:prstGeom>
            <a:solidFill>
              <a:srgbClr val="018146"/>
            </a:solidFill>
            <a:ln>
              <a:noFill/>
            </a:ln>
          </p:spPr>
          <p:txBody>
            <a:bodyPr anchorCtr="0" anchor="ctr" bIns="50800" lIns="50800" spcFirstLastPara="1" rIns="50800" wrap="square" tIns="50800">
              <a:noAutofit/>
            </a:bodyPr>
            <a:lstStyle/>
            <a:p>
              <a:pPr indent="0" lvl="0" marL="0" marR="0" rtl="0" algn="ctr">
                <a:lnSpc>
                  <a:spcPct val="135007"/>
                </a:lnSpc>
                <a:spcBef>
                  <a:spcPts val="0"/>
                </a:spcBef>
                <a:spcAft>
                  <a:spcPts val="0"/>
                </a:spcAft>
                <a:buNone/>
              </a:pPr>
              <a:r>
                <a:rPr b="1" i="0" lang="en-US" sz="4499" u="none" cap="none" strike="noStrike">
                  <a:solidFill>
                    <a:srgbClr val="FFFFFF"/>
                  </a:solidFill>
                  <a:latin typeface="Roboto"/>
                  <a:ea typeface="Roboto"/>
                  <a:cs typeface="Roboto"/>
                  <a:sym typeface="Roboto"/>
                </a:rPr>
                <a:t>Sau khi nghe</a:t>
              </a:r>
              <a:endParaRPr/>
            </a:p>
          </p:txBody>
        </p:sp>
      </p:grpSp>
      <p:sp>
        <p:nvSpPr>
          <p:cNvPr id="435" name="Google Shape;435;p26"/>
          <p:cNvSpPr/>
          <p:nvPr/>
        </p:nvSpPr>
        <p:spPr>
          <a:xfrm>
            <a:off x="5208632" y="517105"/>
            <a:ext cx="1160989" cy="1275408"/>
          </a:xfrm>
          <a:custGeom>
            <a:rect b="b" l="l" r="r" t="t"/>
            <a:pathLst>
              <a:path extrusionOk="0" h="1500480" w="1365870">
                <a:moveTo>
                  <a:pt x="0" y="300017"/>
                </a:moveTo>
                <a:lnTo>
                  <a:pt x="682831" y="300017"/>
                </a:lnTo>
                <a:lnTo>
                  <a:pt x="682831" y="0"/>
                </a:lnTo>
                <a:lnTo>
                  <a:pt x="1365871" y="750338"/>
                </a:lnTo>
                <a:lnTo>
                  <a:pt x="682831" y="1500479"/>
                </a:lnTo>
                <a:lnTo>
                  <a:pt x="682831" y="1200462"/>
                </a:lnTo>
                <a:lnTo>
                  <a:pt x="0" y="1200462"/>
                </a:lnTo>
                <a:lnTo>
                  <a:pt x="0" y="300017"/>
                </a:lnTo>
                <a:close/>
              </a:path>
            </a:pathLst>
          </a:custGeom>
          <a:solidFill>
            <a:srgbClr val="018146"/>
          </a:solidFill>
          <a:ln>
            <a:noFill/>
          </a:ln>
        </p:spPr>
      </p:sp>
      <p:grpSp>
        <p:nvGrpSpPr>
          <p:cNvPr id="436" name="Google Shape;436;p26"/>
          <p:cNvGrpSpPr/>
          <p:nvPr/>
        </p:nvGrpSpPr>
        <p:grpSpPr>
          <a:xfrm rot="10800000">
            <a:off x="15561046" y="-410238"/>
            <a:ext cx="7681773" cy="4260605"/>
            <a:chOff x="0" y="-38100"/>
            <a:chExt cx="406400" cy="225405"/>
          </a:xfrm>
        </p:grpSpPr>
        <p:sp>
          <p:nvSpPr>
            <p:cNvPr id="437" name="Google Shape;437;p2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38" name="Google Shape;438;p26"/>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39" name="Google Shape;439;p26"/>
          <p:cNvSpPr/>
          <p:nvPr/>
        </p:nvSpPr>
        <p:spPr>
          <a:xfrm>
            <a:off x="9745027" y="7166408"/>
            <a:ext cx="3569688" cy="3123477"/>
          </a:xfrm>
          <a:custGeom>
            <a:rect b="b" l="l" r="r" t="t"/>
            <a:pathLst>
              <a:path extrusionOk="0" h="3123477" w="3569688">
                <a:moveTo>
                  <a:pt x="0" y="0"/>
                </a:moveTo>
                <a:lnTo>
                  <a:pt x="3569687" y="0"/>
                </a:lnTo>
                <a:lnTo>
                  <a:pt x="3569687" y="3123477"/>
                </a:lnTo>
                <a:lnTo>
                  <a:pt x="0" y="3123477"/>
                </a:lnTo>
                <a:lnTo>
                  <a:pt x="0" y="0"/>
                </a:lnTo>
                <a:close/>
              </a:path>
            </a:pathLst>
          </a:custGeom>
          <a:blipFill rotWithShape="1">
            <a:blip r:embed="rId5">
              <a:alphaModFix/>
            </a:blip>
            <a:stretch>
              <a:fillRect b="0" l="0" r="0" t="0"/>
            </a:stretch>
          </a:blipFill>
          <a:ln>
            <a:noFill/>
          </a:ln>
        </p:spPr>
      </p:sp>
      <p:sp>
        <p:nvSpPr>
          <p:cNvPr id="440" name="Google Shape;440;p26"/>
          <p:cNvSpPr txBox="1"/>
          <p:nvPr/>
        </p:nvSpPr>
        <p:spPr>
          <a:xfrm>
            <a:off x="6490737" y="2954660"/>
            <a:ext cx="9742200" cy="600000"/>
          </a:xfrm>
          <a:prstGeom prst="rect">
            <a:avLst/>
          </a:prstGeom>
          <a:noFill/>
          <a:ln>
            <a:noFill/>
          </a:ln>
        </p:spPr>
        <p:txBody>
          <a:bodyPr anchorCtr="0" anchor="t" bIns="0" lIns="0" spcFirstLastPara="1" rIns="0" wrap="square" tIns="0">
            <a:spAutoFit/>
          </a:bodyPr>
          <a:lstStyle/>
          <a:p>
            <a:pPr indent="-352901" lvl="1" marL="705801" marR="0" rtl="0" algn="just">
              <a:lnSpc>
                <a:spcPct val="135009"/>
              </a:lnSpc>
              <a:spcBef>
                <a:spcPts val="0"/>
              </a:spcBef>
              <a:spcAft>
                <a:spcPts val="0"/>
              </a:spcAft>
              <a:buClr>
                <a:srgbClr val="EA222A"/>
              </a:buClr>
              <a:buSzPts val="3899"/>
              <a:buFont typeface="Arial"/>
              <a:buChar char="•"/>
            </a:pPr>
            <a:r>
              <a:rPr b="1" i="0" lang="en-US" sz="3899" u="none" cap="none" strike="noStrike">
                <a:solidFill>
                  <a:srgbClr val="EA222A"/>
                </a:solidFill>
                <a:latin typeface="Roboto"/>
                <a:ea typeface="Roboto"/>
                <a:cs typeface="Roboto"/>
                <a:sym typeface="Roboto"/>
              </a:rPr>
              <a:t>Kiểm tra lại</a:t>
            </a:r>
            <a:r>
              <a:rPr b="0" i="0" lang="en-US" sz="3899" u="none" cap="none" strike="noStrike">
                <a:solidFill>
                  <a:srgbClr val="000000"/>
                </a:solidFill>
                <a:latin typeface="Roboto"/>
                <a:ea typeface="Roboto"/>
                <a:cs typeface="Roboto"/>
                <a:sym typeface="Roboto"/>
              </a:rPr>
              <a:t> các đáp án mình đã chọn</a:t>
            </a:r>
            <a:endParaRPr b="0" i="0" sz="3899" u="none" cap="none" strike="noStrike">
              <a:solidFill>
                <a:srgbClr val="000000"/>
              </a:solidFill>
              <a:latin typeface="Roboto"/>
              <a:ea typeface="Roboto"/>
              <a:cs typeface="Roboto"/>
              <a:sym typeface="Roboto"/>
            </a:endParaRPr>
          </a:p>
        </p:txBody>
      </p:sp>
      <p:sp>
        <p:nvSpPr>
          <p:cNvPr id="441" name="Google Shape;441;p26"/>
          <p:cNvSpPr txBox="1"/>
          <p:nvPr/>
        </p:nvSpPr>
        <p:spPr>
          <a:xfrm>
            <a:off x="6490737" y="4123372"/>
            <a:ext cx="10078200" cy="1410300"/>
          </a:xfrm>
          <a:prstGeom prst="rect">
            <a:avLst/>
          </a:prstGeom>
          <a:noFill/>
          <a:ln>
            <a:noFill/>
          </a:ln>
        </p:spPr>
        <p:txBody>
          <a:bodyPr anchorCtr="0" anchor="t" bIns="0" lIns="0" spcFirstLastPara="1" rIns="0" wrap="square" tIns="0">
            <a:spAutoFit/>
          </a:bodyPr>
          <a:lstStyle/>
          <a:p>
            <a:pPr indent="-352901" lvl="1" marL="705801" marR="0" rtl="0" algn="just">
              <a:lnSpc>
                <a:spcPct val="135009"/>
              </a:lnSpc>
              <a:spcBef>
                <a:spcPts val="0"/>
              </a:spcBef>
              <a:spcAft>
                <a:spcPts val="0"/>
              </a:spcAft>
              <a:buClr>
                <a:srgbClr val="000000"/>
              </a:buClr>
              <a:buSzPts val="3899"/>
              <a:buFont typeface="Arial"/>
              <a:buChar char="•"/>
            </a:pPr>
            <a:r>
              <a:rPr b="1" lang="en-US" sz="3899">
                <a:latin typeface="Roboto"/>
                <a:ea typeface="Roboto"/>
                <a:cs typeface="Roboto"/>
                <a:sym typeface="Roboto"/>
              </a:rPr>
              <a:t>Lưu ý:</a:t>
            </a:r>
            <a:r>
              <a:rPr lang="en-US" sz="3899">
                <a:latin typeface="Roboto"/>
                <a:ea typeface="Roboto"/>
                <a:cs typeface="Roboto"/>
                <a:sym typeface="Roboto"/>
              </a:rPr>
              <a:t> Không để lựa chọn nào trống vì các đáp án sai sẽ </a:t>
            </a:r>
            <a:r>
              <a:rPr b="1" lang="en-US" sz="3899">
                <a:latin typeface="Roboto"/>
                <a:ea typeface="Roboto"/>
                <a:cs typeface="Roboto"/>
                <a:sym typeface="Roboto"/>
              </a:rPr>
              <a:t>không bị trừ điểm</a:t>
            </a:r>
            <a:endParaRPr b="1"/>
          </a:p>
        </p:txBody>
      </p:sp>
      <p:grpSp>
        <p:nvGrpSpPr>
          <p:cNvPr id="442" name="Google Shape;442;p26"/>
          <p:cNvGrpSpPr/>
          <p:nvPr/>
        </p:nvGrpSpPr>
        <p:grpSpPr>
          <a:xfrm>
            <a:off x="-2718010" y="9274530"/>
            <a:ext cx="7950378" cy="1707223"/>
            <a:chOff x="0" y="-384760"/>
            <a:chExt cx="10600504" cy="2276297"/>
          </a:xfrm>
        </p:grpSpPr>
        <p:grpSp>
          <p:nvGrpSpPr>
            <p:cNvPr id="443" name="Google Shape;443;p26"/>
            <p:cNvGrpSpPr/>
            <p:nvPr/>
          </p:nvGrpSpPr>
          <p:grpSpPr>
            <a:xfrm>
              <a:off x="0" y="-384760"/>
              <a:ext cx="10600504" cy="2276297"/>
              <a:chOff x="0" y="-38100"/>
              <a:chExt cx="1049690" cy="225405"/>
            </a:xfrm>
          </p:grpSpPr>
          <p:sp>
            <p:nvSpPr>
              <p:cNvPr id="444" name="Google Shape;444;p2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45" name="Google Shape;445;p26"/>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6" name="Google Shape;446;p26"/>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0"/>
                                        </p:tgtEl>
                                        <p:attrNameLst>
                                          <p:attrName>style.visibility</p:attrName>
                                        </p:attrNameLst>
                                      </p:cBhvr>
                                      <p:to>
                                        <p:strVal val="visible"/>
                                      </p:to>
                                    </p:set>
                                    <p:anim calcmode="lin" valueType="num">
                                      <p:cBhvr additive="base">
                                        <p:cTn dur="500"/>
                                        <p:tgtEl>
                                          <p:spTgt spid="44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1"/>
                                        </p:tgtEl>
                                        <p:attrNameLst>
                                          <p:attrName>style.visibility</p:attrName>
                                        </p:attrNameLst>
                                      </p:cBhvr>
                                      <p:to>
                                        <p:strVal val="visible"/>
                                      </p:to>
                                    </p:set>
                                    <p:anim calcmode="lin" valueType="num">
                                      <p:cBhvr additive="base">
                                        <p:cTn dur="500"/>
                                        <p:tgtEl>
                                          <p:spTgt spid="44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cxnSp>
        <p:nvCxnSpPr>
          <p:cNvPr id="452" name="Google Shape;452;p27"/>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453" name="Google Shape;453;p27"/>
          <p:cNvGrpSpPr/>
          <p:nvPr/>
        </p:nvGrpSpPr>
        <p:grpSpPr>
          <a:xfrm rot="10800000">
            <a:off x="15785084" y="-536938"/>
            <a:ext cx="7681773" cy="4260605"/>
            <a:chOff x="0" y="-38100"/>
            <a:chExt cx="406400" cy="225405"/>
          </a:xfrm>
        </p:grpSpPr>
        <p:sp>
          <p:nvSpPr>
            <p:cNvPr id="454" name="Google Shape;454;p2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55" name="Google Shape;455;p27"/>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6" name="Google Shape;456;p2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457" name="Google Shape;457;p27"/>
          <p:cNvGrpSpPr/>
          <p:nvPr/>
        </p:nvGrpSpPr>
        <p:grpSpPr>
          <a:xfrm>
            <a:off x="-2718010" y="9274530"/>
            <a:ext cx="7950378" cy="1707223"/>
            <a:chOff x="0" y="-384760"/>
            <a:chExt cx="10600504" cy="2276297"/>
          </a:xfrm>
        </p:grpSpPr>
        <p:grpSp>
          <p:nvGrpSpPr>
            <p:cNvPr id="458" name="Google Shape;458;p27"/>
            <p:cNvGrpSpPr/>
            <p:nvPr/>
          </p:nvGrpSpPr>
          <p:grpSpPr>
            <a:xfrm>
              <a:off x="0" y="-384760"/>
              <a:ext cx="10600504" cy="2276297"/>
              <a:chOff x="0" y="-38100"/>
              <a:chExt cx="1049690" cy="225405"/>
            </a:xfrm>
          </p:grpSpPr>
          <p:sp>
            <p:nvSpPr>
              <p:cNvPr id="459" name="Google Shape;459;p2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60" name="Google Shape;460;p27"/>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1" name="Google Shape;461;p27"/>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2" name="Google Shape;462;p27"/>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463" name="Google Shape;463;p27"/>
          <p:cNvSpPr txBox="1"/>
          <p:nvPr/>
        </p:nvSpPr>
        <p:spPr>
          <a:xfrm>
            <a:off x="7384250" y="2306100"/>
            <a:ext cx="11089500" cy="7980900"/>
          </a:xfrm>
          <a:prstGeom prst="rect">
            <a:avLst/>
          </a:prstGeom>
          <a:noFill/>
          <a:ln>
            <a:noFill/>
          </a:ln>
        </p:spPr>
        <p:txBody>
          <a:bodyPr anchorCtr="0" anchor="t" bIns="45700" lIns="91425" spcFirstLastPara="1" rIns="91425" wrap="square" tIns="45700">
            <a:spAutoFit/>
          </a:bodyPr>
          <a:lstStyle/>
          <a:p>
            <a:pPr indent="0" lvl="0" marL="45720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Four people are talking about their weekends.</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Complete the sentences below.</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rgbClr val="0A0A0A"/>
                </a:solidFill>
                <a:latin typeface="Roboto"/>
                <a:ea typeface="Roboto"/>
                <a:cs typeface="Roboto"/>
                <a:sym typeface="Roboto"/>
              </a:rPr>
              <a:t>Speaker A ____________ .</a:t>
            </a:r>
            <a:endParaRPr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rgbClr val="0A0A0A"/>
                </a:solidFill>
                <a:latin typeface="Roboto"/>
                <a:ea typeface="Roboto"/>
                <a:cs typeface="Roboto"/>
                <a:sym typeface="Roboto"/>
              </a:rPr>
              <a:t>Speaker B ____________ .</a:t>
            </a:r>
            <a:endParaRPr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rgbClr val="0A0A0A"/>
                </a:solidFill>
                <a:latin typeface="Roboto"/>
                <a:ea typeface="Roboto"/>
                <a:cs typeface="Roboto"/>
                <a:sym typeface="Roboto"/>
              </a:rPr>
              <a:t>Speaker C ____________ .</a:t>
            </a:r>
            <a:endParaRPr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rgbClr val="0A0A0A"/>
                </a:solidFill>
                <a:latin typeface="Roboto"/>
                <a:ea typeface="Roboto"/>
                <a:cs typeface="Roboto"/>
                <a:sym typeface="Roboto"/>
              </a:rPr>
              <a:t>Speaker D ____________ .</a:t>
            </a:r>
            <a:endParaRPr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t/>
            </a:r>
            <a:endParaRPr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1. 	has busy mornings before relaxing.</a:t>
            </a:r>
            <a:endParaRPr b="1"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2. 	goes cycling in the park.</a:t>
            </a:r>
            <a:endParaRPr b="1"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3. 	has quiet mornings.</a:t>
            </a:r>
            <a:endParaRPr b="1"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4. 	doesn’t relax during the day.</a:t>
            </a:r>
            <a:endParaRPr b="1"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5. 	relaxes by keeping busy.</a:t>
            </a:r>
            <a:endParaRPr b="1"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6. 	meets friends in the morning</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t/>
            </a:r>
            <a:endParaRPr b="1" sz="2500">
              <a:solidFill>
                <a:srgbClr val="018345"/>
              </a:solidFill>
              <a:latin typeface="Roboto"/>
              <a:ea typeface="Roboto"/>
              <a:cs typeface="Roboto"/>
              <a:sym typeface="Roboto"/>
            </a:endParaRPr>
          </a:p>
        </p:txBody>
      </p:sp>
      <p:pic>
        <p:nvPicPr>
          <p:cNvPr id="464" name="Google Shape;464;p27" title="Q14 Part 2.MP3">
            <a:hlinkClick r:id="rId4"/>
          </p:cNvPr>
          <p:cNvPicPr preferRelativeResize="0"/>
          <p:nvPr/>
        </p:nvPicPr>
        <p:blipFill>
          <a:blip r:embed="rId5">
            <a:alphaModFix/>
          </a:blip>
          <a:stretch>
            <a:fillRect/>
          </a:stretch>
        </p:blipFill>
        <p:spPr>
          <a:xfrm>
            <a:off x="13968350" y="3723687"/>
            <a:ext cx="923400" cy="923400"/>
          </a:xfrm>
          <a:prstGeom prst="rect">
            <a:avLst/>
          </a:prstGeom>
          <a:noFill/>
          <a:ln>
            <a:noFill/>
          </a:ln>
        </p:spPr>
      </p:pic>
      <p:cxnSp>
        <p:nvCxnSpPr>
          <p:cNvPr id="465" name="Google Shape;465;p27"/>
          <p:cNvCxnSpPr/>
          <p:nvPr/>
        </p:nvCxnSpPr>
        <p:spPr>
          <a:xfrm flipH="1" rot="10800000">
            <a:off x="8981575" y="6787225"/>
            <a:ext cx="2188500" cy="5100"/>
          </a:xfrm>
          <a:prstGeom prst="straightConnector1">
            <a:avLst/>
          </a:prstGeom>
          <a:noFill/>
          <a:ln cap="flat" cmpd="sng" w="38100">
            <a:solidFill>
              <a:srgbClr val="980000"/>
            </a:solidFill>
            <a:prstDash val="solid"/>
            <a:round/>
            <a:headEnd len="med" w="med" type="none"/>
            <a:tailEnd len="med" w="med" type="none"/>
          </a:ln>
        </p:spPr>
      </p:cxnSp>
      <p:cxnSp>
        <p:nvCxnSpPr>
          <p:cNvPr id="466" name="Google Shape;466;p27"/>
          <p:cNvCxnSpPr/>
          <p:nvPr/>
        </p:nvCxnSpPr>
        <p:spPr>
          <a:xfrm>
            <a:off x="12095375" y="6792200"/>
            <a:ext cx="1284600" cy="10500"/>
          </a:xfrm>
          <a:prstGeom prst="straightConnector1">
            <a:avLst/>
          </a:prstGeom>
          <a:noFill/>
          <a:ln cap="flat" cmpd="sng" w="38100">
            <a:solidFill>
              <a:srgbClr val="980000"/>
            </a:solidFill>
            <a:prstDash val="solid"/>
            <a:round/>
            <a:headEnd len="med" w="med" type="none"/>
            <a:tailEnd len="med" w="med" type="none"/>
          </a:ln>
        </p:spPr>
      </p:cxnSp>
      <p:cxnSp>
        <p:nvCxnSpPr>
          <p:cNvPr id="467" name="Google Shape;467;p27"/>
          <p:cNvCxnSpPr/>
          <p:nvPr/>
        </p:nvCxnSpPr>
        <p:spPr>
          <a:xfrm>
            <a:off x="9165150" y="7356900"/>
            <a:ext cx="2656200" cy="0"/>
          </a:xfrm>
          <a:prstGeom prst="straightConnector1">
            <a:avLst/>
          </a:prstGeom>
          <a:noFill/>
          <a:ln cap="flat" cmpd="sng" w="38100">
            <a:solidFill>
              <a:srgbClr val="980000"/>
            </a:solidFill>
            <a:prstDash val="solid"/>
            <a:round/>
            <a:headEnd len="med" w="med" type="none"/>
            <a:tailEnd len="med" w="med" type="none"/>
          </a:ln>
        </p:spPr>
      </p:cxnSp>
      <p:cxnSp>
        <p:nvCxnSpPr>
          <p:cNvPr id="468" name="Google Shape;468;p27"/>
          <p:cNvCxnSpPr/>
          <p:nvPr/>
        </p:nvCxnSpPr>
        <p:spPr>
          <a:xfrm flipH="1" rot="10800000">
            <a:off x="8981575" y="7921475"/>
            <a:ext cx="2188500" cy="5100"/>
          </a:xfrm>
          <a:prstGeom prst="straightConnector1">
            <a:avLst/>
          </a:prstGeom>
          <a:noFill/>
          <a:ln cap="flat" cmpd="sng" w="38100">
            <a:solidFill>
              <a:srgbClr val="980000"/>
            </a:solidFill>
            <a:prstDash val="solid"/>
            <a:round/>
            <a:headEnd len="med" w="med" type="none"/>
            <a:tailEnd len="med" w="med" type="none"/>
          </a:ln>
        </p:spPr>
      </p:cxnSp>
      <p:cxnSp>
        <p:nvCxnSpPr>
          <p:cNvPr id="469" name="Google Shape;469;p27"/>
          <p:cNvCxnSpPr/>
          <p:nvPr/>
        </p:nvCxnSpPr>
        <p:spPr>
          <a:xfrm flipH="1" rot="10800000">
            <a:off x="8413550" y="8482450"/>
            <a:ext cx="1728000" cy="13800"/>
          </a:xfrm>
          <a:prstGeom prst="straightConnector1">
            <a:avLst/>
          </a:prstGeom>
          <a:noFill/>
          <a:ln cap="flat" cmpd="sng" w="38100">
            <a:solidFill>
              <a:srgbClr val="980000"/>
            </a:solidFill>
            <a:prstDash val="solid"/>
            <a:round/>
            <a:headEnd len="med" w="med" type="none"/>
            <a:tailEnd len="med" w="med" type="none"/>
          </a:ln>
        </p:spPr>
      </p:cxnSp>
      <p:cxnSp>
        <p:nvCxnSpPr>
          <p:cNvPr id="470" name="Google Shape;470;p27"/>
          <p:cNvCxnSpPr/>
          <p:nvPr/>
        </p:nvCxnSpPr>
        <p:spPr>
          <a:xfrm flipH="1" rot="10800000">
            <a:off x="11284900" y="8482450"/>
            <a:ext cx="1004100" cy="5100"/>
          </a:xfrm>
          <a:prstGeom prst="straightConnector1">
            <a:avLst/>
          </a:prstGeom>
          <a:noFill/>
          <a:ln cap="flat" cmpd="sng" w="38100">
            <a:solidFill>
              <a:srgbClr val="980000"/>
            </a:solidFill>
            <a:prstDash val="solid"/>
            <a:round/>
            <a:headEnd len="med" w="med" type="none"/>
            <a:tailEnd len="med" w="med" type="none"/>
          </a:ln>
        </p:spPr>
      </p:cxnSp>
      <p:cxnSp>
        <p:nvCxnSpPr>
          <p:cNvPr id="471" name="Google Shape;471;p27"/>
          <p:cNvCxnSpPr/>
          <p:nvPr/>
        </p:nvCxnSpPr>
        <p:spPr>
          <a:xfrm>
            <a:off x="9933700" y="9088575"/>
            <a:ext cx="1905000" cy="300"/>
          </a:xfrm>
          <a:prstGeom prst="straightConnector1">
            <a:avLst/>
          </a:prstGeom>
          <a:noFill/>
          <a:ln cap="flat" cmpd="sng" w="38100">
            <a:solidFill>
              <a:srgbClr val="980000"/>
            </a:solidFill>
            <a:prstDash val="solid"/>
            <a:round/>
            <a:headEnd len="med" w="med" type="none"/>
            <a:tailEnd len="med" w="med" type="none"/>
          </a:ln>
        </p:spPr>
      </p:cxnSp>
      <p:cxnSp>
        <p:nvCxnSpPr>
          <p:cNvPr id="472" name="Google Shape;472;p27"/>
          <p:cNvCxnSpPr/>
          <p:nvPr/>
        </p:nvCxnSpPr>
        <p:spPr>
          <a:xfrm flipH="1" rot="10800000">
            <a:off x="8413550" y="9625400"/>
            <a:ext cx="1901100" cy="1500"/>
          </a:xfrm>
          <a:prstGeom prst="straightConnector1">
            <a:avLst/>
          </a:prstGeom>
          <a:noFill/>
          <a:ln cap="flat" cmpd="sng" w="38100">
            <a:solidFill>
              <a:srgbClr val="98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500"/>
                                        <p:tgtEl>
                                          <p:spTgt spid="4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1000"/>
                                        <p:tgtEl>
                                          <p:spTgt spid="4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1000"/>
                                        <p:tgtEl>
                                          <p:spTgt spid="4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1000"/>
                                        <p:tgtEl>
                                          <p:spTgt spid="4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1000"/>
                                        <p:tgtEl>
                                          <p:spTgt spid="4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1000"/>
                                        <p:tgtEl>
                                          <p:spTgt spid="4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1000"/>
                                        <p:tgtEl>
                                          <p:spTgt spid="4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cxnSp>
        <p:nvCxnSpPr>
          <p:cNvPr id="478" name="Google Shape;478;p28"/>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479" name="Google Shape;479;p28"/>
          <p:cNvGrpSpPr/>
          <p:nvPr/>
        </p:nvGrpSpPr>
        <p:grpSpPr>
          <a:xfrm rot="10800000">
            <a:off x="15785084" y="-536938"/>
            <a:ext cx="7681773" cy="4260605"/>
            <a:chOff x="0" y="-38100"/>
            <a:chExt cx="406400" cy="225405"/>
          </a:xfrm>
        </p:grpSpPr>
        <p:sp>
          <p:nvSpPr>
            <p:cNvPr id="480" name="Google Shape;480;p2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81" name="Google Shape;481;p28"/>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2" name="Google Shape;482;p2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483" name="Google Shape;483;p28"/>
          <p:cNvGrpSpPr/>
          <p:nvPr/>
        </p:nvGrpSpPr>
        <p:grpSpPr>
          <a:xfrm>
            <a:off x="-2718010" y="9274530"/>
            <a:ext cx="7950378" cy="1707223"/>
            <a:chOff x="0" y="-384760"/>
            <a:chExt cx="10600504" cy="2276297"/>
          </a:xfrm>
        </p:grpSpPr>
        <p:grpSp>
          <p:nvGrpSpPr>
            <p:cNvPr id="484" name="Google Shape;484;p28"/>
            <p:cNvGrpSpPr/>
            <p:nvPr/>
          </p:nvGrpSpPr>
          <p:grpSpPr>
            <a:xfrm>
              <a:off x="0" y="-384760"/>
              <a:ext cx="10600504" cy="2276297"/>
              <a:chOff x="0" y="-38100"/>
              <a:chExt cx="1049690" cy="225405"/>
            </a:xfrm>
          </p:grpSpPr>
          <p:sp>
            <p:nvSpPr>
              <p:cNvPr id="485" name="Google Shape;485;p2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86" name="Google Shape;486;p28"/>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7" name="Google Shape;487;p28"/>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8" name="Google Shape;488;p28"/>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489" name="Google Shape;489;p28"/>
          <p:cNvSpPr txBox="1"/>
          <p:nvPr/>
        </p:nvSpPr>
        <p:spPr>
          <a:xfrm>
            <a:off x="6476650" y="2293675"/>
            <a:ext cx="11089500" cy="7980900"/>
          </a:xfrm>
          <a:prstGeom prst="rect">
            <a:avLst/>
          </a:prstGeom>
          <a:noFill/>
          <a:ln>
            <a:noFill/>
          </a:ln>
        </p:spPr>
        <p:txBody>
          <a:bodyPr anchorCtr="0" anchor="t" bIns="45700" lIns="91425" spcFirstLastPara="1" rIns="91425" wrap="square" tIns="45700">
            <a:spAutoFit/>
          </a:bodyPr>
          <a:lstStyle/>
          <a:p>
            <a:pPr indent="0" lvl="0" marL="45720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Four people are talking about their weekends.</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Complete the sentences below.</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rgbClr val="0A0A0A"/>
                </a:solidFill>
                <a:latin typeface="Roboto"/>
                <a:ea typeface="Roboto"/>
                <a:cs typeface="Roboto"/>
                <a:sym typeface="Roboto"/>
              </a:rPr>
              <a:t>Speaker A: </a:t>
            </a:r>
            <a:r>
              <a:rPr b="1" lang="en-US" sz="2500">
                <a:solidFill>
                  <a:srgbClr val="FF0000"/>
                </a:solidFill>
                <a:latin typeface="Roboto"/>
                <a:ea typeface="Roboto"/>
                <a:cs typeface="Roboto"/>
                <a:sym typeface="Roboto"/>
              </a:rPr>
              <a:t>3. has quiet mornings.</a:t>
            </a:r>
            <a:endParaRPr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rgbClr val="0A0A0A"/>
                </a:solidFill>
                <a:latin typeface="Roboto"/>
                <a:ea typeface="Roboto"/>
                <a:cs typeface="Roboto"/>
                <a:sym typeface="Roboto"/>
              </a:rPr>
              <a:t>Speaker B: </a:t>
            </a:r>
            <a:r>
              <a:rPr b="1" lang="en-US" sz="2500">
                <a:solidFill>
                  <a:srgbClr val="FF0000"/>
                </a:solidFill>
                <a:latin typeface="Roboto"/>
                <a:ea typeface="Roboto"/>
                <a:cs typeface="Roboto"/>
                <a:sym typeface="Roboto"/>
              </a:rPr>
              <a:t>4. doesn’t relax during the day.</a:t>
            </a:r>
            <a:endParaRPr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rgbClr val="0A0A0A"/>
                </a:solidFill>
                <a:latin typeface="Roboto"/>
                <a:ea typeface="Roboto"/>
                <a:cs typeface="Roboto"/>
                <a:sym typeface="Roboto"/>
              </a:rPr>
              <a:t>Speaker C: </a:t>
            </a:r>
            <a:r>
              <a:rPr b="1" lang="en-US" sz="2500">
                <a:solidFill>
                  <a:srgbClr val="FF0000"/>
                </a:solidFill>
                <a:latin typeface="Roboto"/>
                <a:ea typeface="Roboto"/>
                <a:cs typeface="Roboto"/>
                <a:sym typeface="Roboto"/>
              </a:rPr>
              <a:t>5. relaxes by keeping busy.</a:t>
            </a:r>
            <a:endParaRPr sz="2500">
              <a:solidFill>
                <a:srgbClr val="FF0000"/>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rgbClr val="0A0A0A"/>
                </a:solidFill>
                <a:latin typeface="Roboto"/>
                <a:ea typeface="Roboto"/>
                <a:cs typeface="Roboto"/>
                <a:sym typeface="Roboto"/>
              </a:rPr>
              <a:t>Speaker D: </a:t>
            </a:r>
            <a:r>
              <a:rPr b="1" lang="en-US" sz="2500">
                <a:solidFill>
                  <a:srgbClr val="FF0000"/>
                </a:solidFill>
                <a:latin typeface="Roboto"/>
                <a:ea typeface="Roboto"/>
                <a:cs typeface="Roboto"/>
                <a:sym typeface="Roboto"/>
              </a:rPr>
              <a:t>1. has busy mornings before relaxing.</a:t>
            </a:r>
            <a:endParaRPr sz="2500">
              <a:solidFill>
                <a:srgbClr val="FF0000"/>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t/>
            </a:r>
            <a:endParaRPr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1. 	has busy mornings before relaxing.</a:t>
            </a:r>
            <a:endParaRPr b="1"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2. 	goes cycling in the park.</a:t>
            </a:r>
            <a:endParaRPr b="1"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3. 	has quiet mornings.</a:t>
            </a:r>
            <a:endParaRPr b="1"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4. 	doesn’t relax during the day.</a:t>
            </a:r>
            <a:endParaRPr b="1"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5. 	relaxes by keeping busy.</a:t>
            </a:r>
            <a:endParaRPr b="1"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rgbClr val="0A0A0A"/>
                </a:solidFill>
                <a:latin typeface="Roboto"/>
                <a:ea typeface="Roboto"/>
                <a:cs typeface="Roboto"/>
                <a:sym typeface="Roboto"/>
              </a:rPr>
              <a:t>6. 	meets friends in the morning</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t/>
            </a:r>
            <a:endParaRPr b="1" sz="2500">
              <a:solidFill>
                <a:srgbClr val="018345"/>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500"/>
                                        <p:tgtEl>
                                          <p:spTgt spid="4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cxnSp>
        <p:nvCxnSpPr>
          <p:cNvPr id="495" name="Google Shape;495;p29"/>
          <p:cNvCxnSpPr/>
          <p:nvPr/>
        </p:nvCxnSpPr>
        <p:spPr>
          <a:xfrm flipH="1" rot="10800000">
            <a:off x="4572001" y="1220575"/>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496" name="Google Shape;496;p29"/>
          <p:cNvGrpSpPr/>
          <p:nvPr/>
        </p:nvGrpSpPr>
        <p:grpSpPr>
          <a:xfrm rot="10800000">
            <a:off x="15785084" y="-536938"/>
            <a:ext cx="7681773" cy="4260605"/>
            <a:chOff x="0" y="-38100"/>
            <a:chExt cx="406400" cy="225405"/>
          </a:xfrm>
        </p:grpSpPr>
        <p:sp>
          <p:nvSpPr>
            <p:cNvPr id="497" name="Google Shape;497;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98" name="Google Shape;498;p29"/>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9" name="Google Shape;499;p2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500" name="Google Shape;500;p29"/>
          <p:cNvGrpSpPr/>
          <p:nvPr/>
        </p:nvGrpSpPr>
        <p:grpSpPr>
          <a:xfrm>
            <a:off x="-2718010" y="9274530"/>
            <a:ext cx="7950378" cy="1707223"/>
            <a:chOff x="0" y="-384760"/>
            <a:chExt cx="10600504" cy="2276297"/>
          </a:xfrm>
        </p:grpSpPr>
        <p:grpSp>
          <p:nvGrpSpPr>
            <p:cNvPr id="501" name="Google Shape;501;p29"/>
            <p:cNvGrpSpPr/>
            <p:nvPr/>
          </p:nvGrpSpPr>
          <p:grpSpPr>
            <a:xfrm>
              <a:off x="0" y="-384760"/>
              <a:ext cx="10600504" cy="2276297"/>
              <a:chOff x="0" y="-38100"/>
              <a:chExt cx="1049690" cy="225405"/>
            </a:xfrm>
          </p:grpSpPr>
          <p:sp>
            <p:nvSpPr>
              <p:cNvPr id="502" name="Google Shape;502;p2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03" name="Google Shape;503;p29"/>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4" name="Google Shape;504;p29"/>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5" name="Google Shape;505;p29"/>
          <p:cNvSpPr txBox="1"/>
          <p:nvPr/>
        </p:nvSpPr>
        <p:spPr>
          <a:xfrm>
            <a:off x="3345397" y="297175"/>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506" name="Google Shape;506;p29"/>
          <p:cNvSpPr txBox="1"/>
          <p:nvPr/>
        </p:nvSpPr>
        <p:spPr>
          <a:xfrm>
            <a:off x="822600" y="1441650"/>
            <a:ext cx="16642800" cy="68265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Speaker A: 3. has quiet mornings.</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a:t>
            </a:r>
            <a:r>
              <a:rPr lang="en-US" sz="2500">
                <a:solidFill>
                  <a:srgbClr val="0A0A0A"/>
                </a:solidFill>
                <a:latin typeface="Roboto"/>
                <a:ea typeface="Roboto"/>
                <a:cs typeface="Roboto"/>
                <a:sym typeface="Roboto"/>
              </a:rPr>
              <a:t>I also like to sit in the garden because </a:t>
            </a:r>
            <a:r>
              <a:rPr b="1" lang="en-US" sz="2500">
                <a:solidFill>
                  <a:srgbClr val="FF0000"/>
                </a:solidFill>
                <a:latin typeface="Roboto"/>
                <a:ea typeface="Roboto"/>
                <a:cs typeface="Roboto"/>
                <a:sym typeface="Roboto"/>
              </a:rPr>
              <a:t>it's reasonably secluded….</a:t>
            </a:r>
            <a:r>
              <a:rPr lang="en-US" sz="2500">
                <a:solidFill>
                  <a:srgbClr val="0A0A0A"/>
                </a:solidFill>
                <a:latin typeface="Roboto"/>
                <a:ea typeface="Roboto"/>
                <a:cs typeface="Roboto"/>
                <a:sym typeface="Roboto"/>
              </a:rPr>
              <a:t>”</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Speaker B: 4. doesn’t relax during the day</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t>
            </a:r>
            <a:r>
              <a:rPr b="1" lang="en-US" sz="2500">
                <a:solidFill>
                  <a:srgbClr val="FF0000"/>
                </a:solidFill>
                <a:latin typeface="Roboto"/>
                <a:ea typeface="Roboto"/>
                <a:cs typeface="Roboto"/>
                <a:sym typeface="Roboto"/>
              </a:rPr>
              <a:t>I don't have much time to relax during the week</a:t>
            </a:r>
            <a:r>
              <a:rPr lang="en-US" sz="2500">
                <a:solidFill>
                  <a:schemeClr val="dk1"/>
                </a:solidFill>
                <a:latin typeface="Roboto"/>
                <a:ea typeface="Roboto"/>
                <a:cs typeface="Roboto"/>
                <a:sym typeface="Roboto"/>
              </a:rPr>
              <a:t> because I start work quite early, and by the time I get home it's usually quite late.</a:t>
            </a:r>
            <a:r>
              <a:rPr lang="en-US" sz="2500">
                <a:solidFill>
                  <a:srgbClr val="0A0A0A"/>
                </a:solidFill>
                <a:latin typeface="Roboto"/>
                <a:ea typeface="Roboto"/>
                <a:cs typeface="Roboto"/>
                <a:sym typeface="Roboto"/>
              </a:rPr>
              <a:t>”</a:t>
            </a:r>
            <a:endParaRPr sz="2500">
              <a:solidFill>
                <a:srgbClr val="0A0A0A"/>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Speaker C: 5. Relaxed by keeping busy</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rgbClr val="0A0A0A"/>
                </a:solidFill>
                <a:latin typeface="Roboto"/>
                <a:ea typeface="Roboto"/>
                <a:cs typeface="Roboto"/>
                <a:sym typeface="Roboto"/>
              </a:rPr>
              <a:t>“I’m at the gymnasium about six o'clock and then I'm busy all day at work. I keep more or less to the same routine at the weekend too</a:t>
            </a:r>
            <a:r>
              <a:rPr lang="en-US" sz="2500">
                <a:solidFill>
                  <a:srgbClr val="0A0A0A"/>
                </a:solidFill>
                <a:latin typeface="Roboto"/>
                <a:ea typeface="Roboto"/>
                <a:cs typeface="Roboto"/>
                <a:sym typeface="Roboto"/>
              </a:rPr>
              <a:t>”</a:t>
            </a:r>
            <a:endParaRPr sz="2500">
              <a:solidFill>
                <a:srgbClr val="0A0A0A"/>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Speaker D</a:t>
            </a:r>
            <a:r>
              <a:rPr b="1" lang="en-US" sz="2500">
                <a:solidFill>
                  <a:schemeClr val="dk1"/>
                </a:solidFill>
                <a:latin typeface="Roboto"/>
                <a:ea typeface="Roboto"/>
                <a:cs typeface="Roboto"/>
                <a:sym typeface="Roboto"/>
              </a:rPr>
              <a:t>: 1</a:t>
            </a:r>
            <a:r>
              <a:rPr b="1" lang="en-US" sz="2500">
                <a:solidFill>
                  <a:schemeClr val="dk1"/>
                </a:solidFill>
                <a:latin typeface="Roboto"/>
                <a:ea typeface="Roboto"/>
                <a:cs typeface="Roboto"/>
                <a:sym typeface="Roboto"/>
              </a:rPr>
              <a:t>. has busy mornings before relaxing.</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rgbClr val="0A0A0A"/>
                </a:solidFill>
                <a:latin typeface="Roboto"/>
                <a:ea typeface="Roboto"/>
                <a:cs typeface="Roboto"/>
                <a:sym typeface="Roboto"/>
              </a:rPr>
              <a:t>“</a:t>
            </a:r>
            <a:r>
              <a:rPr lang="en-US" sz="2500">
                <a:solidFill>
                  <a:srgbClr val="0A0A0A"/>
                </a:solidFill>
                <a:latin typeface="Roboto"/>
                <a:ea typeface="Roboto"/>
                <a:cs typeface="Roboto"/>
                <a:sym typeface="Roboto"/>
              </a:rPr>
              <a:t>The cleaning, the laundry, the shopping, all done. The pets are fed. And the car is washed. </a:t>
            </a:r>
            <a:r>
              <a:rPr b="1" lang="en-US" sz="2500">
                <a:solidFill>
                  <a:srgbClr val="FF0000"/>
                </a:solidFill>
                <a:latin typeface="Roboto"/>
                <a:ea typeface="Roboto"/>
                <a:cs typeface="Roboto"/>
                <a:sym typeface="Roboto"/>
              </a:rPr>
              <a:t>That usually takes me all morning.</a:t>
            </a:r>
            <a:r>
              <a:rPr lang="en-US" sz="2500">
                <a:solidFill>
                  <a:srgbClr val="0A0A0A"/>
                </a:solidFill>
                <a:latin typeface="Roboto"/>
                <a:ea typeface="Roboto"/>
                <a:cs typeface="Roboto"/>
                <a:sym typeface="Roboto"/>
              </a:rPr>
              <a:t>”</a:t>
            </a:r>
            <a:endParaRPr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None/>
            </a:pPr>
            <a:r>
              <a:t/>
            </a:r>
            <a:endParaRPr sz="2500">
              <a:solidFill>
                <a:srgbClr val="0A0A0A"/>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500"/>
                                        <p:tgtEl>
                                          <p:spTgt spid="5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cxnSp>
        <p:nvCxnSpPr>
          <p:cNvPr id="512" name="Google Shape;512;p30"/>
          <p:cNvCxnSpPr/>
          <p:nvPr/>
        </p:nvCxnSpPr>
        <p:spPr>
          <a:xfrm flipH="1" rot="10800000">
            <a:off x="6209270" y="1619400"/>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513" name="Google Shape;513;p30"/>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514" name="Google Shape;514;p30"/>
          <p:cNvGrpSpPr/>
          <p:nvPr/>
        </p:nvGrpSpPr>
        <p:grpSpPr>
          <a:xfrm rot="10800000">
            <a:off x="15785084" y="-536938"/>
            <a:ext cx="7681773" cy="4260605"/>
            <a:chOff x="0" y="-38100"/>
            <a:chExt cx="406400" cy="225405"/>
          </a:xfrm>
        </p:grpSpPr>
        <p:sp>
          <p:nvSpPr>
            <p:cNvPr id="515" name="Google Shape;515;p3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16" name="Google Shape;516;p3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7" name="Google Shape;517;p3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18" name="Google Shape;518;p30"/>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Từ vựng và cấu trúc</a:t>
            </a:r>
            <a:endParaRPr b="1" sz="6000">
              <a:solidFill>
                <a:srgbClr val="018345"/>
              </a:solidFill>
              <a:latin typeface="Montserrat"/>
              <a:ea typeface="Montserrat"/>
              <a:cs typeface="Montserrat"/>
              <a:sym typeface="Montserrat"/>
            </a:endParaRPr>
          </a:p>
        </p:txBody>
      </p:sp>
      <p:grpSp>
        <p:nvGrpSpPr>
          <p:cNvPr id="519" name="Google Shape;519;p30"/>
          <p:cNvGrpSpPr/>
          <p:nvPr/>
        </p:nvGrpSpPr>
        <p:grpSpPr>
          <a:xfrm>
            <a:off x="-2718010" y="9274530"/>
            <a:ext cx="7950378" cy="1707223"/>
            <a:chOff x="0" y="-384760"/>
            <a:chExt cx="10600504" cy="2276297"/>
          </a:xfrm>
        </p:grpSpPr>
        <p:grpSp>
          <p:nvGrpSpPr>
            <p:cNvPr id="520" name="Google Shape;520;p30"/>
            <p:cNvGrpSpPr/>
            <p:nvPr/>
          </p:nvGrpSpPr>
          <p:grpSpPr>
            <a:xfrm>
              <a:off x="0" y="-384760"/>
              <a:ext cx="10600504" cy="2276297"/>
              <a:chOff x="0" y="-38100"/>
              <a:chExt cx="1049690" cy="225405"/>
            </a:xfrm>
          </p:grpSpPr>
          <p:sp>
            <p:nvSpPr>
              <p:cNvPr id="521" name="Google Shape;521;p3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22" name="Google Shape;522;p30"/>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3" name="Google Shape;523;p30"/>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4" name="Google Shape;524;p30"/>
          <p:cNvSpPr txBox="1"/>
          <p:nvPr/>
        </p:nvSpPr>
        <p:spPr>
          <a:xfrm>
            <a:off x="6671038" y="2132648"/>
            <a:ext cx="10990800" cy="4833300"/>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Seclude: </a:t>
            </a:r>
            <a:r>
              <a:rPr lang="en-US" sz="4400">
                <a:solidFill>
                  <a:schemeClr val="dk1"/>
                </a:solidFill>
                <a:latin typeface="Calibri"/>
                <a:ea typeface="Calibri"/>
                <a:cs typeface="Calibri"/>
                <a:sym typeface="Calibri"/>
              </a:rPr>
              <a:t>Tách biệt</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Relax: </a:t>
            </a:r>
            <a:r>
              <a:rPr lang="en-US" sz="4400">
                <a:solidFill>
                  <a:schemeClr val="dk1"/>
                </a:solidFill>
                <a:latin typeface="Calibri"/>
                <a:ea typeface="Calibri"/>
                <a:cs typeface="Calibri"/>
                <a:sym typeface="Calibri"/>
              </a:rPr>
              <a:t>Thư giãn</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Gymnasium: </a:t>
            </a:r>
            <a:r>
              <a:rPr lang="en-US" sz="4400">
                <a:solidFill>
                  <a:schemeClr val="dk1"/>
                </a:solidFill>
                <a:latin typeface="Calibri"/>
                <a:ea typeface="Calibri"/>
                <a:cs typeface="Calibri"/>
                <a:sym typeface="Calibri"/>
              </a:rPr>
              <a:t>phòng gym/thể dục</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Routine: </a:t>
            </a:r>
            <a:r>
              <a:rPr lang="en-US" sz="4400">
                <a:solidFill>
                  <a:schemeClr val="dk1"/>
                </a:solidFill>
                <a:latin typeface="Calibri"/>
                <a:ea typeface="Calibri"/>
                <a:cs typeface="Calibri"/>
                <a:sym typeface="Calibri"/>
              </a:rPr>
              <a:t>Thói quen hằng ngày</a:t>
            </a:r>
            <a:endParaRPr sz="4400">
              <a:solidFill>
                <a:schemeClr val="dk1"/>
              </a:solidFill>
              <a:latin typeface="Calibri"/>
              <a:ea typeface="Calibri"/>
              <a:cs typeface="Calibri"/>
              <a:sym typeface="Calibri"/>
            </a:endParaRPr>
          </a:p>
          <a:p>
            <a:pPr indent="-508000" lvl="0" marL="457200" rtl="0" algn="l">
              <a:lnSpc>
                <a:spcPct val="150000"/>
              </a:lnSpc>
              <a:spcBef>
                <a:spcPts val="0"/>
              </a:spcBef>
              <a:spcAft>
                <a:spcPts val="0"/>
              </a:spcAft>
              <a:buClr>
                <a:srgbClr val="018345"/>
              </a:buClr>
              <a:buSzPts val="4400"/>
              <a:buChar char="•"/>
            </a:pPr>
            <a:r>
              <a:rPr lang="en-US" sz="4400">
                <a:solidFill>
                  <a:srgbClr val="018345"/>
                </a:solidFill>
                <a:latin typeface="Calibri"/>
                <a:ea typeface="Calibri"/>
                <a:cs typeface="Calibri"/>
                <a:sym typeface="Calibri"/>
              </a:rPr>
              <a:t>Laundry: </a:t>
            </a:r>
            <a:r>
              <a:rPr lang="en-US" sz="4400">
                <a:solidFill>
                  <a:schemeClr val="dk1"/>
                </a:solidFill>
                <a:latin typeface="Calibri"/>
                <a:ea typeface="Calibri"/>
                <a:cs typeface="Calibri"/>
                <a:sym typeface="Calibri"/>
              </a:rPr>
              <a:t>Giặt là</a:t>
            </a:r>
            <a:endParaRPr sz="4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500"/>
                                        <p:tgtEl>
                                          <p:spTgt spid="5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cxnSp>
        <p:nvCxnSpPr>
          <p:cNvPr id="529" name="Google Shape;529;p31"/>
          <p:cNvCxnSpPr/>
          <p:nvPr/>
        </p:nvCxnSpPr>
        <p:spPr>
          <a:xfrm>
            <a:off x="5693855" y="2235185"/>
            <a:ext cx="11307428" cy="0"/>
          </a:xfrm>
          <a:prstGeom prst="straightConnector1">
            <a:avLst/>
          </a:prstGeom>
          <a:noFill/>
          <a:ln cap="flat" cmpd="sng" w="38100">
            <a:solidFill>
              <a:srgbClr val="018345"/>
            </a:solidFill>
            <a:prstDash val="solid"/>
            <a:round/>
            <a:headEnd len="sm" w="sm" type="none"/>
            <a:tailEnd len="sm" w="sm" type="none"/>
          </a:ln>
        </p:spPr>
      </p:cxnSp>
      <p:cxnSp>
        <p:nvCxnSpPr>
          <p:cNvPr id="530" name="Google Shape;530;p31"/>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531" name="Google Shape;531;p31"/>
          <p:cNvGrpSpPr/>
          <p:nvPr/>
        </p:nvGrpSpPr>
        <p:grpSpPr>
          <a:xfrm rot="10800000">
            <a:off x="15044552" y="-741521"/>
            <a:ext cx="7681766" cy="4260610"/>
            <a:chOff x="0" y="-38100"/>
            <a:chExt cx="406400" cy="225405"/>
          </a:xfrm>
        </p:grpSpPr>
        <p:sp>
          <p:nvSpPr>
            <p:cNvPr id="532" name="Google Shape;532;p3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33" name="Google Shape;533;p3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534" name="Google Shape;534;p31"/>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535" name="Google Shape;535;p31"/>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536" name="Google Shape;536;p31"/>
          <p:cNvSpPr txBox="1"/>
          <p:nvPr/>
        </p:nvSpPr>
        <p:spPr>
          <a:xfrm>
            <a:off x="6705600" y="2324100"/>
            <a:ext cx="9930052" cy="1266885"/>
          </a:xfrm>
          <a:prstGeom prst="rect">
            <a:avLst/>
          </a:prstGeom>
          <a:noFill/>
          <a:ln>
            <a:noFill/>
          </a:ln>
        </p:spPr>
        <p:txBody>
          <a:bodyPr anchorCtr="0" anchor="t" bIns="0" lIns="0" spcFirstLastPara="1" rIns="0" wrap="square" tIns="0">
            <a:spAutoFit/>
          </a:bodyPr>
          <a:lstStyle/>
          <a:p>
            <a:pPr indent="0" lvl="0" marL="0" marR="0" rtl="0" algn="ctr">
              <a:lnSpc>
                <a:spcPct val="150069"/>
              </a:lnSpc>
              <a:spcBef>
                <a:spcPts val="0"/>
              </a:spcBef>
              <a:spcAft>
                <a:spcPts val="0"/>
              </a:spcAft>
              <a:buNone/>
            </a:pPr>
            <a:r>
              <a:rPr b="1" lang="en-US" sz="7200">
                <a:solidFill>
                  <a:srgbClr val="018345"/>
                </a:solidFill>
                <a:latin typeface="Montserrat"/>
                <a:ea typeface="Montserrat"/>
                <a:cs typeface="Montserrat"/>
                <a:sym typeface="Montserrat"/>
              </a:rPr>
              <a:t>Luyện tập</a:t>
            </a:r>
            <a:endParaRPr b="1" sz="7200">
              <a:solidFill>
                <a:srgbClr val="018345"/>
              </a:solidFill>
              <a:latin typeface="Montserrat"/>
              <a:ea typeface="Montserrat"/>
              <a:cs typeface="Montserrat"/>
              <a:sym typeface="Montserrat"/>
            </a:endParaRPr>
          </a:p>
        </p:txBody>
      </p:sp>
      <p:sp>
        <p:nvSpPr>
          <p:cNvPr id="537" name="Google Shape;537;p31"/>
          <p:cNvSpPr txBox="1"/>
          <p:nvPr/>
        </p:nvSpPr>
        <p:spPr>
          <a:xfrm>
            <a:off x="10182106" y="339710"/>
            <a:ext cx="220273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05</a:t>
            </a:r>
            <a:endParaRPr/>
          </a:p>
        </p:txBody>
      </p:sp>
      <p:grpSp>
        <p:nvGrpSpPr>
          <p:cNvPr id="538" name="Google Shape;538;p31"/>
          <p:cNvGrpSpPr/>
          <p:nvPr/>
        </p:nvGrpSpPr>
        <p:grpSpPr>
          <a:xfrm>
            <a:off x="-2718010" y="9274528"/>
            <a:ext cx="7950400" cy="1707231"/>
            <a:chOff x="0" y="-384762"/>
            <a:chExt cx="10600533" cy="2276307"/>
          </a:xfrm>
        </p:grpSpPr>
        <p:grpSp>
          <p:nvGrpSpPr>
            <p:cNvPr id="539" name="Google Shape;539;p31"/>
            <p:cNvGrpSpPr/>
            <p:nvPr/>
          </p:nvGrpSpPr>
          <p:grpSpPr>
            <a:xfrm>
              <a:off x="0" y="-384762"/>
              <a:ext cx="10600533" cy="2276307"/>
              <a:chOff x="0" y="-38100"/>
              <a:chExt cx="1049690" cy="225405"/>
            </a:xfrm>
          </p:grpSpPr>
          <p:sp>
            <p:nvSpPr>
              <p:cNvPr id="540" name="Google Shape;540;p3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41" name="Google Shape;541;p3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2" name="Google Shape;542;p31"/>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543" name="Google Shape;543;p31"/>
          <p:cNvPicPr preferRelativeResize="0"/>
          <p:nvPr/>
        </p:nvPicPr>
        <p:blipFill rotWithShape="1">
          <a:blip r:embed="rId5">
            <a:alphaModFix/>
          </a:blip>
          <a:srcRect b="0" l="0" r="0" t="0"/>
          <a:stretch/>
        </p:blipFill>
        <p:spPr>
          <a:xfrm>
            <a:off x="8915400" y="3956510"/>
            <a:ext cx="5962650" cy="596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37"/>
                                        </p:tgtEl>
                                        <p:attrNameLst>
                                          <p:attrName>style.visibility</p:attrName>
                                        </p:attrNameLst>
                                      </p:cBhvr>
                                      <p:to>
                                        <p:strVal val="visible"/>
                                      </p:to>
                                    </p:set>
                                    <p:anim calcmode="lin" valueType="num">
                                      <p:cBhvr additive="base">
                                        <p:cTn dur="500"/>
                                        <p:tgtEl>
                                          <p:spTgt spid="537"/>
                                        </p:tgtEl>
                                        <p:attrNameLst>
                                          <p:attrName>ppt_w</p:attrName>
                                        </p:attrNameLst>
                                      </p:cBhvr>
                                      <p:tavLst>
                                        <p:tav fmla="" tm="0">
                                          <p:val>
                                            <p:strVal val="0"/>
                                          </p:val>
                                        </p:tav>
                                        <p:tav fmla="" tm="100000">
                                          <p:val>
                                            <p:strVal val="#ppt_w"/>
                                          </p:val>
                                        </p:tav>
                                      </p:tavLst>
                                    </p:anim>
                                    <p:anim calcmode="lin" valueType="num">
                                      <p:cBhvr additive="base">
                                        <p:cTn dur="500"/>
                                        <p:tgtEl>
                                          <p:spTgt spid="53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36"/>
                                        </p:tgtEl>
                                        <p:attrNameLst>
                                          <p:attrName>style.visibility</p:attrName>
                                        </p:attrNameLst>
                                      </p:cBhvr>
                                      <p:to>
                                        <p:strVal val="visible"/>
                                      </p:to>
                                    </p:set>
                                    <p:anim calcmode="lin" valueType="num">
                                      <p:cBhvr additive="base">
                                        <p:cTn dur="500"/>
                                        <p:tgtEl>
                                          <p:spTgt spid="536"/>
                                        </p:tgtEl>
                                        <p:attrNameLst>
                                          <p:attrName>ppt_w</p:attrName>
                                        </p:attrNameLst>
                                      </p:cBhvr>
                                      <p:tavLst>
                                        <p:tav fmla="" tm="0">
                                          <p:val>
                                            <p:strVal val="0"/>
                                          </p:val>
                                        </p:tav>
                                        <p:tav fmla="" tm="100000">
                                          <p:val>
                                            <p:strVal val="#ppt_w"/>
                                          </p:val>
                                        </p:tav>
                                      </p:tavLst>
                                    </p:anim>
                                    <p:anim calcmode="lin" valueType="num">
                                      <p:cBhvr additive="base">
                                        <p:cTn dur="500"/>
                                        <p:tgtEl>
                                          <p:spTgt spid="53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cxnSp>
        <p:nvCxnSpPr>
          <p:cNvPr id="549" name="Google Shape;549;p32"/>
          <p:cNvCxnSpPr/>
          <p:nvPr/>
        </p:nvCxnSpPr>
        <p:spPr>
          <a:xfrm>
            <a:off x="5693855" y="2057171"/>
            <a:ext cx="11307428" cy="0"/>
          </a:xfrm>
          <a:prstGeom prst="straightConnector1">
            <a:avLst/>
          </a:prstGeom>
          <a:noFill/>
          <a:ln cap="flat" cmpd="sng" w="38100">
            <a:solidFill>
              <a:srgbClr val="018345"/>
            </a:solidFill>
            <a:prstDash val="solid"/>
            <a:round/>
            <a:headEnd len="sm" w="sm" type="none"/>
            <a:tailEnd len="sm" w="sm" type="none"/>
          </a:ln>
        </p:spPr>
      </p:cxnSp>
      <p:cxnSp>
        <p:nvCxnSpPr>
          <p:cNvPr id="550" name="Google Shape;550;p32"/>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551" name="Google Shape;551;p32"/>
          <p:cNvGrpSpPr/>
          <p:nvPr/>
        </p:nvGrpSpPr>
        <p:grpSpPr>
          <a:xfrm rot="10800000">
            <a:off x="15044552" y="-741521"/>
            <a:ext cx="7681766" cy="4260610"/>
            <a:chOff x="0" y="-38100"/>
            <a:chExt cx="406400" cy="225405"/>
          </a:xfrm>
        </p:grpSpPr>
        <p:sp>
          <p:nvSpPr>
            <p:cNvPr id="552" name="Google Shape;552;p3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53" name="Google Shape;553;p3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554" name="Google Shape;554;p32"/>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555" name="Google Shape;555;p32"/>
          <p:cNvSpPr/>
          <p:nvPr/>
        </p:nvSpPr>
        <p:spPr>
          <a:xfrm>
            <a:off x="18157088" y="171450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556" name="Google Shape;556;p32"/>
          <p:cNvGrpSpPr/>
          <p:nvPr/>
        </p:nvGrpSpPr>
        <p:grpSpPr>
          <a:xfrm rot="10800000">
            <a:off x="15828686" y="-13843"/>
            <a:ext cx="7681766" cy="4260610"/>
            <a:chOff x="0" y="-38100"/>
            <a:chExt cx="406400" cy="225405"/>
          </a:xfrm>
        </p:grpSpPr>
        <p:sp>
          <p:nvSpPr>
            <p:cNvPr id="557" name="Google Shape;557;p3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558" name="Google Shape;558;p3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9" name="Google Shape;559;p32"/>
          <p:cNvSpPr txBox="1"/>
          <p:nvPr/>
        </p:nvSpPr>
        <p:spPr>
          <a:xfrm>
            <a:off x="5696245" y="2603735"/>
            <a:ext cx="11565445" cy="5114861"/>
          </a:xfrm>
          <a:prstGeom prst="rect">
            <a:avLst/>
          </a:prstGeom>
          <a:noFill/>
          <a:ln>
            <a:noFill/>
          </a:ln>
        </p:spPr>
        <p:txBody>
          <a:bodyPr anchorCtr="0" anchor="t" bIns="0" lIns="0" spcFirstLastPara="1" rIns="0" wrap="square" tIns="0">
            <a:spAutoFit/>
          </a:bodyPr>
          <a:lstStyle/>
          <a:p>
            <a:pPr indent="0" lvl="0" marL="0" marR="0" rtl="0" algn="ctr">
              <a:lnSpc>
                <a:spcPct val="134999"/>
              </a:lnSpc>
              <a:spcBef>
                <a:spcPts val="0"/>
              </a:spcBef>
              <a:spcAft>
                <a:spcPts val="0"/>
              </a:spcAft>
              <a:buNone/>
            </a:pPr>
            <a:r>
              <a:rPr b="1" lang="en-US" sz="10003">
                <a:solidFill>
                  <a:srgbClr val="018345"/>
                </a:solidFill>
                <a:latin typeface="Roboto"/>
                <a:ea typeface="Roboto"/>
                <a:cs typeface="Roboto"/>
                <a:sym typeface="Roboto"/>
              </a:rPr>
              <a:t>Cảm ơn các bạn đã chú ý theo dõi!</a:t>
            </a:r>
            <a:endParaRPr/>
          </a:p>
          <a:p>
            <a:pPr indent="0" lvl="0" marL="0" marR="0" rtl="0" algn="ctr">
              <a:lnSpc>
                <a:spcPct val="134999"/>
              </a:lnSpc>
              <a:spcBef>
                <a:spcPts val="0"/>
              </a:spcBef>
              <a:spcAft>
                <a:spcPts val="0"/>
              </a:spcAft>
              <a:buNone/>
            </a:pPr>
            <a:r>
              <a:t/>
            </a:r>
            <a:endParaRPr b="1" sz="10003">
              <a:solidFill>
                <a:srgbClr val="018345"/>
              </a:solidFill>
              <a:latin typeface="Roboto"/>
              <a:ea typeface="Roboto"/>
              <a:cs typeface="Roboto"/>
              <a:sym typeface="Roboto"/>
            </a:endParaRPr>
          </a:p>
        </p:txBody>
      </p:sp>
      <p:grpSp>
        <p:nvGrpSpPr>
          <p:cNvPr id="560" name="Google Shape;560;p32"/>
          <p:cNvGrpSpPr/>
          <p:nvPr/>
        </p:nvGrpSpPr>
        <p:grpSpPr>
          <a:xfrm>
            <a:off x="5693855" y="6543482"/>
            <a:ext cx="11567835" cy="1261722"/>
            <a:chOff x="5693855" y="7590172"/>
            <a:chExt cx="11567835" cy="1261722"/>
          </a:xfrm>
        </p:grpSpPr>
        <p:grpSp>
          <p:nvGrpSpPr>
            <p:cNvPr id="561" name="Google Shape;561;p32"/>
            <p:cNvGrpSpPr/>
            <p:nvPr/>
          </p:nvGrpSpPr>
          <p:grpSpPr>
            <a:xfrm>
              <a:off x="5693855" y="7590172"/>
              <a:ext cx="11567834" cy="1261722"/>
              <a:chOff x="0" y="-38100"/>
              <a:chExt cx="3046672" cy="332305"/>
            </a:xfrm>
          </p:grpSpPr>
          <p:sp>
            <p:nvSpPr>
              <p:cNvPr id="562" name="Google Shape;562;p32"/>
              <p:cNvSpPr/>
              <p:nvPr/>
            </p:nvSpPr>
            <p:spPr>
              <a:xfrm>
                <a:off x="0" y="0"/>
                <a:ext cx="3046672" cy="294205"/>
              </a:xfrm>
              <a:custGeom>
                <a:rect b="b" l="l" r="r" t="t"/>
                <a:pathLst>
                  <a:path extrusionOk="0" h="294205" w="3046672">
                    <a:moveTo>
                      <a:pt x="0" y="0"/>
                    </a:moveTo>
                    <a:lnTo>
                      <a:pt x="3046672" y="0"/>
                    </a:lnTo>
                    <a:lnTo>
                      <a:pt x="3046672" y="294205"/>
                    </a:lnTo>
                    <a:lnTo>
                      <a:pt x="0" y="294205"/>
                    </a:lnTo>
                    <a:close/>
                  </a:path>
                </a:pathLst>
              </a:custGeom>
              <a:solidFill>
                <a:srgbClr val="006B37"/>
              </a:solidFill>
              <a:ln>
                <a:noFill/>
              </a:ln>
            </p:spPr>
          </p:sp>
          <p:sp>
            <p:nvSpPr>
              <p:cNvPr id="563" name="Google Shape;563;p32"/>
              <p:cNvSpPr txBox="1"/>
              <p:nvPr/>
            </p:nvSpPr>
            <p:spPr>
              <a:xfrm>
                <a:off x="0" y="-38100"/>
                <a:ext cx="3046672" cy="3323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4" name="Google Shape;564;p32"/>
            <p:cNvSpPr txBox="1"/>
            <p:nvPr/>
          </p:nvSpPr>
          <p:spPr>
            <a:xfrm>
              <a:off x="5696245" y="7961575"/>
              <a:ext cx="11565445" cy="59690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lang="en-US" sz="3499">
                  <a:solidFill>
                    <a:srgbClr val="FFFFFF"/>
                  </a:solidFill>
                  <a:latin typeface="Roboto"/>
                  <a:ea typeface="Roboto"/>
                  <a:cs typeface="Roboto"/>
                  <a:sym typeface="Roboto"/>
                </a:rPr>
                <a:t>Hẹn gặp lại các bạn ở những bài học tiếp theo</a:t>
              </a:r>
              <a:endParaRPr sz="3499">
                <a:solidFill>
                  <a:srgbClr val="FFFFFF"/>
                </a:solidFill>
                <a:latin typeface="Roboto"/>
                <a:ea typeface="Roboto"/>
                <a:cs typeface="Roboto"/>
                <a:sym typeface="Roboto"/>
              </a:endParaRPr>
            </a:p>
          </p:txBody>
        </p:sp>
      </p:grpSp>
      <p:grpSp>
        <p:nvGrpSpPr>
          <p:cNvPr id="565" name="Google Shape;565;p32"/>
          <p:cNvGrpSpPr/>
          <p:nvPr/>
        </p:nvGrpSpPr>
        <p:grpSpPr>
          <a:xfrm>
            <a:off x="-2718010" y="9274528"/>
            <a:ext cx="7950400" cy="1707231"/>
            <a:chOff x="0" y="-384762"/>
            <a:chExt cx="10600533" cy="2276307"/>
          </a:xfrm>
        </p:grpSpPr>
        <p:grpSp>
          <p:nvGrpSpPr>
            <p:cNvPr id="566" name="Google Shape;566;p32"/>
            <p:cNvGrpSpPr/>
            <p:nvPr/>
          </p:nvGrpSpPr>
          <p:grpSpPr>
            <a:xfrm>
              <a:off x="0" y="-384762"/>
              <a:ext cx="10600533" cy="2276307"/>
              <a:chOff x="0" y="-38100"/>
              <a:chExt cx="1049690" cy="225405"/>
            </a:xfrm>
          </p:grpSpPr>
          <p:sp>
            <p:nvSpPr>
              <p:cNvPr id="567" name="Google Shape;567;p3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68" name="Google Shape;568;p32"/>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9" name="Google Shape;569;p32"/>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59"/>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559"/>
                                        </p:tgtEl>
                                        <p:attrNameLst>
                                          <p:attrName>style.visibility</p:attrName>
                                        </p:attrNameLst>
                                      </p:cBhvr>
                                      <p:to>
                                        <p:strVal val="visible"/>
                                      </p:to>
                                    </p:set>
                                    <p:anim calcmode="lin" valueType="num">
                                      <p:cBhvr additive="base">
                                        <p:cTn dur="500"/>
                                        <p:tgtEl>
                                          <p:spTgt spid="559"/>
                                        </p:tgtEl>
                                        <p:attrNameLst>
                                          <p:attrName>ppt_w</p:attrName>
                                        </p:attrNameLst>
                                      </p:cBhvr>
                                      <p:tavLst>
                                        <p:tav fmla="" tm="0">
                                          <p:val>
                                            <p:strVal val="0"/>
                                          </p:val>
                                        </p:tav>
                                        <p:tav fmla="" tm="100000">
                                          <p:val>
                                            <p:strVal val="#ppt_w"/>
                                          </p:val>
                                        </p:tav>
                                      </p:tavLst>
                                    </p:anim>
                                    <p:anim calcmode="lin" valueType="num">
                                      <p:cBhvr additive="base">
                                        <p:cTn dur="500"/>
                                        <p:tgtEl>
                                          <p:spTgt spid="559"/>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560"/>
                                        </p:tgtEl>
                                        <p:attrNameLst>
                                          <p:attrName>style.visibility</p:attrName>
                                        </p:attrNameLst>
                                      </p:cBhvr>
                                      <p:to>
                                        <p:strVal val="visible"/>
                                      </p:to>
                                    </p:set>
                                    <p:animEffect filter="fade" transition="in">
                                      <p:cBhvr>
                                        <p:cTn dur="500"/>
                                        <p:tgtEl>
                                          <p:spTgt spid="5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