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Roboto"/>
      <p:regular r:id="rId28"/>
      <p:bold r:id="rId29"/>
      <p:italic r:id="rId30"/>
      <p:boldItalic r:id="rId31"/>
    </p:embeddedFont>
    <p:embeddedFont>
      <p:font typeface="Montserra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Montserrat-bold.fntdata"/><Relationship Id="rId10" Type="http://schemas.openxmlformats.org/officeDocument/2006/relationships/slide" Target="slides/slide5.xml"/><Relationship Id="rId32" Type="http://schemas.openxmlformats.org/officeDocument/2006/relationships/font" Target="fonts/Montserrat-regular.fntdata"/><Relationship Id="rId13" Type="http://schemas.openxmlformats.org/officeDocument/2006/relationships/slide" Target="slides/slide8.xml"/><Relationship Id="rId35" Type="http://schemas.openxmlformats.org/officeDocument/2006/relationships/font" Target="fonts/Montserrat-boldItalic.fntdata"/><Relationship Id="rId12" Type="http://schemas.openxmlformats.org/officeDocument/2006/relationships/slide" Target="slides/slide7.xml"/><Relationship Id="rId34" Type="http://schemas.openxmlformats.org/officeDocument/2006/relationships/font" Target="fonts/Montserra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Giữ bình tĩnh và tự tin:</a:t>
            </a:r>
            <a:r>
              <a:rPr lang="en-US"/>
              <a:t> Điều quan trọng nhất là bạn phải giữ bình tĩnh và tự tin khi làm bài thi. Hãy hít thở sâu và tập trung vào việc trả lời các câu hỏi.</a:t>
            </a:r>
            <a:endParaRPr/>
          </a:p>
          <a:p>
            <a:pPr indent="0" lvl="0" marL="0" rtl="0" algn="l">
              <a:spcBef>
                <a:spcPts val="0"/>
              </a:spcBef>
              <a:spcAft>
                <a:spcPts val="0"/>
              </a:spcAft>
              <a:buNone/>
            </a:pPr>
            <a:r>
              <a:rPr b="1" lang="en-US"/>
              <a:t>Nghe kỹ hướng dẫn:</a:t>
            </a:r>
            <a:r>
              <a:rPr lang="en-US"/>
              <a:t> Hãy nghe kỹ hướng dẫn trước khi bắt đầu trả lời mỗi câu hỏi. Hãy chắc chắn rằng bạn hiểu rõ câu hỏi trước khi trả lời.</a:t>
            </a:r>
            <a:endParaRPr/>
          </a:p>
          <a:p>
            <a:pPr indent="0" lvl="0" marL="0" rtl="0" algn="l">
              <a:spcBef>
                <a:spcPts val="0"/>
              </a:spcBef>
              <a:spcAft>
                <a:spcPts val="0"/>
              </a:spcAft>
              <a:buNone/>
            </a:pPr>
            <a:r>
              <a:rPr b="1" lang="en-US"/>
              <a:t>Trả lời câu hỏi một cách ngắn gọn và súc tích:</a:t>
            </a:r>
            <a:r>
              <a:rPr lang="en-US"/>
              <a:t> Bạn chỉ có 30 giây để trả lời mỗi câu hỏi, vì vậy hãy trả lời một cách ngắn gọn và súc tích. Tránh đi lạc chủ đề hoặc đưa ra thông tin không liên quan.</a:t>
            </a:r>
            <a:endParaRPr/>
          </a:p>
          <a:p>
            <a:pPr indent="0" lvl="0" marL="0" rtl="0" algn="l">
              <a:spcBef>
                <a:spcPts val="0"/>
              </a:spcBef>
              <a:spcAft>
                <a:spcPts val="0"/>
              </a:spcAft>
              <a:buNone/>
            </a:pPr>
            <a:r>
              <a:rPr b="1" lang="en-US"/>
              <a:t>Nói rõ ràng và dễ hiểu:</a:t>
            </a:r>
            <a:r>
              <a:rPr lang="en-US"/>
              <a:t> Hãy nói rõ ràng và dễ hiểu để giám khảo có thể nghe và hiểu rõ câu trả lời của bạn.</a:t>
            </a:r>
            <a:endParaRPr/>
          </a:p>
          <a:p>
            <a:pPr indent="0" lvl="0" marL="0" rtl="0" algn="l">
              <a:spcBef>
                <a:spcPts val="0"/>
              </a:spcBef>
              <a:spcAft>
                <a:spcPts val="0"/>
              </a:spcAft>
              <a:buNone/>
            </a:pPr>
            <a:r>
              <a:rPr b="1" lang="en-US"/>
              <a:t>Sử dụng ngữ điệu và cách nhấn phù hợp:</a:t>
            </a:r>
            <a:r>
              <a:rPr lang="en-US"/>
              <a:t> Hãy sử dụng ngữ điệu và cách nhấn phù hợp để câu trả lời của bạn thêm sinh động và tự nhiên.</a:t>
            </a:r>
            <a:endParaRPr/>
          </a:p>
        </p:txBody>
      </p:sp>
      <p:sp>
        <p:nvSpPr>
          <p:cNvPr id="246" name="Google Shape;2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0a1aa6bd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2e0a1aa6bde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g2e0a1aa6bde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e20e697d5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2e20e697d5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2e20e697d5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e14c94601e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2e14c94601e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e14c94601e_0_2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g2e14c94601e_0_2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None/>
            </a:pPr>
            <a:r>
              <a:rPr b="0" i="0" lang="en-US">
                <a:solidFill>
                  <a:srgbClr val="01051C"/>
                </a:solidFill>
                <a:latin typeface="Cambria"/>
                <a:ea typeface="Cambria"/>
                <a:cs typeface="Cambria"/>
                <a:sym typeface="Cambria"/>
              </a:rPr>
              <a:t>Bước đầu tiên, thí sinh cần đọc lướt để hiểu nhanh ý chính đồng thời gạch chân từ khóa trong các câu hỏi và phương án. Nếu như từ khóa trong câu hỏi là “vũ khí” giúp thí sinh định vị vùng thông tin chứa đáp án, thì từ khóa trong các phương án sẽ giúp thí sinh nghe hiểu, lọc đáp án và thông tin gây nhiễu trong quá trình nghe</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***Lưu ý</a:t>
            </a:r>
            <a:r>
              <a:rPr b="0" i="1" lang="en-US">
                <a:solidFill>
                  <a:srgbClr val="01051C"/>
                </a:solidFill>
                <a:latin typeface="Cambria"/>
                <a:ea typeface="Cambria"/>
                <a:cs typeface="Cambria"/>
                <a:sym typeface="Cambria"/>
              </a:rPr>
              <a:t>: Thí sinh hoàn toàn có thể tận dụng thời gian nghe đoạn hướng dẫn để làm bước này.</a:t>
            </a:r>
            <a:endParaRPr b="0" i="0">
              <a:solidFill>
                <a:srgbClr val="01051C"/>
              </a:solidFill>
              <a:latin typeface="Cambria"/>
              <a:ea typeface="Cambria"/>
              <a:cs typeface="Cambria"/>
              <a:sym typeface="Cambria"/>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5" name="Google Shape;385;g2e14c94601e_0_2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e14c94601e_0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2e14c94601e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76200" lvl="0" marL="0" rtl="0" algn="just">
              <a:spcBef>
                <a:spcPts val="0"/>
              </a:spcBef>
              <a:spcAft>
                <a:spcPts val="0"/>
              </a:spcAft>
              <a:buClr>
                <a:srgbClr val="01051C"/>
              </a:buClr>
              <a:buSzPts val="1200"/>
              <a:buFont typeface="Calibri"/>
              <a:buAutoNum type="arabicPeriod"/>
            </a:pPr>
            <a:r>
              <a:rPr b="0" i="0" lang="en-US">
                <a:solidFill>
                  <a:srgbClr val="01051C"/>
                </a:solidFill>
                <a:latin typeface="Cambria"/>
                <a:ea typeface="Cambria"/>
                <a:cs typeface="Cambria"/>
                <a:sym typeface="Cambria"/>
              </a:rPr>
              <a:t>Củng cố mục đích nghe</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Khi đoạn băng đưa hiệu lệnh bắt đầu câu hỏi 1, thí sinh nhanh chóng đọc qua lại những từ khóa đã gạch chân trong câu hỏi 1 và các phương án để tự củng cố lại mục đích nghe cho câu hỏi này. Việc làm này sẽ giúp thí sinh chỉ tập trung nghe và phân tích thông tin trong khi làm bài, tránh tình trạng vừa nghe vừa đọc hiểu đề, dẫn đến mất tập trung.</a:t>
            </a:r>
            <a:endParaRPr/>
          </a:p>
          <a:p>
            <a:pPr indent="-76200" lvl="0" marL="0" rtl="0" algn="just">
              <a:spcBef>
                <a:spcPts val="0"/>
              </a:spcBef>
              <a:spcAft>
                <a:spcPts val="0"/>
              </a:spcAft>
              <a:buClr>
                <a:srgbClr val="01051C"/>
              </a:buClr>
              <a:buSzPts val="1200"/>
              <a:buFont typeface="Calibri"/>
              <a:buAutoNum type="arabicPeriod" startAt="2"/>
            </a:pPr>
            <a:r>
              <a:rPr b="0" i="0" lang="en-US">
                <a:solidFill>
                  <a:srgbClr val="01051C"/>
                </a:solidFill>
                <a:latin typeface="Cambria"/>
                <a:ea typeface="Cambria"/>
                <a:cs typeface="Cambria"/>
                <a:sym typeface="Cambria"/>
              </a:rPr>
              <a:t>Xác định vùng thông tin chứa đáp án</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Trong khi nghe VSTEP Listening Part 1, thí sinh xác định vùng thông tin chứa đáp án dựa vào từ khóa đã gạch chân trong câu hỏi.</a:t>
            </a:r>
            <a:endParaRPr/>
          </a:p>
          <a:p>
            <a:pPr indent="-76200" lvl="0" marL="0" rtl="0" algn="just">
              <a:spcBef>
                <a:spcPts val="0"/>
              </a:spcBef>
              <a:spcAft>
                <a:spcPts val="0"/>
              </a:spcAft>
              <a:buClr>
                <a:srgbClr val="01051C"/>
              </a:buClr>
              <a:buSzPts val="1200"/>
              <a:buFont typeface="Calibri"/>
              <a:buAutoNum type="arabicPeriod" startAt="3"/>
            </a:pPr>
            <a:r>
              <a:rPr b="0" i="0" lang="en-US">
                <a:solidFill>
                  <a:srgbClr val="01051C"/>
                </a:solidFill>
                <a:latin typeface="Cambria"/>
                <a:ea typeface="Cambria"/>
                <a:cs typeface="Cambria"/>
                <a:sym typeface="Cambria"/>
              </a:rPr>
              <a:t>Nhận diện yếu tố gây nhiễu</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Khi làm phần này, cả 4 phương án thường sẽ đều được nhắc đến trong đoạn băng, vì vậy, thí sinh cần xác định cả những lý do khiến phương án sai.</a:t>
            </a:r>
            <a:endParaRPr/>
          </a:p>
          <a:p>
            <a:pPr indent="-76200" lvl="0" marL="0" rtl="0" algn="just">
              <a:spcBef>
                <a:spcPts val="0"/>
              </a:spcBef>
              <a:spcAft>
                <a:spcPts val="0"/>
              </a:spcAft>
              <a:buClr>
                <a:srgbClr val="01051C"/>
              </a:buClr>
              <a:buSzPts val="1200"/>
              <a:buFont typeface="Calibri"/>
              <a:buAutoNum type="arabicPeriod" startAt="4"/>
            </a:pPr>
            <a:r>
              <a:rPr b="0" i="0" lang="en-US">
                <a:solidFill>
                  <a:srgbClr val="01051C"/>
                </a:solidFill>
                <a:latin typeface="Cambria"/>
                <a:ea typeface="Cambria"/>
                <a:cs typeface="Cambria"/>
                <a:sym typeface="Cambria"/>
              </a:rPr>
              <a:t>Ghi chú thông tin với những câu chưa tìm được đáp án</a:t>
            </a:r>
            <a:endParaRPr/>
          </a:p>
          <a:p>
            <a:pPr indent="0" lvl="0" marL="0" rtl="0" algn="just">
              <a:spcBef>
                <a:spcPts val="0"/>
              </a:spcBef>
              <a:spcAft>
                <a:spcPts val="0"/>
              </a:spcAft>
              <a:buNone/>
            </a:pPr>
            <a:r>
              <a:rPr b="0" i="0" lang="en-US">
                <a:solidFill>
                  <a:srgbClr val="01051C"/>
                </a:solidFill>
                <a:latin typeface="Cambria"/>
                <a:ea typeface="Cambria"/>
                <a:cs typeface="Cambria"/>
                <a:sym typeface="Cambria"/>
              </a:rPr>
              <a:t>Đối với những câu hỏi chưa nghe được đáp án, thí sinh có thể ghi chú lại các thông tin nghe được để đối chiếu</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09" name="Google Shape;409;g2e14c94601e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e14c94601e_0_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2e14c94601e_0_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1051C"/>
              </a:buClr>
              <a:buSzPts val="1200"/>
              <a:buFont typeface="Cambria"/>
              <a:buNone/>
            </a:pPr>
            <a:r>
              <a:rPr b="0" i="0" lang="en-US">
                <a:solidFill>
                  <a:srgbClr val="01051C"/>
                </a:solidFill>
                <a:latin typeface="Cambria"/>
                <a:ea typeface="Cambria"/>
                <a:cs typeface="Cambria"/>
                <a:sym typeface="Cambria"/>
              </a:rPr>
              <a:t>Tại bước này, thí sinh kiểm tra lại các đáp án mình đã chọn. Với những câu chưa có đáp án, kiểm tra lại phần ghi chú và chọn phương án phù hợp nhất</a:t>
            </a:r>
            <a:endParaRPr/>
          </a:p>
          <a:p>
            <a:pPr indent="0" lvl="0" marL="0" rtl="0" algn="l">
              <a:spcBef>
                <a:spcPts val="0"/>
              </a:spcBef>
              <a:spcAft>
                <a:spcPts val="0"/>
              </a:spcAft>
              <a:buNone/>
            </a:pPr>
            <a:r>
              <a:t/>
            </a:r>
            <a:endParaRPr/>
          </a:p>
        </p:txBody>
      </p:sp>
      <p:sp>
        <p:nvSpPr>
          <p:cNvPr id="444" name="Google Shape;444;g2e14c94601e_0_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e20e697d56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2e20e697d56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2e20e697d56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e20e697d56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g2e20e697d56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g2e20e697d56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e0af1eb685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2e0af1eb685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g2e0af1eb685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e0af1eb68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2e0af1eb68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g2e0af1eb68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e20c1f4d48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g2e20c1f4d48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2e20c1f4d48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hyperlink" Target="http://drive.google.com/file/d/1gl3Jh8JF4EhmjCuu8GTBQ6kTHTn2FnGo/view" TargetMode="External"/><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hyperlink" Target="http://drive.google.com/file/d/1EZY3PsyqeW_UsBRphf0I6mFhh-IdfG1K/view" TargetMode="External"/><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hyperlink" Target="http://drive.google.com/file/d/1gl3Jh8JF4EhmjCuu8GTBQ6kTHTn2FnGo/view" TargetMode="External"/><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hyperlink" Target="http://drive.google.com/file/d/1EZY3PsyqeW_UsBRphf0I6mFhh-IdfG1K/view" TargetMode="External"/><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87" name="Shape 87"/>
        <p:cNvGrpSpPr/>
        <p:nvPr/>
      </p:nvGrpSpPr>
      <p:grpSpPr>
        <a:xfrm>
          <a:off x="0" y="0"/>
          <a:ext cx="0" cy="0"/>
          <a:chOff x="0" y="0"/>
          <a:chExt cx="0" cy="0"/>
        </a:xfrm>
      </p:grpSpPr>
      <p:sp>
        <p:nvSpPr>
          <p:cNvPr id="88" name="Google Shape;88;p13"/>
          <p:cNvSpPr txBox="1"/>
          <p:nvPr/>
        </p:nvSpPr>
        <p:spPr>
          <a:xfrm>
            <a:off x="4788018" y="1722907"/>
            <a:ext cx="13410874" cy="1496479"/>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b="0" i="0" lang="en-US" sz="10416" u="none" cap="none" strike="noStrik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3708" cy="2222589"/>
            <a:chOff x="0" y="-192881"/>
            <a:chExt cx="11458277"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txBox="1"/>
              <p:nvPr/>
            </p:nvSpPr>
            <p:spPr>
              <a:xfrm>
                <a:off x="0" y="-38100"/>
                <a:ext cx="2263363" cy="5853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anchorCtr="0" anchor="t" bIns="0" lIns="0" spcFirstLastPara="1" rIns="0" wrap="square" tIns="0">
              <a:spAutoFit/>
            </a:bodyPr>
            <a:lstStyle/>
            <a:p>
              <a:pPr indent="0" lvl="0" marL="0" marR="0" rtl="0" algn="ctr">
                <a:lnSpc>
                  <a:spcPct val="112006"/>
                </a:lnSpc>
                <a:spcBef>
                  <a:spcPts val="0"/>
                </a:spcBef>
                <a:spcAft>
                  <a:spcPts val="0"/>
                </a:spcAft>
                <a:buNone/>
              </a:pPr>
              <a:r>
                <a:rPr lang="en-US" sz="12460">
                  <a:solidFill>
                    <a:srgbClr val="018345"/>
                  </a:solidFill>
                </a:rPr>
                <a:t>Listening</a:t>
              </a:r>
              <a:endParaRPr/>
            </a:p>
          </p:txBody>
        </p:sp>
      </p:grpSp>
      <p:cxnSp>
        <p:nvCxnSpPr>
          <p:cNvPr id="94" name="Google Shape;94;p13"/>
          <p:cNvCxnSpPr/>
          <p:nvPr/>
        </p:nvCxnSpPr>
        <p:spPr>
          <a:xfrm>
            <a:off x="5559805" y="3724211"/>
            <a:ext cx="11699495"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cap="flat" cmpd="sng" w="38100">
            <a:solidFill>
              <a:srgbClr val="018345"/>
            </a:solidFill>
            <a:prstDash val="solid"/>
            <a:round/>
            <a:headEnd len="sm" w="sm" type="none"/>
            <a:tailEnd len="sm" w="sm" type="none"/>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105" name="Google Shape;105;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a:t>
              </a:r>
              <a:r>
                <a:rPr b="1" lang="en-US" sz="3200">
                  <a:solidFill>
                    <a:srgbClr val="FFFFFF"/>
                  </a:solidFill>
                  <a:latin typeface="Montserrat"/>
                  <a:ea typeface="Montserrat"/>
                  <a:cs typeface="Montserrat"/>
                  <a:sym typeface="Montserrat"/>
                </a:rPr>
                <a:t>nghe</a:t>
              </a:r>
              <a:r>
                <a:rPr b="1" i="0" lang="en-US" sz="3200" u="none" cap="none" strike="noStrike">
                  <a:solidFill>
                    <a:srgbClr val="FFFFFF"/>
                  </a:solidFill>
                  <a:latin typeface="Montserrat"/>
                  <a:ea typeface="Montserrat"/>
                  <a:cs typeface="Montserrat"/>
                  <a:sym typeface="Montserrat"/>
                </a:rPr>
                <a:t> APTIS part </a:t>
              </a:r>
              <a:r>
                <a:rPr b="1" lang="en-US" sz="3200">
                  <a:solidFill>
                    <a:srgbClr val="FFFFFF"/>
                  </a:solidFill>
                  <a:latin typeface="Montserrat"/>
                  <a:ea typeface="Montserrat"/>
                  <a:cs typeface="Montserrat"/>
                  <a:sym typeface="Montserrat"/>
                </a:rPr>
                <a:t>4</a:t>
              </a:r>
              <a:endParaRPr/>
            </a:p>
          </p:txBody>
        </p:sp>
        <p:sp>
          <p:nvSpPr>
            <p:cNvPr descr="Books with solid fill" id="111" name="Google Shape;111;p14"/>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 name="Google Shape;119;p14"/>
          <p:cNvGrpSpPr/>
          <p:nvPr/>
        </p:nvGrpSpPr>
        <p:grpSpPr>
          <a:xfrm>
            <a:off x="6934201" y="4203214"/>
            <a:ext cx="10121389" cy="1245090"/>
            <a:chOff x="6934200" y="7048502"/>
            <a:chExt cx="9882630" cy="1159137"/>
          </a:xfrm>
        </p:grpSpPr>
        <p:grpSp>
          <p:nvGrpSpPr>
            <p:cNvPr id="120" name="Google Shape;120;p14"/>
            <p:cNvGrpSpPr/>
            <p:nvPr/>
          </p:nvGrpSpPr>
          <p:grpSpPr>
            <a:xfrm>
              <a:off x="6934200" y="7048502"/>
              <a:ext cx="9882630" cy="1159137"/>
              <a:chOff x="6487861" y="7950596"/>
              <a:chExt cx="10571780" cy="1289204"/>
            </a:xfrm>
          </p:grpSpPr>
          <p:sp>
            <p:nvSpPr>
              <p:cNvPr id="121" name="Google Shape;121;p14"/>
              <p:cNvSpPr/>
              <p:nvPr/>
            </p:nvSpPr>
            <p:spPr>
              <a:xfrm>
                <a:off x="6517678" y="7950596"/>
                <a:ext cx="10541963" cy="1289204"/>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4"/>
              <p:cNvSpPr txBox="1"/>
              <p:nvPr/>
            </p:nvSpPr>
            <p:spPr>
              <a:xfrm>
                <a:off x="7905394" y="8347046"/>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nghe Aptis</a:t>
                </a:r>
                <a:endParaRPr b="1" sz="3200">
                  <a:solidFill>
                    <a:schemeClr val="lt1"/>
                  </a:solidFill>
                  <a:latin typeface="Montserrat"/>
                  <a:ea typeface="Montserrat"/>
                  <a:cs typeface="Montserrat"/>
                  <a:sym typeface="Montserrat"/>
                </a:endParaRPr>
              </a:p>
            </p:txBody>
          </p:sp>
        </p:grpSp>
        <p:pic>
          <p:nvPicPr>
            <p:cNvPr descr="Envelope with solid fill" id="124" name="Google Shape;124;p14"/>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29" name="Google Shape;129;p14"/>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35" name="Google Shape;135;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41" name="Google Shape;141;p14"/>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ppt_w</p:attrName>
                                        </p:attrNameLst>
                                      </p:cBhvr>
                                      <p:tavLst>
                                        <p:tav fmla="" tm="0">
                                          <p:val>
                                            <p:strVal val="0"/>
                                          </p:val>
                                        </p:tav>
                                        <p:tav fmla="" tm="100000">
                                          <p:val>
                                            <p:strVal val="#ppt_w"/>
                                          </p:val>
                                        </p:tav>
                                      </p:tavLst>
                                    </p:anim>
                                    <p:anim calcmode="lin" valueType="num">
                                      <p:cBhvr additive="base">
                                        <p:cTn dur="500"/>
                                        <p:tgtEl>
                                          <p:spTgt spid="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47" name="Google Shape;14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51" name="Google Shape;151;p1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52" name="Google Shape;152;p15"/>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53" name="Google Shape;153;p15"/>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54" name="Google Shape;154;p15"/>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nghe APTIS part 4</a:t>
            </a:r>
            <a:endParaRPr/>
          </a:p>
        </p:txBody>
      </p:sp>
      <p:sp>
        <p:nvSpPr>
          <p:cNvPr id="155" name="Google Shape;155;p15"/>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ppt_w</p:attrName>
                                        </p:attrNameLst>
                                      </p:cBhvr>
                                      <p:tavLst>
                                        <p:tav fmla="" tm="0">
                                          <p:val>
                                            <p:strVal val="0"/>
                                          </p:val>
                                        </p:tav>
                                        <p:tav fmla="" tm="100000">
                                          <p:val>
                                            <p:strVal val="#ppt_w"/>
                                          </p:val>
                                        </p:tav>
                                      </p:tavLst>
                                    </p:anim>
                                    <p:anim calcmode="lin" valueType="num">
                                      <p:cBhvr additive="base">
                                        <p:cTn dur="500"/>
                                        <p:tgtEl>
                                          <p:spTgt spid="15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p:nvPr/>
        </p:nvSpPr>
        <p:spPr>
          <a:xfrm>
            <a:off x="5053637" y="6110389"/>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6997386" y="3582199"/>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16"/>
          <p:cNvCxnSpPr/>
          <p:nvPr/>
        </p:nvCxnSpPr>
        <p:spPr>
          <a:xfrm flipH="1" rot="10800000">
            <a:off x="6557901" y="1568157"/>
            <a:ext cx="9909000" cy="50400"/>
          </a:xfrm>
          <a:prstGeom prst="straightConnector1">
            <a:avLst/>
          </a:prstGeom>
          <a:noFill/>
          <a:ln cap="flat" cmpd="sng" w="38100">
            <a:solidFill>
              <a:srgbClr val="018345"/>
            </a:solidFill>
            <a:prstDash val="solid"/>
            <a:round/>
            <a:headEnd len="sm" w="sm" type="none"/>
            <a:tailEnd len="sm" w="sm" type="none"/>
          </a:ln>
        </p:spPr>
      </p:cxnSp>
      <p:cxnSp>
        <p:nvCxnSpPr>
          <p:cNvPr id="170" name="Google Shape;170;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71" name="Google Shape;171;p16"/>
          <p:cNvGrpSpPr/>
          <p:nvPr/>
        </p:nvGrpSpPr>
        <p:grpSpPr>
          <a:xfrm rot="10800000">
            <a:off x="15785091" y="-536942"/>
            <a:ext cx="7681766" cy="4260610"/>
            <a:chOff x="0" y="-38100"/>
            <a:chExt cx="406400" cy="225405"/>
          </a:xfrm>
        </p:grpSpPr>
        <p:sp>
          <p:nvSpPr>
            <p:cNvPr id="172" name="Google Shape;172;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3" name="Google Shape;173;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4" name="Google Shape;174;p1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75" name="Google Shape;175;p16"/>
          <p:cNvGrpSpPr/>
          <p:nvPr/>
        </p:nvGrpSpPr>
        <p:grpSpPr>
          <a:xfrm>
            <a:off x="-2718010" y="9274528"/>
            <a:ext cx="7950400" cy="1707231"/>
            <a:chOff x="0" y="-384762"/>
            <a:chExt cx="10600533" cy="2276307"/>
          </a:xfrm>
        </p:grpSpPr>
        <p:grpSp>
          <p:nvGrpSpPr>
            <p:cNvPr id="176" name="Google Shape;176;p16"/>
            <p:cNvGrpSpPr/>
            <p:nvPr/>
          </p:nvGrpSpPr>
          <p:grpSpPr>
            <a:xfrm>
              <a:off x="0" y="-384762"/>
              <a:ext cx="10600533" cy="2276307"/>
              <a:chOff x="0" y="-38100"/>
              <a:chExt cx="1049690" cy="225405"/>
            </a:xfrm>
          </p:grpSpPr>
          <p:sp>
            <p:nvSpPr>
              <p:cNvPr id="177" name="Google Shape;177;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78" name="Google Shape;178;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9" name="Google Shape;179;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0" name="Google Shape;180;p16"/>
          <p:cNvSpPr txBox="1"/>
          <p:nvPr/>
        </p:nvSpPr>
        <p:spPr>
          <a:xfrm>
            <a:off x="5571996" y="691274"/>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Phần 4: Nghe hiểu bài nói độc thoại</a:t>
            </a:r>
            <a:endParaRPr b="1" sz="4800">
              <a:solidFill>
                <a:srgbClr val="018345"/>
              </a:solidFill>
              <a:latin typeface="Montserrat"/>
              <a:ea typeface="Montserrat"/>
              <a:cs typeface="Montserrat"/>
              <a:sym typeface="Montserrat"/>
            </a:endParaRPr>
          </a:p>
        </p:txBody>
      </p:sp>
      <p:grpSp>
        <p:nvGrpSpPr>
          <p:cNvPr id="181" name="Google Shape;181;p16"/>
          <p:cNvGrpSpPr/>
          <p:nvPr/>
        </p:nvGrpSpPr>
        <p:grpSpPr>
          <a:xfrm>
            <a:off x="9563502" y="2587607"/>
            <a:ext cx="7889409" cy="6359218"/>
            <a:chOff x="7810502" y="2279932"/>
            <a:chExt cx="7889409" cy="6359218"/>
          </a:xfrm>
        </p:grpSpPr>
        <p:grpSp>
          <p:nvGrpSpPr>
            <p:cNvPr id="182" name="Google Shape;182;p16"/>
            <p:cNvGrpSpPr/>
            <p:nvPr/>
          </p:nvGrpSpPr>
          <p:grpSpPr>
            <a:xfrm>
              <a:off x="7810502" y="2279932"/>
              <a:ext cx="7889409" cy="6359218"/>
              <a:chOff x="695515" y="76899"/>
              <a:chExt cx="7889409" cy="6359218"/>
            </a:xfrm>
          </p:grpSpPr>
          <p:sp>
            <p:nvSpPr>
              <p:cNvPr id="183" name="Google Shape;183;p16"/>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1592275" y="5088831"/>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txBox="1"/>
              <p:nvPr/>
            </p:nvSpPr>
            <p:spPr>
              <a:xfrm>
                <a:off x="1516651" y="5246317"/>
                <a:ext cx="53034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2 lần nghe</a:t>
                </a:r>
                <a:endParaRPr b="1" sz="4000">
                  <a:solidFill>
                    <a:schemeClr val="lt1"/>
                  </a:solidFill>
                  <a:latin typeface="Roboto"/>
                  <a:ea typeface="Roboto"/>
                  <a:cs typeface="Roboto"/>
                  <a:sym typeface="Roboto"/>
                </a:endParaRPr>
              </a:p>
            </p:txBody>
          </p:sp>
          <p:sp>
            <p:nvSpPr>
              <p:cNvPr id="195" name="Google Shape;195;p16"/>
              <p:cNvSpPr/>
              <p:nvPr/>
            </p:nvSpPr>
            <p:spPr>
              <a:xfrm>
                <a:off x="695515" y="4108036"/>
                <a:ext cx="1676384" cy="1630492"/>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3669724" y="2510116"/>
                <a:ext cx="49152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txBox="1"/>
              <p:nvPr/>
            </p:nvSpPr>
            <p:spPr>
              <a:xfrm>
                <a:off x="3446394" y="2555999"/>
                <a:ext cx="47865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 4 câu hỏi trắc nghiệm</a:t>
                </a:r>
                <a:endParaRPr b="1" sz="4000">
                  <a:solidFill>
                    <a:schemeClr val="lt1"/>
                  </a:solidFill>
                  <a:latin typeface="Roboto"/>
                  <a:ea typeface="Roboto"/>
                  <a:cs typeface="Roboto"/>
                  <a:sym typeface="Roboto"/>
                </a:endParaRPr>
              </a:p>
            </p:txBody>
          </p:sp>
          <p:sp>
            <p:nvSpPr>
              <p:cNvPr id="198" name="Google Shape;198;p16"/>
              <p:cNvSpPr/>
              <p:nvPr/>
            </p:nvSpPr>
            <p:spPr>
              <a:xfrm>
                <a:off x="2564182" y="1520638"/>
                <a:ext cx="1764418" cy="1674153"/>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99" name="Google Shape;199;p16"/>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200" name="Google Shape;200;p16"/>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
        <p:nvSpPr>
          <p:cNvPr id="201" name="Google Shape;201;p16"/>
          <p:cNvSpPr txBox="1"/>
          <p:nvPr/>
        </p:nvSpPr>
        <p:spPr>
          <a:xfrm>
            <a:off x="7061732" y="3646545"/>
            <a:ext cx="47865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2 đoạn độc thoại</a:t>
            </a:r>
            <a:endParaRPr b="1" sz="4000">
              <a:solidFill>
                <a:schemeClr val="lt1"/>
              </a:solidFill>
              <a:latin typeface="Roboto"/>
              <a:ea typeface="Roboto"/>
              <a:cs typeface="Roboto"/>
              <a:sym typeface="Roboto"/>
            </a:endParaRPr>
          </a:p>
        </p:txBody>
      </p:sp>
      <p:sp>
        <p:nvSpPr>
          <p:cNvPr id="202" name="Google Shape;202;p16"/>
          <p:cNvSpPr txBox="1"/>
          <p:nvPr/>
        </p:nvSpPr>
        <p:spPr>
          <a:xfrm>
            <a:off x="4686800" y="6174750"/>
            <a:ext cx="61584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Thái độ/ý kiến/ </a:t>
            </a:r>
            <a:endParaRPr b="1" sz="4000">
              <a:solidFill>
                <a:schemeClr val="lt1"/>
              </a:solidFill>
              <a:latin typeface="Roboto"/>
              <a:ea typeface="Roboto"/>
              <a:cs typeface="Roboto"/>
              <a:sym typeface="Roboto"/>
            </a:endParaRPr>
          </a:p>
          <a:p>
            <a:pPr indent="0" lvl="0" marL="0" marR="0" rtl="0" algn="l">
              <a:lnSpc>
                <a:spcPct val="90000"/>
              </a:lnSpc>
              <a:spcBef>
                <a:spcPts val="0"/>
              </a:spcBef>
              <a:spcAft>
                <a:spcPts val="0"/>
              </a:spcAft>
              <a:buClr>
                <a:schemeClr val="lt1"/>
              </a:buClr>
              <a:buSzPts val="4800"/>
              <a:buFont typeface="Roboto"/>
              <a:buNone/>
            </a:pPr>
            <a:r>
              <a:rPr b="1" lang="en-US" sz="4000">
                <a:solidFill>
                  <a:schemeClr val="lt1"/>
                </a:solidFill>
                <a:latin typeface="Roboto"/>
                <a:ea typeface="Roboto"/>
                <a:cs typeface="Roboto"/>
                <a:sym typeface="Roboto"/>
              </a:rPr>
              <a:t>mục đích</a:t>
            </a:r>
            <a:endParaRPr b="1" sz="4000">
              <a:solidFill>
                <a:schemeClr val="lt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cxnSp>
        <p:nvCxnSpPr>
          <p:cNvPr id="207" name="Google Shape;207;p17"/>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08" name="Google Shape;208;p17"/>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09" name="Google Shape;209;p17"/>
          <p:cNvGrpSpPr/>
          <p:nvPr/>
        </p:nvGrpSpPr>
        <p:grpSpPr>
          <a:xfrm rot="10800000">
            <a:off x="15044552" y="-741521"/>
            <a:ext cx="7681766" cy="4260610"/>
            <a:chOff x="0" y="-38100"/>
            <a:chExt cx="406400" cy="225405"/>
          </a:xfrm>
        </p:grpSpPr>
        <p:sp>
          <p:nvSpPr>
            <p:cNvPr id="210" name="Google Shape;210;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1" name="Google Shape;211;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12" name="Google Shape;212;p1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13" name="Google Shape;213;p17"/>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14" name="Google Shape;214;p17"/>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nghe APTIS Part 4</a:t>
            </a:r>
            <a:endParaRPr/>
          </a:p>
        </p:txBody>
      </p:sp>
      <p:sp>
        <p:nvSpPr>
          <p:cNvPr id="215" name="Google Shape;215;p17"/>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16" name="Google Shape;216;p17"/>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7" name="Google Shape;217;p17"/>
          <p:cNvGrpSpPr/>
          <p:nvPr/>
        </p:nvGrpSpPr>
        <p:grpSpPr>
          <a:xfrm>
            <a:off x="-2718010" y="9274528"/>
            <a:ext cx="7950400" cy="1707231"/>
            <a:chOff x="0" y="-384762"/>
            <a:chExt cx="10600533" cy="2276307"/>
          </a:xfrm>
        </p:grpSpPr>
        <p:grpSp>
          <p:nvGrpSpPr>
            <p:cNvPr id="218" name="Google Shape;218;p17"/>
            <p:cNvGrpSpPr/>
            <p:nvPr/>
          </p:nvGrpSpPr>
          <p:grpSpPr>
            <a:xfrm>
              <a:off x="0" y="-384762"/>
              <a:ext cx="10600533" cy="2276307"/>
              <a:chOff x="0" y="-38100"/>
              <a:chExt cx="1049690" cy="225405"/>
            </a:xfrm>
          </p:grpSpPr>
          <p:sp>
            <p:nvSpPr>
              <p:cNvPr id="219" name="Google Shape;219;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0" name="Google Shape;220;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1" name="Google Shape;221;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22" name="Google Shape;222;p17"/>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ppt_w</p:attrName>
                                        </p:attrNameLst>
                                      </p:cBhvr>
                                      <p:tavLst>
                                        <p:tav fmla="" tm="0">
                                          <p:val>
                                            <p:strVal val="0"/>
                                          </p:val>
                                        </p:tav>
                                        <p:tav fmla="" tm="100000">
                                          <p:val>
                                            <p:strVal val="#ppt_w"/>
                                          </p:val>
                                        </p:tav>
                                      </p:tavLst>
                                    </p:anim>
                                    <p:anim calcmode="lin" valueType="num">
                                      <p:cBhvr additive="base">
                                        <p:cTn dur="500"/>
                                        <p:tgtEl>
                                          <p:spTgt spid="2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cxnSp>
        <p:nvCxnSpPr>
          <p:cNvPr id="228" name="Google Shape;228;p18"/>
          <p:cNvCxnSpPr/>
          <p:nvPr/>
        </p:nvCxnSpPr>
        <p:spPr>
          <a:xfrm flipH="1" rot="10800000">
            <a:off x="3996362" y="1619250"/>
            <a:ext cx="11243637" cy="19050"/>
          </a:xfrm>
          <a:prstGeom prst="straightConnector1">
            <a:avLst/>
          </a:prstGeom>
          <a:noFill/>
          <a:ln cap="flat" cmpd="sng" w="38100">
            <a:solidFill>
              <a:srgbClr val="018345"/>
            </a:solidFill>
            <a:prstDash val="solid"/>
            <a:round/>
            <a:headEnd len="sm" w="sm" type="none"/>
            <a:tailEnd len="sm" w="sm" type="none"/>
          </a:ln>
        </p:spPr>
      </p:cxnSp>
      <p:grpSp>
        <p:nvGrpSpPr>
          <p:cNvPr id="229" name="Google Shape;229;p18"/>
          <p:cNvGrpSpPr/>
          <p:nvPr/>
        </p:nvGrpSpPr>
        <p:grpSpPr>
          <a:xfrm rot="10800000">
            <a:off x="15785091" y="-536942"/>
            <a:ext cx="7681766" cy="4260610"/>
            <a:chOff x="0" y="-38100"/>
            <a:chExt cx="406400" cy="225405"/>
          </a:xfrm>
        </p:grpSpPr>
        <p:sp>
          <p:nvSpPr>
            <p:cNvPr id="230" name="Google Shape;230;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1" name="Google Shape;231;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18"/>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33" name="Google Shape;233;p18"/>
          <p:cNvSpPr txBox="1"/>
          <p:nvPr/>
        </p:nvSpPr>
        <p:spPr>
          <a:xfrm>
            <a:off x="3359002" y="4011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nghe APTIS part 4</a:t>
            </a:r>
            <a:endParaRPr/>
          </a:p>
        </p:txBody>
      </p:sp>
      <p:grpSp>
        <p:nvGrpSpPr>
          <p:cNvPr id="234" name="Google Shape;234;p18"/>
          <p:cNvGrpSpPr/>
          <p:nvPr/>
        </p:nvGrpSpPr>
        <p:grpSpPr>
          <a:xfrm>
            <a:off x="-2718010" y="9274528"/>
            <a:ext cx="7950400" cy="1707231"/>
            <a:chOff x="0" y="-384762"/>
            <a:chExt cx="10600533" cy="2276307"/>
          </a:xfrm>
        </p:grpSpPr>
        <p:grpSp>
          <p:nvGrpSpPr>
            <p:cNvPr id="235" name="Google Shape;235;p18"/>
            <p:cNvGrpSpPr/>
            <p:nvPr/>
          </p:nvGrpSpPr>
          <p:grpSpPr>
            <a:xfrm>
              <a:off x="0" y="-384762"/>
              <a:ext cx="10600533" cy="2276307"/>
              <a:chOff x="0" y="-38100"/>
              <a:chExt cx="1049690" cy="225405"/>
            </a:xfrm>
          </p:grpSpPr>
          <p:sp>
            <p:nvSpPr>
              <p:cNvPr id="236" name="Google Shape;236;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37" name="Google Shape;237;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8" name="Google Shape;238;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9" name="Google Shape;239;p18"/>
          <p:cNvSpPr txBox="1"/>
          <p:nvPr/>
        </p:nvSpPr>
        <p:spPr>
          <a:xfrm>
            <a:off x="7245275" y="2117525"/>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Gạch chân từ khóa trong đề bài và các lựa chọn trong từng câu hỏi</a:t>
            </a:r>
            <a:endParaRPr>
              <a:latin typeface="Roboto"/>
              <a:ea typeface="Roboto"/>
              <a:cs typeface="Roboto"/>
              <a:sym typeface="Roboto"/>
            </a:endParaRPr>
          </a:p>
        </p:txBody>
      </p:sp>
      <p:sp>
        <p:nvSpPr>
          <p:cNvPr id="240" name="Google Shape;240;p18"/>
          <p:cNvSpPr txBox="1"/>
          <p:nvPr/>
        </p:nvSpPr>
        <p:spPr>
          <a:xfrm>
            <a:off x="7245275" y="4036719"/>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Hơi có phần suy luận để ra đáp án và các thông tin có thể còn bị xáo trộn</a:t>
            </a:r>
            <a:endParaRPr sz="4000">
              <a:solidFill>
                <a:schemeClr val="dk1"/>
              </a:solidFill>
              <a:latin typeface="Roboto"/>
              <a:ea typeface="Roboto"/>
              <a:cs typeface="Roboto"/>
              <a:sym typeface="Roboto"/>
            </a:endParaRPr>
          </a:p>
        </p:txBody>
      </p:sp>
      <p:sp>
        <p:nvSpPr>
          <p:cNvPr id="241" name="Google Shape;241;p18"/>
          <p:cNvSpPr txBox="1"/>
          <p:nvPr/>
        </p:nvSpPr>
        <p:spPr>
          <a:xfrm>
            <a:off x="7245275" y="5964906"/>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Chú ý các yếu tố gây nhiễu, và các từ/cụm từ có thể được </a:t>
            </a:r>
            <a:r>
              <a:rPr lang="en-US" sz="4000">
                <a:solidFill>
                  <a:schemeClr val="dk1"/>
                </a:solidFill>
                <a:latin typeface="Roboto"/>
                <a:ea typeface="Roboto"/>
                <a:cs typeface="Roboto"/>
                <a:sym typeface="Roboto"/>
              </a:rPr>
              <a:t>paraphrase</a:t>
            </a:r>
            <a:endParaRPr>
              <a:latin typeface="Roboto"/>
              <a:ea typeface="Roboto"/>
              <a:cs typeface="Roboto"/>
              <a:sym typeface="Roboto"/>
            </a:endParaRPr>
          </a:p>
        </p:txBody>
      </p:sp>
      <p:sp>
        <p:nvSpPr>
          <p:cNvPr id="242" name="Google Shape;242;p18"/>
          <p:cNvSpPr txBox="1"/>
          <p:nvPr/>
        </p:nvSpPr>
        <p:spPr>
          <a:xfrm>
            <a:off x="7245275" y="8032475"/>
            <a:ext cx="10810500" cy="1631700"/>
          </a:xfrm>
          <a:prstGeom prst="rect">
            <a:avLst/>
          </a:prstGeom>
          <a:noFill/>
          <a:ln>
            <a:noFill/>
          </a:ln>
        </p:spPr>
        <p:txBody>
          <a:bodyPr anchorCtr="0" anchor="t" bIns="45700" lIns="91425" spcFirstLastPara="1" rIns="91425" wrap="square" tIns="45700">
            <a:spAutoFit/>
          </a:bodyPr>
          <a:lstStyle/>
          <a:p>
            <a:pPr indent="-482600" lvl="0" marL="457200" marR="0" rtl="0" algn="l">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Takes note các thông tin cụ thể được đề cập để tổng hợp đưa ra phương án</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cxnSp>
        <p:nvCxnSpPr>
          <p:cNvPr id="248" name="Google Shape;248;p19"/>
          <p:cNvCxnSpPr/>
          <p:nvPr/>
        </p:nvCxnSpPr>
        <p:spPr>
          <a:xfrm>
            <a:off x="3154"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49" name="Google Shape;249;p19"/>
          <p:cNvGrpSpPr/>
          <p:nvPr/>
        </p:nvGrpSpPr>
        <p:grpSpPr>
          <a:xfrm rot="10800000">
            <a:off x="15785091" y="-536942"/>
            <a:ext cx="7681766" cy="4260610"/>
            <a:chOff x="0" y="-38100"/>
            <a:chExt cx="406400" cy="225405"/>
          </a:xfrm>
        </p:grpSpPr>
        <p:sp>
          <p:nvSpPr>
            <p:cNvPr id="250" name="Google Shape;250;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1" name="Google Shape;251;p19"/>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2" name="Google Shape;252;p19"/>
          <p:cNvSpPr txBox="1"/>
          <p:nvPr/>
        </p:nvSpPr>
        <p:spPr>
          <a:xfrm>
            <a:off x="6866001" y="910025"/>
            <a:ext cx="107877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a:t>
            </a:r>
            <a:endParaRPr/>
          </a:p>
        </p:txBody>
      </p:sp>
      <p:grpSp>
        <p:nvGrpSpPr>
          <p:cNvPr id="253" name="Google Shape;253;p19"/>
          <p:cNvGrpSpPr/>
          <p:nvPr/>
        </p:nvGrpSpPr>
        <p:grpSpPr>
          <a:xfrm>
            <a:off x="-2718010" y="9274528"/>
            <a:ext cx="7950400" cy="1707231"/>
            <a:chOff x="0" y="-384762"/>
            <a:chExt cx="10600533" cy="2276307"/>
          </a:xfrm>
        </p:grpSpPr>
        <p:grpSp>
          <p:nvGrpSpPr>
            <p:cNvPr id="254" name="Google Shape;254;p19"/>
            <p:cNvGrpSpPr/>
            <p:nvPr/>
          </p:nvGrpSpPr>
          <p:grpSpPr>
            <a:xfrm>
              <a:off x="0" y="-384762"/>
              <a:ext cx="10600533" cy="2276307"/>
              <a:chOff x="0" y="-38100"/>
              <a:chExt cx="1049690" cy="225405"/>
            </a:xfrm>
          </p:grpSpPr>
          <p:sp>
            <p:nvSpPr>
              <p:cNvPr id="255" name="Google Shape;255;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6" name="Google Shape;256;p19"/>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7" name="Google Shape;257;p19"/>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8" name="Google Shape;258;p19"/>
          <p:cNvSpPr/>
          <p:nvPr/>
        </p:nvSpPr>
        <p:spPr>
          <a:xfrm>
            <a:off x="7720637" y="2270061"/>
            <a:ext cx="10186363" cy="70044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52203" y="1059893"/>
            <a:ext cx="9424803" cy="9424803"/>
          </a:xfrm>
          <a:prstGeom prst="blockArc">
            <a:avLst>
              <a:gd fmla="val 19397388" name="adj1"/>
              <a:gd fmla="val 1908187" name="adj2"/>
              <a:gd fmla="val 0" name="adj3"/>
            </a:avLst>
          </a:prstGeom>
          <a:no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0" name="Google Shape;260;p19"/>
          <p:cNvCxnSpPr/>
          <p:nvPr/>
        </p:nvCxnSpPr>
        <p:spPr>
          <a:xfrm>
            <a:off x="7690000" y="1972100"/>
            <a:ext cx="9381900" cy="40500"/>
          </a:xfrm>
          <a:prstGeom prst="straightConnector1">
            <a:avLst/>
          </a:prstGeom>
          <a:noFill/>
          <a:ln cap="flat" cmpd="sng" w="38100">
            <a:solidFill>
              <a:srgbClr val="018345"/>
            </a:solidFill>
            <a:prstDash val="solid"/>
            <a:round/>
            <a:headEnd len="sm" w="sm" type="none"/>
            <a:tailEnd len="sm" w="sm" type="none"/>
          </a:ln>
        </p:spPr>
      </p:cxnSp>
      <p:grpSp>
        <p:nvGrpSpPr>
          <p:cNvPr id="261" name="Google Shape;261;p19"/>
          <p:cNvGrpSpPr/>
          <p:nvPr/>
        </p:nvGrpSpPr>
        <p:grpSpPr>
          <a:xfrm>
            <a:off x="8158730" y="3207820"/>
            <a:ext cx="8684450" cy="1094798"/>
            <a:chOff x="7100641" y="2598220"/>
            <a:chExt cx="8684450" cy="1094798"/>
          </a:xfrm>
        </p:grpSpPr>
        <p:sp>
          <p:nvSpPr>
            <p:cNvPr id="262" name="Google Shape;262;p19"/>
            <p:cNvSpPr/>
            <p:nvPr/>
          </p:nvSpPr>
          <p:spPr>
            <a:xfrm>
              <a:off x="7648040" y="2707700"/>
              <a:ext cx="8137051" cy="875838"/>
            </a:xfrm>
            <a:custGeom>
              <a:rect b="b" l="l" r="r" t="t"/>
              <a:pathLst>
                <a:path extrusionOk="0" h="875838" w="9428479">
                  <a:moveTo>
                    <a:pt x="0" y="0"/>
                  </a:moveTo>
                  <a:lnTo>
                    <a:pt x="9428479" y="0"/>
                  </a:lnTo>
                  <a:lnTo>
                    <a:pt x="94284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Giữ bình tĩnh và tự tin</a:t>
              </a:r>
              <a:endParaRPr sz="4600">
                <a:solidFill>
                  <a:schemeClr val="lt1"/>
                </a:solidFill>
                <a:latin typeface="Roboto"/>
                <a:ea typeface="Roboto"/>
                <a:cs typeface="Roboto"/>
                <a:sym typeface="Roboto"/>
              </a:endParaRPr>
            </a:p>
          </p:txBody>
        </p:sp>
        <p:sp>
          <p:nvSpPr>
            <p:cNvPr id="263" name="Google Shape;263;p19"/>
            <p:cNvSpPr/>
            <p:nvPr/>
          </p:nvSpPr>
          <p:spPr>
            <a:xfrm>
              <a:off x="7100641" y="2598220"/>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9"/>
          <p:cNvGrpSpPr/>
          <p:nvPr/>
        </p:nvGrpSpPr>
        <p:grpSpPr>
          <a:xfrm>
            <a:off x="8786330" y="4444957"/>
            <a:ext cx="8056850" cy="1094798"/>
            <a:chOff x="7728241" y="3911557"/>
            <a:chExt cx="8056850" cy="1094798"/>
          </a:xfrm>
        </p:grpSpPr>
        <p:sp>
          <p:nvSpPr>
            <p:cNvPr id="265" name="Google Shape;265;p19"/>
            <p:cNvSpPr/>
            <p:nvPr/>
          </p:nvSpPr>
          <p:spPr>
            <a:xfrm>
              <a:off x="8275640" y="4021037"/>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Nghe kỹ hướng dẫn</a:t>
              </a:r>
              <a:endParaRPr sz="4600">
                <a:solidFill>
                  <a:schemeClr val="lt1"/>
                </a:solidFill>
                <a:latin typeface="Roboto"/>
                <a:ea typeface="Roboto"/>
                <a:cs typeface="Roboto"/>
                <a:sym typeface="Roboto"/>
              </a:endParaRPr>
            </a:p>
          </p:txBody>
        </p:sp>
        <p:sp>
          <p:nvSpPr>
            <p:cNvPr id="266" name="Google Shape;266;p19"/>
            <p:cNvSpPr/>
            <p:nvPr/>
          </p:nvSpPr>
          <p:spPr>
            <a:xfrm>
              <a:off x="7728241" y="3911557"/>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 name="Google Shape;267;p19"/>
          <p:cNvGrpSpPr/>
          <p:nvPr/>
        </p:nvGrpSpPr>
        <p:grpSpPr>
          <a:xfrm>
            <a:off x="8978953" y="5758295"/>
            <a:ext cx="7864227" cy="1094798"/>
            <a:chOff x="7920864" y="5224895"/>
            <a:chExt cx="7864227" cy="1094798"/>
          </a:xfrm>
        </p:grpSpPr>
        <p:sp>
          <p:nvSpPr>
            <p:cNvPr id="268" name="Google Shape;268;p19"/>
            <p:cNvSpPr/>
            <p:nvPr/>
          </p:nvSpPr>
          <p:spPr>
            <a:xfrm>
              <a:off x="8468263" y="5334375"/>
              <a:ext cx="7316828" cy="875838"/>
            </a:xfrm>
            <a:custGeom>
              <a:rect b="b" l="l" r="r" t="t"/>
              <a:pathLst>
                <a:path extrusionOk="0" h="875838" w="8608256">
                  <a:moveTo>
                    <a:pt x="0" y="0"/>
                  </a:moveTo>
                  <a:lnTo>
                    <a:pt x="8608256" y="0"/>
                  </a:lnTo>
                  <a:lnTo>
                    <a:pt x="8608256"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Theo sát các từ khóa</a:t>
              </a:r>
              <a:endParaRPr sz="4600">
                <a:solidFill>
                  <a:schemeClr val="lt1"/>
                </a:solidFill>
                <a:latin typeface="Roboto"/>
                <a:ea typeface="Roboto"/>
                <a:cs typeface="Roboto"/>
                <a:sym typeface="Roboto"/>
              </a:endParaRPr>
            </a:p>
          </p:txBody>
        </p:sp>
        <p:sp>
          <p:nvSpPr>
            <p:cNvPr id="269" name="Google Shape;269;p19"/>
            <p:cNvSpPr/>
            <p:nvPr/>
          </p:nvSpPr>
          <p:spPr>
            <a:xfrm>
              <a:off x="7920864" y="5224895"/>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19"/>
          <p:cNvGrpSpPr/>
          <p:nvPr/>
        </p:nvGrpSpPr>
        <p:grpSpPr>
          <a:xfrm>
            <a:off x="8786330" y="6995432"/>
            <a:ext cx="8056850" cy="1094798"/>
            <a:chOff x="7728241" y="6538232"/>
            <a:chExt cx="8056850" cy="1094798"/>
          </a:xfrm>
        </p:grpSpPr>
        <p:sp>
          <p:nvSpPr>
            <p:cNvPr id="271" name="Google Shape;271;p19"/>
            <p:cNvSpPr/>
            <p:nvPr/>
          </p:nvSpPr>
          <p:spPr>
            <a:xfrm>
              <a:off x="8275640" y="6647712"/>
              <a:ext cx="7509451" cy="875838"/>
            </a:xfrm>
            <a:custGeom>
              <a:rect b="b" l="l" r="r" t="t"/>
              <a:pathLst>
                <a:path extrusionOk="0" h="875838" w="8800879">
                  <a:moveTo>
                    <a:pt x="0" y="0"/>
                  </a:moveTo>
                  <a:lnTo>
                    <a:pt x="8800879" y="0"/>
                  </a:lnTo>
                  <a:lnTo>
                    <a:pt x="8800879" y="875838"/>
                  </a:lnTo>
                  <a:lnTo>
                    <a:pt x="0" y="875838"/>
                  </a:lnTo>
                  <a:lnTo>
                    <a:pt x="0" y="0"/>
                  </a:lnTo>
                  <a:close/>
                </a:path>
              </a:pathLst>
            </a:cu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116825" lIns="695175" spcFirstLastPara="1" rIns="116825" wrap="square" tIns="116825">
              <a:noAutofit/>
            </a:bodyPr>
            <a:lstStyle/>
            <a:p>
              <a:pPr indent="0" lvl="0" marL="0" marR="0" rtl="0" algn="l">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Luôn kiểm tra lại đáp án</a:t>
              </a:r>
              <a:endParaRPr sz="4600">
                <a:solidFill>
                  <a:schemeClr val="lt1"/>
                </a:solidFill>
                <a:latin typeface="Roboto"/>
                <a:ea typeface="Roboto"/>
                <a:cs typeface="Roboto"/>
                <a:sym typeface="Roboto"/>
              </a:endParaRPr>
            </a:p>
          </p:txBody>
        </p:sp>
        <p:sp>
          <p:nvSpPr>
            <p:cNvPr id="272" name="Google Shape;272;p19"/>
            <p:cNvSpPr/>
            <p:nvPr/>
          </p:nvSpPr>
          <p:spPr>
            <a:xfrm>
              <a:off x="7728241" y="6538232"/>
              <a:ext cx="1094798" cy="1094798"/>
            </a:xfrm>
            <a:prstGeom prst="ellipse">
              <a:avLst/>
            </a:prstGeom>
            <a:solidFill>
              <a:schemeClr val="lt1"/>
            </a:solidFill>
            <a:ln cap="flat" cmpd="sng" w="25400">
              <a:solidFill>
                <a:srgbClr val="0183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20"/>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78" name="Google Shape;278;p2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79" name="Google Shape;279;p20"/>
          <p:cNvGrpSpPr/>
          <p:nvPr/>
        </p:nvGrpSpPr>
        <p:grpSpPr>
          <a:xfrm rot="10800000">
            <a:off x="15044552" y="-741521"/>
            <a:ext cx="7681766" cy="4260610"/>
            <a:chOff x="0" y="-38100"/>
            <a:chExt cx="406400" cy="225405"/>
          </a:xfrm>
        </p:grpSpPr>
        <p:sp>
          <p:nvSpPr>
            <p:cNvPr id="280" name="Google Shape;280;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1" name="Google Shape;281;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82" name="Google Shape;282;p2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83" name="Google Shape;283;p2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84" name="Google Shape;284;p20"/>
          <p:cNvSpPr txBox="1"/>
          <p:nvPr/>
        </p:nvSpPr>
        <p:spPr>
          <a:xfrm>
            <a:off x="5511794" y="2502271"/>
            <a:ext cx="11760300" cy="1015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285" name="Google Shape;285;p20"/>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86" name="Google Shape;286;p20"/>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87" name="Google Shape;287;p20"/>
          <p:cNvGrpSpPr/>
          <p:nvPr/>
        </p:nvGrpSpPr>
        <p:grpSpPr>
          <a:xfrm>
            <a:off x="-2718010" y="9274528"/>
            <a:ext cx="7950400" cy="1707231"/>
            <a:chOff x="0" y="-384762"/>
            <a:chExt cx="10600533" cy="2276307"/>
          </a:xfrm>
        </p:grpSpPr>
        <p:grpSp>
          <p:nvGrpSpPr>
            <p:cNvPr id="288" name="Google Shape;288;p20"/>
            <p:cNvGrpSpPr/>
            <p:nvPr/>
          </p:nvGrpSpPr>
          <p:grpSpPr>
            <a:xfrm>
              <a:off x="0" y="-384762"/>
              <a:ext cx="10600533" cy="2276307"/>
              <a:chOff x="0" y="-38100"/>
              <a:chExt cx="1049690" cy="225405"/>
            </a:xfrm>
          </p:grpSpPr>
          <p:sp>
            <p:nvSpPr>
              <p:cNvPr id="289" name="Google Shape;289;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0" name="Google Shape;290;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1" name="Google Shape;291;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92" name="Google Shape;292;p20"/>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ppt_w</p:attrName>
                                        </p:attrNameLst>
                                      </p:cBhvr>
                                      <p:tavLst>
                                        <p:tav fmla="" tm="0">
                                          <p:val>
                                            <p:strVal val="0"/>
                                          </p:val>
                                        </p:tav>
                                        <p:tav fmla="" tm="100000">
                                          <p:val>
                                            <p:strVal val="#ppt_w"/>
                                          </p:val>
                                        </p:tav>
                                      </p:tavLst>
                                    </p:anim>
                                    <p:anim calcmode="lin" valueType="num">
                                      <p:cBhvr additive="base">
                                        <p:cTn dur="500"/>
                                        <p:tgtEl>
                                          <p:spTgt spid="28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cxnSp>
        <p:nvCxnSpPr>
          <p:cNvPr id="298" name="Google Shape;298;p21"/>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99" name="Google Shape;299;p21"/>
          <p:cNvGrpSpPr/>
          <p:nvPr/>
        </p:nvGrpSpPr>
        <p:grpSpPr>
          <a:xfrm rot="10800000">
            <a:off x="15785084" y="-536938"/>
            <a:ext cx="7681773" cy="4260605"/>
            <a:chOff x="0" y="-38100"/>
            <a:chExt cx="406400" cy="225405"/>
          </a:xfrm>
        </p:grpSpPr>
        <p:sp>
          <p:nvSpPr>
            <p:cNvPr id="300" name="Google Shape;300;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1" name="Google Shape;301;p2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2" name="Google Shape;302;p2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03" name="Google Shape;303;p21"/>
          <p:cNvGrpSpPr/>
          <p:nvPr/>
        </p:nvGrpSpPr>
        <p:grpSpPr>
          <a:xfrm>
            <a:off x="-2718010" y="9274530"/>
            <a:ext cx="7950378" cy="1707223"/>
            <a:chOff x="0" y="-384760"/>
            <a:chExt cx="10600504" cy="2276297"/>
          </a:xfrm>
        </p:grpSpPr>
        <p:grpSp>
          <p:nvGrpSpPr>
            <p:cNvPr id="304" name="Google Shape;304;p21"/>
            <p:cNvGrpSpPr/>
            <p:nvPr/>
          </p:nvGrpSpPr>
          <p:grpSpPr>
            <a:xfrm>
              <a:off x="0" y="-384760"/>
              <a:ext cx="10600504" cy="2276297"/>
              <a:chOff x="0" y="-38100"/>
              <a:chExt cx="1049690" cy="225405"/>
            </a:xfrm>
          </p:grpSpPr>
          <p:sp>
            <p:nvSpPr>
              <p:cNvPr id="305" name="Google Shape;305;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06" name="Google Shape;306;p2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7" name="Google Shape;307;p2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8" name="Google Shape;308;p21"/>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09" name="Google Shape;309;p21"/>
          <p:cNvSpPr txBox="1"/>
          <p:nvPr/>
        </p:nvSpPr>
        <p:spPr>
          <a:xfrm>
            <a:off x="7198500" y="2306100"/>
            <a:ext cx="11089500" cy="6249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16. Listen to a travel reviewer on the radio talking about a trip and answer the questions below.</a:t>
            </a:r>
            <a:endParaRPr b="1" sz="2500">
              <a:solidFill>
                <a:srgbClr val="018345"/>
              </a:solidFill>
              <a:latin typeface="Roboto"/>
              <a:ea typeface="Roboto"/>
              <a:cs typeface="Roboto"/>
              <a:sym typeface="Roboto"/>
            </a:endParaRPr>
          </a:p>
          <a:p>
            <a:pPr indent="-387350" lvl="0" marL="91440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is the reviewer’s opinion of the river trip?</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It was too old fashioned.</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It was not varied enough.</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The facilities were not adequate.</a:t>
            </a:r>
            <a:endParaRPr sz="2500">
              <a:solidFill>
                <a:schemeClr val="dk1"/>
              </a:solidFill>
              <a:latin typeface="Roboto"/>
              <a:ea typeface="Roboto"/>
              <a:cs typeface="Roboto"/>
              <a:sym typeface="Roboto"/>
            </a:endParaRPr>
          </a:p>
          <a:p>
            <a:pPr indent="-387350" lvl="0" marL="91440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is the reviewer’s opinion of cruises overall?</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They are not suitable for individual travellers.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They are becoming less and less popular.</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They are probably not worth the money</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310" name="Google Shape;310;p21" title="Q16 Part 4.MP3">
            <a:hlinkClick r:id="rId4"/>
          </p:cNvPr>
          <p:cNvPicPr preferRelativeResize="0"/>
          <p:nvPr/>
        </p:nvPicPr>
        <p:blipFill>
          <a:blip r:embed="rId5">
            <a:alphaModFix/>
          </a:blip>
          <a:stretch>
            <a:fillRect/>
          </a:stretch>
        </p:blipFill>
        <p:spPr>
          <a:xfrm>
            <a:off x="15201900" y="4316266"/>
            <a:ext cx="923400" cy="92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cxnSp>
        <p:nvCxnSpPr>
          <p:cNvPr id="316" name="Google Shape;316;p22"/>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317" name="Google Shape;317;p22"/>
          <p:cNvGrpSpPr/>
          <p:nvPr/>
        </p:nvGrpSpPr>
        <p:grpSpPr>
          <a:xfrm rot="10800000">
            <a:off x="15785084" y="-536938"/>
            <a:ext cx="7681773" cy="4260605"/>
            <a:chOff x="0" y="-38100"/>
            <a:chExt cx="406400" cy="225405"/>
          </a:xfrm>
        </p:grpSpPr>
        <p:sp>
          <p:nvSpPr>
            <p:cNvPr id="318" name="Google Shape;318;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9" name="Google Shape;319;p2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0" name="Google Shape;320;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321" name="Google Shape;321;p22"/>
          <p:cNvGrpSpPr/>
          <p:nvPr/>
        </p:nvGrpSpPr>
        <p:grpSpPr>
          <a:xfrm>
            <a:off x="-2718010" y="9274530"/>
            <a:ext cx="7950378" cy="1707223"/>
            <a:chOff x="0" y="-384760"/>
            <a:chExt cx="10600504" cy="2276297"/>
          </a:xfrm>
        </p:grpSpPr>
        <p:grpSp>
          <p:nvGrpSpPr>
            <p:cNvPr id="322" name="Google Shape;322;p22"/>
            <p:cNvGrpSpPr/>
            <p:nvPr/>
          </p:nvGrpSpPr>
          <p:grpSpPr>
            <a:xfrm>
              <a:off x="0" y="-384760"/>
              <a:ext cx="10600504" cy="2276297"/>
              <a:chOff x="0" y="-38100"/>
              <a:chExt cx="1049690" cy="225405"/>
            </a:xfrm>
          </p:grpSpPr>
          <p:sp>
            <p:nvSpPr>
              <p:cNvPr id="323" name="Google Shape;323;p2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24" name="Google Shape;324;p2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5" name="Google Shape;325;p2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6" name="Google Shape;326;p22"/>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327" name="Google Shape;327;p22"/>
          <p:cNvSpPr txBox="1"/>
          <p:nvPr/>
        </p:nvSpPr>
        <p:spPr>
          <a:xfrm>
            <a:off x="7198500" y="2306100"/>
            <a:ext cx="11089500" cy="6249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17. Listen to a caterer talking on the radio about catering for large events and answer the questions below.</a:t>
            </a:r>
            <a:endParaRPr b="1" sz="2500">
              <a:solidFill>
                <a:srgbClr val="018345"/>
              </a:solidFill>
              <a:latin typeface="Roboto"/>
              <a:ea typeface="Roboto"/>
              <a:cs typeface="Roboto"/>
              <a:sym typeface="Roboto"/>
            </a:endParaRPr>
          </a:p>
          <a:p>
            <a:pPr indent="-387350" lvl="0" marL="85725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does the man think is the most important thing at large events?</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Excellent service.</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A wide range of food.</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The quality of the venue.</a:t>
            </a:r>
            <a:endParaRPr sz="2500">
              <a:solidFill>
                <a:schemeClr val="dk1"/>
              </a:solidFill>
              <a:latin typeface="Roboto"/>
              <a:ea typeface="Roboto"/>
              <a:cs typeface="Roboto"/>
              <a:sym typeface="Roboto"/>
            </a:endParaRPr>
          </a:p>
          <a:p>
            <a:pPr indent="-387350" lvl="0" marL="91440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is the man’s opinion about catering in general?</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The best firms always specialize.</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It is hard to find a reliable caterer.</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Appropriate scheduling is the key to good catering.</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pic>
        <p:nvPicPr>
          <p:cNvPr id="328" name="Google Shape;328;p22" title="Q17 Part 4.MP3">
            <a:hlinkClick r:id="rId4"/>
          </p:cNvPr>
          <p:cNvPicPr preferRelativeResize="0"/>
          <p:nvPr/>
        </p:nvPicPr>
        <p:blipFill>
          <a:blip r:embed="rId5">
            <a:alphaModFix/>
          </a:blip>
          <a:stretch>
            <a:fillRect/>
          </a:stretch>
        </p:blipFill>
        <p:spPr>
          <a:xfrm>
            <a:off x="15074900" y="4532889"/>
            <a:ext cx="923400" cy="92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cxnSp>
        <p:nvCxnSpPr>
          <p:cNvPr id="333" name="Google Shape;333;p23"/>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334" name="Google Shape;334;p2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335" name="Google Shape;335;p23"/>
          <p:cNvGrpSpPr/>
          <p:nvPr/>
        </p:nvGrpSpPr>
        <p:grpSpPr>
          <a:xfrm rot="10800000">
            <a:off x="15044552" y="-741521"/>
            <a:ext cx="7681766" cy="4260610"/>
            <a:chOff x="0" y="-38100"/>
            <a:chExt cx="406400" cy="225405"/>
          </a:xfrm>
        </p:grpSpPr>
        <p:sp>
          <p:nvSpPr>
            <p:cNvPr id="336" name="Google Shape;336;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7" name="Google Shape;337;p2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38" name="Google Shape;338;p2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39" name="Google Shape;339;p2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40" name="Google Shape;340;p23"/>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r>
              <a:rPr b="1" lang="en-US" sz="5400">
                <a:solidFill>
                  <a:srgbClr val="018345"/>
                </a:solidFill>
                <a:latin typeface="Montserrat"/>
                <a:ea typeface="Montserrat"/>
                <a:cs typeface="Montserrat"/>
                <a:sym typeface="Montserrat"/>
              </a:rPr>
              <a:t> &amp; Đáp án</a:t>
            </a:r>
            <a:endParaRPr/>
          </a:p>
        </p:txBody>
      </p:sp>
      <p:sp>
        <p:nvSpPr>
          <p:cNvPr id="341" name="Google Shape;341;p23"/>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342" name="Google Shape;342;p23"/>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43" name="Google Shape;343;p23"/>
          <p:cNvGrpSpPr/>
          <p:nvPr/>
        </p:nvGrpSpPr>
        <p:grpSpPr>
          <a:xfrm>
            <a:off x="-2718010" y="9274528"/>
            <a:ext cx="7950400" cy="1707231"/>
            <a:chOff x="0" y="-384762"/>
            <a:chExt cx="10600533" cy="2276307"/>
          </a:xfrm>
        </p:grpSpPr>
        <p:grpSp>
          <p:nvGrpSpPr>
            <p:cNvPr id="344" name="Google Shape;344;p23"/>
            <p:cNvGrpSpPr/>
            <p:nvPr/>
          </p:nvGrpSpPr>
          <p:grpSpPr>
            <a:xfrm>
              <a:off x="0" y="-384762"/>
              <a:ext cx="10600533" cy="2276307"/>
              <a:chOff x="0" y="-38100"/>
              <a:chExt cx="1049690" cy="225405"/>
            </a:xfrm>
          </p:grpSpPr>
          <p:sp>
            <p:nvSpPr>
              <p:cNvPr id="345" name="Google Shape;345;p2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46" name="Google Shape;346;p2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7" name="Google Shape;347;p2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8" name="Google Shape;348;p23"/>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41"/>
                                        </p:tgtEl>
                                        <p:attrNameLst>
                                          <p:attrName>style.visibility</p:attrName>
                                        </p:attrNameLst>
                                      </p:cBhvr>
                                      <p:to>
                                        <p:strVal val="visible"/>
                                      </p:to>
                                    </p:set>
                                    <p:anim calcmode="lin" valueType="num">
                                      <p:cBhvr additive="base">
                                        <p:cTn dur="500"/>
                                        <p:tgtEl>
                                          <p:spTgt spid="341"/>
                                        </p:tgtEl>
                                        <p:attrNameLst>
                                          <p:attrName>ppt_w</p:attrName>
                                        </p:attrNameLst>
                                      </p:cBhvr>
                                      <p:tavLst>
                                        <p:tav fmla="" tm="0">
                                          <p:val>
                                            <p:strVal val="0"/>
                                          </p:val>
                                        </p:tav>
                                        <p:tav fmla="" tm="100000">
                                          <p:val>
                                            <p:strVal val="#ppt_w"/>
                                          </p:val>
                                        </p:tav>
                                      </p:tavLst>
                                    </p:anim>
                                    <p:anim calcmode="lin" valueType="num">
                                      <p:cBhvr additive="base">
                                        <p:cTn dur="500"/>
                                        <p:tgtEl>
                                          <p:spTgt spid="34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500"/>
                                        <p:tgtEl>
                                          <p:spTgt spid="340"/>
                                        </p:tgtEl>
                                        <p:attrNameLst>
                                          <p:attrName>ppt_w</p:attrName>
                                        </p:attrNameLst>
                                      </p:cBhvr>
                                      <p:tavLst>
                                        <p:tav fmla="" tm="0">
                                          <p:val>
                                            <p:strVal val="0"/>
                                          </p:val>
                                        </p:tav>
                                        <p:tav fmla="" tm="100000">
                                          <p:val>
                                            <p:strVal val="#ppt_w"/>
                                          </p:val>
                                        </p:tav>
                                      </p:tavLst>
                                    </p:anim>
                                    <p:anim calcmode="lin" valueType="num">
                                      <p:cBhvr additive="base">
                                        <p:cTn dur="500"/>
                                        <p:tgtEl>
                                          <p:spTgt spid="34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cxnSp>
        <p:nvCxnSpPr>
          <p:cNvPr id="353" name="Google Shape;353;p24"/>
          <p:cNvCxnSpPr/>
          <p:nvPr/>
        </p:nvCxnSpPr>
        <p:spPr>
          <a:xfrm>
            <a:off x="5571910" y="2437219"/>
            <a:ext cx="11880900" cy="0"/>
          </a:xfrm>
          <a:prstGeom prst="straightConnector1">
            <a:avLst/>
          </a:prstGeom>
          <a:noFill/>
          <a:ln cap="flat" cmpd="sng" w="38100">
            <a:solidFill>
              <a:srgbClr val="018345"/>
            </a:solidFill>
            <a:prstDash val="solid"/>
            <a:round/>
            <a:headEnd len="sm" w="sm" type="none"/>
            <a:tailEnd len="sm" w="sm" type="none"/>
          </a:ln>
        </p:spPr>
      </p:cxnSp>
      <p:cxnSp>
        <p:nvCxnSpPr>
          <p:cNvPr id="354" name="Google Shape;354;p2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55" name="Google Shape;355;p24"/>
          <p:cNvGrpSpPr/>
          <p:nvPr/>
        </p:nvGrpSpPr>
        <p:grpSpPr>
          <a:xfrm rot="10800000">
            <a:off x="15785084" y="-536938"/>
            <a:ext cx="7681773" cy="4260605"/>
            <a:chOff x="0" y="-38100"/>
            <a:chExt cx="406400" cy="225405"/>
          </a:xfrm>
        </p:grpSpPr>
        <p:sp>
          <p:nvSpPr>
            <p:cNvPr id="356" name="Google Shape;356;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7" name="Google Shape;357;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58" name="Google Shape;358;p2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59" name="Google Shape;359;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360" name="Google Shape;360;p24"/>
          <p:cNvGrpSpPr/>
          <p:nvPr/>
        </p:nvGrpSpPr>
        <p:grpSpPr>
          <a:xfrm>
            <a:off x="6146917" y="3357868"/>
            <a:ext cx="3360600" cy="2221525"/>
            <a:chOff x="0" y="-57150"/>
            <a:chExt cx="4480800" cy="2962033"/>
          </a:xfrm>
        </p:grpSpPr>
        <p:sp>
          <p:nvSpPr>
            <p:cNvPr id="361" name="Google Shape;361;p24"/>
            <p:cNvSpPr/>
            <p:nvPr/>
          </p:nvSpPr>
          <p:spPr>
            <a:xfrm>
              <a:off x="21587" y="23176"/>
              <a:ext cx="4437608" cy="2858534"/>
            </a:xfrm>
            <a:custGeom>
              <a:rect b="b" l="l" r="r" t="t"/>
              <a:pathLst>
                <a:path extrusionOk="0" h="2858534" w="4437608">
                  <a:moveTo>
                    <a:pt x="0" y="285838"/>
                  </a:moveTo>
                  <a:cubicBezTo>
                    <a:pt x="0" y="127932"/>
                    <a:pt x="119162" y="0"/>
                    <a:pt x="266242" y="0"/>
                  </a:cubicBezTo>
                  <a:lnTo>
                    <a:pt x="4171366" y="0"/>
                  </a:lnTo>
                  <a:cubicBezTo>
                    <a:pt x="4318447" y="0"/>
                    <a:pt x="4437609" y="127932"/>
                    <a:pt x="4437609" y="285838"/>
                  </a:cubicBezTo>
                  <a:lnTo>
                    <a:pt x="4437609" y="2572696"/>
                  </a:lnTo>
                  <a:cubicBezTo>
                    <a:pt x="4437609" y="2730602"/>
                    <a:pt x="4318447" y="2858534"/>
                    <a:pt x="4171366" y="2858534"/>
                  </a:cubicBezTo>
                  <a:lnTo>
                    <a:pt x="266242" y="2858534"/>
                  </a:lnTo>
                  <a:cubicBezTo>
                    <a:pt x="119162" y="2858534"/>
                    <a:pt x="0" y="2730602"/>
                    <a:pt x="0" y="2572696"/>
                  </a:cubicBezTo>
                  <a:lnTo>
                    <a:pt x="0" y="285838"/>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4"/>
            <p:cNvSpPr/>
            <p:nvPr/>
          </p:nvSpPr>
          <p:spPr>
            <a:xfrm>
              <a:off x="0" y="0"/>
              <a:ext cx="4480780" cy="2904883"/>
            </a:xfrm>
            <a:custGeom>
              <a:rect b="b" l="l" r="r" t="t"/>
              <a:pathLst>
                <a:path extrusionOk="0" h="2904883" w="4480780">
                  <a:moveTo>
                    <a:pt x="0" y="309014"/>
                  </a:moveTo>
                  <a:cubicBezTo>
                    <a:pt x="0" y="138284"/>
                    <a:pt x="128804" y="0"/>
                    <a:pt x="287829" y="0"/>
                  </a:cubicBezTo>
                  <a:lnTo>
                    <a:pt x="287829" y="23176"/>
                  </a:lnTo>
                  <a:lnTo>
                    <a:pt x="287829" y="0"/>
                  </a:lnTo>
                  <a:lnTo>
                    <a:pt x="4192953" y="0"/>
                  </a:lnTo>
                  <a:lnTo>
                    <a:pt x="4192953" y="23176"/>
                  </a:lnTo>
                  <a:lnTo>
                    <a:pt x="4192953" y="0"/>
                  </a:lnTo>
                  <a:cubicBezTo>
                    <a:pt x="4351979" y="0"/>
                    <a:pt x="4480780" y="138284"/>
                    <a:pt x="4480780" y="309014"/>
                  </a:cubicBezTo>
                  <a:lnTo>
                    <a:pt x="4459196" y="309014"/>
                  </a:lnTo>
                  <a:lnTo>
                    <a:pt x="4480780" y="309014"/>
                  </a:lnTo>
                  <a:lnTo>
                    <a:pt x="4480780" y="2595872"/>
                  </a:lnTo>
                  <a:lnTo>
                    <a:pt x="4459196" y="2595872"/>
                  </a:lnTo>
                  <a:lnTo>
                    <a:pt x="4480780" y="2595872"/>
                  </a:lnTo>
                  <a:cubicBezTo>
                    <a:pt x="4480780" y="2766602"/>
                    <a:pt x="4351979" y="2904883"/>
                    <a:pt x="4192953" y="2904883"/>
                  </a:cubicBezTo>
                  <a:lnTo>
                    <a:pt x="4192953" y="2881710"/>
                  </a:lnTo>
                  <a:lnTo>
                    <a:pt x="4192953" y="2904883"/>
                  </a:lnTo>
                  <a:lnTo>
                    <a:pt x="287829" y="2904883"/>
                  </a:lnTo>
                  <a:lnTo>
                    <a:pt x="287829" y="2881710"/>
                  </a:lnTo>
                  <a:lnTo>
                    <a:pt x="287829" y="2904883"/>
                  </a:lnTo>
                  <a:cubicBezTo>
                    <a:pt x="128804" y="2904883"/>
                    <a:pt x="0" y="2766602"/>
                    <a:pt x="0" y="2595872"/>
                  </a:cubicBezTo>
                  <a:lnTo>
                    <a:pt x="21587" y="2595872"/>
                  </a:lnTo>
                  <a:lnTo>
                    <a:pt x="0" y="2595872"/>
                  </a:lnTo>
                  <a:lnTo>
                    <a:pt x="0" y="309014"/>
                  </a:lnTo>
                  <a:lnTo>
                    <a:pt x="21587" y="309014"/>
                  </a:lnTo>
                  <a:lnTo>
                    <a:pt x="0" y="309014"/>
                  </a:lnTo>
                  <a:moveTo>
                    <a:pt x="43174" y="309014"/>
                  </a:moveTo>
                  <a:lnTo>
                    <a:pt x="43174" y="2595872"/>
                  </a:lnTo>
                  <a:cubicBezTo>
                    <a:pt x="43174" y="2740954"/>
                    <a:pt x="152693" y="2858534"/>
                    <a:pt x="287829" y="2858534"/>
                  </a:cubicBezTo>
                  <a:lnTo>
                    <a:pt x="4192953" y="2858534"/>
                  </a:lnTo>
                  <a:cubicBezTo>
                    <a:pt x="4328090" y="2858534"/>
                    <a:pt x="4437609" y="2740954"/>
                    <a:pt x="4437609" y="2595872"/>
                  </a:cubicBezTo>
                  <a:lnTo>
                    <a:pt x="4437609" y="309014"/>
                  </a:lnTo>
                  <a:cubicBezTo>
                    <a:pt x="4437609" y="163932"/>
                    <a:pt x="4328090" y="46352"/>
                    <a:pt x="4192953" y="46352"/>
                  </a:cubicBezTo>
                  <a:lnTo>
                    <a:pt x="287829" y="46352"/>
                  </a:lnTo>
                  <a:cubicBezTo>
                    <a:pt x="152693" y="46352"/>
                    <a:pt x="43174" y="163932"/>
                    <a:pt x="43174" y="309014"/>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4"/>
            <p:cNvSpPr txBox="1"/>
            <p:nvPr/>
          </p:nvSpPr>
          <p:spPr>
            <a:xfrm>
              <a:off x="0" y="-57150"/>
              <a:ext cx="4480800" cy="29619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Trước</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 khi nghe</a:t>
              </a:r>
              <a:endParaRPr/>
            </a:p>
          </p:txBody>
        </p:sp>
      </p:grpSp>
      <p:sp>
        <p:nvSpPr>
          <p:cNvPr id="364" name="Google Shape;364;p24"/>
          <p:cNvSpPr/>
          <p:nvPr/>
        </p:nvSpPr>
        <p:spPr>
          <a:xfrm>
            <a:off x="5266540" y="3818361"/>
            <a:ext cx="705669" cy="1007457"/>
          </a:xfrm>
          <a:custGeom>
            <a:rect b="b" l="l" r="r" t="t"/>
            <a:pathLst>
              <a:path extrusionOk="0" h="1185243" w="830199">
                <a:moveTo>
                  <a:pt x="0" y="236987"/>
                </a:moveTo>
                <a:lnTo>
                  <a:pt x="415036" y="236987"/>
                </a:lnTo>
                <a:lnTo>
                  <a:pt x="415036" y="0"/>
                </a:lnTo>
                <a:lnTo>
                  <a:pt x="830199" y="592700"/>
                </a:lnTo>
                <a:lnTo>
                  <a:pt x="415036" y="1185244"/>
                </a:lnTo>
                <a:lnTo>
                  <a:pt x="415036" y="948257"/>
                </a:lnTo>
                <a:lnTo>
                  <a:pt x="0" y="948257"/>
                </a:lnTo>
                <a:lnTo>
                  <a:pt x="0" y="236987"/>
                </a:lnTo>
                <a:close/>
              </a:path>
            </a:pathLst>
          </a:custGeom>
          <a:solidFill>
            <a:srgbClr val="018146"/>
          </a:solidFill>
          <a:ln>
            <a:noFill/>
          </a:ln>
        </p:spPr>
      </p:sp>
      <p:grpSp>
        <p:nvGrpSpPr>
          <p:cNvPr id="365" name="Google Shape;365;p24"/>
          <p:cNvGrpSpPr/>
          <p:nvPr/>
        </p:nvGrpSpPr>
        <p:grpSpPr>
          <a:xfrm>
            <a:off x="9976655" y="5264180"/>
            <a:ext cx="3360600" cy="2470725"/>
            <a:chOff x="0" y="-57150"/>
            <a:chExt cx="4480800" cy="3294300"/>
          </a:xfrm>
        </p:grpSpPr>
        <p:sp>
          <p:nvSpPr>
            <p:cNvPr id="366" name="Google Shape;366;p24"/>
            <p:cNvSpPr/>
            <p:nvPr/>
          </p:nvSpPr>
          <p:spPr>
            <a:xfrm>
              <a:off x="21587" y="25826"/>
              <a:ext cx="4437608" cy="3185422"/>
            </a:xfrm>
            <a:custGeom>
              <a:rect b="b" l="l" r="r" t="t"/>
              <a:pathLst>
                <a:path extrusionOk="0" h="3185422" w="4437608">
                  <a:moveTo>
                    <a:pt x="0" y="318525"/>
                  </a:moveTo>
                  <a:cubicBezTo>
                    <a:pt x="0" y="142562"/>
                    <a:pt x="119162" y="0"/>
                    <a:pt x="266242" y="0"/>
                  </a:cubicBezTo>
                  <a:lnTo>
                    <a:pt x="4171366" y="0"/>
                  </a:lnTo>
                  <a:cubicBezTo>
                    <a:pt x="4318447" y="0"/>
                    <a:pt x="4437609" y="142562"/>
                    <a:pt x="4437609" y="318525"/>
                  </a:cubicBezTo>
                  <a:lnTo>
                    <a:pt x="4437609" y="2866897"/>
                  </a:lnTo>
                  <a:cubicBezTo>
                    <a:pt x="4437609" y="3042861"/>
                    <a:pt x="4318447" y="3185422"/>
                    <a:pt x="4171366" y="3185422"/>
                  </a:cubicBezTo>
                  <a:lnTo>
                    <a:pt x="266242" y="3185422"/>
                  </a:lnTo>
                  <a:cubicBezTo>
                    <a:pt x="119162" y="3185422"/>
                    <a:pt x="0" y="3042861"/>
                    <a:pt x="0" y="2866897"/>
                  </a:cubicBezTo>
                  <a:lnTo>
                    <a:pt x="0" y="318525"/>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4"/>
            <p:cNvSpPr/>
            <p:nvPr/>
          </p:nvSpPr>
          <p:spPr>
            <a:xfrm>
              <a:off x="0" y="0"/>
              <a:ext cx="4480780" cy="3237069"/>
            </a:xfrm>
            <a:custGeom>
              <a:rect b="b" l="l" r="r" t="t"/>
              <a:pathLst>
                <a:path extrusionOk="0" h="3237069" w="4480780">
                  <a:moveTo>
                    <a:pt x="0" y="344351"/>
                  </a:moveTo>
                  <a:cubicBezTo>
                    <a:pt x="0" y="154097"/>
                    <a:pt x="128804" y="0"/>
                    <a:pt x="287829" y="0"/>
                  </a:cubicBezTo>
                  <a:lnTo>
                    <a:pt x="287829" y="25826"/>
                  </a:lnTo>
                  <a:lnTo>
                    <a:pt x="287829" y="0"/>
                  </a:lnTo>
                  <a:lnTo>
                    <a:pt x="4192953" y="0"/>
                  </a:lnTo>
                  <a:lnTo>
                    <a:pt x="4192953" y="25826"/>
                  </a:lnTo>
                  <a:lnTo>
                    <a:pt x="4192953" y="0"/>
                  </a:lnTo>
                  <a:cubicBezTo>
                    <a:pt x="4351979" y="0"/>
                    <a:pt x="4480780" y="154097"/>
                    <a:pt x="4480780" y="344351"/>
                  </a:cubicBezTo>
                  <a:lnTo>
                    <a:pt x="4459196" y="344351"/>
                  </a:lnTo>
                  <a:lnTo>
                    <a:pt x="4480780" y="344351"/>
                  </a:lnTo>
                  <a:lnTo>
                    <a:pt x="4480780" y="2892723"/>
                  </a:lnTo>
                  <a:lnTo>
                    <a:pt x="4459196" y="2892723"/>
                  </a:lnTo>
                  <a:lnTo>
                    <a:pt x="4480780" y="2892723"/>
                  </a:lnTo>
                  <a:cubicBezTo>
                    <a:pt x="4480780" y="3082978"/>
                    <a:pt x="4351979" y="3237069"/>
                    <a:pt x="4192953" y="3237069"/>
                  </a:cubicBezTo>
                  <a:lnTo>
                    <a:pt x="4192953" y="3211248"/>
                  </a:lnTo>
                  <a:lnTo>
                    <a:pt x="4192953" y="3237069"/>
                  </a:lnTo>
                  <a:lnTo>
                    <a:pt x="287829" y="3237069"/>
                  </a:lnTo>
                  <a:lnTo>
                    <a:pt x="287829" y="3211248"/>
                  </a:lnTo>
                  <a:lnTo>
                    <a:pt x="287829" y="3237069"/>
                  </a:lnTo>
                  <a:cubicBezTo>
                    <a:pt x="128804" y="3237069"/>
                    <a:pt x="0" y="3082978"/>
                    <a:pt x="0" y="2892723"/>
                  </a:cubicBezTo>
                  <a:lnTo>
                    <a:pt x="21587" y="2892723"/>
                  </a:lnTo>
                  <a:lnTo>
                    <a:pt x="0" y="2892723"/>
                  </a:lnTo>
                  <a:lnTo>
                    <a:pt x="0" y="344351"/>
                  </a:lnTo>
                  <a:lnTo>
                    <a:pt x="21587" y="344351"/>
                  </a:lnTo>
                  <a:lnTo>
                    <a:pt x="0" y="344351"/>
                  </a:lnTo>
                  <a:moveTo>
                    <a:pt x="43174" y="344351"/>
                  </a:moveTo>
                  <a:lnTo>
                    <a:pt x="43174" y="2892723"/>
                  </a:lnTo>
                  <a:cubicBezTo>
                    <a:pt x="43174" y="3054396"/>
                    <a:pt x="152693" y="3185422"/>
                    <a:pt x="287829" y="3185422"/>
                  </a:cubicBezTo>
                  <a:lnTo>
                    <a:pt x="4192953" y="3185422"/>
                  </a:lnTo>
                  <a:cubicBezTo>
                    <a:pt x="4328090" y="3185422"/>
                    <a:pt x="4437609" y="3054396"/>
                    <a:pt x="4437609" y="2892723"/>
                  </a:cubicBezTo>
                  <a:lnTo>
                    <a:pt x="4437609" y="344351"/>
                  </a:lnTo>
                  <a:cubicBezTo>
                    <a:pt x="4437609" y="182678"/>
                    <a:pt x="4328090" y="51653"/>
                    <a:pt x="4192953" y="51653"/>
                  </a:cubicBezTo>
                  <a:lnTo>
                    <a:pt x="287829" y="51653"/>
                  </a:lnTo>
                  <a:cubicBezTo>
                    <a:pt x="152693" y="51653"/>
                    <a:pt x="43174" y="182678"/>
                    <a:pt x="43174" y="34435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txBox="1"/>
            <p:nvPr/>
          </p:nvSpPr>
          <p:spPr>
            <a:xfrm>
              <a:off x="0" y="-57150"/>
              <a:ext cx="4480800" cy="3294300"/>
            </a:xfrm>
            <a:prstGeom prst="rect">
              <a:avLst/>
            </a:prstGeom>
            <a:no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Trong </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khi nghe</a:t>
              </a:r>
              <a:endParaRPr b="0" i="0" sz="3899" u="none" cap="none" strike="noStrike">
                <a:solidFill>
                  <a:srgbClr val="FFFFFF"/>
                </a:solidFill>
                <a:latin typeface="Roboto"/>
                <a:ea typeface="Roboto"/>
                <a:cs typeface="Roboto"/>
                <a:sym typeface="Roboto"/>
              </a:endParaRPr>
            </a:p>
          </p:txBody>
        </p:sp>
      </p:grpSp>
      <p:sp>
        <p:nvSpPr>
          <p:cNvPr id="369" name="Google Shape;369;p24"/>
          <p:cNvSpPr/>
          <p:nvPr/>
        </p:nvSpPr>
        <p:spPr>
          <a:xfrm>
            <a:off x="8977911" y="5911448"/>
            <a:ext cx="705669" cy="1013265"/>
          </a:xfrm>
          <a:custGeom>
            <a:rect b="b" l="l" r="r" t="t"/>
            <a:pathLst>
              <a:path extrusionOk="0" h="1192077" w="830199">
                <a:moveTo>
                  <a:pt x="0" y="238353"/>
                </a:moveTo>
                <a:lnTo>
                  <a:pt x="415036" y="238353"/>
                </a:lnTo>
                <a:lnTo>
                  <a:pt x="415036" y="0"/>
                </a:lnTo>
                <a:lnTo>
                  <a:pt x="830199" y="596117"/>
                </a:lnTo>
                <a:lnTo>
                  <a:pt x="415036" y="1192077"/>
                </a:lnTo>
                <a:lnTo>
                  <a:pt x="415036" y="953724"/>
                </a:lnTo>
                <a:lnTo>
                  <a:pt x="0" y="953724"/>
                </a:lnTo>
                <a:lnTo>
                  <a:pt x="0" y="238353"/>
                </a:lnTo>
                <a:close/>
              </a:path>
            </a:pathLst>
          </a:custGeom>
          <a:solidFill>
            <a:srgbClr val="018146"/>
          </a:solidFill>
          <a:ln>
            <a:noFill/>
          </a:ln>
        </p:spPr>
      </p:sp>
      <p:grpSp>
        <p:nvGrpSpPr>
          <p:cNvPr id="370" name="Google Shape;370;p24"/>
          <p:cNvGrpSpPr/>
          <p:nvPr/>
        </p:nvGrpSpPr>
        <p:grpSpPr>
          <a:xfrm>
            <a:off x="13738169" y="7379270"/>
            <a:ext cx="3360600" cy="2296204"/>
            <a:chOff x="0" y="-57150"/>
            <a:chExt cx="4480800" cy="3061605"/>
          </a:xfrm>
        </p:grpSpPr>
        <p:sp>
          <p:nvSpPr>
            <p:cNvPr id="371" name="Google Shape;371;p24"/>
            <p:cNvSpPr/>
            <p:nvPr/>
          </p:nvSpPr>
          <p:spPr>
            <a:xfrm>
              <a:off x="21587" y="23970"/>
              <a:ext cx="4437608" cy="2956518"/>
            </a:xfrm>
            <a:custGeom>
              <a:rect b="b" l="l" r="r" t="t"/>
              <a:pathLst>
                <a:path extrusionOk="0" h="2956518" w="4437608">
                  <a:moveTo>
                    <a:pt x="0" y="295636"/>
                  </a:moveTo>
                  <a:cubicBezTo>
                    <a:pt x="0" y="132317"/>
                    <a:pt x="119162" y="0"/>
                    <a:pt x="266242" y="0"/>
                  </a:cubicBezTo>
                  <a:lnTo>
                    <a:pt x="4171366" y="0"/>
                  </a:lnTo>
                  <a:cubicBezTo>
                    <a:pt x="4318447" y="0"/>
                    <a:pt x="4437609" y="132317"/>
                    <a:pt x="4437609" y="295636"/>
                  </a:cubicBezTo>
                  <a:lnTo>
                    <a:pt x="4437609" y="2660883"/>
                  </a:lnTo>
                  <a:cubicBezTo>
                    <a:pt x="4437609" y="2824201"/>
                    <a:pt x="4318447" y="2956518"/>
                    <a:pt x="4171366" y="2956518"/>
                  </a:cubicBezTo>
                  <a:lnTo>
                    <a:pt x="266242" y="2956518"/>
                  </a:lnTo>
                  <a:cubicBezTo>
                    <a:pt x="119162" y="2956518"/>
                    <a:pt x="0" y="2824201"/>
                    <a:pt x="0" y="2660883"/>
                  </a:cubicBezTo>
                  <a:lnTo>
                    <a:pt x="0" y="295636"/>
                  </a:lnTo>
                  <a:close/>
                </a:path>
              </a:pathLst>
            </a:custGeom>
            <a:solidFill>
              <a:srgbClr val="006B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4"/>
            <p:cNvSpPr/>
            <p:nvPr/>
          </p:nvSpPr>
          <p:spPr>
            <a:xfrm>
              <a:off x="0" y="0"/>
              <a:ext cx="4480780" cy="3004455"/>
            </a:xfrm>
            <a:custGeom>
              <a:rect b="b" l="l" r="r" t="t"/>
              <a:pathLst>
                <a:path extrusionOk="0" h="3004455" w="4480780">
                  <a:moveTo>
                    <a:pt x="0" y="319606"/>
                  </a:moveTo>
                  <a:cubicBezTo>
                    <a:pt x="0" y="143024"/>
                    <a:pt x="128804" y="0"/>
                    <a:pt x="287829" y="0"/>
                  </a:cubicBezTo>
                  <a:lnTo>
                    <a:pt x="287829" y="23970"/>
                  </a:lnTo>
                  <a:lnTo>
                    <a:pt x="287829" y="0"/>
                  </a:lnTo>
                  <a:lnTo>
                    <a:pt x="4192953" y="0"/>
                  </a:lnTo>
                  <a:lnTo>
                    <a:pt x="4192953" y="23970"/>
                  </a:lnTo>
                  <a:lnTo>
                    <a:pt x="4192953" y="0"/>
                  </a:lnTo>
                  <a:cubicBezTo>
                    <a:pt x="4351979" y="0"/>
                    <a:pt x="4480780" y="143024"/>
                    <a:pt x="4480780" y="319606"/>
                  </a:cubicBezTo>
                  <a:lnTo>
                    <a:pt x="4459196" y="319606"/>
                  </a:lnTo>
                  <a:lnTo>
                    <a:pt x="4480780" y="319606"/>
                  </a:lnTo>
                  <a:lnTo>
                    <a:pt x="4480780" y="2684853"/>
                  </a:lnTo>
                  <a:lnTo>
                    <a:pt x="4459196" y="2684853"/>
                  </a:lnTo>
                  <a:lnTo>
                    <a:pt x="4480780" y="2684853"/>
                  </a:lnTo>
                  <a:cubicBezTo>
                    <a:pt x="4480780" y="2861435"/>
                    <a:pt x="4351979" y="3004455"/>
                    <a:pt x="4192953" y="3004455"/>
                  </a:cubicBezTo>
                  <a:lnTo>
                    <a:pt x="4192953" y="2980488"/>
                  </a:lnTo>
                  <a:lnTo>
                    <a:pt x="4192953" y="3004455"/>
                  </a:lnTo>
                  <a:lnTo>
                    <a:pt x="287829" y="3004455"/>
                  </a:lnTo>
                  <a:lnTo>
                    <a:pt x="287829" y="2980488"/>
                  </a:lnTo>
                  <a:lnTo>
                    <a:pt x="287829" y="3004455"/>
                  </a:lnTo>
                  <a:cubicBezTo>
                    <a:pt x="128804" y="3004455"/>
                    <a:pt x="0" y="2861435"/>
                    <a:pt x="0" y="2684853"/>
                  </a:cubicBezTo>
                  <a:lnTo>
                    <a:pt x="21587" y="2684853"/>
                  </a:lnTo>
                  <a:lnTo>
                    <a:pt x="0" y="2684853"/>
                  </a:lnTo>
                  <a:lnTo>
                    <a:pt x="0" y="319606"/>
                  </a:lnTo>
                  <a:lnTo>
                    <a:pt x="21587" y="319606"/>
                  </a:lnTo>
                  <a:lnTo>
                    <a:pt x="0" y="319606"/>
                  </a:lnTo>
                  <a:moveTo>
                    <a:pt x="43174" y="319606"/>
                  </a:moveTo>
                  <a:lnTo>
                    <a:pt x="43174" y="2684853"/>
                  </a:lnTo>
                  <a:cubicBezTo>
                    <a:pt x="43174" y="2834908"/>
                    <a:pt x="152693" y="2956518"/>
                    <a:pt x="287829" y="2956518"/>
                  </a:cubicBezTo>
                  <a:lnTo>
                    <a:pt x="4192953" y="2956518"/>
                  </a:lnTo>
                  <a:cubicBezTo>
                    <a:pt x="4328090" y="2956518"/>
                    <a:pt x="4437609" y="2834908"/>
                    <a:pt x="4437609" y="2684853"/>
                  </a:cubicBezTo>
                  <a:lnTo>
                    <a:pt x="4437609" y="319606"/>
                  </a:lnTo>
                  <a:cubicBezTo>
                    <a:pt x="4437609" y="169551"/>
                    <a:pt x="4328090" y="47941"/>
                    <a:pt x="4192953" y="47941"/>
                  </a:cubicBezTo>
                  <a:lnTo>
                    <a:pt x="287829" y="47941"/>
                  </a:lnTo>
                  <a:cubicBezTo>
                    <a:pt x="152693" y="47941"/>
                    <a:pt x="43174" y="169551"/>
                    <a:pt x="43174" y="31960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4"/>
            <p:cNvSpPr txBox="1"/>
            <p:nvPr/>
          </p:nvSpPr>
          <p:spPr>
            <a:xfrm>
              <a:off x="0" y="-57150"/>
              <a:ext cx="4480800" cy="30615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9"/>
                </a:lnSpc>
                <a:spcBef>
                  <a:spcPts val="0"/>
                </a:spcBef>
                <a:spcAft>
                  <a:spcPts val="0"/>
                </a:spcAft>
                <a:buNone/>
              </a:pPr>
              <a:r>
                <a:rPr b="1" i="0" lang="en-US" sz="3899" u="none" cap="none" strike="noStrike">
                  <a:solidFill>
                    <a:srgbClr val="FFFFFF"/>
                  </a:solidFill>
                  <a:latin typeface="Roboto"/>
                  <a:ea typeface="Roboto"/>
                  <a:cs typeface="Roboto"/>
                  <a:sym typeface="Roboto"/>
                </a:rPr>
                <a:t>Sau </a:t>
              </a:r>
              <a:endParaRPr/>
            </a:p>
            <a:p>
              <a:pPr indent="0" lvl="0" marL="0" marR="0" rtl="0" algn="ctr">
                <a:lnSpc>
                  <a:spcPct val="135009"/>
                </a:lnSpc>
                <a:spcBef>
                  <a:spcPts val="0"/>
                </a:spcBef>
                <a:spcAft>
                  <a:spcPts val="0"/>
                </a:spcAft>
                <a:buNone/>
              </a:pPr>
              <a:r>
                <a:rPr b="0" i="0" lang="en-US" sz="3899" u="none" cap="none" strike="noStrike">
                  <a:solidFill>
                    <a:srgbClr val="FFFFFF"/>
                  </a:solidFill>
                  <a:latin typeface="Roboto"/>
                  <a:ea typeface="Roboto"/>
                  <a:cs typeface="Roboto"/>
                  <a:sym typeface="Roboto"/>
                </a:rPr>
                <a:t>khi nghe</a:t>
              </a:r>
              <a:endParaRPr/>
            </a:p>
          </p:txBody>
        </p:sp>
      </p:grpSp>
      <p:sp>
        <p:nvSpPr>
          <p:cNvPr id="374" name="Google Shape;374;p24"/>
          <p:cNvSpPr txBox="1"/>
          <p:nvPr/>
        </p:nvSpPr>
        <p:spPr>
          <a:xfrm>
            <a:off x="5571910" y="1208799"/>
            <a:ext cx="11880900" cy="847200"/>
          </a:xfrm>
          <a:prstGeom prst="rect">
            <a:avLst/>
          </a:prstGeom>
          <a:noFill/>
          <a:ln>
            <a:noFill/>
          </a:ln>
        </p:spPr>
        <p:txBody>
          <a:bodyPr anchorCtr="0" anchor="t" bIns="0" lIns="0" spcFirstLastPara="1" rIns="0" wrap="square" tIns="0">
            <a:spAutoFit/>
          </a:bodyPr>
          <a:lstStyle/>
          <a:p>
            <a:pPr indent="0" lvl="0" marL="0" marR="0" rtl="0" algn="l">
              <a:lnSpc>
                <a:spcPct val="134992"/>
              </a:lnSpc>
              <a:spcBef>
                <a:spcPts val="0"/>
              </a:spcBef>
              <a:spcAft>
                <a:spcPts val="0"/>
              </a:spcAft>
              <a:buNone/>
            </a:pPr>
            <a:r>
              <a:rPr b="1" i="0" lang="en-US" sz="5504" u="none" cap="none" strike="noStrike">
                <a:solidFill>
                  <a:srgbClr val="018345"/>
                </a:solidFill>
                <a:latin typeface="Montserrat"/>
                <a:ea typeface="Montserrat"/>
                <a:cs typeface="Montserrat"/>
                <a:sym typeface="Montserrat"/>
              </a:rPr>
              <a:t>KỸ NĂNG LÀM BÀI NGHE PART 1</a:t>
            </a:r>
            <a:endParaRPr/>
          </a:p>
        </p:txBody>
      </p:sp>
      <p:sp>
        <p:nvSpPr>
          <p:cNvPr id="375" name="Google Shape;375;p24"/>
          <p:cNvSpPr/>
          <p:nvPr/>
        </p:nvSpPr>
        <p:spPr>
          <a:xfrm>
            <a:off x="12620854" y="8092172"/>
            <a:ext cx="705669" cy="1041715"/>
          </a:xfrm>
          <a:custGeom>
            <a:rect b="b" l="l" r="r" t="t"/>
            <a:pathLst>
              <a:path extrusionOk="0" h="1225547" w="830199">
                <a:moveTo>
                  <a:pt x="0" y="245045"/>
                </a:moveTo>
                <a:lnTo>
                  <a:pt x="415036" y="245045"/>
                </a:lnTo>
                <a:lnTo>
                  <a:pt x="415036" y="0"/>
                </a:lnTo>
                <a:lnTo>
                  <a:pt x="830199" y="612853"/>
                </a:lnTo>
                <a:lnTo>
                  <a:pt x="415036" y="1225547"/>
                </a:lnTo>
                <a:lnTo>
                  <a:pt x="415036" y="980501"/>
                </a:lnTo>
                <a:lnTo>
                  <a:pt x="0" y="980501"/>
                </a:lnTo>
                <a:lnTo>
                  <a:pt x="0" y="245045"/>
                </a:lnTo>
                <a:close/>
              </a:path>
            </a:pathLst>
          </a:custGeom>
          <a:solidFill>
            <a:srgbClr val="018146"/>
          </a:solidFill>
          <a:ln>
            <a:noFill/>
          </a:ln>
        </p:spPr>
      </p:sp>
      <p:sp>
        <p:nvSpPr>
          <p:cNvPr id="376" name="Google Shape;376;p24"/>
          <p:cNvSpPr/>
          <p:nvPr/>
        </p:nvSpPr>
        <p:spPr>
          <a:xfrm>
            <a:off x="14885603" y="3060651"/>
            <a:ext cx="2567304" cy="2246391"/>
          </a:xfrm>
          <a:custGeom>
            <a:rect b="b" l="l" r="r" t="t"/>
            <a:pathLst>
              <a:path extrusionOk="0" h="2246391" w="2567304">
                <a:moveTo>
                  <a:pt x="0" y="0"/>
                </a:moveTo>
                <a:lnTo>
                  <a:pt x="2567304" y="0"/>
                </a:lnTo>
                <a:lnTo>
                  <a:pt x="2567304" y="2246391"/>
                </a:lnTo>
                <a:lnTo>
                  <a:pt x="0" y="2246391"/>
                </a:lnTo>
                <a:lnTo>
                  <a:pt x="0" y="0"/>
                </a:lnTo>
                <a:close/>
              </a:path>
            </a:pathLst>
          </a:custGeom>
          <a:blipFill rotWithShape="1">
            <a:blip r:embed="rId5">
              <a:alphaModFix/>
            </a:blip>
            <a:stretch>
              <a:fillRect b="0" l="0" r="0" t="0"/>
            </a:stretch>
          </a:blipFill>
          <a:ln>
            <a:noFill/>
          </a:ln>
        </p:spPr>
      </p:sp>
      <p:grpSp>
        <p:nvGrpSpPr>
          <p:cNvPr id="377" name="Google Shape;377;p24"/>
          <p:cNvGrpSpPr/>
          <p:nvPr/>
        </p:nvGrpSpPr>
        <p:grpSpPr>
          <a:xfrm>
            <a:off x="-2718010" y="9274530"/>
            <a:ext cx="7950378" cy="1707223"/>
            <a:chOff x="0" y="-384760"/>
            <a:chExt cx="10600504" cy="2276297"/>
          </a:xfrm>
        </p:grpSpPr>
        <p:grpSp>
          <p:nvGrpSpPr>
            <p:cNvPr id="378" name="Google Shape;378;p24"/>
            <p:cNvGrpSpPr/>
            <p:nvPr/>
          </p:nvGrpSpPr>
          <p:grpSpPr>
            <a:xfrm>
              <a:off x="0" y="-384760"/>
              <a:ext cx="10600504" cy="2276297"/>
              <a:chOff x="0" y="-38100"/>
              <a:chExt cx="1049690" cy="225405"/>
            </a:xfrm>
          </p:grpSpPr>
          <p:sp>
            <p:nvSpPr>
              <p:cNvPr id="379" name="Google Shape;379;p2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80" name="Google Shape;380;p2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1" name="Google Shape;381;p2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cxnSp>
        <p:nvCxnSpPr>
          <p:cNvPr id="387" name="Google Shape;387;p25"/>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sp>
        <p:nvSpPr>
          <p:cNvPr id="388" name="Google Shape;388;p25"/>
          <p:cNvSpPr txBox="1"/>
          <p:nvPr/>
        </p:nvSpPr>
        <p:spPr>
          <a:xfrm>
            <a:off x="-2113814" y="8271858"/>
            <a:ext cx="7123800" cy="20181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89" name="Google Shape;389;p25"/>
          <p:cNvGrpSpPr/>
          <p:nvPr/>
        </p:nvGrpSpPr>
        <p:grpSpPr>
          <a:xfrm rot="10800000">
            <a:off x="15561046" y="-410238"/>
            <a:ext cx="7681773" cy="4260605"/>
            <a:chOff x="0" y="-38100"/>
            <a:chExt cx="406400" cy="225405"/>
          </a:xfrm>
        </p:grpSpPr>
        <p:sp>
          <p:nvSpPr>
            <p:cNvPr id="390" name="Google Shape;390;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91" name="Google Shape;391;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392" name="Google Shape;392;p25"/>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93" name="Google Shape;393;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94" name="Google Shape;394;p25"/>
          <p:cNvSpPr/>
          <p:nvPr/>
        </p:nvSpPr>
        <p:spPr>
          <a:xfrm>
            <a:off x="15561053" y="8025621"/>
            <a:ext cx="2861837" cy="2504108"/>
          </a:xfrm>
          <a:custGeom>
            <a:rect b="b" l="l" r="r" t="t"/>
            <a:pathLst>
              <a:path extrusionOk="0" h="2504108" w="2861837">
                <a:moveTo>
                  <a:pt x="0" y="0"/>
                </a:moveTo>
                <a:lnTo>
                  <a:pt x="2861837" y="0"/>
                </a:lnTo>
                <a:lnTo>
                  <a:pt x="2861837" y="2504108"/>
                </a:lnTo>
                <a:lnTo>
                  <a:pt x="0" y="2504108"/>
                </a:lnTo>
                <a:lnTo>
                  <a:pt x="0" y="0"/>
                </a:lnTo>
                <a:close/>
              </a:path>
            </a:pathLst>
          </a:custGeom>
          <a:blipFill rotWithShape="1">
            <a:blip r:embed="rId5">
              <a:alphaModFix/>
            </a:blip>
            <a:stretch>
              <a:fillRect b="0" l="0" r="0" t="0"/>
            </a:stretch>
          </a:blipFill>
          <a:ln>
            <a:noFill/>
          </a:ln>
        </p:spPr>
      </p:sp>
      <p:grpSp>
        <p:nvGrpSpPr>
          <p:cNvPr id="395" name="Google Shape;395;p25"/>
          <p:cNvGrpSpPr/>
          <p:nvPr/>
        </p:nvGrpSpPr>
        <p:grpSpPr>
          <a:xfrm>
            <a:off x="6435332" y="443278"/>
            <a:ext cx="6295740" cy="1365760"/>
            <a:chOff x="0" y="-76200"/>
            <a:chExt cx="8394320" cy="1821013"/>
          </a:xfrm>
        </p:grpSpPr>
        <p:sp>
          <p:nvSpPr>
            <p:cNvPr id="396" name="Google Shape;396;p25"/>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5"/>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Trước khi nghe</a:t>
              </a:r>
              <a:endParaRPr/>
            </a:p>
          </p:txBody>
        </p:sp>
      </p:grpSp>
      <p:sp>
        <p:nvSpPr>
          <p:cNvPr id="399" name="Google Shape;399;p25"/>
          <p:cNvSpPr/>
          <p:nvPr/>
        </p:nvSpPr>
        <p:spPr>
          <a:xfrm>
            <a:off x="5071395" y="535659"/>
            <a:ext cx="1160989"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sp>
        <p:nvSpPr>
          <p:cNvPr id="400" name="Google Shape;400;p25"/>
          <p:cNvSpPr txBox="1"/>
          <p:nvPr/>
        </p:nvSpPr>
        <p:spPr>
          <a:xfrm>
            <a:off x="6091023" y="2580716"/>
            <a:ext cx="10879800" cy="54618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000000"/>
              </a:buClr>
              <a:buSzPts val="3899"/>
              <a:buFont typeface="Arial"/>
              <a:buChar char="•"/>
            </a:pPr>
            <a:r>
              <a:rPr lang="en-US" sz="3899">
                <a:latin typeface="Roboto"/>
                <a:ea typeface="Roboto"/>
                <a:cs typeface="Roboto"/>
                <a:sym typeface="Roboto"/>
              </a:rPr>
              <a:t>Xác định ngữ cảnh được đề bài đưa ra</a:t>
            </a:r>
            <a:r>
              <a:rPr b="0" i="0" lang="en-US" sz="3899" u="none" cap="none" strike="noStrike">
                <a:solidFill>
                  <a:srgbClr val="000000"/>
                </a:solidFill>
                <a:latin typeface="Roboto"/>
                <a:ea typeface="Roboto"/>
                <a:cs typeface="Roboto"/>
                <a:sym typeface="Roboto"/>
              </a:rPr>
              <a:t> đồng thời </a:t>
            </a:r>
            <a:r>
              <a:rPr b="1" i="0" lang="en-US" sz="3899" u="none" cap="none" strike="noStrike">
                <a:solidFill>
                  <a:srgbClr val="EA222A"/>
                </a:solidFill>
                <a:latin typeface="Roboto"/>
                <a:ea typeface="Roboto"/>
                <a:cs typeface="Roboto"/>
                <a:sym typeface="Roboto"/>
              </a:rPr>
              <a:t>gạch chân từ khóa</a:t>
            </a:r>
            <a:r>
              <a:rPr b="0" i="0" lang="en-US" sz="3899" u="none" cap="none" strike="noStrike">
                <a:solidFill>
                  <a:srgbClr val="000000"/>
                </a:solidFill>
                <a:latin typeface="Roboto"/>
                <a:ea typeface="Roboto"/>
                <a:cs typeface="Roboto"/>
                <a:sym typeface="Roboto"/>
              </a:rPr>
              <a:t> trong</a:t>
            </a:r>
            <a:r>
              <a:rPr lang="en-US" sz="3899">
                <a:latin typeface="Roboto"/>
                <a:ea typeface="Roboto"/>
                <a:cs typeface="Roboto"/>
                <a:sym typeface="Roboto"/>
              </a:rPr>
              <a:t> các lựa chọn để phân biệt các thông tin có thể xuất hiện trong bài nghe </a:t>
            </a:r>
            <a:endParaRPr sz="3899">
              <a:latin typeface="Roboto"/>
              <a:ea typeface="Roboto"/>
              <a:cs typeface="Roboto"/>
              <a:sym typeface="Roboto"/>
            </a:endParaRPr>
          </a:p>
          <a:p>
            <a:pPr indent="-352901" lvl="1" marL="705801" marR="0" rtl="0" algn="just">
              <a:lnSpc>
                <a:spcPct val="135009"/>
              </a:lnSpc>
              <a:spcBef>
                <a:spcPts val="0"/>
              </a:spcBef>
              <a:spcAft>
                <a:spcPts val="0"/>
              </a:spcAft>
              <a:buSzPts val="3899"/>
              <a:buFont typeface="Roboto"/>
              <a:buChar char="•"/>
            </a:pPr>
            <a:r>
              <a:rPr lang="en-US" sz="3899">
                <a:latin typeface="Roboto"/>
                <a:ea typeface="Roboto"/>
                <a:cs typeface="Roboto"/>
                <a:sym typeface="Roboto"/>
              </a:rPr>
              <a:t>Xác định chủ đề đoạn bài giảng qua các từ khóa trong câu hỏi</a:t>
            </a:r>
            <a:endParaRPr sz="3899">
              <a:latin typeface="Roboto"/>
              <a:ea typeface="Roboto"/>
              <a:cs typeface="Roboto"/>
              <a:sym typeface="Roboto"/>
            </a:endParaRPr>
          </a:p>
          <a:p>
            <a:pPr indent="0" lvl="0" marL="914400" marR="0" rtl="0" algn="just">
              <a:lnSpc>
                <a:spcPct val="135009"/>
              </a:lnSpc>
              <a:spcBef>
                <a:spcPts val="0"/>
              </a:spcBef>
              <a:spcAft>
                <a:spcPts val="0"/>
              </a:spcAft>
              <a:buNone/>
            </a:pPr>
            <a:r>
              <a:rPr lang="en-US" sz="3899">
                <a:latin typeface="Roboto"/>
                <a:ea typeface="Roboto"/>
                <a:cs typeface="Roboto"/>
                <a:sym typeface="Roboto"/>
              </a:rPr>
              <a:t> </a:t>
            </a:r>
            <a:endParaRPr sz="3899">
              <a:latin typeface="Roboto"/>
              <a:ea typeface="Roboto"/>
              <a:cs typeface="Roboto"/>
              <a:sym typeface="Roboto"/>
            </a:endParaRPr>
          </a:p>
        </p:txBody>
      </p:sp>
      <p:grpSp>
        <p:nvGrpSpPr>
          <p:cNvPr id="401" name="Google Shape;401;p25"/>
          <p:cNvGrpSpPr/>
          <p:nvPr/>
        </p:nvGrpSpPr>
        <p:grpSpPr>
          <a:xfrm>
            <a:off x="-2718010" y="9274530"/>
            <a:ext cx="7950378" cy="1707223"/>
            <a:chOff x="0" y="-384760"/>
            <a:chExt cx="10600504" cy="2276297"/>
          </a:xfrm>
        </p:grpSpPr>
        <p:grpSp>
          <p:nvGrpSpPr>
            <p:cNvPr id="402" name="Google Shape;402;p25"/>
            <p:cNvGrpSpPr/>
            <p:nvPr/>
          </p:nvGrpSpPr>
          <p:grpSpPr>
            <a:xfrm>
              <a:off x="0" y="-384760"/>
              <a:ext cx="10600504" cy="2276297"/>
              <a:chOff x="0" y="-38100"/>
              <a:chExt cx="1049690" cy="225405"/>
            </a:xfrm>
          </p:grpSpPr>
          <p:sp>
            <p:nvSpPr>
              <p:cNvPr id="403" name="Google Shape;403;p2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04" name="Google Shape;404;p25"/>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5" name="Google Shape;405;p25"/>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500"/>
                                        <p:tgtEl>
                                          <p:spTgt spid="4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cxnSp>
        <p:nvCxnSpPr>
          <p:cNvPr id="411" name="Google Shape;411;p26"/>
          <p:cNvCxnSpPr/>
          <p:nvPr/>
        </p:nvCxnSpPr>
        <p:spPr>
          <a:xfrm>
            <a:off x="-249883" y="5460507"/>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412" name="Google Shape;412;p26"/>
          <p:cNvSpPr/>
          <p:nvPr/>
        </p:nvSpPr>
        <p:spPr>
          <a:xfrm>
            <a:off x="3052586"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13" name="Google Shape;413;p2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14" name="Google Shape;414;p26"/>
          <p:cNvSpPr/>
          <p:nvPr/>
        </p:nvSpPr>
        <p:spPr>
          <a:xfrm>
            <a:off x="9604943" y="7541690"/>
            <a:ext cx="3569688" cy="3123477"/>
          </a:xfrm>
          <a:custGeom>
            <a:rect b="b" l="l" r="r" t="t"/>
            <a:pathLst>
              <a:path extrusionOk="0" h="3123477" w="3569688">
                <a:moveTo>
                  <a:pt x="0" y="0"/>
                </a:moveTo>
                <a:lnTo>
                  <a:pt x="3569688" y="0"/>
                </a:lnTo>
                <a:lnTo>
                  <a:pt x="3569688" y="3123477"/>
                </a:lnTo>
                <a:lnTo>
                  <a:pt x="0" y="3123477"/>
                </a:lnTo>
                <a:lnTo>
                  <a:pt x="0" y="0"/>
                </a:lnTo>
                <a:close/>
              </a:path>
            </a:pathLst>
          </a:custGeom>
          <a:blipFill rotWithShape="1">
            <a:blip r:embed="rId5">
              <a:alphaModFix/>
            </a:blip>
            <a:stretch>
              <a:fillRect b="0" l="0" r="0" t="0"/>
            </a:stretch>
          </a:blipFill>
          <a:ln>
            <a:noFill/>
          </a:ln>
        </p:spPr>
      </p:sp>
      <p:grpSp>
        <p:nvGrpSpPr>
          <p:cNvPr id="415" name="Google Shape;415;p26"/>
          <p:cNvGrpSpPr/>
          <p:nvPr/>
        </p:nvGrpSpPr>
        <p:grpSpPr>
          <a:xfrm>
            <a:off x="7527559" y="648530"/>
            <a:ext cx="6295740" cy="1365760"/>
            <a:chOff x="0" y="-76200"/>
            <a:chExt cx="8394320" cy="1821013"/>
          </a:xfrm>
        </p:grpSpPr>
        <p:sp>
          <p:nvSpPr>
            <p:cNvPr id="416" name="Google Shape;416;p26"/>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6"/>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6"/>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Trong khi nghe</a:t>
              </a:r>
              <a:endParaRPr/>
            </a:p>
          </p:txBody>
        </p:sp>
      </p:grpSp>
      <p:sp>
        <p:nvSpPr>
          <p:cNvPr id="419" name="Google Shape;419;p26"/>
          <p:cNvSpPr/>
          <p:nvPr/>
        </p:nvSpPr>
        <p:spPr>
          <a:xfrm>
            <a:off x="5611462" y="2468568"/>
            <a:ext cx="11970353" cy="5935605"/>
          </a:xfrm>
          <a:custGeom>
            <a:rect b="b" l="l" r="r" t="t"/>
            <a:pathLst>
              <a:path extrusionOk="0" h="7914140" w="15960470">
                <a:moveTo>
                  <a:pt x="0" y="1978494"/>
                </a:moveTo>
                <a:lnTo>
                  <a:pt x="12366678" y="1978494"/>
                </a:lnTo>
                <a:lnTo>
                  <a:pt x="12366678" y="0"/>
                </a:lnTo>
                <a:lnTo>
                  <a:pt x="15960470" y="3957151"/>
                </a:lnTo>
                <a:lnTo>
                  <a:pt x="12366678" y="7914139"/>
                </a:lnTo>
                <a:lnTo>
                  <a:pt x="12366678" y="5935645"/>
                </a:lnTo>
                <a:lnTo>
                  <a:pt x="0" y="5935645"/>
                </a:lnTo>
                <a:close/>
              </a:path>
            </a:pathLst>
          </a:custGeom>
          <a:solidFill>
            <a:srgbClr val="018146">
              <a:alpha val="80000"/>
            </a:srgbClr>
          </a:solidFill>
          <a:ln>
            <a:noFill/>
          </a:ln>
        </p:spPr>
      </p:sp>
      <p:grpSp>
        <p:nvGrpSpPr>
          <p:cNvPr id="420" name="Google Shape;420;p26"/>
          <p:cNvGrpSpPr/>
          <p:nvPr/>
        </p:nvGrpSpPr>
        <p:grpSpPr>
          <a:xfrm>
            <a:off x="5953971" y="4314747"/>
            <a:ext cx="3279600" cy="2243273"/>
            <a:chOff x="0" y="-38100"/>
            <a:chExt cx="4372800" cy="2991030"/>
          </a:xfrm>
        </p:grpSpPr>
        <p:sp>
          <p:nvSpPr>
            <p:cNvPr id="421" name="Google Shape;421;p26"/>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6"/>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6"/>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1" i="0" lang="en-US" sz="2499" u="none" cap="none" strike="noStrike">
                  <a:solidFill>
                    <a:srgbClr val="FFFFFF"/>
                  </a:solidFill>
                  <a:latin typeface="Roboto"/>
                  <a:ea typeface="Roboto"/>
                  <a:cs typeface="Roboto"/>
                  <a:sym typeface="Roboto"/>
                </a:rPr>
                <a:t>Xác định vùng</a:t>
              </a:r>
              <a:r>
                <a:rPr b="0" i="0" lang="en-US" sz="2499" u="none" cap="none" strike="noStrike">
                  <a:solidFill>
                    <a:srgbClr val="FFFFFF"/>
                  </a:solidFill>
                  <a:latin typeface="Roboto"/>
                  <a:ea typeface="Roboto"/>
                  <a:cs typeface="Roboto"/>
                  <a:sym typeface="Roboto"/>
                </a:rPr>
                <a:t> thông tin chứa đáp án </a:t>
              </a:r>
              <a:r>
                <a:rPr lang="en-US" sz="2499">
                  <a:solidFill>
                    <a:srgbClr val="FFFFFF"/>
                  </a:solidFill>
                  <a:latin typeface="Roboto"/>
                  <a:ea typeface="Roboto"/>
                  <a:cs typeface="Roboto"/>
                  <a:sym typeface="Roboto"/>
                </a:rPr>
                <a:t>qua các thông tin cụ thể</a:t>
              </a:r>
              <a:endParaRPr/>
            </a:p>
          </p:txBody>
        </p:sp>
      </p:grpSp>
      <p:grpSp>
        <p:nvGrpSpPr>
          <p:cNvPr id="424" name="Google Shape;424;p26"/>
          <p:cNvGrpSpPr/>
          <p:nvPr/>
        </p:nvGrpSpPr>
        <p:grpSpPr>
          <a:xfrm>
            <a:off x="9749984" y="4314759"/>
            <a:ext cx="3279600" cy="2243273"/>
            <a:chOff x="0" y="-38100"/>
            <a:chExt cx="4372800" cy="2991030"/>
          </a:xfrm>
        </p:grpSpPr>
        <p:sp>
          <p:nvSpPr>
            <p:cNvPr id="425" name="Google Shape;425;p26"/>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6"/>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6"/>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0" i="0" lang="en-US" sz="2499" u="none" cap="none" strike="noStrike">
                  <a:solidFill>
                    <a:srgbClr val="FFFFFF"/>
                  </a:solidFill>
                  <a:latin typeface="Roboto"/>
                  <a:ea typeface="Roboto"/>
                  <a:cs typeface="Roboto"/>
                  <a:sym typeface="Roboto"/>
                </a:rPr>
                <a:t>Nhận diện </a:t>
              </a:r>
              <a:r>
                <a:rPr lang="en-US" sz="2499">
                  <a:solidFill>
                    <a:srgbClr val="FFFFFF"/>
                  </a:solidFill>
                  <a:latin typeface="Roboto"/>
                  <a:ea typeface="Roboto"/>
                  <a:cs typeface="Roboto"/>
                  <a:sym typeface="Roboto"/>
                </a:rPr>
                <a:t>các yếu tố gây nhiễu và các thông tin được paraphase</a:t>
              </a:r>
              <a:endParaRPr>
                <a:latin typeface="Roboto"/>
                <a:ea typeface="Roboto"/>
                <a:cs typeface="Roboto"/>
                <a:sym typeface="Roboto"/>
              </a:endParaRPr>
            </a:p>
          </p:txBody>
        </p:sp>
      </p:grpSp>
      <p:grpSp>
        <p:nvGrpSpPr>
          <p:cNvPr id="428" name="Google Shape;428;p26"/>
          <p:cNvGrpSpPr/>
          <p:nvPr/>
        </p:nvGrpSpPr>
        <p:grpSpPr>
          <a:xfrm>
            <a:off x="13417245" y="4300459"/>
            <a:ext cx="3279600" cy="2243273"/>
            <a:chOff x="0" y="-38100"/>
            <a:chExt cx="4372800" cy="2991030"/>
          </a:xfrm>
        </p:grpSpPr>
        <p:sp>
          <p:nvSpPr>
            <p:cNvPr id="429" name="Google Shape;429;p26"/>
            <p:cNvSpPr/>
            <p:nvPr/>
          </p:nvSpPr>
          <p:spPr>
            <a:xfrm>
              <a:off x="21352" y="22594"/>
              <a:ext cx="4329964" cy="2907741"/>
            </a:xfrm>
            <a:custGeom>
              <a:rect b="b" l="l" r="r" t="t"/>
              <a:pathLst>
                <a:path extrusionOk="0" h="2907741" w="4329964">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6"/>
            <p:cNvSpPr/>
            <p:nvPr/>
          </p:nvSpPr>
          <p:spPr>
            <a:xfrm>
              <a:off x="0" y="0"/>
              <a:ext cx="4372668" cy="2952930"/>
            </a:xfrm>
            <a:custGeom>
              <a:rect b="b" l="l" r="r" t="t"/>
              <a:pathLst>
                <a:path extrusionOk="0" h="2952930" w="4372668">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
            <p:cNvSpPr txBox="1"/>
            <p:nvPr/>
          </p:nvSpPr>
          <p:spPr>
            <a:xfrm>
              <a:off x="0" y="-38100"/>
              <a:ext cx="4372800" cy="2991000"/>
            </a:xfrm>
            <a:prstGeom prst="rect">
              <a:avLst/>
            </a:prstGeom>
            <a:noFill/>
            <a:ln>
              <a:noFill/>
            </a:ln>
          </p:spPr>
          <p:txBody>
            <a:bodyPr anchorCtr="0" anchor="ctr" bIns="50800" lIns="50800" spcFirstLastPara="1" rIns="50800" wrap="square" tIns="50800">
              <a:noAutofit/>
            </a:bodyPr>
            <a:lstStyle/>
            <a:p>
              <a:pPr indent="0" lvl="0" marL="0" marR="0" rtl="0" algn="ctr">
                <a:lnSpc>
                  <a:spcPct val="135014"/>
                </a:lnSpc>
                <a:spcBef>
                  <a:spcPts val="0"/>
                </a:spcBef>
                <a:spcAft>
                  <a:spcPts val="0"/>
                </a:spcAft>
                <a:buNone/>
              </a:pPr>
              <a:r>
                <a:rPr b="1" i="0" lang="en-US" sz="2499" u="none" cap="none" strike="noStrike">
                  <a:solidFill>
                    <a:srgbClr val="FFFFFF"/>
                  </a:solidFill>
                  <a:latin typeface="Roboto"/>
                  <a:ea typeface="Roboto"/>
                  <a:cs typeface="Roboto"/>
                  <a:sym typeface="Roboto"/>
                </a:rPr>
                <a:t>Ghi chú</a:t>
              </a:r>
              <a:r>
                <a:rPr b="0" i="0" lang="en-US" sz="2499" u="none" cap="none" strike="noStrike">
                  <a:solidFill>
                    <a:srgbClr val="FFFFFF"/>
                  </a:solidFill>
                  <a:latin typeface="Roboto"/>
                  <a:ea typeface="Roboto"/>
                  <a:cs typeface="Roboto"/>
                  <a:sym typeface="Roboto"/>
                </a:rPr>
                <a:t> thông tin </a:t>
              </a:r>
              <a:r>
                <a:rPr lang="en-US" sz="2499">
                  <a:solidFill>
                    <a:srgbClr val="FFFFFF"/>
                  </a:solidFill>
                  <a:latin typeface="Roboto"/>
                  <a:ea typeface="Roboto"/>
                  <a:cs typeface="Roboto"/>
                  <a:sym typeface="Roboto"/>
                </a:rPr>
                <a:t>đã</a:t>
              </a:r>
              <a:r>
                <a:rPr b="0" i="0" lang="en-US" sz="2499" u="none" cap="none" strike="noStrike">
                  <a:solidFill>
                    <a:srgbClr val="FFFFFF"/>
                  </a:solidFill>
                  <a:latin typeface="Roboto"/>
                  <a:ea typeface="Roboto"/>
                  <a:cs typeface="Roboto"/>
                  <a:sym typeface="Roboto"/>
                </a:rPr>
                <a:t> </a:t>
              </a:r>
              <a:r>
                <a:rPr lang="en-US" sz="2499">
                  <a:solidFill>
                    <a:srgbClr val="FFFFFF"/>
                  </a:solidFill>
                  <a:latin typeface="Roboto"/>
                  <a:ea typeface="Roboto"/>
                  <a:cs typeface="Roboto"/>
                  <a:sym typeface="Roboto"/>
                </a:rPr>
                <a:t>nghe được để tổng hợp đưa ra đáp án</a:t>
              </a:r>
              <a:endParaRPr/>
            </a:p>
          </p:txBody>
        </p:sp>
      </p:grpSp>
      <p:grpSp>
        <p:nvGrpSpPr>
          <p:cNvPr id="432" name="Google Shape;432;p26"/>
          <p:cNvGrpSpPr/>
          <p:nvPr/>
        </p:nvGrpSpPr>
        <p:grpSpPr>
          <a:xfrm rot="10800000">
            <a:off x="15561046" y="-410238"/>
            <a:ext cx="7681773" cy="4260605"/>
            <a:chOff x="0" y="-38100"/>
            <a:chExt cx="406400" cy="225405"/>
          </a:xfrm>
        </p:grpSpPr>
        <p:sp>
          <p:nvSpPr>
            <p:cNvPr id="433" name="Google Shape;433;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4" name="Google Shape;434;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5" name="Google Shape;435;p26"/>
          <p:cNvSpPr/>
          <p:nvPr/>
        </p:nvSpPr>
        <p:spPr>
          <a:xfrm>
            <a:off x="5649291" y="722357"/>
            <a:ext cx="1160990"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36" name="Google Shape;436;p26"/>
          <p:cNvGrpSpPr/>
          <p:nvPr/>
        </p:nvGrpSpPr>
        <p:grpSpPr>
          <a:xfrm>
            <a:off x="-2718010" y="9274530"/>
            <a:ext cx="7950378" cy="1707223"/>
            <a:chOff x="0" y="-384760"/>
            <a:chExt cx="10600504" cy="2276297"/>
          </a:xfrm>
        </p:grpSpPr>
        <p:grpSp>
          <p:nvGrpSpPr>
            <p:cNvPr id="437" name="Google Shape;437;p26"/>
            <p:cNvGrpSpPr/>
            <p:nvPr/>
          </p:nvGrpSpPr>
          <p:grpSpPr>
            <a:xfrm>
              <a:off x="0" y="-384760"/>
              <a:ext cx="10600504" cy="2276297"/>
              <a:chOff x="0" y="-38100"/>
              <a:chExt cx="1049690" cy="225405"/>
            </a:xfrm>
          </p:grpSpPr>
          <p:sp>
            <p:nvSpPr>
              <p:cNvPr id="438" name="Google Shape;438;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39" name="Google Shape;439;p2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0" name="Google Shape;440;p2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cxnSp>
        <p:nvCxnSpPr>
          <p:cNvPr id="446" name="Google Shape;446;p27"/>
          <p:cNvCxnSpPr/>
          <p:nvPr/>
        </p:nvCxnSpPr>
        <p:spPr>
          <a:xfrm>
            <a:off x="-61151" y="5460507"/>
            <a:ext cx="5303400" cy="0"/>
          </a:xfrm>
          <a:prstGeom prst="straightConnector1">
            <a:avLst/>
          </a:prstGeom>
          <a:noFill/>
          <a:ln cap="flat" cmpd="sng" w="38100">
            <a:solidFill>
              <a:srgbClr val="FFFFFF"/>
            </a:solidFill>
            <a:prstDash val="solid"/>
            <a:round/>
            <a:headEnd len="sm" w="sm" type="none"/>
            <a:tailEnd len="sm" w="sm" type="none"/>
          </a:ln>
        </p:spPr>
      </p:cxnSp>
      <p:sp>
        <p:nvSpPr>
          <p:cNvPr descr="Books with solid fill" id="447" name="Google Shape;447;p27"/>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48" name="Google Shape;448;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449" name="Google Shape;449;p27"/>
          <p:cNvGrpSpPr/>
          <p:nvPr/>
        </p:nvGrpSpPr>
        <p:grpSpPr>
          <a:xfrm>
            <a:off x="6755182" y="443278"/>
            <a:ext cx="6295740" cy="1365760"/>
            <a:chOff x="0" y="-76200"/>
            <a:chExt cx="8394320" cy="1821013"/>
          </a:xfrm>
        </p:grpSpPr>
        <p:sp>
          <p:nvSpPr>
            <p:cNvPr id="450" name="Google Shape;450;p27"/>
            <p:cNvSpPr/>
            <p:nvPr/>
          </p:nvSpPr>
          <p:spPr>
            <a:xfrm>
              <a:off x="40442" y="13921"/>
              <a:ext cx="8313463" cy="1716968"/>
            </a:xfrm>
            <a:custGeom>
              <a:rect b="b" l="l" r="r" t="t"/>
              <a:pathLst>
                <a:path extrusionOk="0" h="1716968" w="8313463">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7"/>
            <p:cNvSpPr/>
            <p:nvPr/>
          </p:nvSpPr>
          <p:spPr>
            <a:xfrm>
              <a:off x="0" y="0"/>
              <a:ext cx="8394320" cy="1744813"/>
            </a:xfrm>
            <a:custGeom>
              <a:rect b="b" l="l" r="r" t="t"/>
              <a:pathLst>
                <a:path extrusionOk="0" h="1744813" w="839432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7"/>
            <p:cNvSpPr txBox="1"/>
            <p:nvPr/>
          </p:nvSpPr>
          <p:spPr>
            <a:xfrm>
              <a:off x="0" y="-76200"/>
              <a:ext cx="8394300" cy="1821000"/>
            </a:xfrm>
            <a:prstGeom prst="rect">
              <a:avLst/>
            </a:prstGeom>
            <a:solidFill>
              <a:srgbClr val="018146"/>
            </a:solidFill>
            <a:ln>
              <a:noFill/>
            </a:ln>
          </p:spPr>
          <p:txBody>
            <a:bodyPr anchorCtr="0" anchor="ctr" bIns="50800" lIns="50800" spcFirstLastPara="1" rIns="50800" wrap="square" tIns="50800">
              <a:noAutofit/>
            </a:bodyPr>
            <a:lstStyle/>
            <a:p>
              <a:pPr indent="0" lvl="0" marL="0" marR="0" rtl="0" algn="ctr">
                <a:lnSpc>
                  <a:spcPct val="135007"/>
                </a:lnSpc>
                <a:spcBef>
                  <a:spcPts val="0"/>
                </a:spcBef>
                <a:spcAft>
                  <a:spcPts val="0"/>
                </a:spcAft>
                <a:buNone/>
              </a:pPr>
              <a:r>
                <a:rPr b="1" i="0" lang="en-US" sz="4499" u="none" cap="none" strike="noStrike">
                  <a:solidFill>
                    <a:srgbClr val="FFFFFF"/>
                  </a:solidFill>
                  <a:latin typeface="Roboto"/>
                  <a:ea typeface="Roboto"/>
                  <a:cs typeface="Roboto"/>
                  <a:sym typeface="Roboto"/>
                </a:rPr>
                <a:t>Sau khi nghe</a:t>
              </a:r>
              <a:endParaRPr/>
            </a:p>
          </p:txBody>
        </p:sp>
      </p:grpSp>
      <p:sp>
        <p:nvSpPr>
          <p:cNvPr id="453" name="Google Shape;453;p27"/>
          <p:cNvSpPr/>
          <p:nvPr/>
        </p:nvSpPr>
        <p:spPr>
          <a:xfrm>
            <a:off x="5208632" y="517105"/>
            <a:ext cx="1160989" cy="1275408"/>
          </a:xfrm>
          <a:custGeom>
            <a:rect b="b" l="l" r="r" t="t"/>
            <a:pathLst>
              <a:path extrusionOk="0" h="1500480" w="136587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54" name="Google Shape;454;p27"/>
          <p:cNvGrpSpPr/>
          <p:nvPr/>
        </p:nvGrpSpPr>
        <p:grpSpPr>
          <a:xfrm rot="10800000">
            <a:off x="15561046" y="-410238"/>
            <a:ext cx="7681773" cy="4260605"/>
            <a:chOff x="0" y="-38100"/>
            <a:chExt cx="406400" cy="225405"/>
          </a:xfrm>
        </p:grpSpPr>
        <p:sp>
          <p:nvSpPr>
            <p:cNvPr id="455" name="Google Shape;455;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6" name="Google Shape;456;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7" name="Google Shape;457;p27"/>
          <p:cNvSpPr/>
          <p:nvPr/>
        </p:nvSpPr>
        <p:spPr>
          <a:xfrm>
            <a:off x="9745027" y="7166408"/>
            <a:ext cx="3569688" cy="3123477"/>
          </a:xfrm>
          <a:custGeom>
            <a:rect b="b" l="l" r="r" t="t"/>
            <a:pathLst>
              <a:path extrusionOk="0" h="3123477" w="3569688">
                <a:moveTo>
                  <a:pt x="0" y="0"/>
                </a:moveTo>
                <a:lnTo>
                  <a:pt x="3569687" y="0"/>
                </a:lnTo>
                <a:lnTo>
                  <a:pt x="3569687" y="3123477"/>
                </a:lnTo>
                <a:lnTo>
                  <a:pt x="0" y="3123477"/>
                </a:lnTo>
                <a:lnTo>
                  <a:pt x="0" y="0"/>
                </a:lnTo>
                <a:close/>
              </a:path>
            </a:pathLst>
          </a:custGeom>
          <a:blipFill rotWithShape="1">
            <a:blip r:embed="rId5">
              <a:alphaModFix/>
            </a:blip>
            <a:stretch>
              <a:fillRect b="0" l="0" r="0" t="0"/>
            </a:stretch>
          </a:blipFill>
          <a:ln>
            <a:noFill/>
          </a:ln>
        </p:spPr>
      </p:sp>
      <p:sp>
        <p:nvSpPr>
          <p:cNvPr id="458" name="Google Shape;458;p27"/>
          <p:cNvSpPr txBox="1"/>
          <p:nvPr/>
        </p:nvSpPr>
        <p:spPr>
          <a:xfrm>
            <a:off x="6490737" y="2954660"/>
            <a:ext cx="9742200" cy="6000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EA222A"/>
              </a:buClr>
              <a:buSzPts val="3899"/>
              <a:buFont typeface="Arial"/>
              <a:buChar char="•"/>
            </a:pPr>
            <a:r>
              <a:rPr b="1" i="0" lang="en-US" sz="3899" u="none" cap="none" strike="noStrike">
                <a:solidFill>
                  <a:srgbClr val="EA222A"/>
                </a:solidFill>
                <a:latin typeface="Roboto"/>
                <a:ea typeface="Roboto"/>
                <a:cs typeface="Roboto"/>
                <a:sym typeface="Roboto"/>
              </a:rPr>
              <a:t>Kiểm tra lại</a:t>
            </a:r>
            <a:r>
              <a:rPr b="0" i="0" lang="en-US" sz="3899" u="none" cap="none" strike="noStrike">
                <a:solidFill>
                  <a:srgbClr val="000000"/>
                </a:solidFill>
                <a:latin typeface="Roboto"/>
                <a:ea typeface="Roboto"/>
                <a:cs typeface="Roboto"/>
                <a:sym typeface="Roboto"/>
              </a:rPr>
              <a:t> các đáp án mình đã chọn</a:t>
            </a:r>
            <a:endParaRPr b="0" i="0" sz="3899" u="none" cap="none" strike="noStrike">
              <a:solidFill>
                <a:srgbClr val="000000"/>
              </a:solidFill>
              <a:latin typeface="Roboto"/>
              <a:ea typeface="Roboto"/>
              <a:cs typeface="Roboto"/>
              <a:sym typeface="Roboto"/>
            </a:endParaRPr>
          </a:p>
        </p:txBody>
      </p:sp>
      <p:sp>
        <p:nvSpPr>
          <p:cNvPr id="459" name="Google Shape;459;p27"/>
          <p:cNvSpPr txBox="1"/>
          <p:nvPr/>
        </p:nvSpPr>
        <p:spPr>
          <a:xfrm>
            <a:off x="6490737" y="4123372"/>
            <a:ext cx="10078200" cy="1410300"/>
          </a:xfrm>
          <a:prstGeom prst="rect">
            <a:avLst/>
          </a:prstGeom>
          <a:noFill/>
          <a:ln>
            <a:noFill/>
          </a:ln>
        </p:spPr>
        <p:txBody>
          <a:bodyPr anchorCtr="0" anchor="t" bIns="0" lIns="0" spcFirstLastPara="1" rIns="0" wrap="square" tIns="0">
            <a:spAutoFit/>
          </a:bodyPr>
          <a:lstStyle/>
          <a:p>
            <a:pPr indent="-352901" lvl="1" marL="705801" marR="0" rtl="0" algn="just">
              <a:lnSpc>
                <a:spcPct val="135009"/>
              </a:lnSpc>
              <a:spcBef>
                <a:spcPts val="0"/>
              </a:spcBef>
              <a:spcAft>
                <a:spcPts val="0"/>
              </a:spcAft>
              <a:buClr>
                <a:srgbClr val="000000"/>
              </a:buClr>
              <a:buSzPts val="3899"/>
              <a:buFont typeface="Arial"/>
              <a:buChar char="•"/>
            </a:pPr>
            <a:r>
              <a:rPr b="1" lang="en-US" sz="3899">
                <a:latin typeface="Roboto"/>
                <a:ea typeface="Roboto"/>
                <a:cs typeface="Roboto"/>
                <a:sym typeface="Roboto"/>
              </a:rPr>
              <a:t>Lưu ý:</a:t>
            </a:r>
            <a:r>
              <a:rPr lang="en-US" sz="3899">
                <a:latin typeface="Roboto"/>
                <a:ea typeface="Roboto"/>
                <a:cs typeface="Roboto"/>
                <a:sym typeface="Roboto"/>
              </a:rPr>
              <a:t> Không để lựa chọn nào trống vì các đáp án sai sẽ </a:t>
            </a:r>
            <a:r>
              <a:rPr b="1" lang="en-US" sz="3899">
                <a:latin typeface="Roboto"/>
                <a:ea typeface="Roboto"/>
                <a:cs typeface="Roboto"/>
                <a:sym typeface="Roboto"/>
              </a:rPr>
              <a:t>không bị trừ điểm</a:t>
            </a:r>
            <a:endParaRPr b="1"/>
          </a:p>
        </p:txBody>
      </p:sp>
      <p:grpSp>
        <p:nvGrpSpPr>
          <p:cNvPr id="460" name="Google Shape;460;p27"/>
          <p:cNvGrpSpPr/>
          <p:nvPr/>
        </p:nvGrpSpPr>
        <p:grpSpPr>
          <a:xfrm>
            <a:off x="-2718010" y="9274530"/>
            <a:ext cx="7950378" cy="1707223"/>
            <a:chOff x="0" y="-384760"/>
            <a:chExt cx="10600504" cy="2276297"/>
          </a:xfrm>
        </p:grpSpPr>
        <p:grpSp>
          <p:nvGrpSpPr>
            <p:cNvPr id="461" name="Google Shape;461;p27"/>
            <p:cNvGrpSpPr/>
            <p:nvPr/>
          </p:nvGrpSpPr>
          <p:grpSpPr>
            <a:xfrm>
              <a:off x="0" y="-384760"/>
              <a:ext cx="10600504" cy="2276297"/>
              <a:chOff x="0" y="-38100"/>
              <a:chExt cx="1049690" cy="225405"/>
            </a:xfrm>
          </p:grpSpPr>
          <p:sp>
            <p:nvSpPr>
              <p:cNvPr id="462" name="Google Shape;462;p2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63" name="Google Shape;463;p27"/>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4" name="Google Shape;464;p27"/>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8"/>
                                        </p:tgtEl>
                                        <p:attrNameLst>
                                          <p:attrName>style.visibility</p:attrName>
                                        </p:attrNameLst>
                                      </p:cBhvr>
                                      <p:to>
                                        <p:strVal val="visible"/>
                                      </p:to>
                                    </p:set>
                                    <p:anim calcmode="lin" valueType="num">
                                      <p:cBhvr additive="base">
                                        <p:cTn dur="500"/>
                                        <p:tgtEl>
                                          <p:spTgt spid="45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9"/>
                                        </p:tgtEl>
                                        <p:attrNameLst>
                                          <p:attrName>style.visibility</p:attrName>
                                        </p:attrNameLst>
                                      </p:cBhvr>
                                      <p:to>
                                        <p:strVal val="visible"/>
                                      </p:to>
                                    </p:set>
                                    <p:anim calcmode="lin" valueType="num">
                                      <p:cBhvr additive="base">
                                        <p:cTn dur="500"/>
                                        <p:tgtEl>
                                          <p:spTgt spid="45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cxnSp>
        <p:nvCxnSpPr>
          <p:cNvPr id="470" name="Google Shape;470;p28"/>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471" name="Google Shape;471;p28"/>
          <p:cNvGrpSpPr/>
          <p:nvPr/>
        </p:nvGrpSpPr>
        <p:grpSpPr>
          <a:xfrm rot="10800000">
            <a:off x="15785084" y="-536938"/>
            <a:ext cx="7681773" cy="4260605"/>
            <a:chOff x="0" y="-38100"/>
            <a:chExt cx="406400" cy="225405"/>
          </a:xfrm>
        </p:grpSpPr>
        <p:sp>
          <p:nvSpPr>
            <p:cNvPr id="472" name="Google Shape;472;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73" name="Google Shape;473;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4" name="Google Shape;474;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475" name="Google Shape;475;p28"/>
          <p:cNvGrpSpPr/>
          <p:nvPr/>
        </p:nvGrpSpPr>
        <p:grpSpPr>
          <a:xfrm>
            <a:off x="-2718010" y="9274530"/>
            <a:ext cx="7950378" cy="1707223"/>
            <a:chOff x="0" y="-384760"/>
            <a:chExt cx="10600504" cy="2276297"/>
          </a:xfrm>
        </p:grpSpPr>
        <p:grpSp>
          <p:nvGrpSpPr>
            <p:cNvPr id="476" name="Google Shape;476;p28"/>
            <p:cNvGrpSpPr/>
            <p:nvPr/>
          </p:nvGrpSpPr>
          <p:grpSpPr>
            <a:xfrm>
              <a:off x="0" y="-384760"/>
              <a:ext cx="10600504" cy="2276297"/>
              <a:chOff x="0" y="-38100"/>
              <a:chExt cx="1049690" cy="225405"/>
            </a:xfrm>
          </p:grpSpPr>
          <p:sp>
            <p:nvSpPr>
              <p:cNvPr id="477" name="Google Shape;477;p2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78" name="Google Shape;478;p2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9" name="Google Shape;479;p2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0" name="Google Shape;480;p28"/>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481" name="Google Shape;481;p28"/>
          <p:cNvSpPr txBox="1"/>
          <p:nvPr/>
        </p:nvSpPr>
        <p:spPr>
          <a:xfrm>
            <a:off x="7198500" y="2306100"/>
            <a:ext cx="11089500" cy="6249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16. Listen to a travel reviewer on the radio talking about a trip and answer the questions below.</a:t>
            </a:r>
            <a:endParaRPr b="1" sz="2500">
              <a:solidFill>
                <a:srgbClr val="018345"/>
              </a:solidFill>
              <a:latin typeface="Roboto"/>
              <a:ea typeface="Roboto"/>
              <a:cs typeface="Roboto"/>
              <a:sym typeface="Roboto"/>
            </a:endParaRPr>
          </a:p>
          <a:p>
            <a:pPr indent="-387350" lvl="0" marL="91440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is the reviewer’s opinion of the river trip?</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It was too old fashioned.</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It was not varied enough.</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The facilities were not adequate.</a:t>
            </a:r>
            <a:endParaRPr sz="2500">
              <a:solidFill>
                <a:schemeClr val="dk1"/>
              </a:solidFill>
              <a:latin typeface="Roboto"/>
              <a:ea typeface="Roboto"/>
              <a:cs typeface="Roboto"/>
              <a:sym typeface="Roboto"/>
            </a:endParaRPr>
          </a:p>
          <a:p>
            <a:pPr indent="-387350" lvl="0" marL="91440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is the reviewer’s opinion of cruises overall?</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They are not suitable for individual travellers.</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They are becoming less and less popular.</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They are probably not worth the money</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cxnSp>
        <p:nvCxnSpPr>
          <p:cNvPr id="482" name="Google Shape;482;p28"/>
          <p:cNvCxnSpPr/>
          <p:nvPr/>
        </p:nvCxnSpPr>
        <p:spPr>
          <a:xfrm flipH="1" rot="10800000">
            <a:off x="11362150" y="3914075"/>
            <a:ext cx="3043200" cy="26400"/>
          </a:xfrm>
          <a:prstGeom prst="straightConnector1">
            <a:avLst/>
          </a:prstGeom>
          <a:noFill/>
          <a:ln cap="flat" cmpd="sng" w="38100">
            <a:solidFill>
              <a:srgbClr val="980000"/>
            </a:solidFill>
            <a:prstDash val="solid"/>
            <a:round/>
            <a:headEnd len="med" w="med" type="none"/>
            <a:tailEnd len="med" w="med" type="none"/>
          </a:ln>
        </p:spPr>
      </p:cxnSp>
      <p:cxnSp>
        <p:nvCxnSpPr>
          <p:cNvPr id="483" name="Google Shape;483;p28"/>
          <p:cNvCxnSpPr/>
          <p:nvPr/>
        </p:nvCxnSpPr>
        <p:spPr>
          <a:xfrm flipH="1" rot="10800000">
            <a:off x="9565050" y="4462525"/>
            <a:ext cx="1901400" cy="3600"/>
          </a:xfrm>
          <a:prstGeom prst="straightConnector1">
            <a:avLst/>
          </a:prstGeom>
          <a:noFill/>
          <a:ln cap="flat" cmpd="sng" w="38100">
            <a:solidFill>
              <a:srgbClr val="980000"/>
            </a:solidFill>
            <a:prstDash val="solid"/>
            <a:round/>
            <a:headEnd len="med" w="med" type="none"/>
            <a:tailEnd len="med" w="med" type="none"/>
          </a:ln>
        </p:spPr>
      </p:cxnSp>
      <p:cxnSp>
        <p:nvCxnSpPr>
          <p:cNvPr id="484" name="Google Shape;484;p28"/>
          <p:cNvCxnSpPr/>
          <p:nvPr/>
        </p:nvCxnSpPr>
        <p:spPr>
          <a:xfrm>
            <a:off x="9012850" y="5023000"/>
            <a:ext cx="2597100" cy="600"/>
          </a:xfrm>
          <a:prstGeom prst="straightConnector1">
            <a:avLst/>
          </a:prstGeom>
          <a:noFill/>
          <a:ln cap="flat" cmpd="sng" w="38100">
            <a:solidFill>
              <a:srgbClr val="980000"/>
            </a:solidFill>
            <a:prstDash val="solid"/>
            <a:round/>
            <a:headEnd len="med" w="med" type="none"/>
            <a:tailEnd len="med" w="med" type="none"/>
          </a:ln>
        </p:spPr>
      </p:cxnSp>
      <p:cxnSp>
        <p:nvCxnSpPr>
          <p:cNvPr id="485" name="Google Shape;485;p28"/>
          <p:cNvCxnSpPr/>
          <p:nvPr/>
        </p:nvCxnSpPr>
        <p:spPr>
          <a:xfrm>
            <a:off x="8721625" y="5585575"/>
            <a:ext cx="1205400" cy="12000"/>
          </a:xfrm>
          <a:prstGeom prst="straightConnector1">
            <a:avLst/>
          </a:prstGeom>
          <a:noFill/>
          <a:ln cap="flat" cmpd="sng" w="38100">
            <a:solidFill>
              <a:srgbClr val="980000"/>
            </a:solidFill>
            <a:prstDash val="solid"/>
            <a:round/>
            <a:headEnd len="med" w="med" type="none"/>
            <a:tailEnd len="med" w="med" type="none"/>
          </a:ln>
        </p:spPr>
      </p:cxnSp>
      <p:cxnSp>
        <p:nvCxnSpPr>
          <p:cNvPr id="486" name="Google Shape;486;p28"/>
          <p:cNvCxnSpPr/>
          <p:nvPr/>
        </p:nvCxnSpPr>
        <p:spPr>
          <a:xfrm flipH="1" rot="10800000">
            <a:off x="10674650" y="5584675"/>
            <a:ext cx="1927200" cy="900"/>
          </a:xfrm>
          <a:prstGeom prst="straightConnector1">
            <a:avLst/>
          </a:prstGeom>
          <a:noFill/>
          <a:ln cap="flat" cmpd="sng" w="38100">
            <a:solidFill>
              <a:srgbClr val="980000"/>
            </a:solidFill>
            <a:prstDash val="solid"/>
            <a:round/>
            <a:headEnd len="med" w="med" type="none"/>
            <a:tailEnd len="med" w="med" type="none"/>
          </a:ln>
        </p:spPr>
      </p:cxnSp>
      <p:cxnSp>
        <p:nvCxnSpPr>
          <p:cNvPr id="487" name="Google Shape;487;p28"/>
          <p:cNvCxnSpPr/>
          <p:nvPr/>
        </p:nvCxnSpPr>
        <p:spPr>
          <a:xfrm>
            <a:off x="11362150" y="6210875"/>
            <a:ext cx="3476100" cy="10500"/>
          </a:xfrm>
          <a:prstGeom prst="straightConnector1">
            <a:avLst/>
          </a:prstGeom>
          <a:noFill/>
          <a:ln cap="flat" cmpd="sng" w="38100">
            <a:solidFill>
              <a:srgbClr val="980000"/>
            </a:solidFill>
            <a:prstDash val="solid"/>
            <a:round/>
            <a:headEnd len="med" w="med" type="none"/>
            <a:tailEnd len="med" w="med" type="none"/>
          </a:ln>
        </p:spPr>
      </p:cxnSp>
      <p:cxnSp>
        <p:nvCxnSpPr>
          <p:cNvPr id="488" name="Google Shape;488;p28"/>
          <p:cNvCxnSpPr/>
          <p:nvPr/>
        </p:nvCxnSpPr>
        <p:spPr>
          <a:xfrm flipH="1" rot="10800000">
            <a:off x="9361500" y="6769425"/>
            <a:ext cx="1666500" cy="11400"/>
          </a:xfrm>
          <a:prstGeom prst="straightConnector1">
            <a:avLst/>
          </a:prstGeom>
          <a:noFill/>
          <a:ln cap="flat" cmpd="sng" w="38100">
            <a:solidFill>
              <a:srgbClr val="980000"/>
            </a:solidFill>
            <a:prstDash val="solid"/>
            <a:round/>
            <a:headEnd len="med" w="med" type="none"/>
            <a:tailEnd len="med" w="med" type="none"/>
          </a:ln>
        </p:spPr>
      </p:cxnSp>
      <p:cxnSp>
        <p:nvCxnSpPr>
          <p:cNvPr id="489" name="Google Shape;489;p28"/>
          <p:cNvCxnSpPr/>
          <p:nvPr/>
        </p:nvCxnSpPr>
        <p:spPr>
          <a:xfrm flipH="1" rot="10800000">
            <a:off x="11609950" y="6769275"/>
            <a:ext cx="2667000" cy="8400"/>
          </a:xfrm>
          <a:prstGeom prst="straightConnector1">
            <a:avLst/>
          </a:prstGeom>
          <a:noFill/>
          <a:ln cap="flat" cmpd="sng" w="38100">
            <a:solidFill>
              <a:srgbClr val="980000"/>
            </a:solidFill>
            <a:prstDash val="solid"/>
            <a:round/>
            <a:headEnd len="med" w="med" type="none"/>
            <a:tailEnd len="med" w="med" type="none"/>
          </a:ln>
        </p:spPr>
      </p:cxnSp>
      <p:cxnSp>
        <p:nvCxnSpPr>
          <p:cNvPr id="490" name="Google Shape;490;p28"/>
          <p:cNvCxnSpPr/>
          <p:nvPr/>
        </p:nvCxnSpPr>
        <p:spPr>
          <a:xfrm>
            <a:off x="10805000" y="7336975"/>
            <a:ext cx="2994600" cy="1200"/>
          </a:xfrm>
          <a:prstGeom prst="straightConnector1">
            <a:avLst/>
          </a:prstGeom>
          <a:noFill/>
          <a:ln cap="flat" cmpd="sng" w="38100">
            <a:solidFill>
              <a:srgbClr val="980000"/>
            </a:solidFill>
            <a:prstDash val="solid"/>
            <a:round/>
            <a:headEnd len="med" w="med" type="none"/>
            <a:tailEnd len="med" w="med" type="none"/>
          </a:ln>
        </p:spPr>
      </p:cxnSp>
      <p:cxnSp>
        <p:nvCxnSpPr>
          <p:cNvPr id="491" name="Google Shape;491;p28"/>
          <p:cNvCxnSpPr/>
          <p:nvPr/>
        </p:nvCxnSpPr>
        <p:spPr>
          <a:xfrm>
            <a:off x="10674650" y="7905725"/>
            <a:ext cx="2811600" cy="6600"/>
          </a:xfrm>
          <a:prstGeom prst="straightConnector1">
            <a:avLst/>
          </a:prstGeom>
          <a:noFill/>
          <a:ln cap="flat" cmpd="sng" w="38100">
            <a:solidFill>
              <a:srgbClr val="980000"/>
            </a:solidFill>
            <a:prstDash val="solid"/>
            <a:round/>
            <a:headEnd len="med" w="med" type="none"/>
            <a:tailEnd len="med" w="med" type="none"/>
          </a:ln>
        </p:spPr>
      </p:cxnSp>
      <p:sp>
        <p:nvSpPr>
          <p:cNvPr id="492" name="Google Shape;492;p28"/>
          <p:cNvSpPr/>
          <p:nvPr/>
        </p:nvSpPr>
        <p:spPr>
          <a:xfrm>
            <a:off x="7543800" y="4508425"/>
            <a:ext cx="539100" cy="5391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93" name="Google Shape;493;p28"/>
          <p:cNvSpPr/>
          <p:nvPr/>
        </p:nvSpPr>
        <p:spPr>
          <a:xfrm>
            <a:off x="7543800" y="7373225"/>
            <a:ext cx="539100" cy="5391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94" name="Google Shape;494;p28" title="Q16 Part 4.MP3">
            <a:hlinkClick r:id="rId4"/>
          </p:cNvPr>
          <p:cNvPicPr preferRelativeResize="0"/>
          <p:nvPr/>
        </p:nvPicPr>
        <p:blipFill>
          <a:blip r:embed="rId5">
            <a:alphaModFix/>
          </a:blip>
          <a:stretch>
            <a:fillRect/>
          </a:stretch>
        </p:blipFill>
        <p:spPr>
          <a:xfrm>
            <a:off x="15201900" y="4316266"/>
            <a:ext cx="923400" cy="92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10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cxnSp>
        <p:nvCxnSpPr>
          <p:cNvPr id="500" name="Google Shape;500;p29"/>
          <p:cNvCxnSpPr/>
          <p:nvPr/>
        </p:nvCxnSpPr>
        <p:spPr>
          <a:xfrm flipH="1" rot="10800000">
            <a:off x="7543801" y="1816500"/>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01" name="Google Shape;501;p29"/>
          <p:cNvGrpSpPr/>
          <p:nvPr/>
        </p:nvGrpSpPr>
        <p:grpSpPr>
          <a:xfrm rot="10800000">
            <a:off x="15785084" y="-536938"/>
            <a:ext cx="7681773" cy="4260605"/>
            <a:chOff x="0" y="-38100"/>
            <a:chExt cx="406400" cy="225405"/>
          </a:xfrm>
        </p:grpSpPr>
        <p:sp>
          <p:nvSpPr>
            <p:cNvPr id="502" name="Google Shape;502;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03" name="Google Shape;503;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4" name="Google Shape;504;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05" name="Google Shape;505;p29"/>
          <p:cNvGrpSpPr/>
          <p:nvPr/>
        </p:nvGrpSpPr>
        <p:grpSpPr>
          <a:xfrm>
            <a:off x="-2718010" y="9274530"/>
            <a:ext cx="7950378" cy="1707223"/>
            <a:chOff x="0" y="-384760"/>
            <a:chExt cx="10600504" cy="2276297"/>
          </a:xfrm>
        </p:grpSpPr>
        <p:grpSp>
          <p:nvGrpSpPr>
            <p:cNvPr id="506" name="Google Shape;506;p29"/>
            <p:cNvGrpSpPr/>
            <p:nvPr/>
          </p:nvGrpSpPr>
          <p:grpSpPr>
            <a:xfrm>
              <a:off x="0" y="-384760"/>
              <a:ext cx="10600504" cy="2276297"/>
              <a:chOff x="0" y="-38100"/>
              <a:chExt cx="1049690" cy="225405"/>
            </a:xfrm>
          </p:grpSpPr>
          <p:sp>
            <p:nvSpPr>
              <p:cNvPr id="507" name="Google Shape;507;p2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08" name="Google Shape;508;p2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9" name="Google Shape;509;p2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0" name="Google Shape;510;p29"/>
          <p:cNvSpPr txBox="1"/>
          <p:nvPr/>
        </p:nvSpPr>
        <p:spPr>
          <a:xfrm>
            <a:off x="6592847" y="660250"/>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11" name="Google Shape;511;p29"/>
          <p:cNvSpPr txBox="1"/>
          <p:nvPr/>
        </p:nvSpPr>
        <p:spPr>
          <a:xfrm>
            <a:off x="7198500" y="2306100"/>
            <a:ext cx="11089500" cy="6249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chemeClr val="dk1"/>
              </a:buClr>
              <a:buSzPts val="1100"/>
              <a:buFont typeface="Arial"/>
              <a:buNone/>
            </a:pPr>
            <a:r>
              <a:rPr b="1" lang="en-US" sz="2500">
                <a:solidFill>
                  <a:srgbClr val="018345"/>
                </a:solidFill>
                <a:latin typeface="Roboto"/>
                <a:ea typeface="Roboto"/>
                <a:cs typeface="Roboto"/>
                <a:sym typeface="Roboto"/>
              </a:rPr>
              <a:t>17. Listen to a caterer talking on the radio about catering for large events and answer the questions below.</a:t>
            </a:r>
            <a:endParaRPr b="1" sz="2500">
              <a:solidFill>
                <a:srgbClr val="018345"/>
              </a:solidFill>
              <a:latin typeface="Roboto"/>
              <a:ea typeface="Roboto"/>
              <a:cs typeface="Roboto"/>
              <a:sym typeface="Roboto"/>
            </a:endParaRPr>
          </a:p>
          <a:p>
            <a:pPr indent="-387350" lvl="0" marL="85725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does the man think is the most important thing at large events?</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1. Excellent service.</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A wide range of food.</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The quality of the venue.</a:t>
            </a:r>
            <a:endParaRPr sz="2500">
              <a:solidFill>
                <a:schemeClr val="dk1"/>
              </a:solidFill>
              <a:latin typeface="Roboto"/>
              <a:ea typeface="Roboto"/>
              <a:cs typeface="Roboto"/>
              <a:sym typeface="Roboto"/>
            </a:endParaRPr>
          </a:p>
          <a:p>
            <a:pPr indent="-387350" lvl="0" marL="914400" rtl="0" algn="l">
              <a:lnSpc>
                <a:spcPct val="150000"/>
              </a:lnSpc>
              <a:spcBef>
                <a:spcPts val="0"/>
              </a:spcBef>
              <a:spcAft>
                <a:spcPts val="0"/>
              </a:spcAft>
              <a:buClr>
                <a:srgbClr val="018345"/>
              </a:buClr>
              <a:buSzPts val="2500"/>
              <a:buFont typeface="Roboto"/>
              <a:buAutoNum type="alphaLcPeriod"/>
            </a:pPr>
            <a:r>
              <a:rPr lang="en-US" sz="2500">
                <a:solidFill>
                  <a:srgbClr val="018345"/>
                </a:solidFill>
                <a:latin typeface="Roboto"/>
                <a:ea typeface="Roboto"/>
                <a:cs typeface="Roboto"/>
                <a:sym typeface="Roboto"/>
              </a:rPr>
              <a:t>What is the man’s opinion about catering in general?</a:t>
            </a:r>
            <a:endParaRPr sz="2500">
              <a:solidFill>
                <a:srgbClr val="018345"/>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chemeClr val="dk1"/>
                </a:solidFill>
                <a:latin typeface="Roboto"/>
                <a:ea typeface="Roboto"/>
                <a:cs typeface="Roboto"/>
                <a:sym typeface="Roboto"/>
              </a:rPr>
              <a:t>1. The best firms always specialize.</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2. It is hard to find a reliable caterer.</a:t>
            </a:r>
            <a:endParaRPr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lang="en-US" sz="2500">
                <a:solidFill>
                  <a:schemeClr val="dk1"/>
                </a:solidFill>
                <a:latin typeface="Roboto"/>
                <a:ea typeface="Roboto"/>
                <a:cs typeface="Roboto"/>
                <a:sym typeface="Roboto"/>
              </a:rPr>
              <a:t>3. Appropriate scheduling is the key to good catering.</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b="1" sz="2500">
              <a:solidFill>
                <a:srgbClr val="018345"/>
              </a:solidFill>
              <a:latin typeface="Roboto"/>
              <a:ea typeface="Roboto"/>
              <a:cs typeface="Roboto"/>
              <a:sym typeface="Roboto"/>
            </a:endParaRPr>
          </a:p>
        </p:txBody>
      </p:sp>
      <p:cxnSp>
        <p:nvCxnSpPr>
          <p:cNvPr id="512" name="Google Shape;512;p29"/>
          <p:cNvCxnSpPr/>
          <p:nvPr/>
        </p:nvCxnSpPr>
        <p:spPr>
          <a:xfrm flipH="1" rot="10800000">
            <a:off x="8114600" y="4468200"/>
            <a:ext cx="2307600" cy="9300"/>
          </a:xfrm>
          <a:prstGeom prst="straightConnector1">
            <a:avLst/>
          </a:prstGeom>
          <a:noFill/>
          <a:ln cap="flat" cmpd="sng" w="38100">
            <a:solidFill>
              <a:srgbClr val="980000"/>
            </a:solidFill>
            <a:prstDash val="solid"/>
            <a:round/>
            <a:headEnd len="med" w="med" type="none"/>
            <a:tailEnd len="med" w="med" type="none"/>
          </a:ln>
        </p:spPr>
      </p:cxnSp>
      <p:cxnSp>
        <p:nvCxnSpPr>
          <p:cNvPr id="513" name="Google Shape;513;p29"/>
          <p:cNvCxnSpPr/>
          <p:nvPr/>
        </p:nvCxnSpPr>
        <p:spPr>
          <a:xfrm flipH="1" rot="10800000">
            <a:off x="8435150" y="5039550"/>
            <a:ext cx="2627700" cy="6000"/>
          </a:xfrm>
          <a:prstGeom prst="straightConnector1">
            <a:avLst/>
          </a:prstGeom>
          <a:noFill/>
          <a:ln cap="flat" cmpd="sng" w="38100">
            <a:solidFill>
              <a:srgbClr val="980000"/>
            </a:solidFill>
            <a:prstDash val="solid"/>
            <a:round/>
            <a:headEnd len="med" w="med" type="none"/>
            <a:tailEnd len="med" w="med" type="none"/>
          </a:ln>
        </p:spPr>
      </p:cxnSp>
      <p:cxnSp>
        <p:nvCxnSpPr>
          <p:cNvPr id="514" name="Google Shape;514;p29"/>
          <p:cNvCxnSpPr/>
          <p:nvPr/>
        </p:nvCxnSpPr>
        <p:spPr>
          <a:xfrm flipH="1" rot="10800000">
            <a:off x="8755700" y="5611200"/>
            <a:ext cx="2705400" cy="7800"/>
          </a:xfrm>
          <a:prstGeom prst="straightConnector1">
            <a:avLst/>
          </a:prstGeom>
          <a:noFill/>
          <a:ln cap="flat" cmpd="sng" w="38100">
            <a:solidFill>
              <a:srgbClr val="980000"/>
            </a:solidFill>
            <a:prstDash val="solid"/>
            <a:round/>
            <a:headEnd len="med" w="med" type="none"/>
            <a:tailEnd len="med" w="med" type="none"/>
          </a:ln>
        </p:spPr>
      </p:cxnSp>
      <p:cxnSp>
        <p:nvCxnSpPr>
          <p:cNvPr id="515" name="Google Shape;515;p29"/>
          <p:cNvCxnSpPr/>
          <p:nvPr/>
        </p:nvCxnSpPr>
        <p:spPr>
          <a:xfrm>
            <a:off x="12693525" y="3912950"/>
            <a:ext cx="2785500" cy="900"/>
          </a:xfrm>
          <a:prstGeom prst="straightConnector1">
            <a:avLst/>
          </a:prstGeom>
          <a:noFill/>
          <a:ln cap="flat" cmpd="sng" w="38100">
            <a:solidFill>
              <a:srgbClr val="980000"/>
            </a:solidFill>
            <a:prstDash val="solid"/>
            <a:round/>
            <a:headEnd len="med" w="med" type="none"/>
            <a:tailEnd len="med" w="med" type="none"/>
          </a:ln>
        </p:spPr>
      </p:cxnSp>
      <p:cxnSp>
        <p:nvCxnSpPr>
          <p:cNvPr id="516" name="Google Shape;516;p29"/>
          <p:cNvCxnSpPr/>
          <p:nvPr/>
        </p:nvCxnSpPr>
        <p:spPr>
          <a:xfrm flipH="1" rot="10800000">
            <a:off x="16049775" y="3907700"/>
            <a:ext cx="1666500" cy="11400"/>
          </a:xfrm>
          <a:prstGeom prst="straightConnector1">
            <a:avLst/>
          </a:prstGeom>
          <a:noFill/>
          <a:ln cap="flat" cmpd="sng" w="38100">
            <a:solidFill>
              <a:srgbClr val="980000"/>
            </a:solidFill>
            <a:prstDash val="solid"/>
            <a:round/>
            <a:headEnd len="med" w="med" type="none"/>
            <a:tailEnd len="med" w="med" type="none"/>
          </a:ln>
        </p:spPr>
      </p:cxnSp>
      <p:cxnSp>
        <p:nvCxnSpPr>
          <p:cNvPr id="517" name="Google Shape;517;p29"/>
          <p:cNvCxnSpPr/>
          <p:nvPr/>
        </p:nvCxnSpPr>
        <p:spPr>
          <a:xfrm flipH="1" rot="10800000">
            <a:off x="12815550" y="6210175"/>
            <a:ext cx="2507400" cy="10500"/>
          </a:xfrm>
          <a:prstGeom prst="straightConnector1">
            <a:avLst/>
          </a:prstGeom>
          <a:noFill/>
          <a:ln cap="flat" cmpd="sng" w="38100">
            <a:solidFill>
              <a:srgbClr val="980000"/>
            </a:solidFill>
            <a:prstDash val="solid"/>
            <a:round/>
            <a:headEnd len="med" w="med" type="none"/>
            <a:tailEnd len="med" w="med" type="none"/>
          </a:ln>
        </p:spPr>
      </p:cxnSp>
      <p:cxnSp>
        <p:nvCxnSpPr>
          <p:cNvPr id="518" name="Google Shape;518;p29"/>
          <p:cNvCxnSpPr/>
          <p:nvPr/>
        </p:nvCxnSpPr>
        <p:spPr>
          <a:xfrm flipH="1" rot="10800000">
            <a:off x="8672725" y="6757500"/>
            <a:ext cx="1463400" cy="5700"/>
          </a:xfrm>
          <a:prstGeom prst="straightConnector1">
            <a:avLst/>
          </a:prstGeom>
          <a:noFill/>
          <a:ln cap="flat" cmpd="sng" w="38100">
            <a:solidFill>
              <a:srgbClr val="980000"/>
            </a:solidFill>
            <a:prstDash val="solid"/>
            <a:round/>
            <a:headEnd len="med" w="med" type="none"/>
            <a:tailEnd len="med" w="med" type="none"/>
          </a:ln>
        </p:spPr>
      </p:cxnSp>
      <p:cxnSp>
        <p:nvCxnSpPr>
          <p:cNvPr id="519" name="Google Shape;519;p29"/>
          <p:cNvCxnSpPr/>
          <p:nvPr/>
        </p:nvCxnSpPr>
        <p:spPr>
          <a:xfrm flipH="1" rot="10800000">
            <a:off x="11230125" y="6757500"/>
            <a:ext cx="1463400" cy="5700"/>
          </a:xfrm>
          <a:prstGeom prst="straightConnector1">
            <a:avLst/>
          </a:prstGeom>
          <a:noFill/>
          <a:ln cap="flat" cmpd="sng" w="38100">
            <a:solidFill>
              <a:srgbClr val="980000"/>
            </a:solidFill>
            <a:prstDash val="solid"/>
            <a:round/>
            <a:headEnd len="med" w="med" type="none"/>
            <a:tailEnd len="med" w="med" type="none"/>
          </a:ln>
        </p:spPr>
      </p:cxnSp>
      <p:cxnSp>
        <p:nvCxnSpPr>
          <p:cNvPr id="520" name="Google Shape;520;p29"/>
          <p:cNvCxnSpPr/>
          <p:nvPr/>
        </p:nvCxnSpPr>
        <p:spPr>
          <a:xfrm flipH="1" rot="10800000">
            <a:off x="8672725" y="7362050"/>
            <a:ext cx="1463400" cy="5700"/>
          </a:xfrm>
          <a:prstGeom prst="straightConnector1">
            <a:avLst/>
          </a:prstGeom>
          <a:noFill/>
          <a:ln cap="flat" cmpd="sng" w="38100">
            <a:solidFill>
              <a:srgbClr val="980000"/>
            </a:solidFill>
            <a:prstDash val="solid"/>
            <a:round/>
            <a:headEnd len="med" w="med" type="none"/>
            <a:tailEnd len="med" w="med" type="none"/>
          </a:ln>
        </p:spPr>
      </p:cxnSp>
      <p:cxnSp>
        <p:nvCxnSpPr>
          <p:cNvPr id="521" name="Google Shape;521;p29"/>
          <p:cNvCxnSpPr/>
          <p:nvPr/>
        </p:nvCxnSpPr>
        <p:spPr>
          <a:xfrm>
            <a:off x="10675475" y="7367750"/>
            <a:ext cx="2012700" cy="600"/>
          </a:xfrm>
          <a:prstGeom prst="straightConnector1">
            <a:avLst/>
          </a:prstGeom>
          <a:noFill/>
          <a:ln cap="flat" cmpd="sng" w="38100">
            <a:solidFill>
              <a:srgbClr val="980000"/>
            </a:solidFill>
            <a:prstDash val="solid"/>
            <a:round/>
            <a:headEnd len="med" w="med" type="none"/>
            <a:tailEnd len="med" w="med" type="none"/>
          </a:ln>
        </p:spPr>
      </p:cxnSp>
      <p:cxnSp>
        <p:nvCxnSpPr>
          <p:cNvPr id="522" name="Google Shape;522;p29"/>
          <p:cNvCxnSpPr/>
          <p:nvPr/>
        </p:nvCxnSpPr>
        <p:spPr>
          <a:xfrm>
            <a:off x="8114600" y="7972300"/>
            <a:ext cx="3153600" cy="7200"/>
          </a:xfrm>
          <a:prstGeom prst="straightConnector1">
            <a:avLst/>
          </a:prstGeom>
          <a:noFill/>
          <a:ln cap="flat" cmpd="sng" w="38100">
            <a:solidFill>
              <a:srgbClr val="980000"/>
            </a:solidFill>
            <a:prstDash val="solid"/>
            <a:round/>
            <a:headEnd len="med" w="med" type="none"/>
            <a:tailEnd len="med" w="med" type="none"/>
          </a:ln>
        </p:spPr>
      </p:cxnSp>
      <p:cxnSp>
        <p:nvCxnSpPr>
          <p:cNvPr id="523" name="Google Shape;523;p29"/>
          <p:cNvCxnSpPr/>
          <p:nvPr/>
        </p:nvCxnSpPr>
        <p:spPr>
          <a:xfrm>
            <a:off x="13187750" y="7975600"/>
            <a:ext cx="2012700" cy="600"/>
          </a:xfrm>
          <a:prstGeom prst="straightConnector1">
            <a:avLst/>
          </a:prstGeom>
          <a:noFill/>
          <a:ln cap="flat" cmpd="sng" w="38100">
            <a:solidFill>
              <a:srgbClr val="980000"/>
            </a:solidFill>
            <a:prstDash val="solid"/>
            <a:round/>
            <a:headEnd len="med" w="med" type="none"/>
            <a:tailEnd len="med" w="med" type="none"/>
          </a:ln>
        </p:spPr>
      </p:cxnSp>
      <p:cxnSp>
        <p:nvCxnSpPr>
          <p:cNvPr id="524" name="Google Shape;524;p29"/>
          <p:cNvCxnSpPr/>
          <p:nvPr/>
        </p:nvCxnSpPr>
        <p:spPr>
          <a:xfrm flipH="1" rot="10800000">
            <a:off x="10675475" y="6185550"/>
            <a:ext cx="1185900" cy="5400"/>
          </a:xfrm>
          <a:prstGeom prst="straightConnector1">
            <a:avLst/>
          </a:prstGeom>
          <a:noFill/>
          <a:ln cap="flat" cmpd="sng" w="38100">
            <a:solidFill>
              <a:srgbClr val="980000"/>
            </a:solidFill>
            <a:prstDash val="solid"/>
            <a:round/>
            <a:headEnd len="med" w="med" type="none"/>
            <a:tailEnd len="med" w="med" type="none"/>
          </a:ln>
        </p:spPr>
      </p:cxnSp>
      <p:sp>
        <p:nvSpPr>
          <p:cNvPr id="525" name="Google Shape;525;p29"/>
          <p:cNvSpPr/>
          <p:nvPr/>
        </p:nvSpPr>
        <p:spPr>
          <a:xfrm>
            <a:off x="7543800" y="4508425"/>
            <a:ext cx="539100" cy="5391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26" name="Google Shape;526;p29"/>
          <p:cNvSpPr/>
          <p:nvPr/>
        </p:nvSpPr>
        <p:spPr>
          <a:xfrm>
            <a:off x="7543800" y="6319700"/>
            <a:ext cx="539100" cy="5391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527" name="Google Shape;527;p29" title="Q17 Part 4.MP3">
            <a:hlinkClick r:id="rId4"/>
          </p:cNvPr>
          <p:cNvPicPr preferRelativeResize="0"/>
          <p:nvPr/>
        </p:nvPicPr>
        <p:blipFill>
          <a:blip r:embed="rId5">
            <a:alphaModFix/>
          </a:blip>
          <a:stretch>
            <a:fillRect/>
          </a:stretch>
        </p:blipFill>
        <p:spPr>
          <a:xfrm>
            <a:off x="15074900" y="4532889"/>
            <a:ext cx="923400" cy="92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cxnSp>
        <p:nvCxnSpPr>
          <p:cNvPr id="533" name="Google Shape;533;p30"/>
          <p:cNvCxnSpPr/>
          <p:nvPr/>
        </p:nvCxnSpPr>
        <p:spPr>
          <a:xfrm flipH="1" rot="10800000">
            <a:off x="4572001" y="122057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534" name="Google Shape;534;p30"/>
          <p:cNvGrpSpPr/>
          <p:nvPr/>
        </p:nvGrpSpPr>
        <p:grpSpPr>
          <a:xfrm rot="10800000">
            <a:off x="15785084" y="-536938"/>
            <a:ext cx="7681773" cy="4260605"/>
            <a:chOff x="0" y="-38100"/>
            <a:chExt cx="406400" cy="225405"/>
          </a:xfrm>
        </p:grpSpPr>
        <p:sp>
          <p:nvSpPr>
            <p:cNvPr id="535" name="Google Shape;535;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6" name="Google Shape;536;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7" name="Google Shape;537;p3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538" name="Google Shape;538;p30"/>
          <p:cNvGrpSpPr/>
          <p:nvPr/>
        </p:nvGrpSpPr>
        <p:grpSpPr>
          <a:xfrm>
            <a:off x="-2718010" y="9274530"/>
            <a:ext cx="7950378" cy="1707223"/>
            <a:chOff x="0" y="-384760"/>
            <a:chExt cx="10600504" cy="2276297"/>
          </a:xfrm>
        </p:grpSpPr>
        <p:grpSp>
          <p:nvGrpSpPr>
            <p:cNvPr id="539" name="Google Shape;539;p30"/>
            <p:cNvGrpSpPr/>
            <p:nvPr/>
          </p:nvGrpSpPr>
          <p:grpSpPr>
            <a:xfrm>
              <a:off x="0" y="-384760"/>
              <a:ext cx="10600504" cy="2276297"/>
              <a:chOff x="0" y="-38100"/>
              <a:chExt cx="1049690" cy="225405"/>
            </a:xfrm>
          </p:grpSpPr>
          <p:sp>
            <p:nvSpPr>
              <p:cNvPr id="540" name="Google Shape;540;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41" name="Google Shape;541;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2" name="Google Shape;542;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3" name="Google Shape;543;p30"/>
          <p:cNvSpPr txBox="1"/>
          <p:nvPr/>
        </p:nvSpPr>
        <p:spPr>
          <a:xfrm>
            <a:off x="3345397" y="2971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sp>
        <p:nvSpPr>
          <p:cNvPr id="544" name="Google Shape;544;p30"/>
          <p:cNvSpPr txBox="1"/>
          <p:nvPr/>
        </p:nvSpPr>
        <p:spPr>
          <a:xfrm>
            <a:off x="822600" y="1441650"/>
            <a:ext cx="16642800" cy="74037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16a</a:t>
            </a:r>
            <a:r>
              <a:rPr b="1" lang="en-US" sz="2500">
                <a:solidFill>
                  <a:schemeClr val="dk1"/>
                </a:solidFill>
                <a:latin typeface="Roboto"/>
                <a:ea typeface="Roboto"/>
                <a:cs typeface="Roboto"/>
                <a:sym typeface="Roboto"/>
              </a:rPr>
              <a:t>: </a:t>
            </a:r>
            <a:r>
              <a:rPr b="1" lang="en-US" sz="2500">
                <a:solidFill>
                  <a:schemeClr val="dk1"/>
                </a:solidFill>
                <a:latin typeface="Roboto"/>
                <a:ea typeface="Roboto"/>
                <a:cs typeface="Roboto"/>
                <a:sym typeface="Roboto"/>
              </a:rPr>
              <a:t>2. It was not varied enough.</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b="1" lang="en-US" sz="2500">
                <a:solidFill>
                  <a:schemeClr val="dk1"/>
                </a:solidFill>
                <a:latin typeface="Roboto"/>
                <a:ea typeface="Roboto"/>
                <a:cs typeface="Roboto"/>
                <a:sym typeface="Roboto"/>
              </a:rPr>
              <a:t>“</a:t>
            </a:r>
            <a:r>
              <a:rPr lang="en-US" sz="2500">
                <a:solidFill>
                  <a:schemeClr val="dk1"/>
                </a:solidFill>
                <a:latin typeface="Roboto"/>
                <a:ea typeface="Roboto"/>
                <a:cs typeface="Roboto"/>
                <a:sym typeface="Roboto"/>
              </a:rPr>
              <a:t>But I do recommend this type of holiday for sociable people only. You simply can't get away from the fact that </a:t>
            </a:r>
            <a:r>
              <a:rPr b="1" lang="en-US" sz="2500">
                <a:solidFill>
                  <a:srgbClr val="FF0000"/>
                </a:solidFill>
                <a:latin typeface="Roboto"/>
                <a:ea typeface="Roboto"/>
                <a:cs typeface="Roboto"/>
                <a:sym typeface="Roboto"/>
              </a:rPr>
              <a:t>you are stuck on board with the same people day in, day out.</a:t>
            </a:r>
            <a:r>
              <a:rPr lang="en-US" sz="2500">
                <a:solidFill>
                  <a:srgbClr val="0A0A0A"/>
                </a:solidFill>
                <a:latin typeface="Roboto"/>
                <a:ea typeface="Roboto"/>
                <a:cs typeface="Roboto"/>
                <a:sym typeface="Roboto"/>
              </a:rPr>
              <a:t>”</a:t>
            </a:r>
            <a:endParaRPr sz="25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16b</a:t>
            </a:r>
            <a:r>
              <a:rPr b="1" lang="en-US" sz="2500">
                <a:solidFill>
                  <a:schemeClr val="dk1"/>
                </a:solidFill>
                <a:latin typeface="Roboto"/>
                <a:ea typeface="Roboto"/>
                <a:cs typeface="Roboto"/>
                <a:sym typeface="Roboto"/>
              </a:rPr>
              <a:t>: </a:t>
            </a:r>
            <a:r>
              <a:rPr b="1" lang="en-US" sz="2500">
                <a:solidFill>
                  <a:schemeClr val="dk1"/>
                </a:solidFill>
                <a:latin typeface="Roboto"/>
                <a:ea typeface="Roboto"/>
                <a:cs typeface="Roboto"/>
                <a:sym typeface="Roboto"/>
              </a:rPr>
              <a:t>3. They are probably not worth the money</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Clr>
                <a:schemeClr val="dk1"/>
              </a:buClr>
              <a:buSzPts val="1100"/>
              <a:buFont typeface="Arial"/>
              <a:buNone/>
            </a:pPr>
            <a:r>
              <a:rPr b="1" lang="en-US" sz="2500">
                <a:solidFill>
                  <a:schemeClr val="dk1"/>
                </a:solidFill>
                <a:latin typeface="Roboto"/>
                <a:ea typeface="Roboto"/>
                <a:cs typeface="Roboto"/>
                <a:sym typeface="Roboto"/>
              </a:rPr>
              <a:t>“</a:t>
            </a:r>
            <a:r>
              <a:rPr lang="en-US" sz="2500">
                <a:solidFill>
                  <a:schemeClr val="dk1"/>
                </a:solidFill>
                <a:latin typeface="Roboto"/>
                <a:ea typeface="Roboto"/>
                <a:cs typeface="Roboto"/>
                <a:sym typeface="Roboto"/>
              </a:rPr>
              <a:t>But one rather gets the impression they rely too much on that bygone image. The actual product nowadays is getting </a:t>
            </a:r>
            <a:r>
              <a:rPr b="1" lang="en-US" sz="2500">
                <a:solidFill>
                  <a:srgbClr val="FF0000"/>
                </a:solidFill>
                <a:latin typeface="Roboto"/>
                <a:ea typeface="Roboto"/>
                <a:cs typeface="Roboto"/>
                <a:sym typeface="Roboto"/>
              </a:rPr>
              <a:t>further and further away from that ideal</a:t>
            </a:r>
            <a:r>
              <a:rPr lang="en-US" sz="2500">
                <a:solidFill>
                  <a:srgbClr val="FF0000"/>
                </a:solidFill>
                <a:latin typeface="Roboto"/>
                <a:ea typeface="Roboto"/>
                <a:cs typeface="Roboto"/>
                <a:sym typeface="Roboto"/>
              </a:rPr>
              <a:t>,</a:t>
            </a:r>
            <a:r>
              <a:rPr lang="en-US" sz="2500">
                <a:solidFill>
                  <a:schemeClr val="dk1"/>
                </a:solidFill>
                <a:latin typeface="Roboto"/>
                <a:ea typeface="Roboto"/>
                <a:cs typeface="Roboto"/>
                <a:sym typeface="Roboto"/>
              </a:rPr>
              <a:t> and cruise companies will find it </a:t>
            </a:r>
            <a:r>
              <a:rPr b="1" lang="en-US" sz="2500">
                <a:solidFill>
                  <a:srgbClr val="FF0000"/>
                </a:solidFill>
                <a:latin typeface="Roboto"/>
                <a:ea typeface="Roboto"/>
                <a:cs typeface="Roboto"/>
                <a:sym typeface="Roboto"/>
              </a:rPr>
              <a:t>harder to justify those prices</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17a</a:t>
            </a:r>
            <a:r>
              <a:rPr b="1" lang="en-US" sz="2500">
                <a:solidFill>
                  <a:schemeClr val="dk1"/>
                </a:solidFill>
                <a:latin typeface="Roboto"/>
                <a:ea typeface="Roboto"/>
                <a:cs typeface="Roboto"/>
                <a:sym typeface="Roboto"/>
              </a:rPr>
              <a:t>: </a:t>
            </a:r>
            <a:r>
              <a:rPr b="1" lang="en-US" sz="2500">
                <a:solidFill>
                  <a:schemeClr val="dk1"/>
                </a:solidFill>
                <a:latin typeface="Roboto"/>
                <a:ea typeface="Roboto"/>
                <a:cs typeface="Roboto"/>
                <a:sym typeface="Roboto"/>
              </a:rPr>
              <a:t>2. A wide range of food.</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lang="en-US" sz="2500">
                <a:solidFill>
                  <a:srgbClr val="0A0A0A"/>
                </a:solidFill>
                <a:latin typeface="Roboto"/>
                <a:ea typeface="Roboto"/>
                <a:cs typeface="Roboto"/>
                <a:sym typeface="Roboto"/>
              </a:rPr>
              <a:t>“For example, there are so many potential dietary requirements and tastes. The planners maybe should have seen the warning signs when the company was claiming to be able to provide for any type of event.”</a:t>
            </a:r>
            <a:endParaRPr sz="2500">
              <a:solidFill>
                <a:srgbClr val="0A0A0A"/>
              </a:solidFill>
              <a:latin typeface="Roboto"/>
              <a:ea typeface="Roboto"/>
              <a:cs typeface="Roboto"/>
              <a:sym typeface="Roboto"/>
            </a:endParaRPr>
          </a:p>
          <a:p>
            <a:pPr indent="0" lvl="0" marL="0" rtl="0" algn="l">
              <a:lnSpc>
                <a:spcPct val="150000"/>
              </a:lnSpc>
              <a:spcBef>
                <a:spcPts val="0"/>
              </a:spcBef>
              <a:spcAft>
                <a:spcPts val="0"/>
              </a:spcAft>
              <a:buNone/>
            </a:pPr>
            <a:r>
              <a:rPr b="1" lang="en-US" sz="2500">
                <a:solidFill>
                  <a:schemeClr val="dk1"/>
                </a:solidFill>
                <a:latin typeface="Roboto"/>
                <a:ea typeface="Roboto"/>
                <a:cs typeface="Roboto"/>
                <a:sym typeface="Roboto"/>
              </a:rPr>
              <a:t>Question 17b</a:t>
            </a:r>
            <a:r>
              <a:rPr b="1" lang="en-US" sz="2500">
                <a:solidFill>
                  <a:schemeClr val="dk1"/>
                </a:solidFill>
                <a:latin typeface="Roboto"/>
                <a:ea typeface="Roboto"/>
                <a:cs typeface="Roboto"/>
                <a:sym typeface="Roboto"/>
              </a:rPr>
              <a:t>: 1</a:t>
            </a:r>
            <a:r>
              <a:rPr b="1" lang="en-US" sz="2500">
                <a:solidFill>
                  <a:schemeClr val="dk1"/>
                </a:solidFill>
                <a:latin typeface="Roboto"/>
                <a:ea typeface="Roboto"/>
                <a:cs typeface="Roboto"/>
                <a:sym typeface="Roboto"/>
              </a:rPr>
              <a:t>. The best firms always specialize.</a:t>
            </a:r>
            <a:endParaRPr b="1" sz="25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rPr b="1" lang="en-US" sz="2500">
                <a:solidFill>
                  <a:srgbClr val="0A0A0A"/>
                </a:solidFill>
                <a:latin typeface="Roboto"/>
                <a:ea typeface="Roboto"/>
                <a:cs typeface="Roboto"/>
                <a:sym typeface="Roboto"/>
              </a:rPr>
              <a:t>“</a:t>
            </a:r>
            <a:r>
              <a:rPr lang="en-US" sz="2500">
                <a:solidFill>
                  <a:srgbClr val="0A0A0A"/>
                </a:solidFill>
                <a:latin typeface="Roboto"/>
                <a:ea typeface="Roboto"/>
                <a:cs typeface="Roboto"/>
                <a:sym typeface="Roboto"/>
              </a:rPr>
              <a:t>Some businesses are more suited to intimate events that </a:t>
            </a:r>
            <a:r>
              <a:rPr b="1" lang="en-US" sz="2500">
                <a:solidFill>
                  <a:srgbClr val="FF0000"/>
                </a:solidFill>
                <a:latin typeface="Roboto"/>
                <a:ea typeface="Roboto"/>
                <a:cs typeface="Roboto"/>
                <a:sym typeface="Roboto"/>
              </a:rPr>
              <a:t>require specific food types. </a:t>
            </a:r>
            <a:r>
              <a:rPr lang="en-US" sz="2500">
                <a:solidFill>
                  <a:srgbClr val="0A0A0A"/>
                </a:solidFill>
                <a:latin typeface="Roboto"/>
                <a:ea typeface="Roboto"/>
                <a:cs typeface="Roboto"/>
                <a:sym typeface="Roboto"/>
              </a:rPr>
              <a:t>Others have the equipment necessary to supply on a larger scale. Those claiming to do both should be treated with caution.</a:t>
            </a:r>
            <a:r>
              <a:rPr b="1" lang="en-US" sz="2500">
                <a:solidFill>
                  <a:srgbClr val="0A0A0A"/>
                </a:solidFill>
                <a:latin typeface="Roboto"/>
                <a:ea typeface="Roboto"/>
                <a:cs typeface="Roboto"/>
                <a:sym typeface="Roboto"/>
              </a:rPr>
              <a:t>”</a:t>
            </a:r>
            <a:endParaRPr b="1" sz="2500">
              <a:solidFill>
                <a:srgbClr val="0A0A0A"/>
              </a:solidFill>
              <a:latin typeface="Roboto"/>
              <a:ea typeface="Roboto"/>
              <a:cs typeface="Roboto"/>
              <a:sym typeface="Roboto"/>
            </a:endParaRPr>
          </a:p>
          <a:p>
            <a:pPr indent="0" lvl="0" marL="457200" rtl="0" algn="l">
              <a:lnSpc>
                <a:spcPct val="150000"/>
              </a:lnSpc>
              <a:spcBef>
                <a:spcPts val="0"/>
              </a:spcBef>
              <a:spcAft>
                <a:spcPts val="0"/>
              </a:spcAft>
              <a:buNone/>
            </a:pPr>
            <a:r>
              <a:t/>
            </a:r>
            <a:endParaRPr sz="2500">
              <a:solidFill>
                <a:srgbClr val="0A0A0A"/>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cxnSp>
        <p:nvCxnSpPr>
          <p:cNvPr id="550" name="Google Shape;550;p31"/>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51" name="Google Shape;551;p31"/>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52" name="Google Shape;552;p31"/>
          <p:cNvGrpSpPr/>
          <p:nvPr/>
        </p:nvGrpSpPr>
        <p:grpSpPr>
          <a:xfrm rot="10800000">
            <a:off x="15785084" y="-536938"/>
            <a:ext cx="7681773" cy="4260605"/>
            <a:chOff x="0" y="-38100"/>
            <a:chExt cx="406400" cy="225405"/>
          </a:xfrm>
        </p:grpSpPr>
        <p:sp>
          <p:nvSpPr>
            <p:cNvPr id="553" name="Google Shape;553;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54" name="Google Shape;554;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5" name="Google Shape;555;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56" name="Google Shape;556;p31"/>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557" name="Google Shape;557;p31"/>
          <p:cNvGrpSpPr/>
          <p:nvPr/>
        </p:nvGrpSpPr>
        <p:grpSpPr>
          <a:xfrm>
            <a:off x="-2718010" y="9274530"/>
            <a:ext cx="7950378" cy="1707223"/>
            <a:chOff x="0" y="-384760"/>
            <a:chExt cx="10600504" cy="2276297"/>
          </a:xfrm>
        </p:grpSpPr>
        <p:grpSp>
          <p:nvGrpSpPr>
            <p:cNvPr id="558" name="Google Shape;558;p31"/>
            <p:cNvGrpSpPr/>
            <p:nvPr/>
          </p:nvGrpSpPr>
          <p:grpSpPr>
            <a:xfrm>
              <a:off x="0" y="-384760"/>
              <a:ext cx="10600504" cy="2276297"/>
              <a:chOff x="0" y="-38100"/>
              <a:chExt cx="1049690" cy="225405"/>
            </a:xfrm>
          </p:grpSpPr>
          <p:sp>
            <p:nvSpPr>
              <p:cNvPr id="559" name="Google Shape;559;p3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60" name="Google Shape;560;p3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1" name="Google Shape;561;p3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2" name="Google Shape;562;p31"/>
          <p:cNvSpPr txBox="1"/>
          <p:nvPr/>
        </p:nvSpPr>
        <p:spPr>
          <a:xfrm>
            <a:off x="6170413" y="2155723"/>
            <a:ext cx="10990800" cy="68649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Sociable</a:t>
            </a:r>
            <a:r>
              <a:rPr lang="en-US" sz="4400">
                <a:solidFill>
                  <a:srgbClr val="018345"/>
                </a:solidFill>
                <a:latin typeface="Calibri"/>
                <a:ea typeface="Calibri"/>
                <a:cs typeface="Calibri"/>
                <a:sym typeface="Calibri"/>
              </a:rPr>
              <a:t>:  </a:t>
            </a:r>
            <a:r>
              <a:rPr lang="en-US" sz="4400">
                <a:latin typeface="Calibri"/>
                <a:ea typeface="Calibri"/>
                <a:cs typeface="Calibri"/>
                <a:sym typeface="Calibri"/>
              </a:rPr>
              <a:t>Hòa Đồng</a:t>
            </a:r>
            <a:endParaRPr sz="4400">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Stuck: </a:t>
            </a:r>
            <a:r>
              <a:rPr lang="en-US" sz="4400">
                <a:solidFill>
                  <a:schemeClr val="dk1"/>
                </a:solidFill>
                <a:latin typeface="Calibri"/>
                <a:ea typeface="Calibri"/>
                <a:cs typeface="Calibri"/>
                <a:sym typeface="Calibri"/>
              </a:rPr>
              <a:t>Mắc kẹt</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Worth: </a:t>
            </a:r>
            <a:r>
              <a:rPr lang="en-US" sz="4400">
                <a:solidFill>
                  <a:schemeClr val="dk1"/>
                </a:solidFill>
                <a:latin typeface="Calibri"/>
                <a:ea typeface="Calibri"/>
                <a:cs typeface="Calibri"/>
                <a:sym typeface="Calibri"/>
              </a:rPr>
              <a:t>Đáng giá</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Impression: </a:t>
            </a:r>
            <a:r>
              <a:rPr lang="en-US" sz="4400">
                <a:solidFill>
                  <a:schemeClr val="dk1"/>
                </a:solidFill>
                <a:latin typeface="Calibri"/>
                <a:ea typeface="Calibri"/>
                <a:cs typeface="Calibri"/>
                <a:sym typeface="Calibri"/>
              </a:rPr>
              <a:t>Ấn tượng</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Actual: </a:t>
            </a:r>
            <a:r>
              <a:rPr lang="en-US" sz="4400">
                <a:solidFill>
                  <a:schemeClr val="dk1"/>
                </a:solidFill>
                <a:latin typeface="Calibri"/>
                <a:ea typeface="Calibri"/>
                <a:cs typeface="Calibri"/>
                <a:sym typeface="Calibri"/>
              </a:rPr>
              <a:t>Thực tiễn</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 Ideal: </a:t>
            </a:r>
            <a:r>
              <a:rPr lang="en-US" sz="4400">
                <a:solidFill>
                  <a:schemeClr val="dk1"/>
                </a:solidFill>
                <a:latin typeface="Calibri"/>
                <a:ea typeface="Calibri"/>
                <a:cs typeface="Calibri"/>
                <a:sym typeface="Calibri"/>
              </a:rPr>
              <a:t>Lý tưởng</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146"/>
              </a:buClr>
              <a:buSzPts val="4400"/>
              <a:buChar char="•"/>
            </a:pPr>
            <a:r>
              <a:rPr lang="en-US" sz="4400">
                <a:solidFill>
                  <a:srgbClr val="018146"/>
                </a:solidFill>
                <a:latin typeface="Calibri"/>
                <a:ea typeface="Calibri"/>
                <a:cs typeface="Calibri"/>
                <a:sym typeface="Calibri"/>
              </a:rPr>
              <a:t>Justify: </a:t>
            </a:r>
            <a:r>
              <a:rPr lang="en-US" sz="4400">
                <a:latin typeface="Calibri"/>
                <a:ea typeface="Calibri"/>
                <a:cs typeface="Calibri"/>
                <a:sym typeface="Calibri"/>
              </a:rPr>
              <a:t>Biện minh</a:t>
            </a:r>
            <a:endParaRPr sz="44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cxnSp>
        <p:nvCxnSpPr>
          <p:cNvPr id="568" name="Google Shape;568;p32"/>
          <p:cNvCxnSpPr/>
          <p:nvPr/>
        </p:nvCxnSpPr>
        <p:spPr>
          <a:xfrm flipH="1" rot="10800000">
            <a:off x="6209270" y="1619400"/>
            <a:ext cx="11243700" cy="18900"/>
          </a:xfrm>
          <a:prstGeom prst="straightConnector1">
            <a:avLst/>
          </a:prstGeom>
          <a:noFill/>
          <a:ln cap="flat" cmpd="sng" w="38100">
            <a:solidFill>
              <a:srgbClr val="018345"/>
            </a:solidFill>
            <a:prstDash val="solid"/>
            <a:round/>
            <a:headEnd len="sm" w="sm" type="none"/>
            <a:tailEnd len="sm" w="sm" type="none"/>
          </a:ln>
        </p:spPr>
      </p:cxnSp>
      <p:cxnSp>
        <p:nvCxnSpPr>
          <p:cNvPr id="569" name="Google Shape;569;p32"/>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70" name="Google Shape;570;p32"/>
          <p:cNvGrpSpPr/>
          <p:nvPr/>
        </p:nvGrpSpPr>
        <p:grpSpPr>
          <a:xfrm rot="10800000">
            <a:off x="15785084" y="-536938"/>
            <a:ext cx="7681773" cy="4260605"/>
            <a:chOff x="0" y="-38100"/>
            <a:chExt cx="406400" cy="225405"/>
          </a:xfrm>
        </p:grpSpPr>
        <p:sp>
          <p:nvSpPr>
            <p:cNvPr id="571" name="Google Shape;571;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72" name="Google Shape;572;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 name="Google Shape;573;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74" name="Google Shape;574;p32"/>
          <p:cNvSpPr txBox="1"/>
          <p:nvPr/>
        </p:nvSpPr>
        <p:spPr>
          <a:xfrm>
            <a:off x="5571910" y="401132"/>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Từ vựng và cấu trúc</a:t>
            </a:r>
            <a:endParaRPr b="1" sz="6000">
              <a:solidFill>
                <a:srgbClr val="018345"/>
              </a:solidFill>
              <a:latin typeface="Montserrat"/>
              <a:ea typeface="Montserrat"/>
              <a:cs typeface="Montserrat"/>
              <a:sym typeface="Montserrat"/>
            </a:endParaRPr>
          </a:p>
        </p:txBody>
      </p:sp>
      <p:grpSp>
        <p:nvGrpSpPr>
          <p:cNvPr id="575" name="Google Shape;575;p32"/>
          <p:cNvGrpSpPr/>
          <p:nvPr/>
        </p:nvGrpSpPr>
        <p:grpSpPr>
          <a:xfrm>
            <a:off x="-2718010" y="9274530"/>
            <a:ext cx="7950378" cy="1707223"/>
            <a:chOff x="0" y="-384760"/>
            <a:chExt cx="10600504" cy="2276297"/>
          </a:xfrm>
        </p:grpSpPr>
        <p:grpSp>
          <p:nvGrpSpPr>
            <p:cNvPr id="576" name="Google Shape;576;p32"/>
            <p:cNvGrpSpPr/>
            <p:nvPr/>
          </p:nvGrpSpPr>
          <p:grpSpPr>
            <a:xfrm>
              <a:off x="0" y="-384760"/>
              <a:ext cx="10600504" cy="2276297"/>
              <a:chOff x="0" y="-38100"/>
              <a:chExt cx="1049690" cy="225405"/>
            </a:xfrm>
          </p:grpSpPr>
          <p:sp>
            <p:nvSpPr>
              <p:cNvPr id="577" name="Google Shape;577;p3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78" name="Google Shape;578;p3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9" name="Google Shape;579;p3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0" name="Google Shape;580;p32"/>
          <p:cNvSpPr txBox="1"/>
          <p:nvPr/>
        </p:nvSpPr>
        <p:spPr>
          <a:xfrm>
            <a:off x="6671038" y="2132648"/>
            <a:ext cx="10990800" cy="78810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Potential</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Tiềm năng</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Dietary</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Khẩu phần ăn</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Requirement</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Yêu cầu</a:t>
            </a:r>
            <a:endParaRPr sz="44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Provide</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Cung cấp</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 Specialize</a:t>
            </a:r>
            <a:r>
              <a:rPr lang="en-US" sz="4400">
                <a:solidFill>
                  <a:srgbClr val="018345"/>
                </a:solidFill>
                <a:latin typeface="Calibri"/>
                <a:ea typeface="Calibri"/>
                <a:cs typeface="Calibri"/>
                <a:sym typeface="Calibri"/>
              </a:rPr>
              <a:t>: </a:t>
            </a:r>
            <a:r>
              <a:rPr lang="en-US" sz="4400">
                <a:solidFill>
                  <a:schemeClr val="dk1"/>
                </a:solidFill>
                <a:latin typeface="Calibri"/>
                <a:ea typeface="Calibri"/>
                <a:cs typeface="Calibri"/>
                <a:sym typeface="Calibri"/>
              </a:rPr>
              <a:t>Chuyên môn hóa</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 Equipment: </a:t>
            </a:r>
            <a:r>
              <a:rPr lang="en-US" sz="4400">
                <a:solidFill>
                  <a:schemeClr val="dk1"/>
                </a:solidFill>
                <a:latin typeface="Calibri"/>
                <a:ea typeface="Calibri"/>
                <a:cs typeface="Calibri"/>
                <a:sym typeface="Calibri"/>
              </a:rPr>
              <a:t>Thiết bị</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 Supply: </a:t>
            </a:r>
            <a:r>
              <a:rPr lang="en-US" sz="4400">
                <a:solidFill>
                  <a:schemeClr val="dk1"/>
                </a:solidFill>
                <a:latin typeface="Calibri"/>
                <a:ea typeface="Calibri"/>
                <a:cs typeface="Calibri"/>
                <a:sym typeface="Calibri"/>
              </a:rPr>
              <a:t>Cung cấp</a:t>
            </a:r>
            <a:endParaRPr sz="4400">
              <a:solidFill>
                <a:schemeClr val="dk1"/>
              </a:solidFill>
              <a:latin typeface="Calibri"/>
              <a:ea typeface="Calibri"/>
              <a:cs typeface="Calibri"/>
              <a:sym typeface="Calibri"/>
            </a:endParaRPr>
          </a:p>
          <a:p>
            <a:pPr indent="-508000" lvl="0" marL="457200" rtl="0" algn="l">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 Caution: </a:t>
            </a:r>
            <a:r>
              <a:rPr lang="en-US" sz="4400">
                <a:solidFill>
                  <a:schemeClr val="dk1"/>
                </a:solidFill>
                <a:latin typeface="Calibri"/>
                <a:ea typeface="Calibri"/>
                <a:cs typeface="Calibri"/>
                <a:sym typeface="Calibri"/>
              </a:rPr>
              <a:t>Thận trọng</a:t>
            </a:r>
            <a:endParaRPr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cxnSp>
        <p:nvCxnSpPr>
          <p:cNvPr id="585" name="Google Shape;585;p33"/>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586" name="Google Shape;586;p33"/>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587" name="Google Shape;587;p33"/>
          <p:cNvGrpSpPr/>
          <p:nvPr/>
        </p:nvGrpSpPr>
        <p:grpSpPr>
          <a:xfrm rot="10800000">
            <a:off x="15044552" y="-741521"/>
            <a:ext cx="7681766" cy="4260610"/>
            <a:chOff x="0" y="-38100"/>
            <a:chExt cx="406400" cy="225405"/>
          </a:xfrm>
        </p:grpSpPr>
        <p:sp>
          <p:nvSpPr>
            <p:cNvPr id="588" name="Google Shape;588;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9" name="Google Shape;589;p33"/>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90" name="Google Shape;590;p3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91" name="Google Shape;591;p33"/>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92" name="Google Shape;592;p33"/>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593" name="Google Shape;593;p33"/>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594" name="Google Shape;594;p33"/>
          <p:cNvGrpSpPr/>
          <p:nvPr/>
        </p:nvGrpSpPr>
        <p:grpSpPr>
          <a:xfrm>
            <a:off x="-2718010" y="9274528"/>
            <a:ext cx="7950400" cy="1707231"/>
            <a:chOff x="0" y="-384762"/>
            <a:chExt cx="10600533" cy="2276307"/>
          </a:xfrm>
        </p:grpSpPr>
        <p:grpSp>
          <p:nvGrpSpPr>
            <p:cNvPr id="595" name="Google Shape;595;p33"/>
            <p:cNvGrpSpPr/>
            <p:nvPr/>
          </p:nvGrpSpPr>
          <p:grpSpPr>
            <a:xfrm>
              <a:off x="0" y="-384762"/>
              <a:ext cx="10600533" cy="2276307"/>
              <a:chOff x="0" y="-38100"/>
              <a:chExt cx="1049690" cy="225405"/>
            </a:xfrm>
          </p:grpSpPr>
          <p:sp>
            <p:nvSpPr>
              <p:cNvPr id="596" name="Google Shape;596;p3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97" name="Google Shape;597;p33"/>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8" name="Google Shape;598;p33"/>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599" name="Google Shape;599;p33"/>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93"/>
                                        </p:tgtEl>
                                        <p:attrNameLst>
                                          <p:attrName>style.visibility</p:attrName>
                                        </p:attrNameLst>
                                      </p:cBhvr>
                                      <p:to>
                                        <p:strVal val="visible"/>
                                      </p:to>
                                    </p:set>
                                    <p:anim calcmode="lin" valueType="num">
                                      <p:cBhvr additive="base">
                                        <p:cTn dur="500"/>
                                        <p:tgtEl>
                                          <p:spTgt spid="593"/>
                                        </p:tgtEl>
                                        <p:attrNameLst>
                                          <p:attrName>ppt_w</p:attrName>
                                        </p:attrNameLst>
                                      </p:cBhvr>
                                      <p:tavLst>
                                        <p:tav fmla="" tm="0">
                                          <p:val>
                                            <p:strVal val="0"/>
                                          </p:val>
                                        </p:tav>
                                        <p:tav fmla="" tm="100000">
                                          <p:val>
                                            <p:strVal val="#ppt_w"/>
                                          </p:val>
                                        </p:tav>
                                      </p:tavLst>
                                    </p:anim>
                                    <p:anim calcmode="lin" valueType="num">
                                      <p:cBhvr additive="base">
                                        <p:cTn dur="500"/>
                                        <p:tgtEl>
                                          <p:spTgt spid="5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92"/>
                                        </p:tgtEl>
                                        <p:attrNameLst>
                                          <p:attrName>style.visibility</p:attrName>
                                        </p:attrNameLst>
                                      </p:cBhvr>
                                      <p:to>
                                        <p:strVal val="visible"/>
                                      </p:to>
                                    </p:set>
                                    <p:anim calcmode="lin" valueType="num">
                                      <p:cBhvr additive="base">
                                        <p:cTn dur="500"/>
                                        <p:tgtEl>
                                          <p:spTgt spid="592"/>
                                        </p:tgtEl>
                                        <p:attrNameLst>
                                          <p:attrName>ppt_w</p:attrName>
                                        </p:attrNameLst>
                                      </p:cBhvr>
                                      <p:tavLst>
                                        <p:tav fmla="" tm="0">
                                          <p:val>
                                            <p:strVal val="0"/>
                                          </p:val>
                                        </p:tav>
                                        <p:tav fmla="" tm="100000">
                                          <p:val>
                                            <p:strVal val="#ppt_w"/>
                                          </p:val>
                                        </p:tav>
                                      </p:tavLst>
                                    </p:anim>
                                    <p:anim calcmode="lin" valueType="num">
                                      <p:cBhvr additive="base">
                                        <p:cTn dur="500"/>
                                        <p:tgtEl>
                                          <p:spTgt spid="5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cxnSp>
        <p:nvCxnSpPr>
          <p:cNvPr id="605" name="Google Shape;605;p34"/>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606" name="Google Shape;606;p3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607" name="Google Shape;607;p34"/>
          <p:cNvGrpSpPr/>
          <p:nvPr/>
        </p:nvGrpSpPr>
        <p:grpSpPr>
          <a:xfrm rot="10800000">
            <a:off x="15044552" y="-741521"/>
            <a:ext cx="7681766" cy="4260610"/>
            <a:chOff x="0" y="-38100"/>
            <a:chExt cx="406400" cy="225405"/>
          </a:xfrm>
        </p:grpSpPr>
        <p:sp>
          <p:nvSpPr>
            <p:cNvPr id="608" name="Google Shape;608;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09" name="Google Shape;609;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610" name="Google Shape;610;p3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11" name="Google Shape;611;p34"/>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612" name="Google Shape;612;p34"/>
          <p:cNvGrpSpPr/>
          <p:nvPr/>
        </p:nvGrpSpPr>
        <p:grpSpPr>
          <a:xfrm rot="10800000">
            <a:off x="15828686" y="-13843"/>
            <a:ext cx="7681766" cy="4260610"/>
            <a:chOff x="0" y="-38100"/>
            <a:chExt cx="406400" cy="225405"/>
          </a:xfrm>
        </p:grpSpPr>
        <p:sp>
          <p:nvSpPr>
            <p:cNvPr id="613" name="Google Shape;613;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614" name="Google Shape;614;p3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5" name="Google Shape;615;p34"/>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616" name="Google Shape;616;p34"/>
          <p:cNvGrpSpPr/>
          <p:nvPr/>
        </p:nvGrpSpPr>
        <p:grpSpPr>
          <a:xfrm>
            <a:off x="5693855" y="6543482"/>
            <a:ext cx="11567835" cy="1261722"/>
            <a:chOff x="5693855" y="7590172"/>
            <a:chExt cx="11567835" cy="1261722"/>
          </a:xfrm>
        </p:grpSpPr>
        <p:grpSp>
          <p:nvGrpSpPr>
            <p:cNvPr id="617" name="Google Shape;617;p34"/>
            <p:cNvGrpSpPr/>
            <p:nvPr/>
          </p:nvGrpSpPr>
          <p:grpSpPr>
            <a:xfrm>
              <a:off x="5693855" y="7590172"/>
              <a:ext cx="11567834" cy="1261722"/>
              <a:chOff x="0" y="-38100"/>
              <a:chExt cx="3046672" cy="332305"/>
            </a:xfrm>
          </p:grpSpPr>
          <p:sp>
            <p:nvSpPr>
              <p:cNvPr id="618" name="Google Shape;618;p34"/>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619" name="Google Shape;619;p34"/>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0" name="Google Shape;620;p34"/>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621" name="Google Shape;621;p34"/>
          <p:cNvGrpSpPr/>
          <p:nvPr/>
        </p:nvGrpSpPr>
        <p:grpSpPr>
          <a:xfrm>
            <a:off x="-2718010" y="9274528"/>
            <a:ext cx="7950400" cy="1707231"/>
            <a:chOff x="0" y="-384762"/>
            <a:chExt cx="10600533" cy="2276307"/>
          </a:xfrm>
        </p:grpSpPr>
        <p:grpSp>
          <p:nvGrpSpPr>
            <p:cNvPr id="622" name="Google Shape;622;p34"/>
            <p:cNvGrpSpPr/>
            <p:nvPr/>
          </p:nvGrpSpPr>
          <p:grpSpPr>
            <a:xfrm>
              <a:off x="0" y="-384762"/>
              <a:ext cx="10600533" cy="2276307"/>
              <a:chOff x="0" y="-38100"/>
              <a:chExt cx="1049690" cy="225405"/>
            </a:xfrm>
          </p:grpSpPr>
          <p:sp>
            <p:nvSpPr>
              <p:cNvPr id="623" name="Google Shape;623;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24" name="Google Shape;624;p3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5" name="Google Shape;625;p3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615"/>
                                        </p:tgtEl>
                                        <p:attrNameLst>
                                          <p:attrName>style.visibility</p:attrName>
                                        </p:attrNameLst>
                                      </p:cBhvr>
                                      <p:to>
                                        <p:strVal val="visible"/>
                                      </p:to>
                                    </p:set>
                                    <p:anim calcmode="lin" valueType="num">
                                      <p:cBhvr additive="base">
                                        <p:cTn dur="500"/>
                                        <p:tgtEl>
                                          <p:spTgt spid="615"/>
                                        </p:tgtEl>
                                        <p:attrNameLst>
                                          <p:attrName>ppt_w</p:attrName>
                                        </p:attrNameLst>
                                      </p:cBhvr>
                                      <p:tavLst>
                                        <p:tav fmla="" tm="0">
                                          <p:val>
                                            <p:strVal val="0"/>
                                          </p:val>
                                        </p:tav>
                                        <p:tav fmla="" tm="100000">
                                          <p:val>
                                            <p:strVal val="#ppt_w"/>
                                          </p:val>
                                        </p:tav>
                                      </p:tavLst>
                                    </p:anim>
                                    <p:anim calcmode="lin" valueType="num">
                                      <p:cBhvr additive="base">
                                        <p:cTn dur="500"/>
                                        <p:tgtEl>
                                          <p:spTgt spid="6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