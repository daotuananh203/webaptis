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8288000" cy="10287000"/>
  <p:notesSz cx="6858000" cy="9144000"/>
  <p:embeddedFontLst>
    <p:embeddedFont>
      <p:font typeface="Cambria" panose="02040503050406030204" pitchFamily="18" charset="0"/>
      <p:regular r:id="rId24"/>
      <p:bold r:id="rId25"/>
      <p:italic r:id="rId26"/>
      <p:boldItalic r:id="rId27"/>
    </p:embeddedFont>
    <p:embeddedFont>
      <p:font typeface="Montserrat" panose="00000500000000000000" pitchFamily="2" charset="0"/>
      <p:regular r:id="rId28"/>
      <p:bold r:id="rId29"/>
      <p:italic r:id="rId30"/>
      <p:boldItalic r:id="rId31"/>
    </p:embeddedFont>
    <p:embeddedFont>
      <p:font typeface="Roboto"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26" d="100"/>
          <a:sy n="26" d="100"/>
        </p:scale>
        <p:origin x="44" y="5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 name="Google Shape;9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4" name="Google Shape;16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5" name="Google Shape;20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b="1"/>
              <a:t>Giữ bình tĩnh và tự tin:</a:t>
            </a:r>
            <a:r>
              <a:rPr lang="en-US"/>
              <a:t> Điều quan trọng nhất là bạn phải giữ bình tĩnh và tự tin khi làm bài thi. Hãy hít thở sâu và tập trung vào việc trả lời các câu hỏi.</a:t>
            </a:r>
            <a:endParaRPr/>
          </a:p>
          <a:p>
            <a:pPr marL="0" lvl="0" indent="0" algn="l" rtl="0">
              <a:spcBef>
                <a:spcPts val="0"/>
              </a:spcBef>
              <a:spcAft>
                <a:spcPts val="0"/>
              </a:spcAft>
              <a:buNone/>
            </a:pPr>
            <a:r>
              <a:rPr lang="en-US" b="1"/>
              <a:t>Nghe kỹ hướng dẫn:</a:t>
            </a:r>
            <a:r>
              <a:rPr lang="en-US"/>
              <a:t> Hãy nghe kỹ hướng dẫn trước khi bắt đầu trả lời mỗi câu hỏi. Hãy chắc chắn rằng bạn hiểu rõ câu hỏi trước khi trả lời.</a:t>
            </a:r>
            <a:endParaRPr/>
          </a:p>
          <a:p>
            <a:pPr marL="0" lvl="0" indent="0" algn="l" rtl="0">
              <a:spcBef>
                <a:spcPts val="0"/>
              </a:spcBef>
              <a:spcAft>
                <a:spcPts val="0"/>
              </a:spcAft>
              <a:buNone/>
            </a:pPr>
            <a:r>
              <a:rPr lang="en-US" b="1"/>
              <a:t>Trả lời câu hỏi một cách ngắn gọn và súc tích:</a:t>
            </a:r>
            <a:r>
              <a:rPr lang="en-US"/>
              <a:t> Bạn chỉ có 30 giây để trả lời mỗi câu hỏi, vì vậy hãy trả lời một cách ngắn gọn và súc tích. Tránh đi lạc chủ đề hoặc đưa ra thông tin không liên quan.</a:t>
            </a:r>
            <a:endParaRPr/>
          </a:p>
          <a:p>
            <a:pPr marL="0" lvl="0" indent="0" algn="l" rtl="0">
              <a:spcBef>
                <a:spcPts val="0"/>
              </a:spcBef>
              <a:spcAft>
                <a:spcPts val="0"/>
              </a:spcAft>
              <a:buNone/>
            </a:pPr>
            <a:r>
              <a:rPr lang="en-US" b="1"/>
              <a:t>Nói rõ ràng và dễ hiểu:</a:t>
            </a:r>
            <a:r>
              <a:rPr lang="en-US"/>
              <a:t> Hãy nói rõ ràng và dễ hiểu để giám khảo có thể nghe và hiểu rõ câu trả lời của bạn.</a:t>
            </a:r>
            <a:endParaRPr/>
          </a:p>
          <a:p>
            <a:pPr marL="0" lvl="0" indent="0" algn="l" rtl="0">
              <a:spcBef>
                <a:spcPts val="0"/>
              </a:spcBef>
              <a:spcAft>
                <a:spcPts val="0"/>
              </a:spcAft>
              <a:buNone/>
            </a:pPr>
            <a:r>
              <a:rPr lang="en-US" b="1"/>
              <a:t>Sử dụng ngữ điệu và cách nhấn phù hợp:</a:t>
            </a:r>
            <a:r>
              <a:rPr lang="en-US"/>
              <a:t> Hãy sử dụng ngữ điệu và cách nhấn phù hợp để câu trả lời của bạn thêm sinh động và tự nhiên.</a:t>
            </a:r>
            <a:endParaRPr/>
          </a:p>
        </p:txBody>
      </p:sp>
      <p:sp>
        <p:nvSpPr>
          <p:cNvPr id="246" name="Google Shape;24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2e0a1aa6bde_0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g2e0a1aa6bde_0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6" name="Google Shape;296;g2e0a1aa6bde_0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3" name="Google Shape;31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2e14c94601e_0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g2e14c94601e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2e14c94601e_0_2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g2e14c94601e_0_2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just" rtl="0">
              <a:spcBef>
                <a:spcPts val="0"/>
              </a:spcBef>
              <a:spcAft>
                <a:spcPts val="0"/>
              </a:spcAft>
              <a:buNone/>
            </a:pPr>
            <a:r>
              <a:rPr lang="en-US" b="0" i="0">
                <a:solidFill>
                  <a:srgbClr val="01051C"/>
                </a:solidFill>
                <a:latin typeface="Cambria"/>
                <a:ea typeface="Cambria"/>
                <a:cs typeface="Cambria"/>
                <a:sym typeface="Cambria"/>
              </a:rPr>
              <a:t>Bước đầu tiên, thí sinh cần đọc lướt để hiểu nhanh ý chính đồng thời gạch chân từ khóa trong các câu hỏi và phương án. Nếu như từ khóa trong câu hỏi là “vũ khí” giúp thí sinh định vị vùng thông tin chứa đáp án, thì từ khóa trong các phương án sẽ giúp thí sinh nghe hiểu, lọc đáp án và thông tin gây nhiễu trong quá trình nghe</a:t>
            </a:r>
            <a:endParaRPr/>
          </a:p>
          <a:p>
            <a:pPr marL="0" lvl="0" indent="0" algn="just" rtl="0">
              <a:spcBef>
                <a:spcPts val="0"/>
              </a:spcBef>
              <a:spcAft>
                <a:spcPts val="0"/>
              </a:spcAft>
              <a:buNone/>
            </a:pPr>
            <a:r>
              <a:rPr lang="en-US" b="0" i="0">
                <a:solidFill>
                  <a:srgbClr val="01051C"/>
                </a:solidFill>
                <a:latin typeface="Cambria"/>
                <a:ea typeface="Cambria"/>
                <a:cs typeface="Cambria"/>
                <a:sym typeface="Cambria"/>
              </a:rPr>
              <a:t>***Lưu ý</a:t>
            </a:r>
            <a:r>
              <a:rPr lang="en-US" b="0" i="1">
                <a:solidFill>
                  <a:srgbClr val="01051C"/>
                </a:solidFill>
                <a:latin typeface="Cambria"/>
                <a:ea typeface="Cambria"/>
                <a:cs typeface="Cambria"/>
                <a:sym typeface="Cambria"/>
              </a:rPr>
              <a:t>: Thí sinh hoàn toàn có thể tận dụng thời gian nghe đoạn hướng dẫn để làm bước này.</a:t>
            </a:r>
            <a:endParaRPr b="0" i="0">
              <a:solidFill>
                <a:srgbClr val="01051C"/>
              </a:solidFill>
              <a:latin typeface="Cambria"/>
              <a:ea typeface="Cambria"/>
              <a:cs typeface="Cambria"/>
              <a:sym typeface="Cambria"/>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367" name="Google Shape;367;g2e14c94601e_0_2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2e14c94601e_0_3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0" name="Google Shape;390;g2e14c94601e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76200" algn="just" rtl="0">
              <a:spcBef>
                <a:spcPts val="0"/>
              </a:spcBef>
              <a:spcAft>
                <a:spcPts val="0"/>
              </a:spcAft>
              <a:buClr>
                <a:srgbClr val="01051C"/>
              </a:buClr>
              <a:buSzPts val="1200"/>
              <a:buFont typeface="Calibri"/>
              <a:buAutoNum type="arabicPeriod"/>
            </a:pPr>
            <a:r>
              <a:rPr lang="en-US" b="0" i="0">
                <a:solidFill>
                  <a:srgbClr val="01051C"/>
                </a:solidFill>
                <a:latin typeface="Cambria"/>
                <a:ea typeface="Cambria"/>
                <a:cs typeface="Cambria"/>
                <a:sym typeface="Cambria"/>
              </a:rPr>
              <a:t>Củng cố mục đích nghe</a:t>
            </a:r>
            <a:endParaRPr/>
          </a:p>
          <a:p>
            <a:pPr marL="0" lvl="0" indent="0" algn="just" rtl="0">
              <a:spcBef>
                <a:spcPts val="0"/>
              </a:spcBef>
              <a:spcAft>
                <a:spcPts val="0"/>
              </a:spcAft>
              <a:buNone/>
            </a:pPr>
            <a:r>
              <a:rPr lang="en-US" b="0" i="0">
                <a:solidFill>
                  <a:srgbClr val="01051C"/>
                </a:solidFill>
                <a:latin typeface="Cambria"/>
                <a:ea typeface="Cambria"/>
                <a:cs typeface="Cambria"/>
                <a:sym typeface="Cambria"/>
              </a:rPr>
              <a:t>Khi đoạn băng đưa hiệu lệnh bắt đầu câu hỏi 1, thí sinh nhanh chóng đọc qua lại những từ khóa đã gạch chân trong câu hỏi 1 và các phương án để tự củng cố lại mục đích nghe cho câu hỏi này. Việc làm này sẽ giúp thí sinh chỉ tập trung nghe và phân tích thông tin trong khi làm bài, tránh tình trạng vừa nghe vừa đọc hiểu đề, dẫn đến mất tập trung.</a:t>
            </a:r>
            <a:endParaRPr/>
          </a:p>
          <a:p>
            <a:pPr marL="0" lvl="0" indent="-76200" algn="just" rtl="0">
              <a:spcBef>
                <a:spcPts val="0"/>
              </a:spcBef>
              <a:spcAft>
                <a:spcPts val="0"/>
              </a:spcAft>
              <a:buClr>
                <a:srgbClr val="01051C"/>
              </a:buClr>
              <a:buSzPts val="1200"/>
              <a:buFont typeface="Calibri"/>
              <a:buAutoNum type="arabicPeriod" startAt="2"/>
            </a:pPr>
            <a:r>
              <a:rPr lang="en-US" b="0" i="0">
                <a:solidFill>
                  <a:srgbClr val="01051C"/>
                </a:solidFill>
                <a:latin typeface="Cambria"/>
                <a:ea typeface="Cambria"/>
                <a:cs typeface="Cambria"/>
                <a:sym typeface="Cambria"/>
              </a:rPr>
              <a:t>Xác định vùng thông tin chứa đáp án</a:t>
            </a:r>
            <a:endParaRPr/>
          </a:p>
          <a:p>
            <a:pPr marL="0" lvl="0" indent="0" algn="just" rtl="0">
              <a:spcBef>
                <a:spcPts val="0"/>
              </a:spcBef>
              <a:spcAft>
                <a:spcPts val="0"/>
              </a:spcAft>
              <a:buNone/>
            </a:pPr>
            <a:r>
              <a:rPr lang="en-US" b="0" i="0">
                <a:solidFill>
                  <a:srgbClr val="01051C"/>
                </a:solidFill>
                <a:latin typeface="Cambria"/>
                <a:ea typeface="Cambria"/>
                <a:cs typeface="Cambria"/>
                <a:sym typeface="Cambria"/>
              </a:rPr>
              <a:t>Trong khi nghe VSTEP Listening Part 1, thí sinh xác định vùng thông tin chứa đáp án dựa vào từ khóa đã gạch chân trong câu hỏi.</a:t>
            </a:r>
            <a:endParaRPr/>
          </a:p>
          <a:p>
            <a:pPr marL="0" lvl="0" indent="-76200" algn="just" rtl="0">
              <a:spcBef>
                <a:spcPts val="0"/>
              </a:spcBef>
              <a:spcAft>
                <a:spcPts val="0"/>
              </a:spcAft>
              <a:buClr>
                <a:srgbClr val="01051C"/>
              </a:buClr>
              <a:buSzPts val="1200"/>
              <a:buFont typeface="Calibri"/>
              <a:buAutoNum type="arabicPeriod" startAt="3"/>
            </a:pPr>
            <a:r>
              <a:rPr lang="en-US" b="0" i="0">
                <a:solidFill>
                  <a:srgbClr val="01051C"/>
                </a:solidFill>
                <a:latin typeface="Cambria"/>
                <a:ea typeface="Cambria"/>
                <a:cs typeface="Cambria"/>
                <a:sym typeface="Cambria"/>
              </a:rPr>
              <a:t>Nhận diện yếu tố gây nhiễu</a:t>
            </a:r>
            <a:endParaRPr/>
          </a:p>
          <a:p>
            <a:pPr marL="0" lvl="0" indent="0" algn="just" rtl="0">
              <a:spcBef>
                <a:spcPts val="0"/>
              </a:spcBef>
              <a:spcAft>
                <a:spcPts val="0"/>
              </a:spcAft>
              <a:buNone/>
            </a:pPr>
            <a:r>
              <a:rPr lang="en-US" b="0" i="0">
                <a:solidFill>
                  <a:srgbClr val="01051C"/>
                </a:solidFill>
                <a:latin typeface="Cambria"/>
                <a:ea typeface="Cambria"/>
                <a:cs typeface="Cambria"/>
                <a:sym typeface="Cambria"/>
              </a:rPr>
              <a:t>Khi làm phần này, cả 4 phương án thường sẽ đều được nhắc đến trong đoạn băng, vì vậy, thí sinh cần xác định cả những lý do khiến phương án sai.</a:t>
            </a:r>
            <a:endParaRPr/>
          </a:p>
          <a:p>
            <a:pPr marL="0" lvl="0" indent="-76200" algn="just" rtl="0">
              <a:spcBef>
                <a:spcPts val="0"/>
              </a:spcBef>
              <a:spcAft>
                <a:spcPts val="0"/>
              </a:spcAft>
              <a:buClr>
                <a:srgbClr val="01051C"/>
              </a:buClr>
              <a:buSzPts val="1200"/>
              <a:buFont typeface="Calibri"/>
              <a:buAutoNum type="arabicPeriod" startAt="4"/>
            </a:pPr>
            <a:r>
              <a:rPr lang="en-US" b="0" i="0">
                <a:solidFill>
                  <a:srgbClr val="01051C"/>
                </a:solidFill>
                <a:latin typeface="Cambria"/>
                <a:ea typeface="Cambria"/>
                <a:cs typeface="Cambria"/>
                <a:sym typeface="Cambria"/>
              </a:rPr>
              <a:t>Ghi chú thông tin với những câu chưa tìm được đáp án</a:t>
            </a:r>
            <a:endParaRPr/>
          </a:p>
          <a:p>
            <a:pPr marL="0" lvl="0" indent="0" algn="just" rtl="0">
              <a:spcBef>
                <a:spcPts val="0"/>
              </a:spcBef>
              <a:spcAft>
                <a:spcPts val="0"/>
              </a:spcAft>
              <a:buNone/>
            </a:pPr>
            <a:r>
              <a:rPr lang="en-US" b="0" i="0">
                <a:solidFill>
                  <a:srgbClr val="01051C"/>
                </a:solidFill>
                <a:latin typeface="Cambria"/>
                <a:ea typeface="Cambria"/>
                <a:cs typeface="Cambria"/>
                <a:sym typeface="Cambria"/>
              </a:rPr>
              <a:t>Đối với những câu hỏi chưa nghe được đáp án, thí sinh có thể ghi chú lại các thông tin nghe được để đối chiếu</a:t>
            </a:r>
            <a:endParaRPr/>
          </a:p>
          <a:p>
            <a:pPr marL="0" lvl="0" indent="0" algn="l" rtl="0">
              <a:spcBef>
                <a:spcPts val="0"/>
              </a:spcBef>
              <a:spcAft>
                <a:spcPts val="0"/>
              </a:spcAft>
              <a:buNone/>
            </a:pPr>
            <a:endParaRPr/>
          </a:p>
          <a:p>
            <a:pPr marL="0" lvl="0" indent="0" algn="l" rtl="0">
              <a:spcBef>
                <a:spcPts val="0"/>
              </a:spcBef>
              <a:spcAft>
                <a:spcPts val="0"/>
              </a:spcAft>
              <a:buNone/>
            </a:pPr>
            <a:endParaRPr>
              <a:solidFill>
                <a:srgbClr val="000000"/>
              </a:solidFill>
              <a:latin typeface="Calibri"/>
              <a:ea typeface="Calibri"/>
              <a:cs typeface="Calibri"/>
              <a:sym typeface="Calibri"/>
            </a:endParaRPr>
          </a:p>
          <a:p>
            <a:pPr marL="0" lvl="0" indent="0" algn="l" rtl="0">
              <a:spcBef>
                <a:spcPts val="0"/>
              </a:spcBef>
              <a:spcAft>
                <a:spcPts val="0"/>
              </a:spcAft>
              <a:buNone/>
            </a:pPr>
            <a:endParaRPr/>
          </a:p>
        </p:txBody>
      </p:sp>
      <p:sp>
        <p:nvSpPr>
          <p:cNvPr id="391" name="Google Shape;391;g2e14c94601e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2e14c94601e_0_3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 name="Google Shape;425;g2e14c94601e_0_3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1051C"/>
              </a:buClr>
              <a:buSzPts val="1200"/>
              <a:buFont typeface="Cambria"/>
              <a:buNone/>
            </a:pPr>
            <a:r>
              <a:rPr lang="en-US" b="0" i="0">
                <a:solidFill>
                  <a:srgbClr val="01051C"/>
                </a:solidFill>
                <a:latin typeface="Cambria"/>
                <a:ea typeface="Cambria"/>
                <a:cs typeface="Cambria"/>
                <a:sym typeface="Cambria"/>
              </a:rPr>
              <a:t>Tại bước này, thí sinh kiểm tra lại các đáp án mình đã chọn. Với những câu chưa có đáp án, kiểm tra lại phần ghi chú và chọn phương án phù hợp nhất</a:t>
            </a:r>
            <a:endParaRPr/>
          </a:p>
          <a:p>
            <a:pPr marL="0" lvl="0" indent="0" algn="l" rtl="0">
              <a:spcBef>
                <a:spcPts val="0"/>
              </a:spcBef>
              <a:spcAft>
                <a:spcPts val="0"/>
              </a:spcAft>
              <a:buNone/>
            </a:pPr>
            <a:endParaRPr/>
          </a:p>
        </p:txBody>
      </p:sp>
      <p:sp>
        <p:nvSpPr>
          <p:cNvPr id="426" name="Google Shape;426;g2e14c94601e_0_3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e20c1f4d48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9" name="Google Shape;449;g2e20c1f4d48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0" name="Google Shape;450;g2e20c1f4d48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2e20c1f4d48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g2e20c1f4d48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g2e20c1f4d48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2e0af1eb685_0_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g2e0af1eb685_0_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g2e0af1eb685_0_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e0af1eb685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2" name="Google Shape;522;g2e0af1eb685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3" name="Google Shape;523;g2e0af1eb685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2e20c1f4d48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0" name="Google Shape;540;g2e20c1f4d48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1" name="Google Shape;541;g2e20c1f4d48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8" name="Google Shape;558;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7" name="Google Shape;577;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hyperlink" Target="http://drive.google.com/file/d/1lZmNuT0JUHaw8nlARX3trLqkkwpUY4jv/view"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hyperlink" Target="http://drive.google.com/file/d/1lZmNuT0JUHaw8nlARX3trLqkkwpUY4jv/view"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hyperlink" Target="http://drive.google.com/file/d/1lZmNuT0JUHaw8nlARX3trLqkkwpUY4jv/view"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8345"/>
        </a:solidFill>
        <a:effectLst/>
      </p:bgPr>
    </p:bg>
    <p:spTree>
      <p:nvGrpSpPr>
        <p:cNvPr id="1" name="Shape 87"/>
        <p:cNvGrpSpPr/>
        <p:nvPr/>
      </p:nvGrpSpPr>
      <p:grpSpPr>
        <a:xfrm>
          <a:off x="0" y="0"/>
          <a:ext cx="0" cy="0"/>
          <a:chOff x="0" y="0"/>
          <a:chExt cx="0" cy="0"/>
        </a:xfrm>
      </p:grpSpPr>
      <p:sp>
        <p:nvSpPr>
          <p:cNvPr id="88" name="Google Shape;88;p13"/>
          <p:cNvSpPr txBox="1"/>
          <p:nvPr/>
        </p:nvSpPr>
        <p:spPr>
          <a:xfrm>
            <a:off x="4788018" y="1722907"/>
            <a:ext cx="13410874" cy="1496479"/>
          </a:xfrm>
          <a:prstGeom prst="rect">
            <a:avLst/>
          </a:prstGeom>
          <a:noFill/>
          <a:ln>
            <a:noFill/>
          </a:ln>
        </p:spPr>
        <p:txBody>
          <a:bodyPr spcFirstLastPara="1" wrap="square" lIns="0" tIns="0" rIns="0" bIns="0" anchor="t" anchorCtr="0">
            <a:spAutoFit/>
          </a:bodyPr>
          <a:lstStyle/>
          <a:p>
            <a:pPr marL="0" marR="0" lvl="0" indent="0" algn="ctr" rtl="0">
              <a:lnSpc>
                <a:spcPct val="112000"/>
              </a:lnSpc>
              <a:spcBef>
                <a:spcPts val="0"/>
              </a:spcBef>
              <a:spcAft>
                <a:spcPts val="0"/>
              </a:spcAft>
              <a:buNone/>
            </a:pPr>
            <a:r>
              <a:rPr lang="en-US" sz="10416" b="0" i="0" u="none" strike="noStrike" cap="none">
                <a:solidFill>
                  <a:srgbClr val="FFFFFF"/>
                </a:solidFill>
                <a:latin typeface="Arial"/>
                <a:ea typeface="Arial"/>
                <a:cs typeface="Arial"/>
                <a:sym typeface="Arial"/>
              </a:rPr>
              <a:t>APTIS</a:t>
            </a:r>
            <a:endParaRPr/>
          </a:p>
        </p:txBody>
      </p:sp>
      <p:grpSp>
        <p:nvGrpSpPr>
          <p:cNvPr id="89" name="Google Shape;89;p13"/>
          <p:cNvGrpSpPr/>
          <p:nvPr/>
        </p:nvGrpSpPr>
        <p:grpSpPr>
          <a:xfrm>
            <a:off x="7338936" y="4396612"/>
            <a:ext cx="8593708" cy="2222589"/>
            <a:chOff x="0" y="-192881"/>
            <a:chExt cx="11458277" cy="2963451"/>
          </a:xfrm>
        </p:grpSpPr>
        <p:grpSp>
          <p:nvGrpSpPr>
            <p:cNvPr id="90" name="Google Shape;90;p13"/>
            <p:cNvGrpSpPr/>
            <p:nvPr/>
          </p:nvGrpSpPr>
          <p:grpSpPr>
            <a:xfrm>
              <a:off x="0" y="-192881"/>
              <a:ext cx="11458277" cy="2963451"/>
              <a:chOff x="0" y="-38100"/>
              <a:chExt cx="2263363" cy="585373"/>
            </a:xfrm>
          </p:grpSpPr>
          <p:sp>
            <p:nvSpPr>
              <p:cNvPr id="91" name="Google Shape;91;p13"/>
              <p:cNvSpPr/>
              <p:nvPr/>
            </p:nvSpPr>
            <p:spPr>
              <a:xfrm>
                <a:off x="0" y="0"/>
                <a:ext cx="2263363" cy="547273"/>
              </a:xfrm>
              <a:custGeom>
                <a:avLst/>
                <a:gdLst/>
                <a:ahLst/>
                <a:cxnLst/>
                <a:rect l="l" t="t" r="r" b="b"/>
                <a:pathLst>
                  <a:path w="2263363" h="547273" extrusionOk="0">
                    <a:moveTo>
                      <a:pt x="45945" y="0"/>
                    </a:moveTo>
                    <a:lnTo>
                      <a:pt x="2217418" y="0"/>
                    </a:lnTo>
                    <a:cubicBezTo>
                      <a:pt x="2242793" y="0"/>
                      <a:pt x="2263363" y="20570"/>
                      <a:pt x="2263363" y="45945"/>
                    </a:cubicBezTo>
                    <a:lnTo>
                      <a:pt x="2263363" y="501328"/>
                    </a:lnTo>
                    <a:cubicBezTo>
                      <a:pt x="2263363" y="526703"/>
                      <a:pt x="2242793" y="547273"/>
                      <a:pt x="2217418" y="547273"/>
                    </a:cubicBezTo>
                    <a:lnTo>
                      <a:pt x="45945" y="547273"/>
                    </a:lnTo>
                    <a:cubicBezTo>
                      <a:pt x="20570" y="547273"/>
                      <a:pt x="0" y="526703"/>
                      <a:pt x="0" y="501328"/>
                    </a:cubicBezTo>
                    <a:lnTo>
                      <a:pt x="0" y="45945"/>
                    </a:lnTo>
                    <a:cubicBezTo>
                      <a:pt x="0" y="20570"/>
                      <a:pt x="20570" y="0"/>
                      <a:pt x="45945" y="0"/>
                    </a:cubicBez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13"/>
              <p:cNvSpPr txBox="1"/>
              <p:nvPr/>
            </p:nvSpPr>
            <p:spPr>
              <a:xfrm>
                <a:off x="0" y="-38100"/>
                <a:ext cx="2263363" cy="585373"/>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93" name="Google Shape;93;p13"/>
            <p:cNvSpPr txBox="1"/>
            <p:nvPr/>
          </p:nvSpPr>
          <p:spPr>
            <a:xfrm>
              <a:off x="793233" y="91935"/>
              <a:ext cx="9871800" cy="2557200"/>
            </a:xfrm>
            <a:prstGeom prst="rect">
              <a:avLst/>
            </a:prstGeom>
            <a:noFill/>
            <a:ln>
              <a:noFill/>
            </a:ln>
          </p:spPr>
          <p:txBody>
            <a:bodyPr spcFirstLastPara="1" wrap="square" lIns="0" tIns="0" rIns="0" bIns="0" anchor="t" anchorCtr="0">
              <a:spAutoFit/>
            </a:bodyPr>
            <a:lstStyle/>
            <a:p>
              <a:pPr marL="0" marR="0" lvl="0" indent="0" algn="ctr" rtl="0">
                <a:lnSpc>
                  <a:spcPct val="112006"/>
                </a:lnSpc>
                <a:spcBef>
                  <a:spcPts val="0"/>
                </a:spcBef>
                <a:spcAft>
                  <a:spcPts val="0"/>
                </a:spcAft>
                <a:buNone/>
              </a:pPr>
              <a:r>
                <a:rPr lang="en-US" sz="12460">
                  <a:solidFill>
                    <a:srgbClr val="018345"/>
                  </a:solidFill>
                </a:rPr>
                <a:t>Listening</a:t>
              </a:r>
              <a:endParaRPr/>
            </a:p>
          </p:txBody>
        </p:sp>
      </p:grpSp>
      <p:cxnSp>
        <p:nvCxnSpPr>
          <p:cNvPr id="94" name="Google Shape;94;p13"/>
          <p:cNvCxnSpPr/>
          <p:nvPr/>
        </p:nvCxnSpPr>
        <p:spPr>
          <a:xfrm>
            <a:off x="5559805" y="3724211"/>
            <a:ext cx="11699495" cy="0"/>
          </a:xfrm>
          <a:prstGeom prst="straightConnector1">
            <a:avLst/>
          </a:prstGeom>
          <a:noFill/>
          <a:ln w="38100" cap="flat" cmpd="sng">
            <a:solidFill>
              <a:srgbClr val="FFFFFF"/>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4867241" y="698293"/>
            <a:ext cx="13215313" cy="1473407"/>
          </a:xfrm>
          <a:prstGeom prst="rect">
            <a:avLst/>
          </a:prstGeom>
          <a:noFill/>
          <a:ln>
            <a:noFill/>
          </a:ln>
        </p:spPr>
        <p:txBody>
          <a:bodyPr spcFirstLastPara="1" wrap="square" lIns="0" tIns="0" rIns="0" bIns="0" anchor="t" anchorCtr="0">
            <a:spAutoFit/>
          </a:bodyPr>
          <a:lstStyle/>
          <a:p>
            <a:pPr marL="0" marR="0" lvl="0" indent="0" algn="ctr" rtl="0">
              <a:lnSpc>
                <a:spcPct val="112003"/>
              </a:lnSpc>
              <a:spcBef>
                <a:spcPts val="0"/>
              </a:spcBef>
              <a:spcAft>
                <a:spcPts val="0"/>
              </a:spcAft>
              <a:buNone/>
            </a:pPr>
            <a:r>
              <a:rPr lang="en-US" sz="10264" b="0" i="0" u="none" strike="noStrike" cap="none">
                <a:solidFill>
                  <a:srgbClr val="018345"/>
                </a:solidFill>
                <a:latin typeface="Arial"/>
                <a:ea typeface="Arial"/>
                <a:cs typeface="Arial"/>
                <a:sym typeface="Arial"/>
              </a:rPr>
              <a:t>Table of contents</a:t>
            </a:r>
            <a:endParaRPr/>
          </a:p>
        </p:txBody>
      </p:sp>
      <p:cxnSp>
        <p:nvCxnSpPr>
          <p:cNvPr id="101" name="Google Shape;101;p14"/>
          <p:cNvCxnSpPr/>
          <p:nvPr/>
        </p:nvCxnSpPr>
        <p:spPr>
          <a:xfrm>
            <a:off x="5943600" y="2152650"/>
            <a:ext cx="11579734" cy="0"/>
          </a:xfrm>
          <a:prstGeom prst="straightConnector1">
            <a:avLst/>
          </a:prstGeom>
          <a:noFill/>
          <a:ln w="38100" cap="flat" cmpd="sng">
            <a:solidFill>
              <a:srgbClr val="018345"/>
            </a:solidFill>
            <a:prstDash val="solid"/>
            <a:round/>
            <a:headEnd type="none" w="sm" len="sm"/>
            <a:tailEnd type="none" w="sm" len="sm"/>
          </a:ln>
        </p:spPr>
      </p:cxnSp>
      <p:grpSp>
        <p:nvGrpSpPr>
          <p:cNvPr id="102" name="Google Shape;102;p14"/>
          <p:cNvGrpSpPr/>
          <p:nvPr/>
        </p:nvGrpSpPr>
        <p:grpSpPr>
          <a:xfrm rot="10800000">
            <a:off x="14951203" y="-741521"/>
            <a:ext cx="7681766" cy="4260610"/>
            <a:chOff x="0" y="-38100"/>
            <a:chExt cx="406400" cy="225405"/>
          </a:xfrm>
        </p:grpSpPr>
        <p:sp>
          <p:nvSpPr>
            <p:cNvPr id="103" name="Google Shape;103;p14"/>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04" name="Google Shape;104;p14"/>
            <p:cNvSpPr txBox="1"/>
            <p:nvPr/>
          </p:nvSpPr>
          <p:spPr>
            <a:xfrm>
              <a:off x="127000" y="-38100"/>
              <a:ext cx="15240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05" name="Google Shape;105;p14" descr="Books with solid fill"/>
          <p:cNvSpPr/>
          <p:nvPr/>
        </p:nvSpPr>
        <p:spPr>
          <a:xfrm>
            <a:off x="3241317" y="6937835"/>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grpSp>
        <p:nvGrpSpPr>
          <p:cNvPr id="106" name="Google Shape;106;p14"/>
          <p:cNvGrpSpPr/>
          <p:nvPr/>
        </p:nvGrpSpPr>
        <p:grpSpPr>
          <a:xfrm>
            <a:off x="6890415" y="2552700"/>
            <a:ext cx="10092845" cy="1384799"/>
            <a:chOff x="6375842" y="6151456"/>
            <a:chExt cx="10541964" cy="1433865"/>
          </a:xfrm>
        </p:grpSpPr>
        <p:sp>
          <p:nvSpPr>
            <p:cNvPr id="107" name="Google Shape;107;p14"/>
            <p:cNvSpPr/>
            <p:nvPr/>
          </p:nvSpPr>
          <p:spPr>
            <a:xfrm>
              <a:off x="6375842" y="6278356"/>
              <a:ext cx="10541964" cy="1289204"/>
            </a:xfrm>
            <a:prstGeom prst="roundRect">
              <a:avLst>
                <a:gd name="adj" fmla="val 50000"/>
              </a:avLst>
            </a:prstGeom>
            <a:solidFill>
              <a:srgbClr val="0183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b="1" i="0" u="none" strike="noStrike" cap="none">
                <a:solidFill>
                  <a:schemeClr val="lt1"/>
                </a:solidFill>
                <a:latin typeface="Calibri"/>
                <a:ea typeface="Calibri"/>
                <a:cs typeface="Calibri"/>
                <a:sym typeface="Calibri"/>
              </a:endParaRPr>
            </a:p>
          </p:txBody>
        </p:sp>
        <p:sp>
          <p:nvSpPr>
            <p:cNvPr id="108" name="Google Shape;108;p14"/>
            <p:cNvSpPr txBox="1"/>
            <p:nvPr/>
          </p:nvSpPr>
          <p:spPr>
            <a:xfrm>
              <a:off x="6375842" y="6151456"/>
              <a:ext cx="10541964" cy="1433865"/>
            </a:xfrm>
            <a:prstGeom prst="rect">
              <a:avLst/>
            </a:prstGeom>
            <a:noFill/>
            <a:ln>
              <a:noFill/>
            </a:ln>
          </p:spPr>
          <p:txBody>
            <a:bodyPr spcFirstLastPara="1" wrap="square" lIns="50800" tIns="50800" rIns="50800" bIns="50800" anchor="ctr" anchorCtr="0">
              <a:noAutofit/>
            </a:bodyPr>
            <a:lstStyle/>
            <a:p>
              <a:pPr marL="0" marR="0" lvl="0" indent="0" algn="ctr" rtl="0">
                <a:lnSpc>
                  <a:spcPct val="73861"/>
                </a:lnSpc>
                <a:spcBef>
                  <a:spcPts val="0"/>
                </a:spcBef>
                <a:spcAft>
                  <a:spcPts val="0"/>
                </a:spcAft>
                <a:buNone/>
              </a:pPr>
              <a:endParaRPr sz="3600" b="1" i="0" u="none" strike="noStrike" cap="none">
                <a:solidFill>
                  <a:schemeClr val="dk1"/>
                </a:solidFill>
                <a:latin typeface="Calibri"/>
                <a:ea typeface="Calibri"/>
                <a:cs typeface="Calibri"/>
                <a:sym typeface="Calibri"/>
              </a:endParaRPr>
            </a:p>
          </p:txBody>
        </p:sp>
        <p:sp>
          <p:nvSpPr>
            <p:cNvPr id="109" name="Google Shape;109;p14"/>
            <p:cNvSpPr/>
            <p:nvPr/>
          </p:nvSpPr>
          <p:spPr>
            <a:xfrm>
              <a:off x="6375842" y="6296117"/>
              <a:ext cx="1253681" cy="1253680"/>
            </a:xfrm>
            <a:custGeom>
              <a:avLst/>
              <a:gdLst/>
              <a:ahLst/>
              <a:cxnLst/>
              <a:rect l="l" t="t" r="r" b="b"/>
              <a:pathLst>
                <a:path w="1671574" h="1671574" extrusionOk="0">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4"/>
            <p:cNvSpPr txBox="1"/>
            <p:nvPr/>
          </p:nvSpPr>
          <p:spPr>
            <a:xfrm>
              <a:off x="7917301" y="6581020"/>
              <a:ext cx="8651100" cy="510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200" b="1" i="0" u="none" strike="noStrike" cap="none">
                  <a:solidFill>
                    <a:srgbClr val="FFFFFF"/>
                  </a:solidFill>
                  <a:latin typeface="Montserrat"/>
                  <a:ea typeface="Montserrat"/>
                  <a:cs typeface="Montserrat"/>
                  <a:sym typeface="Montserrat"/>
                </a:rPr>
                <a:t>Bài </a:t>
              </a:r>
              <a:r>
                <a:rPr lang="en-US" sz="3200" b="1">
                  <a:solidFill>
                    <a:srgbClr val="FFFFFF"/>
                  </a:solidFill>
                  <a:latin typeface="Montserrat"/>
                  <a:ea typeface="Montserrat"/>
                  <a:cs typeface="Montserrat"/>
                  <a:sym typeface="Montserrat"/>
                </a:rPr>
                <a:t>nghe</a:t>
              </a:r>
              <a:r>
                <a:rPr lang="en-US" sz="3200" b="1" i="0" u="none" strike="noStrike" cap="none">
                  <a:solidFill>
                    <a:srgbClr val="FFFFFF"/>
                  </a:solidFill>
                  <a:latin typeface="Montserrat"/>
                  <a:ea typeface="Montserrat"/>
                  <a:cs typeface="Montserrat"/>
                  <a:sym typeface="Montserrat"/>
                </a:rPr>
                <a:t> APTIS part </a:t>
              </a:r>
              <a:r>
                <a:rPr lang="en-US" sz="3200" b="1">
                  <a:solidFill>
                    <a:srgbClr val="FFFFFF"/>
                  </a:solidFill>
                  <a:latin typeface="Montserrat"/>
                  <a:ea typeface="Montserrat"/>
                  <a:cs typeface="Montserrat"/>
                  <a:sym typeface="Montserrat"/>
                </a:rPr>
                <a:t>3</a:t>
              </a:r>
              <a:endParaRPr/>
            </a:p>
          </p:txBody>
        </p:sp>
        <p:sp>
          <p:nvSpPr>
            <p:cNvPr id="111" name="Google Shape;111;p14" descr="Books with solid fill"/>
            <p:cNvSpPr/>
            <p:nvPr/>
          </p:nvSpPr>
          <p:spPr>
            <a:xfrm>
              <a:off x="6604212" y="6517439"/>
              <a:ext cx="796998" cy="796998"/>
            </a:xfrm>
            <a:custGeom>
              <a:avLst/>
              <a:gdLst/>
              <a:ahLst/>
              <a:cxnLst/>
              <a:rect l="l" t="t" r="r" b="b"/>
              <a:pathLst>
                <a:path w="1062664" h="1062664" extrusionOk="0">
                  <a:moveTo>
                    <a:pt x="0" y="0"/>
                  </a:moveTo>
                  <a:lnTo>
                    <a:pt x="1062664" y="0"/>
                  </a:lnTo>
                  <a:lnTo>
                    <a:pt x="1062664" y="1062664"/>
                  </a:lnTo>
                  <a:lnTo>
                    <a:pt x="0" y="1062664"/>
                  </a:lnTo>
                  <a:lnTo>
                    <a:pt x="0" y="0"/>
                  </a:lnTo>
                  <a:close/>
                </a:path>
              </a:pathLst>
            </a:custGeom>
            <a:blipFill rotWithShape="1">
              <a:blip r:embed="rId3">
                <a:alphaModFix/>
              </a:blip>
              <a:stretch>
                <a:fillRect/>
              </a:stretch>
            </a:blipFill>
            <a:ln>
              <a:noFill/>
            </a:ln>
          </p:spPr>
        </p:sp>
      </p:grpSp>
      <p:sp>
        <p:nvSpPr>
          <p:cNvPr id="112" name="Google Shape;112;p14"/>
          <p:cNvSpPr txBox="1"/>
          <p:nvPr/>
        </p:nvSpPr>
        <p:spPr>
          <a:xfrm>
            <a:off x="6487860" y="5519116"/>
            <a:ext cx="10092845" cy="1384799"/>
          </a:xfrm>
          <a:prstGeom prst="rect">
            <a:avLst/>
          </a:prstGeom>
          <a:noFill/>
          <a:ln>
            <a:noFill/>
          </a:ln>
        </p:spPr>
        <p:txBody>
          <a:bodyPr spcFirstLastPara="1" wrap="square" lIns="50800" tIns="50800" rIns="50800" bIns="50800" anchor="ctr" anchorCtr="0">
            <a:noAutofit/>
          </a:bodyPr>
          <a:lstStyle/>
          <a:p>
            <a:pPr marL="0" marR="0" lvl="0" indent="0" algn="ctr" rtl="0">
              <a:lnSpc>
                <a:spcPct val="73861"/>
              </a:lnSpc>
              <a:spcBef>
                <a:spcPts val="0"/>
              </a:spcBef>
              <a:spcAft>
                <a:spcPts val="0"/>
              </a:spcAft>
              <a:buNone/>
            </a:pPr>
            <a:endParaRPr sz="3600" b="1" i="0" u="none" strike="noStrike" cap="none">
              <a:solidFill>
                <a:schemeClr val="dk1"/>
              </a:solidFill>
              <a:latin typeface="Calibri"/>
              <a:ea typeface="Calibri"/>
              <a:cs typeface="Calibri"/>
              <a:sym typeface="Calibri"/>
            </a:endParaRPr>
          </a:p>
        </p:txBody>
      </p:sp>
      <p:sp>
        <p:nvSpPr>
          <p:cNvPr id="113" name="Google Shape;113;p14"/>
          <p:cNvSpPr txBox="1"/>
          <p:nvPr/>
        </p:nvSpPr>
        <p:spPr>
          <a:xfrm>
            <a:off x="-10653311" y="9715322"/>
            <a:ext cx="13923203" cy="285768"/>
          </a:xfrm>
          <a:prstGeom prst="rect">
            <a:avLst/>
          </a:prstGeom>
          <a:noFill/>
          <a:ln>
            <a:noFill/>
          </a:ln>
        </p:spPr>
        <p:txBody>
          <a:bodyPr spcFirstLastPara="1" wrap="square" lIns="0" tIns="0" rIns="0" bIns="0" anchor="t" anchorCtr="0">
            <a:spAutoFit/>
          </a:bodyPr>
          <a:lstStyle/>
          <a:p>
            <a:pPr marL="0" marR="0" lvl="0" indent="0" algn="r" rtl="0">
              <a:lnSpc>
                <a:spcPct val="111993"/>
              </a:lnSpc>
              <a:spcBef>
                <a:spcPts val="0"/>
              </a:spcBef>
              <a:spcAft>
                <a:spcPts val="0"/>
              </a:spcAft>
              <a:buNone/>
            </a:pPr>
            <a:r>
              <a:rPr lang="en-US" sz="1876" b="0" i="0" u="none" strike="noStrike" cap="none">
                <a:solidFill>
                  <a:srgbClr val="FEFEFE"/>
                </a:solidFill>
                <a:latin typeface="Roboto"/>
                <a:ea typeface="Roboto"/>
                <a:cs typeface="Roboto"/>
                <a:sym typeface="Roboto"/>
              </a:rPr>
              <a:t>https://edulife.com.vn/</a:t>
            </a:r>
            <a:endParaRPr/>
          </a:p>
        </p:txBody>
      </p:sp>
      <p:grpSp>
        <p:nvGrpSpPr>
          <p:cNvPr id="114" name="Google Shape;114;p14"/>
          <p:cNvGrpSpPr/>
          <p:nvPr/>
        </p:nvGrpSpPr>
        <p:grpSpPr>
          <a:xfrm>
            <a:off x="-2718010" y="9274528"/>
            <a:ext cx="7950400" cy="1707231"/>
            <a:chOff x="0" y="-384762"/>
            <a:chExt cx="10600533" cy="2276307"/>
          </a:xfrm>
        </p:grpSpPr>
        <p:grpSp>
          <p:nvGrpSpPr>
            <p:cNvPr id="115" name="Google Shape;115;p14"/>
            <p:cNvGrpSpPr/>
            <p:nvPr/>
          </p:nvGrpSpPr>
          <p:grpSpPr>
            <a:xfrm>
              <a:off x="0" y="-384762"/>
              <a:ext cx="10600533" cy="2276307"/>
              <a:chOff x="0" y="-38100"/>
              <a:chExt cx="1049690" cy="225405"/>
            </a:xfrm>
          </p:grpSpPr>
          <p:sp>
            <p:nvSpPr>
              <p:cNvPr id="116" name="Google Shape;116;p14"/>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17" name="Google Shape;117;p14"/>
              <p:cNvSpPr txBox="1"/>
              <p:nvPr/>
            </p:nvSpPr>
            <p:spPr>
              <a:xfrm>
                <a:off x="127000" y="-38100"/>
                <a:ext cx="79569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118" name="Google Shape;118;p14"/>
            <p:cNvSpPr txBox="1"/>
            <p:nvPr/>
          </p:nvSpPr>
          <p:spPr>
            <a:xfrm>
              <a:off x="4182979" y="666743"/>
              <a:ext cx="3721150" cy="529484"/>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9" name="Google Shape;119;p14"/>
          <p:cNvGrpSpPr/>
          <p:nvPr/>
        </p:nvGrpSpPr>
        <p:grpSpPr>
          <a:xfrm>
            <a:off x="6934201" y="4203214"/>
            <a:ext cx="10121389" cy="1245090"/>
            <a:chOff x="6934200" y="7048502"/>
            <a:chExt cx="9882630" cy="1159137"/>
          </a:xfrm>
        </p:grpSpPr>
        <p:grpSp>
          <p:nvGrpSpPr>
            <p:cNvPr id="120" name="Google Shape;120;p14"/>
            <p:cNvGrpSpPr/>
            <p:nvPr/>
          </p:nvGrpSpPr>
          <p:grpSpPr>
            <a:xfrm>
              <a:off x="6934200" y="7048502"/>
              <a:ext cx="9882630" cy="1159137"/>
              <a:chOff x="6487861" y="7950596"/>
              <a:chExt cx="10571780" cy="1289204"/>
            </a:xfrm>
          </p:grpSpPr>
          <p:sp>
            <p:nvSpPr>
              <p:cNvPr id="121" name="Google Shape;121;p14"/>
              <p:cNvSpPr/>
              <p:nvPr/>
            </p:nvSpPr>
            <p:spPr>
              <a:xfrm>
                <a:off x="6517678" y="7950596"/>
                <a:ext cx="10541963" cy="1289204"/>
              </a:xfrm>
              <a:prstGeom prst="roundRect">
                <a:avLst>
                  <a:gd name="adj" fmla="val 50000"/>
                </a:avLst>
              </a:prstGeom>
              <a:solidFill>
                <a:srgbClr val="0183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b="1" i="0" u="none" strike="noStrike" cap="none">
                  <a:solidFill>
                    <a:schemeClr val="lt1"/>
                  </a:solidFill>
                  <a:latin typeface="Calibri"/>
                  <a:ea typeface="Calibri"/>
                  <a:cs typeface="Calibri"/>
                  <a:sym typeface="Calibri"/>
                </a:endParaRPr>
              </a:p>
            </p:txBody>
          </p:sp>
          <p:sp>
            <p:nvSpPr>
              <p:cNvPr id="122" name="Google Shape;122;p14"/>
              <p:cNvSpPr/>
              <p:nvPr/>
            </p:nvSpPr>
            <p:spPr>
              <a:xfrm>
                <a:off x="6487861" y="7968363"/>
                <a:ext cx="1253681" cy="1253680"/>
              </a:xfrm>
              <a:custGeom>
                <a:avLst/>
                <a:gdLst/>
                <a:ahLst/>
                <a:cxnLst/>
                <a:rect l="l" t="t" r="r" b="b"/>
                <a:pathLst>
                  <a:path w="1671574" h="1671574" extrusionOk="0">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600" b="1">
                  <a:solidFill>
                    <a:schemeClr val="dk1"/>
                  </a:solidFill>
                  <a:latin typeface="Calibri"/>
                  <a:ea typeface="Calibri"/>
                  <a:cs typeface="Calibri"/>
                  <a:sym typeface="Calibri"/>
                </a:endParaRPr>
              </a:p>
            </p:txBody>
          </p:sp>
          <p:sp>
            <p:nvSpPr>
              <p:cNvPr id="123" name="Google Shape;123;p14"/>
              <p:cNvSpPr txBox="1"/>
              <p:nvPr/>
            </p:nvSpPr>
            <p:spPr>
              <a:xfrm>
                <a:off x="7905394" y="8347046"/>
                <a:ext cx="7896000" cy="510000"/>
              </a:xfrm>
              <a:prstGeom prst="rect">
                <a:avLst/>
              </a:prstGeom>
              <a:noFill/>
              <a:ln>
                <a:noFill/>
              </a:ln>
            </p:spPr>
            <p:txBody>
              <a:bodyPr spcFirstLastPara="1" wrap="square" lIns="0" tIns="0" rIns="0" bIns="0" anchor="t" anchorCtr="0">
                <a:spAutoFit/>
              </a:bodyPr>
              <a:lstStyle/>
              <a:p>
                <a:pPr marL="0" marR="0" lvl="0" indent="0" algn="l" rtl="0">
                  <a:lnSpc>
                    <a:spcPct val="303906"/>
                  </a:lnSpc>
                  <a:spcBef>
                    <a:spcPts val="0"/>
                  </a:spcBef>
                  <a:spcAft>
                    <a:spcPts val="0"/>
                  </a:spcAft>
                  <a:buNone/>
                </a:pPr>
                <a:r>
                  <a:rPr lang="en-US" sz="3200" b="1">
                    <a:solidFill>
                      <a:schemeClr val="lt1"/>
                    </a:solidFill>
                    <a:latin typeface="Montserrat"/>
                    <a:ea typeface="Montserrat"/>
                    <a:cs typeface="Montserrat"/>
                    <a:sym typeface="Montserrat"/>
                  </a:rPr>
                  <a:t>Những lưu ý khi làm bài nghe Aptis</a:t>
                </a:r>
                <a:endParaRPr sz="3200" b="1">
                  <a:solidFill>
                    <a:schemeClr val="lt1"/>
                  </a:solidFill>
                  <a:latin typeface="Montserrat"/>
                  <a:ea typeface="Montserrat"/>
                  <a:cs typeface="Montserrat"/>
                  <a:sym typeface="Montserrat"/>
                </a:endParaRPr>
              </a:p>
            </p:txBody>
          </p:sp>
        </p:grpSp>
        <p:pic>
          <p:nvPicPr>
            <p:cNvPr id="124" name="Google Shape;124;p14" descr="Envelope with solid fill"/>
            <p:cNvPicPr preferRelativeResize="0"/>
            <p:nvPr/>
          </p:nvPicPr>
          <p:blipFill rotWithShape="1">
            <a:blip r:embed="rId4">
              <a:alphaModFix/>
            </a:blip>
            <a:srcRect/>
            <a:stretch/>
          </p:blipFill>
          <p:spPr>
            <a:xfrm>
              <a:off x="7167192" y="7214481"/>
              <a:ext cx="773941" cy="773941"/>
            </a:xfrm>
            <a:prstGeom prst="rect">
              <a:avLst/>
            </a:prstGeom>
            <a:noFill/>
            <a:ln>
              <a:noFill/>
            </a:ln>
          </p:spPr>
        </p:pic>
      </p:grpSp>
      <p:grpSp>
        <p:nvGrpSpPr>
          <p:cNvPr id="125" name="Google Shape;125;p14"/>
          <p:cNvGrpSpPr/>
          <p:nvPr/>
        </p:nvGrpSpPr>
        <p:grpSpPr>
          <a:xfrm>
            <a:off x="6962074" y="5727211"/>
            <a:ext cx="10149936" cy="1245089"/>
            <a:chOff x="6962073" y="8572500"/>
            <a:chExt cx="9910504" cy="1159136"/>
          </a:xfrm>
        </p:grpSpPr>
        <p:sp>
          <p:nvSpPr>
            <p:cNvPr id="126" name="Google Shape;126;p14"/>
            <p:cNvSpPr/>
            <p:nvPr/>
          </p:nvSpPr>
          <p:spPr>
            <a:xfrm>
              <a:off x="6989946" y="8572500"/>
              <a:ext cx="9854758" cy="1159136"/>
            </a:xfrm>
            <a:prstGeom prst="roundRect">
              <a:avLst>
                <a:gd name="adj" fmla="val 50000"/>
              </a:avLst>
            </a:prstGeom>
            <a:solidFill>
              <a:srgbClr val="0183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b="1">
                <a:solidFill>
                  <a:schemeClr val="lt1"/>
                </a:solidFill>
                <a:latin typeface="Calibri"/>
                <a:ea typeface="Calibri"/>
                <a:cs typeface="Calibri"/>
                <a:sym typeface="Calibri"/>
              </a:endParaRPr>
            </a:p>
          </p:txBody>
        </p:sp>
        <p:sp>
          <p:nvSpPr>
            <p:cNvPr id="127" name="Google Shape;127;p14"/>
            <p:cNvSpPr/>
            <p:nvPr/>
          </p:nvSpPr>
          <p:spPr>
            <a:xfrm>
              <a:off x="6962073" y="8588470"/>
              <a:ext cx="1171956" cy="1127196"/>
            </a:xfrm>
            <a:custGeom>
              <a:avLst/>
              <a:gdLst/>
              <a:ahLst/>
              <a:cxnLst/>
              <a:rect l="l" t="t" r="r" b="b"/>
              <a:pathLst>
                <a:path w="1671574" h="1671574" extrusionOk="0">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600" b="1">
                <a:solidFill>
                  <a:schemeClr val="dk1"/>
                </a:solidFill>
                <a:latin typeface="Calibri"/>
                <a:ea typeface="Calibri"/>
                <a:cs typeface="Calibri"/>
                <a:sym typeface="Calibri"/>
              </a:endParaRPr>
            </a:p>
          </p:txBody>
        </p:sp>
        <p:sp>
          <p:nvSpPr>
            <p:cNvPr id="128" name="Google Shape;128;p14"/>
            <p:cNvSpPr txBox="1"/>
            <p:nvPr/>
          </p:nvSpPr>
          <p:spPr>
            <a:xfrm>
              <a:off x="8403048" y="8840948"/>
              <a:ext cx="8469529" cy="52417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200" b="1">
                  <a:solidFill>
                    <a:srgbClr val="FFFFFF"/>
                  </a:solidFill>
                  <a:latin typeface="Montserrat"/>
                  <a:ea typeface="Montserrat"/>
                  <a:cs typeface="Montserrat"/>
                  <a:sym typeface="Montserrat"/>
                </a:rPr>
                <a:t>Đề mẫu</a:t>
              </a:r>
              <a:endParaRPr sz="3200" b="1">
                <a:solidFill>
                  <a:srgbClr val="FFFFFF"/>
                </a:solidFill>
                <a:latin typeface="Montserrat"/>
                <a:ea typeface="Montserrat"/>
                <a:cs typeface="Montserrat"/>
                <a:sym typeface="Montserrat"/>
              </a:endParaRPr>
            </a:p>
          </p:txBody>
        </p:sp>
        <p:pic>
          <p:nvPicPr>
            <p:cNvPr id="129" name="Google Shape;129;p14" descr="Pencil with solid fill"/>
            <p:cNvPicPr preferRelativeResize="0"/>
            <p:nvPr/>
          </p:nvPicPr>
          <p:blipFill rotWithShape="1">
            <a:blip r:embed="rId5">
              <a:alphaModFix/>
            </a:blip>
            <a:srcRect/>
            <a:stretch/>
          </p:blipFill>
          <p:spPr>
            <a:xfrm>
              <a:off x="7147974" y="8738481"/>
              <a:ext cx="797413" cy="797413"/>
            </a:xfrm>
            <a:prstGeom prst="rect">
              <a:avLst/>
            </a:prstGeom>
            <a:noFill/>
            <a:ln>
              <a:noFill/>
            </a:ln>
          </p:spPr>
        </p:pic>
      </p:grpSp>
      <p:grpSp>
        <p:nvGrpSpPr>
          <p:cNvPr id="130" name="Google Shape;130;p14"/>
          <p:cNvGrpSpPr/>
          <p:nvPr/>
        </p:nvGrpSpPr>
        <p:grpSpPr>
          <a:xfrm>
            <a:off x="6947410" y="7175011"/>
            <a:ext cx="10121390" cy="1245089"/>
            <a:chOff x="6947410" y="8856876"/>
            <a:chExt cx="9366600" cy="1016489"/>
          </a:xfrm>
        </p:grpSpPr>
        <p:grpSp>
          <p:nvGrpSpPr>
            <p:cNvPr id="131" name="Google Shape;131;p14"/>
            <p:cNvGrpSpPr/>
            <p:nvPr/>
          </p:nvGrpSpPr>
          <p:grpSpPr>
            <a:xfrm>
              <a:off x="6947410" y="8856876"/>
              <a:ext cx="9366600" cy="1016489"/>
              <a:chOff x="6962073" y="8572500"/>
              <a:chExt cx="9882631" cy="1159136"/>
            </a:xfrm>
          </p:grpSpPr>
          <p:sp>
            <p:nvSpPr>
              <p:cNvPr id="132" name="Google Shape;132;p14"/>
              <p:cNvSpPr/>
              <p:nvPr/>
            </p:nvSpPr>
            <p:spPr>
              <a:xfrm>
                <a:off x="6989946" y="8572500"/>
                <a:ext cx="9854758" cy="1159136"/>
              </a:xfrm>
              <a:prstGeom prst="roundRect">
                <a:avLst>
                  <a:gd name="adj" fmla="val 50000"/>
                </a:avLst>
              </a:prstGeom>
              <a:solidFill>
                <a:srgbClr val="0183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b="1">
                  <a:solidFill>
                    <a:schemeClr val="lt1"/>
                  </a:solidFill>
                  <a:latin typeface="Calibri"/>
                  <a:ea typeface="Calibri"/>
                  <a:cs typeface="Calibri"/>
                  <a:sym typeface="Calibri"/>
                </a:endParaRPr>
              </a:p>
            </p:txBody>
          </p:sp>
          <p:sp>
            <p:nvSpPr>
              <p:cNvPr id="133" name="Google Shape;133;p14"/>
              <p:cNvSpPr/>
              <p:nvPr/>
            </p:nvSpPr>
            <p:spPr>
              <a:xfrm>
                <a:off x="6962073" y="8588470"/>
                <a:ext cx="1171956" cy="1127196"/>
              </a:xfrm>
              <a:custGeom>
                <a:avLst/>
                <a:gdLst/>
                <a:ahLst/>
                <a:cxnLst/>
                <a:rect l="l" t="t" r="r" b="b"/>
                <a:pathLst>
                  <a:path w="1671574" h="1671574" extrusionOk="0">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600" b="1">
                  <a:solidFill>
                    <a:schemeClr val="dk1"/>
                  </a:solidFill>
                  <a:latin typeface="Calibri"/>
                  <a:ea typeface="Calibri"/>
                  <a:cs typeface="Calibri"/>
                  <a:sym typeface="Calibri"/>
                </a:endParaRPr>
              </a:p>
            </p:txBody>
          </p:sp>
          <p:sp>
            <p:nvSpPr>
              <p:cNvPr id="134" name="Google Shape;134;p14"/>
              <p:cNvSpPr txBox="1"/>
              <p:nvPr/>
            </p:nvSpPr>
            <p:spPr>
              <a:xfrm>
                <a:off x="8459833" y="8840948"/>
                <a:ext cx="8087261" cy="53599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200" b="1">
                    <a:solidFill>
                      <a:srgbClr val="FFFFFF"/>
                    </a:solidFill>
                    <a:latin typeface="Montserrat"/>
                    <a:ea typeface="Montserrat"/>
                    <a:cs typeface="Montserrat"/>
                    <a:sym typeface="Montserrat"/>
                  </a:rPr>
                  <a:t>Hướng dẫn trả lời</a:t>
                </a:r>
                <a:endParaRPr sz="3200" b="1">
                  <a:solidFill>
                    <a:srgbClr val="FFFFFF"/>
                  </a:solidFill>
                  <a:latin typeface="Montserrat"/>
                  <a:ea typeface="Montserrat"/>
                  <a:cs typeface="Montserrat"/>
                  <a:sym typeface="Montserrat"/>
                </a:endParaRPr>
              </a:p>
            </p:txBody>
          </p:sp>
        </p:grpSp>
        <p:pic>
          <p:nvPicPr>
            <p:cNvPr id="135" name="Google Shape;135;p14" descr="Books on shelf with solid fill"/>
            <p:cNvPicPr preferRelativeResize="0"/>
            <p:nvPr/>
          </p:nvPicPr>
          <p:blipFill rotWithShape="1">
            <a:blip r:embed="rId6">
              <a:alphaModFix/>
            </a:blip>
            <a:srcRect/>
            <a:stretch/>
          </p:blipFill>
          <p:spPr>
            <a:xfrm>
              <a:off x="7156012" y="8963133"/>
              <a:ext cx="753302" cy="753302"/>
            </a:xfrm>
            <a:prstGeom prst="rect">
              <a:avLst/>
            </a:prstGeom>
            <a:noFill/>
            <a:ln>
              <a:noFill/>
            </a:ln>
          </p:spPr>
        </p:pic>
      </p:grpSp>
      <p:grpSp>
        <p:nvGrpSpPr>
          <p:cNvPr id="136" name="Google Shape;136;p14"/>
          <p:cNvGrpSpPr/>
          <p:nvPr/>
        </p:nvGrpSpPr>
        <p:grpSpPr>
          <a:xfrm>
            <a:off x="7010400" y="8669916"/>
            <a:ext cx="10121390" cy="1245089"/>
            <a:chOff x="6947410" y="8856876"/>
            <a:chExt cx="9366600" cy="1016489"/>
          </a:xfrm>
        </p:grpSpPr>
        <p:grpSp>
          <p:nvGrpSpPr>
            <p:cNvPr id="137" name="Google Shape;137;p14"/>
            <p:cNvGrpSpPr/>
            <p:nvPr/>
          </p:nvGrpSpPr>
          <p:grpSpPr>
            <a:xfrm>
              <a:off x="6947410" y="8856876"/>
              <a:ext cx="9366600" cy="1016489"/>
              <a:chOff x="6962073" y="8572500"/>
              <a:chExt cx="9882631" cy="1159136"/>
            </a:xfrm>
          </p:grpSpPr>
          <p:sp>
            <p:nvSpPr>
              <p:cNvPr id="138" name="Google Shape;138;p14"/>
              <p:cNvSpPr/>
              <p:nvPr/>
            </p:nvSpPr>
            <p:spPr>
              <a:xfrm>
                <a:off x="6989946" y="8572500"/>
                <a:ext cx="9854758" cy="1159136"/>
              </a:xfrm>
              <a:prstGeom prst="roundRect">
                <a:avLst>
                  <a:gd name="adj" fmla="val 50000"/>
                </a:avLst>
              </a:prstGeom>
              <a:solidFill>
                <a:srgbClr val="0183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3600" b="1">
                  <a:solidFill>
                    <a:schemeClr val="lt1"/>
                  </a:solidFill>
                  <a:latin typeface="Calibri"/>
                  <a:ea typeface="Calibri"/>
                  <a:cs typeface="Calibri"/>
                  <a:sym typeface="Calibri"/>
                </a:endParaRPr>
              </a:p>
            </p:txBody>
          </p:sp>
          <p:sp>
            <p:nvSpPr>
              <p:cNvPr id="139" name="Google Shape;139;p14"/>
              <p:cNvSpPr/>
              <p:nvPr/>
            </p:nvSpPr>
            <p:spPr>
              <a:xfrm>
                <a:off x="6962073" y="8588470"/>
                <a:ext cx="1171956" cy="1127196"/>
              </a:xfrm>
              <a:custGeom>
                <a:avLst/>
                <a:gdLst/>
                <a:ahLst/>
                <a:cxnLst/>
                <a:rect l="l" t="t" r="r" b="b"/>
                <a:pathLst>
                  <a:path w="1671574" h="1671574" extrusionOk="0">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600" b="1">
                  <a:solidFill>
                    <a:schemeClr val="dk1"/>
                  </a:solidFill>
                  <a:latin typeface="Calibri"/>
                  <a:ea typeface="Calibri"/>
                  <a:cs typeface="Calibri"/>
                  <a:sym typeface="Calibri"/>
                </a:endParaRPr>
              </a:p>
            </p:txBody>
          </p:sp>
          <p:sp>
            <p:nvSpPr>
              <p:cNvPr id="140" name="Google Shape;140;p14"/>
              <p:cNvSpPr txBox="1"/>
              <p:nvPr/>
            </p:nvSpPr>
            <p:spPr>
              <a:xfrm>
                <a:off x="8459833" y="8840948"/>
                <a:ext cx="8087261" cy="53599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3200" b="1">
                    <a:solidFill>
                      <a:srgbClr val="FFFFFF"/>
                    </a:solidFill>
                    <a:latin typeface="Montserrat"/>
                    <a:ea typeface="Montserrat"/>
                    <a:cs typeface="Montserrat"/>
                    <a:sym typeface="Montserrat"/>
                  </a:rPr>
                  <a:t>Luyện tập</a:t>
                </a:r>
                <a:endParaRPr sz="3200" b="1">
                  <a:solidFill>
                    <a:srgbClr val="FFFFFF"/>
                  </a:solidFill>
                  <a:latin typeface="Montserrat"/>
                  <a:ea typeface="Montserrat"/>
                  <a:cs typeface="Montserrat"/>
                  <a:sym typeface="Montserrat"/>
                </a:endParaRPr>
              </a:p>
            </p:txBody>
          </p:sp>
        </p:grpSp>
        <p:pic>
          <p:nvPicPr>
            <p:cNvPr id="141" name="Google Shape;141;p14" descr="Books on shelf with solid fill"/>
            <p:cNvPicPr preferRelativeResize="0"/>
            <p:nvPr/>
          </p:nvPicPr>
          <p:blipFill rotWithShape="1">
            <a:blip r:embed="rId6">
              <a:alphaModFix/>
            </a:blip>
            <a:srcRect/>
            <a:stretch/>
          </p:blipFill>
          <p:spPr>
            <a:xfrm>
              <a:off x="7156012" y="8963133"/>
              <a:ext cx="753302" cy="753302"/>
            </a:xfrm>
            <a:prstGeom prst="rect">
              <a:avLst/>
            </a:prstGeom>
            <a:noFill/>
            <a:ln>
              <a:noFill/>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23" presetClass="entr" presetSubtype="16" fill="hold" nodeType="withEffect">
                                  <p:stCondLst>
                                    <p:cond delay="0"/>
                                  </p:stCondLst>
                                  <p:childTnLst>
                                    <p:set>
                                      <p:cBhvr>
                                        <p:cTn id="8" dur="1" fill="hold">
                                          <p:stCondLst>
                                            <p:cond delay="0"/>
                                          </p:stCondLst>
                                        </p:cTn>
                                        <p:tgtEl>
                                          <p:spTgt spid="100"/>
                                        </p:tgtEl>
                                        <p:attrNameLst>
                                          <p:attrName>style.visibility</p:attrName>
                                        </p:attrNameLst>
                                      </p:cBhvr>
                                      <p:to>
                                        <p:strVal val="visible"/>
                                      </p:to>
                                    </p:set>
                                    <p:anim calcmode="lin" valueType="num">
                                      <p:cBhvr additive="base">
                                        <p:cTn id="9" dur="500"/>
                                        <p:tgtEl>
                                          <p:spTgt spid="100"/>
                                        </p:tgtEl>
                                        <p:attrNameLst>
                                          <p:attrName>ppt_w</p:attrName>
                                        </p:attrNameLst>
                                      </p:cBhvr>
                                      <p:tavLst>
                                        <p:tav tm="0">
                                          <p:val>
                                            <p:strVal val="0"/>
                                          </p:val>
                                        </p:tav>
                                        <p:tav tm="100000">
                                          <p:val>
                                            <p:strVal val="#ppt_w"/>
                                          </p:val>
                                        </p:tav>
                                      </p:tavLst>
                                    </p:anim>
                                    <p:anim calcmode="lin" valueType="num">
                                      <p:cBhvr additive="base">
                                        <p:cTn id="10" dur="500"/>
                                        <p:tgtEl>
                                          <p:spTgt spid="100"/>
                                        </p:tgtEl>
                                        <p:attrNameLst>
                                          <p:attrName>ppt_h</p:attrName>
                                        </p:attrNameLst>
                                      </p:cBhvr>
                                      <p:tavLst>
                                        <p:tav tm="0">
                                          <p:val>
                                            <p:str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106"/>
                                        </p:tgtEl>
                                        <p:attrNameLst>
                                          <p:attrName>style.visibility</p:attrName>
                                        </p:attrNameLst>
                                      </p:cBhvr>
                                      <p:to>
                                        <p:strVal val="visible"/>
                                      </p:to>
                                    </p:set>
                                    <p:anim calcmode="lin" valueType="num">
                                      <p:cBhvr additive="base">
                                        <p:cTn id="15" dur="500"/>
                                        <p:tgtEl>
                                          <p:spTgt spid="106"/>
                                        </p:tgtEl>
                                        <p:attrNameLst>
                                          <p:attrName>ppt_x</p:attrName>
                                        </p:attrNameLst>
                                      </p:cBhvr>
                                      <p:tavLst>
                                        <p:tav tm="0">
                                          <p:val>
                                            <p:strVal val="#ppt_x-1"/>
                                          </p:val>
                                        </p:tav>
                                        <p:tav tm="100000">
                                          <p:val>
                                            <p:strVal val="#ppt_x"/>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nodeType="clickEffect">
                                  <p:stCondLst>
                                    <p:cond delay="0"/>
                                  </p:stCondLst>
                                  <p:childTnLst>
                                    <p:set>
                                      <p:cBhvr>
                                        <p:cTn id="19" dur="1" fill="hold">
                                          <p:stCondLst>
                                            <p:cond delay="0"/>
                                          </p:stCondLst>
                                        </p:cTn>
                                        <p:tgtEl>
                                          <p:spTgt spid="119"/>
                                        </p:tgtEl>
                                        <p:attrNameLst>
                                          <p:attrName>style.visibility</p:attrName>
                                        </p:attrNameLst>
                                      </p:cBhvr>
                                      <p:to>
                                        <p:strVal val="visible"/>
                                      </p:to>
                                    </p:set>
                                    <p:anim calcmode="lin" valueType="num">
                                      <p:cBhvr additive="base">
                                        <p:cTn id="20" dur="500"/>
                                        <p:tgtEl>
                                          <p:spTgt spid="119"/>
                                        </p:tgtEl>
                                        <p:attrNameLst>
                                          <p:attrName>ppt_x</p:attrName>
                                        </p:attrNameLst>
                                      </p:cBhvr>
                                      <p:tavLst>
                                        <p:tav tm="0">
                                          <p:val>
                                            <p:strVal val="#ppt_x-1"/>
                                          </p:val>
                                        </p:tav>
                                        <p:tav tm="100000">
                                          <p:val>
                                            <p:strVal val="#ppt_x"/>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125"/>
                                        </p:tgtEl>
                                        <p:attrNameLst>
                                          <p:attrName>style.visibility</p:attrName>
                                        </p:attrNameLst>
                                      </p:cBhvr>
                                      <p:to>
                                        <p:strVal val="visible"/>
                                      </p:to>
                                    </p:set>
                                    <p:anim calcmode="lin" valueType="num">
                                      <p:cBhvr additive="base">
                                        <p:cTn id="25" dur="500"/>
                                        <p:tgtEl>
                                          <p:spTgt spid="125"/>
                                        </p:tgtEl>
                                        <p:attrNameLst>
                                          <p:attrName>ppt_x</p:attrName>
                                        </p:attrNameLst>
                                      </p:cBhvr>
                                      <p:tavLst>
                                        <p:tav tm="0">
                                          <p:val>
                                            <p:strVal val="#ppt_x-1"/>
                                          </p:val>
                                        </p:tav>
                                        <p:tav tm="100000">
                                          <p:val>
                                            <p:strVal val="#ppt_x"/>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nodeType="clickEffect">
                                  <p:stCondLst>
                                    <p:cond delay="0"/>
                                  </p:stCondLst>
                                  <p:childTnLst>
                                    <p:set>
                                      <p:cBhvr>
                                        <p:cTn id="29" dur="1" fill="hold">
                                          <p:stCondLst>
                                            <p:cond delay="0"/>
                                          </p:stCondLst>
                                        </p:cTn>
                                        <p:tgtEl>
                                          <p:spTgt spid="130"/>
                                        </p:tgtEl>
                                        <p:attrNameLst>
                                          <p:attrName>style.visibility</p:attrName>
                                        </p:attrNameLst>
                                      </p:cBhvr>
                                      <p:to>
                                        <p:strVal val="visible"/>
                                      </p:to>
                                    </p:set>
                                    <p:anim calcmode="lin" valueType="num">
                                      <p:cBhvr additive="base">
                                        <p:cTn id="30" dur="500"/>
                                        <p:tgtEl>
                                          <p:spTgt spid="130"/>
                                        </p:tgtEl>
                                        <p:attrNameLst>
                                          <p:attrName>ppt_x</p:attrName>
                                        </p:attrNameLst>
                                      </p:cBhvr>
                                      <p:tavLst>
                                        <p:tav tm="0">
                                          <p:val>
                                            <p:strVal val="#ppt_x-1"/>
                                          </p:val>
                                        </p:tav>
                                        <p:tav tm="100000">
                                          <p:val>
                                            <p:strVal val="#ppt_x"/>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136"/>
                                        </p:tgtEl>
                                        <p:attrNameLst>
                                          <p:attrName>style.visibility</p:attrName>
                                        </p:attrNameLst>
                                      </p:cBhvr>
                                      <p:to>
                                        <p:strVal val="visible"/>
                                      </p:to>
                                    </p:set>
                                    <p:anim calcmode="lin" valueType="num">
                                      <p:cBhvr additive="base">
                                        <p:cTn id="35" dur="500"/>
                                        <p:tgtEl>
                                          <p:spTgt spid="136"/>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cxnSp>
        <p:nvCxnSpPr>
          <p:cNvPr id="146" name="Google Shape;146;p15"/>
          <p:cNvCxnSpPr/>
          <p:nvPr/>
        </p:nvCxnSpPr>
        <p:spPr>
          <a:xfrm>
            <a:off x="6400799" y="2235185"/>
            <a:ext cx="9982201" cy="0"/>
          </a:xfrm>
          <a:prstGeom prst="straightConnector1">
            <a:avLst/>
          </a:prstGeom>
          <a:noFill/>
          <a:ln w="38100" cap="flat" cmpd="sng">
            <a:solidFill>
              <a:srgbClr val="018345"/>
            </a:solidFill>
            <a:prstDash val="solid"/>
            <a:round/>
            <a:headEnd type="none" w="sm" len="sm"/>
            <a:tailEnd type="none" w="sm" len="sm"/>
          </a:ln>
        </p:spPr>
      </p:cxnSp>
      <p:cxnSp>
        <p:nvCxnSpPr>
          <p:cNvPr id="147" name="Google Shape;147;p15"/>
          <p:cNvCxnSpPr/>
          <p:nvPr/>
        </p:nvCxnSpPr>
        <p:spPr>
          <a:xfrm>
            <a:off x="-249883" y="5124450"/>
            <a:ext cx="5303520" cy="0"/>
          </a:xfrm>
          <a:prstGeom prst="straightConnector1">
            <a:avLst/>
          </a:prstGeom>
          <a:noFill/>
          <a:ln w="38100" cap="flat" cmpd="sng">
            <a:solidFill>
              <a:srgbClr val="FFFFFF"/>
            </a:solidFill>
            <a:prstDash val="solid"/>
            <a:round/>
            <a:headEnd type="none" w="sm" len="sm"/>
            <a:tailEnd type="none" w="sm" len="sm"/>
          </a:ln>
        </p:spPr>
      </p:cxnSp>
      <p:grpSp>
        <p:nvGrpSpPr>
          <p:cNvPr id="148" name="Google Shape;148;p15"/>
          <p:cNvGrpSpPr/>
          <p:nvPr/>
        </p:nvGrpSpPr>
        <p:grpSpPr>
          <a:xfrm rot="10800000">
            <a:off x="15044552" y="-741521"/>
            <a:ext cx="7681766" cy="4260610"/>
            <a:chOff x="0" y="-38100"/>
            <a:chExt cx="406400" cy="225405"/>
          </a:xfrm>
        </p:grpSpPr>
        <p:sp>
          <p:nvSpPr>
            <p:cNvPr id="149" name="Google Shape;149;p15"/>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50" name="Google Shape;150;p15"/>
            <p:cNvSpPr txBox="1"/>
            <p:nvPr/>
          </p:nvSpPr>
          <p:spPr>
            <a:xfrm>
              <a:off x="127000" y="-38100"/>
              <a:ext cx="15240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151" name="Google Shape;151;p15" descr="Books with solid fill"/>
          <p:cNvSpPr/>
          <p:nvPr/>
        </p:nvSpPr>
        <p:spPr>
          <a:xfrm>
            <a:off x="3241317" y="6937835"/>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152" name="Google Shape;152;p15"/>
          <p:cNvSpPr/>
          <p:nvPr/>
        </p:nvSpPr>
        <p:spPr>
          <a:xfrm>
            <a:off x="18157088" y="2761190"/>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153" name="Google Shape;153;p15"/>
          <p:cNvSpPr/>
          <p:nvPr/>
        </p:nvSpPr>
        <p:spPr>
          <a:xfrm>
            <a:off x="9121603" y="5737772"/>
            <a:ext cx="5199117" cy="4549228"/>
          </a:xfrm>
          <a:custGeom>
            <a:avLst/>
            <a:gdLst/>
            <a:ahLst/>
            <a:cxnLst/>
            <a:rect l="l" t="t" r="r" b="b"/>
            <a:pathLst>
              <a:path w="5199117" h="4549228" extrusionOk="0">
                <a:moveTo>
                  <a:pt x="0" y="0"/>
                </a:moveTo>
                <a:lnTo>
                  <a:pt x="5199117" y="0"/>
                </a:lnTo>
                <a:lnTo>
                  <a:pt x="5199117" y="4549228"/>
                </a:lnTo>
                <a:lnTo>
                  <a:pt x="0" y="4549228"/>
                </a:lnTo>
                <a:lnTo>
                  <a:pt x="0" y="0"/>
                </a:lnTo>
                <a:close/>
              </a:path>
            </a:pathLst>
          </a:custGeom>
          <a:blipFill rotWithShape="1">
            <a:blip r:embed="rId5">
              <a:alphaModFix/>
            </a:blip>
            <a:stretch>
              <a:fillRect/>
            </a:stretch>
          </a:blipFill>
          <a:ln>
            <a:noFill/>
          </a:ln>
        </p:spPr>
      </p:sp>
      <p:sp>
        <p:nvSpPr>
          <p:cNvPr id="154" name="Google Shape;154;p15"/>
          <p:cNvSpPr txBox="1"/>
          <p:nvPr/>
        </p:nvSpPr>
        <p:spPr>
          <a:xfrm>
            <a:off x="7315200" y="2540878"/>
            <a:ext cx="8643900" cy="2851500"/>
          </a:xfrm>
          <a:prstGeom prst="rect">
            <a:avLst/>
          </a:prstGeom>
          <a:noFill/>
          <a:ln>
            <a:noFill/>
          </a:ln>
        </p:spPr>
        <p:txBody>
          <a:bodyPr spcFirstLastPara="1" wrap="square" lIns="0" tIns="0" rIns="0" bIns="0" anchor="t" anchorCtr="0">
            <a:spAutoFit/>
          </a:bodyPr>
          <a:lstStyle/>
          <a:p>
            <a:pPr marL="0" marR="0" lvl="0" indent="0" algn="ctr" rtl="0">
              <a:lnSpc>
                <a:spcPct val="110511"/>
              </a:lnSpc>
              <a:spcBef>
                <a:spcPts val="0"/>
              </a:spcBef>
              <a:spcAft>
                <a:spcPts val="0"/>
              </a:spcAft>
              <a:buNone/>
            </a:pPr>
            <a:r>
              <a:rPr lang="en-US" sz="8800" b="1">
                <a:solidFill>
                  <a:srgbClr val="018345"/>
                </a:solidFill>
                <a:latin typeface="Montserrat"/>
                <a:ea typeface="Montserrat"/>
                <a:cs typeface="Montserrat"/>
                <a:sym typeface="Montserrat"/>
              </a:rPr>
              <a:t>Bài nghe APTIS part 3</a:t>
            </a:r>
            <a:endParaRPr/>
          </a:p>
        </p:txBody>
      </p:sp>
      <p:sp>
        <p:nvSpPr>
          <p:cNvPr id="155" name="Google Shape;155;p15"/>
          <p:cNvSpPr txBox="1"/>
          <p:nvPr/>
        </p:nvSpPr>
        <p:spPr>
          <a:xfrm>
            <a:off x="10210111" y="339710"/>
            <a:ext cx="2146722" cy="1895475"/>
          </a:xfrm>
          <a:prstGeom prst="rect">
            <a:avLst/>
          </a:prstGeom>
          <a:noFill/>
          <a:ln>
            <a:noFill/>
          </a:ln>
        </p:spPr>
        <p:txBody>
          <a:bodyPr spcFirstLastPara="1" wrap="square" lIns="0" tIns="0" rIns="0" bIns="0" anchor="t" anchorCtr="0">
            <a:spAutoFit/>
          </a:bodyPr>
          <a:lstStyle/>
          <a:p>
            <a:pPr marL="0" marR="0" lvl="0" indent="0" algn="ctr" rtl="0">
              <a:lnSpc>
                <a:spcPct val="119998"/>
              </a:lnSpc>
              <a:spcBef>
                <a:spcPts val="0"/>
              </a:spcBef>
              <a:spcAft>
                <a:spcPts val="0"/>
              </a:spcAft>
              <a:buNone/>
            </a:pPr>
            <a:r>
              <a:rPr lang="en-US" sz="12461" b="1">
                <a:solidFill>
                  <a:srgbClr val="018345"/>
                </a:solidFill>
                <a:latin typeface="Montserrat"/>
                <a:ea typeface="Montserrat"/>
                <a:cs typeface="Montserrat"/>
                <a:sym typeface="Montserrat"/>
              </a:rPr>
              <a:t>01</a:t>
            </a:r>
            <a:endParaRPr/>
          </a:p>
        </p:txBody>
      </p:sp>
      <p:sp>
        <p:nvSpPr>
          <p:cNvPr id="156" name="Google Shape;156;p15"/>
          <p:cNvSpPr txBox="1"/>
          <p:nvPr/>
        </p:nvSpPr>
        <p:spPr>
          <a:xfrm>
            <a:off x="-10653311" y="9715322"/>
            <a:ext cx="13923203" cy="285768"/>
          </a:xfrm>
          <a:prstGeom prst="rect">
            <a:avLst/>
          </a:prstGeom>
          <a:noFill/>
          <a:ln>
            <a:noFill/>
          </a:ln>
        </p:spPr>
        <p:txBody>
          <a:bodyPr spcFirstLastPara="1" wrap="square" lIns="0" tIns="0" rIns="0" bIns="0" anchor="t" anchorCtr="0">
            <a:spAutoFit/>
          </a:bodyPr>
          <a:lstStyle/>
          <a:p>
            <a:pPr marL="0" marR="0" lvl="0" indent="0" algn="r" rtl="0">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57" name="Google Shape;157;p15"/>
          <p:cNvGrpSpPr/>
          <p:nvPr/>
        </p:nvGrpSpPr>
        <p:grpSpPr>
          <a:xfrm>
            <a:off x="-2718010" y="9274528"/>
            <a:ext cx="7950400" cy="1707231"/>
            <a:chOff x="0" y="-384762"/>
            <a:chExt cx="10600533" cy="2276307"/>
          </a:xfrm>
        </p:grpSpPr>
        <p:grpSp>
          <p:nvGrpSpPr>
            <p:cNvPr id="158" name="Google Shape;158;p15"/>
            <p:cNvGrpSpPr/>
            <p:nvPr/>
          </p:nvGrpSpPr>
          <p:grpSpPr>
            <a:xfrm>
              <a:off x="0" y="-384762"/>
              <a:ext cx="10600533" cy="2276307"/>
              <a:chOff x="0" y="-38100"/>
              <a:chExt cx="1049690" cy="225405"/>
            </a:xfrm>
          </p:grpSpPr>
          <p:sp>
            <p:nvSpPr>
              <p:cNvPr id="159" name="Google Shape;159;p15"/>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60" name="Google Shape;160;p15"/>
              <p:cNvSpPr txBox="1"/>
              <p:nvPr/>
            </p:nvSpPr>
            <p:spPr>
              <a:xfrm>
                <a:off x="127000" y="-38100"/>
                <a:ext cx="79569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161" name="Google Shape;161;p15"/>
            <p:cNvSpPr txBox="1"/>
            <p:nvPr/>
          </p:nvSpPr>
          <p:spPr>
            <a:xfrm>
              <a:off x="4182979" y="666743"/>
              <a:ext cx="3721150" cy="529484"/>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155"/>
                                        </p:tgtEl>
                                        <p:attrNameLst>
                                          <p:attrName>style.visibility</p:attrName>
                                        </p:attrNameLst>
                                      </p:cBhvr>
                                      <p:to>
                                        <p:strVal val="visible"/>
                                      </p:to>
                                    </p:set>
                                    <p:anim calcmode="lin" valueType="num">
                                      <p:cBhvr additive="base">
                                        <p:cTn id="7" dur="500"/>
                                        <p:tgtEl>
                                          <p:spTgt spid="155"/>
                                        </p:tgtEl>
                                        <p:attrNameLst>
                                          <p:attrName>ppt_w</p:attrName>
                                        </p:attrNameLst>
                                      </p:cBhvr>
                                      <p:tavLst>
                                        <p:tav tm="0">
                                          <p:val>
                                            <p:strVal val="0"/>
                                          </p:val>
                                        </p:tav>
                                        <p:tav tm="100000">
                                          <p:val>
                                            <p:strVal val="#ppt_w"/>
                                          </p:val>
                                        </p:tav>
                                      </p:tavLst>
                                    </p:anim>
                                    <p:anim calcmode="lin" valueType="num">
                                      <p:cBhvr additive="base">
                                        <p:cTn id="8" dur="500"/>
                                        <p:tgtEl>
                                          <p:spTgt spid="155"/>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54"/>
                                        </p:tgtEl>
                                        <p:attrNameLst>
                                          <p:attrName>style.visibility</p:attrName>
                                        </p:attrNameLst>
                                      </p:cBhvr>
                                      <p:to>
                                        <p:strVal val="visible"/>
                                      </p:to>
                                    </p:set>
                                    <p:anim calcmode="lin" valueType="num">
                                      <p:cBhvr additive="base">
                                        <p:cTn id="11" dur="500"/>
                                        <p:tgtEl>
                                          <p:spTgt spid="154"/>
                                        </p:tgtEl>
                                        <p:attrNameLst>
                                          <p:attrName>ppt_w</p:attrName>
                                        </p:attrNameLst>
                                      </p:cBhvr>
                                      <p:tavLst>
                                        <p:tav tm="0">
                                          <p:val>
                                            <p:strVal val="0"/>
                                          </p:val>
                                        </p:tav>
                                        <p:tav tm="100000">
                                          <p:val>
                                            <p:strVal val="#ppt_w"/>
                                          </p:val>
                                        </p:tav>
                                      </p:tavLst>
                                    </p:anim>
                                    <p:anim calcmode="lin" valueType="num">
                                      <p:cBhvr additive="base">
                                        <p:cTn id="12" dur="500"/>
                                        <p:tgtEl>
                                          <p:spTgt spid="15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6"/>
          <p:cNvSpPr/>
          <p:nvPr/>
        </p:nvSpPr>
        <p:spPr>
          <a:xfrm>
            <a:off x="5053637" y="6110389"/>
            <a:ext cx="4915200" cy="1318500"/>
          </a:xfrm>
          <a:prstGeom prst="roundRect">
            <a:avLst>
              <a:gd name="adj" fmla="val 16667"/>
            </a:avLst>
          </a:prstGeom>
          <a:solidFill>
            <a:srgbClr val="4CB487"/>
          </a:solidFill>
          <a:ln w="38100" cap="flat" cmpd="sng">
            <a:solidFill>
              <a:schemeClr val="lt1"/>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6"/>
          <p:cNvSpPr/>
          <p:nvPr/>
        </p:nvSpPr>
        <p:spPr>
          <a:xfrm>
            <a:off x="6997386" y="3582199"/>
            <a:ext cx="4915200" cy="1318500"/>
          </a:xfrm>
          <a:prstGeom prst="roundRect">
            <a:avLst>
              <a:gd name="adj" fmla="val 16667"/>
            </a:avLst>
          </a:prstGeom>
          <a:solidFill>
            <a:srgbClr val="4CB487"/>
          </a:solidFill>
          <a:ln w="38100" cap="flat" cmpd="sng">
            <a:solidFill>
              <a:schemeClr val="lt1"/>
            </a:solidFill>
            <a:prstDash val="solid"/>
            <a:round/>
            <a:headEnd type="none" w="sm" len="sm"/>
            <a:tailEnd type="none" w="sm" len="sm"/>
          </a:ln>
          <a:effectLst>
            <a:outerShdw blurRad="40000" dist="20000" dir="5400000" rotWithShape="0">
              <a:srgbClr val="000000">
                <a:alpha val="3765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9" name="Google Shape;169;p16"/>
          <p:cNvCxnSpPr/>
          <p:nvPr/>
        </p:nvCxnSpPr>
        <p:spPr>
          <a:xfrm rot="10800000" flipH="1">
            <a:off x="7543801" y="1599849"/>
            <a:ext cx="9909107" cy="50383"/>
          </a:xfrm>
          <a:prstGeom prst="straightConnector1">
            <a:avLst/>
          </a:prstGeom>
          <a:noFill/>
          <a:ln w="38100" cap="flat" cmpd="sng">
            <a:solidFill>
              <a:srgbClr val="018345"/>
            </a:solidFill>
            <a:prstDash val="solid"/>
            <a:round/>
            <a:headEnd type="none" w="sm" len="sm"/>
            <a:tailEnd type="none" w="sm" len="sm"/>
          </a:ln>
        </p:spPr>
      </p:cxnSp>
      <p:cxnSp>
        <p:nvCxnSpPr>
          <p:cNvPr id="170" name="Google Shape;170;p16"/>
          <p:cNvCxnSpPr/>
          <p:nvPr/>
        </p:nvCxnSpPr>
        <p:spPr>
          <a:xfrm>
            <a:off x="-249883" y="5124450"/>
            <a:ext cx="5303520" cy="0"/>
          </a:xfrm>
          <a:prstGeom prst="straightConnector1">
            <a:avLst/>
          </a:prstGeom>
          <a:noFill/>
          <a:ln w="38100" cap="flat" cmpd="sng">
            <a:solidFill>
              <a:srgbClr val="FFFFFF"/>
            </a:solidFill>
            <a:prstDash val="solid"/>
            <a:round/>
            <a:headEnd type="none" w="sm" len="sm"/>
            <a:tailEnd type="none" w="sm" len="sm"/>
          </a:ln>
        </p:spPr>
      </p:cxnSp>
      <p:grpSp>
        <p:nvGrpSpPr>
          <p:cNvPr id="171" name="Google Shape;171;p16"/>
          <p:cNvGrpSpPr/>
          <p:nvPr/>
        </p:nvGrpSpPr>
        <p:grpSpPr>
          <a:xfrm rot="10800000">
            <a:off x="15785091" y="-536942"/>
            <a:ext cx="7681766" cy="4260610"/>
            <a:chOff x="0" y="-38100"/>
            <a:chExt cx="406400" cy="225405"/>
          </a:xfrm>
        </p:grpSpPr>
        <p:sp>
          <p:nvSpPr>
            <p:cNvPr id="172" name="Google Shape;172;p16"/>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73" name="Google Shape;173;p16"/>
            <p:cNvSpPr txBox="1"/>
            <p:nvPr/>
          </p:nvSpPr>
          <p:spPr>
            <a:xfrm>
              <a:off x="127000" y="-38100"/>
              <a:ext cx="15240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174" name="Google Shape;174;p16"/>
          <p:cNvSpPr/>
          <p:nvPr/>
        </p:nvSpPr>
        <p:spPr>
          <a:xfrm>
            <a:off x="18099269" y="1809027"/>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grpSp>
        <p:nvGrpSpPr>
          <p:cNvPr id="175" name="Google Shape;175;p16"/>
          <p:cNvGrpSpPr/>
          <p:nvPr/>
        </p:nvGrpSpPr>
        <p:grpSpPr>
          <a:xfrm>
            <a:off x="-2718010" y="9274528"/>
            <a:ext cx="7950400" cy="1707231"/>
            <a:chOff x="0" y="-384762"/>
            <a:chExt cx="10600533" cy="2276307"/>
          </a:xfrm>
        </p:grpSpPr>
        <p:grpSp>
          <p:nvGrpSpPr>
            <p:cNvPr id="176" name="Google Shape;176;p16"/>
            <p:cNvGrpSpPr/>
            <p:nvPr/>
          </p:nvGrpSpPr>
          <p:grpSpPr>
            <a:xfrm>
              <a:off x="0" y="-384762"/>
              <a:ext cx="10600533" cy="2276307"/>
              <a:chOff x="0" y="-38100"/>
              <a:chExt cx="1049690" cy="225405"/>
            </a:xfrm>
          </p:grpSpPr>
          <p:sp>
            <p:nvSpPr>
              <p:cNvPr id="177" name="Google Shape;177;p16"/>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178" name="Google Shape;178;p16"/>
              <p:cNvSpPr txBox="1"/>
              <p:nvPr/>
            </p:nvSpPr>
            <p:spPr>
              <a:xfrm>
                <a:off x="127000" y="-38100"/>
                <a:ext cx="79569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179" name="Google Shape;179;p16"/>
            <p:cNvSpPr txBox="1"/>
            <p:nvPr/>
          </p:nvSpPr>
          <p:spPr>
            <a:xfrm>
              <a:off x="4182979" y="666743"/>
              <a:ext cx="3721150" cy="529484"/>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
        <p:nvSpPr>
          <p:cNvPr id="180" name="Google Shape;180;p16"/>
          <p:cNvSpPr txBox="1"/>
          <p:nvPr/>
        </p:nvSpPr>
        <p:spPr>
          <a:xfrm>
            <a:off x="6107221" y="622074"/>
            <a:ext cx="11880900" cy="738900"/>
          </a:xfrm>
          <a:prstGeom prst="rect">
            <a:avLst/>
          </a:prstGeom>
          <a:noFill/>
          <a:ln>
            <a:noFill/>
          </a:ln>
        </p:spPr>
        <p:txBody>
          <a:bodyPr spcFirstLastPara="1" wrap="square" lIns="0" tIns="0" rIns="0" bIns="0" anchor="t" anchorCtr="0">
            <a:spAutoFit/>
          </a:bodyPr>
          <a:lstStyle/>
          <a:p>
            <a:pPr marL="0" marR="0" lvl="0" indent="0" algn="ctr" rtl="0">
              <a:lnSpc>
                <a:spcPct val="154791"/>
              </a:lnSpc>
              <a:spcBef>
                <a:spcPts val="0"/>
              </a:spcBef>
              <a:spcAft>
                <a:spcPts val="0"/>
              </a:spcAft>
              <a:buNone/>
            </a:pPr>
            <a:r>
              <a:rPr lang="en-US" sz="4800" b="1">
                <a:solidFill>
                  <a:srgbClr val="018345"/>
                </a:solidFill>
                <a:latin typeface="Montserrat"/>
                <a:ea typeface="Montserrat"/>
                <a:cs typeface="Montserrat"/>
                <a:sym typeface="Montserrat"/>
              </a:rPr>
              <a:t>Phần 3: Lựa chọn ý kiến/quan điểm</a:t>
            </a:r>
            <a:endParaRPr sz="4800" b="1">
              <a:solidFill>
                <a:srgbClr val="018345"/>
              </a:solidFill>
              <a:latin typeface="Montserrat"/>
              <a:ea typeface="Montserrat"/>
              <a:cs typeface="Montserrat"/>
              <a:sym typeface="Montserrat"/>
            </a:endParaRPr>
          </a:p>
        </p:txBody>
      </p:sp>
      <p:grpSp>
        <p:nvGrpSpPr>
          <p:cNvPr id="181" name="Google Shape;181;p16"/>
          <p:cNvGrpSpPr/>
          <p:nvPr/>
        </p:nvGrpSpPr>
        <p:grpSpPr>
          <a:xfrm>
            <a:off x="9563502" y="2587607"/>
            <a:ext cx="7889409" cy="6359218"/>
            <a:chOff x="7810502" y="2279932"/>
            <a:chExt cx="7889409" cy="6359218"/>
          </a:xfrm>
        </p:grpSpPr>
        <p:grpSp>
          <p:nvGrpSpPr>
            <p:cNvPr id="182" name="Google Shape;182;p16"/>
            <p:cNvGrpSpPr/>
            <p:nvPr/>
          </p:nvGrpSpPr>
          <p:grpSpPr>
            <a:xfrm>
              <a:off x="7810502" y="2279932"/>
              <a:ext cx="7889409" cy="6359218"/>
              <a:chOff x="695515" y="76899"/>
              <a:chExt cx="7889409" cy="6359218"/>
            </a:xfrm>
          </p:grpSpPr>
          <p:sp>
            <p:nvSpPr>
              <p:cNvPr id="183" name="Google Shape;183;p16"/>
              <p:cNvSpPr/>
              <p:nvPr/>
            </p:nvSpPr>
            <p:spPr>
              <a:xfrm>
                <a:off x="2991522" y="3659524"/>
                <a:ext cx="227890" cy="227890"/>
              </a:xfrm>
              <a:prstGeom prst="ellipse">
                <a:avLst/>
              </a:prstGeom>
              <a:solidFill>
                <a:srgbClr val="4CB487"/>
              </a:solidFill>
              <a:ln w="254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6"/>
              <p:cNvSpPr/>
              <p:nvPr/>
            </p:nvSpPr>
            <p:spPr>
              <a:xfrm>
                <a:off x="2791890" y="3979444"/>
                <a:ext cx="227890" cy="227890"/>
              </a:xfrm>
              <a:prstGeom prst="ellipse">
                <a:avLst/>
              </a:prstGeom>
              <a:solidFill>
                <a:srgbClr val="4CB487"/>
              </a:solidFill>
              <a:ln w="254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6"/>
              <p:cNvSpPr/>
              <p:nvPr/>
            </p:nvSpPr>
            <p:spPr>
              <a:xfrm>
                <a:off x="2553972" y="4256426"/>
                <a:ext cx="227890" cy="227890"/>
              </a:xfrm>
              <a:prstGeom prst="ellipse">
                <a:avLst/>
              </a:prstGeom>
              <a:solidFill>
                <a:srgbClr val="4CB487"/>
              </a:solidFill>
              <a:ln w="254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6"/>
              <p:cNvSpPr/>
              <p:nvPr/>
            </p:nvSpPr>
            <p:spPr>
              <a:xfrm>
                <a:off x="2838380" y="439758"/>
                <a:ext cx="227890" cy="227890"/>
              </a:xfrm>
              <a:prstGeom prst="ellipse">
                <a:avLst/>
              </a:prstGeom>
              <a:solidFill>
                <a:srgbClr val="4CB487"/>
              </a:solidFill>
              <a:ln w="254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6"/>
              <p:cNvSpPr/>
              <p:nvPr/>
            </p:nvSpPr>
            <p:spPr>
              <a:xfrm>
                <a:off x="3142841" y="258329"/>
                <a:ext cx="227890" cy="227890"/>
              </a:xfrm>
              <a:prstGeom prst="ellipse">
                <a:avLst/>
              </a:prstGeom>
              <a:solidFill>
                <a:srgbClr val="4CB487"/>
              </a:solidFill>
              <a:ln w="254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6"/>
              <p:cNvSpPr/>
              <p:nvPr/>
            </p:nvSpPr>
            <p:spPr>
              <a:xfrm>
                <a:off x="3446391" y="76899"/>
                <a:ext cx="227890" cy="227890"/>
              </a:xfrm>
              <a:prstGeom prst="ellipse">
                <a:avLst/>
              </a:prstGeom>
              <a:solidFill>
                <a:srgbClr val="4CB487"/>
              </a:solidFill>
              <a:ln w="254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16"/>
              <p:cNvSpPr/>
              <p:nvPr/>
            </p:nvSpPr>
            <p:spPr>
              <a:xfrm>
                <a:off x="3749941" y="258329"/>
                <a:ext cx="227890" cy="227890"/>
              </a:xfrm>
              <a:prstGeom prst="ellipse">
                <a:avLst/>
              </a:prstGeom>
              <a:solidFill>
                <a:srgbClr val="4CB487"/>
              </a:solidFill>
              <a:ln w="254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6"/>
              <p:cNvSpPr/>
              <p:nvPr/>
            </p:nvSpPr>
            <p:spPr>
              <a:xfrm>
                <a:off x="4054402" y="439758"/>
                <a:ext cx="227890" cy="227890"/>
              </a:xfrm>
              <a:prstGeom prst="ellipse">
                <a:avLst/>
              </a:prstGeom>
              <a:solidFill>
                <a:srgbClr val="4CB487"/>
              </a:solidFill>
              <a:ln w="254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6"/>
              <p:cNvSpPr/>
              <p:nvPr/>
            </p:nvSpPr>
            <p:spPr>
              <a:xfrm>
                <a:off x="3446391" y="459715"/>
                <a:ext cx="227890" cy="227890"/>
              </a:xfrm>
              <a:prstGeom prst="ellipse">
                <a:avLst/>
              </a:prstGeom>
              <a:solidFill>
                <a:srgbClr val="4CB487"/>
              </a:solidFill>
              <a:ln w="254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6"/>
              <p:cNvSpPr/>
              <p:nvPr/>
            </p:nvSpPr>
            <p:spPr>
              <a:xfrm>
                <a:off x="3446391" y="842531"/>
                <a:ext cx="227890" cy="227890"/>
              </a:xfrm>
              <a:prstGeom prst="ellipse">
                <a:avLst/>
              </a:prstGeom>
              <a:solidFill>
                <a:srgbClr val="4CB487"/>
              </a:solidFill>
              <a:ln w="254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6"/>
              <p:cNvSpPr/>
              <p:nvPr/>
            </p:nvSpPr>
            <p:spPr>
              <a:xfrm>
                <a:off x="1592275" y="5088831"/>
                <a:ext cx="4915200" cy="1318500"/>
              </a:xfrm>
              <a:prstGeom prst="roundRect">
                <a:avLst>
                  <a:gd name="adj" fmla="val 16667"/>
                </a:avLst>
              </a:prstGeom>
              <a:solidFill>
                <a:srgbClr val="4CB487"/>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6"/>
              <p:cNvSpPr txBox="1"/>
              <p:nvPr/>
            </p:nvSpPr>
            <p:spPr>
              <a:xfrm>
                <a:off x="1516651" y="5246317"/>
                <a:ext cx="5303400" cy="1189800"/>
              </a:xfrm>
              <a:prstGeom prst="rect">
                <a:avLst/>
              </a:prstGeom>
              <a:noFill/>
              <a:ln>
                <a:noFill/>
              </a:ln>
            </p:spPr>
            <p:txBody>
              <a:bodyPr spcFirstLastPara="1" wrap="square" lIns="1040350" tIns="182875" rIns="182875" bIns="182875" anchor="ctr" anchorCtr="0">
                <a:noAutofit/>
              </a:bodyPr>
              <a:lstStyle/>
              <a:p>
                <a:pPr marL="0" marR="0" lvl="0" indent="0" algn="l" rtl="0">
                  <a:lnSpc>
                    <a:spcPct val="90000"/>
                  </a:lnSpc>
                  <a:spcBef>
                    <a:spcPts val="0"/>
                  </a:spcBef>
                  <a:spcAft>
                    <a:spcPts val="0"/>
                  </a:spcAft>
                  <a:buClr>
                    <a:schemeClr val="lt1"/>
                  </a:buClr>
                  <a:buSzPts val="4800"/>
                  <a:buFont typeface="Roboto"/>
                  <a:buNone/>
                </a:pPr>
                <a:r>
                  <a:rPr lang="en-US" sz="4000" b="1">
                    <a:solidFill>
                      <a:schemeClr val="lt1"/>
                    </a:solidFill>
                    <a:latin typeface="Roboto"/>
                    <a:ea typeface="Roboto"/>
                    <a:cs typeface="Roboto"/>
                    <a:sym typeface="Roboto"/>
                  </a:rPr>
                  <a:t>2 lần nghe</a:t>
                </a:r>
                <a:endParaRPr sz="4000" b="1">
                  <a:solidFill>
                    <a:schemeClr val="lt1"/>
                  </a:solidFill>
                  <a:latin typeface="Roboto"/>
                  <a:ea typeface="Roboto"/>
                  <a:cs typeface="Roboto"/>
                  <a:sym typeface="Roboto"/>
                </a:endParaRPr>
              </a:p>
            </p:txBody>
          </p:sp>
          <p:sp>
            <p:nvSpPr>
              <p:cNvPr id="195" name="Google Shape;195;p16"/>
              <p:cNvSpPr/>
              <p:nvPr/>
            </p:nvSpPr>
            <p:spPr>
              <a:xfrm>
                <a:off x="695515" y="4108036"/>
                <a:ext cx="1676384" cy="1630492"/>
              </a:xfrm>
              <a:prstGeom prst="ellipse">
                <a:avLst/>
              </a:prstGeom>
              <a:solidFill>
                <a:srgbClr val="CEEADA"/>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6"/>
              <p:cNvSpPr/>
              <p:nvPr/>
            </p:nvSpPr>
            <p:spPr>
              <a:xfrm>
                <a:off x="3669724" y="2510116"/>
                <a:ext cx="4915200" cy="1318500"/>
              </a:xfrm>
              <a:prstGeom prst="roundRect">
                <a:avLst>
                  <a:gd name="adj" fmla="val 16667"/>
                </a:avLst>
              </a:prstGeom>
              <a:solidFill>
                <a:srgbClr val="4CB487"/>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6"/>
              <p:cNvSpPr txBox="1"/>
              <p:nvPr/>
            </p:nvSpPr>
            <p:spPr>
              <a:xfrm>
                <a:off x="3446394" y="2555999"/>
                <a:ext cx="4786500" cy="1189800"/>
              </a:xfrm>
              <a:prstGeom prst="rect">
                <a:avLst/>
              </a:prstGeom>
              <a:noFill/>
              <a:ln>
                <a:noFill/>
              </a:ln>
            </p:spPr>
            <p:txBody>
              <a:bodyPr spcFirstLastPara="1" wrap="square" lIns="1040350" tIns="182875" rIns="182875" bIns="182875" anchor="ctr" anchorCtr="0">
                <a:noAutofit/>
              </a:bodyPr>
              <a:lstStyle/>
              <a:p>
                <a:pPr marL="0" lvl="0" indent="0" algn="l" rtl="0">
                  <a:lnSpc>
                    <a:spcPct val="90000"/>
                  </a:lnSpc>
                  <a:spcBef>
                    <a:spcPts val="0"/>
                  </a:spcBef>
                  <a:spcAft>
                    <a:spcPts val="0"/>
                  </a:spcAft>
                  <a:buClr>
                    <a:schemeClr val="lt1"/>
                  </a:buClr>
                  <a:buSzPts val="4800"/>
                  <a:buFont typeface="Roboto"/>
                  <a:buNone/>
                </a:pPr>
                <a:r>
                  <a:rPr lang="en-US" sz="4000" b="1">
                    <a:solidFill>
                      <a:schemeClr val="lt1"/>
                    </a:solidFill>
                    <a:latin typeface="Roboto"/>
                    <a:ea typeface="Roboto"/>
                    <a:cs typeface="Roboto"/>
                    <a:sym typeface="Roboto"/>
                  </a:rPr>
                  <a:t>3 Phương án lựa chọn</a:t>
                </a:r>
                <a:endParaRPr sz="4000" b="1">
                  <a:solidFill>
                    <a:schemeClr val="lt1"/>
                  </a:solidFill>
                  <a:latin typeface="Roboto"/>
                  <a:ea typeface="Roboto"/>
                  <a:cs typeface="Roboto"/>
                  <a:sym typeface="Roboto"/>
                </a:endParaRPr>
              </a:p>
            </p:txBody>
          </p:sp>
          <p:sp>
            <p:nvSpPr>
              <p:cNvPr id="198" name="Google Shape;198;p16"/>
              <p:cNvSpPr/>
              <p:nvPr/>
            </p:nvSpPr>
            <p:spPr>
              <a:xfrm>
                <a:off x="2564182" y="1520638"/>
                <a:ext cx="1764418" cy="1674153"/>
              </a:xfrm>
              <a:prstGeom prst="ellipse">
                <a:avLst/>
              </a:prstGeom>
              <a:solidFill>
                <a:srgbClr val="CEEADA"/>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99" name="Google Shape;199;p16" descr="Bullseye with solid fill"/>
            <p:cNvPicPr preferRelativeResize="0"/>
            <p:nvPr/>
          </p:nvPicPr>
          <p:blipFill rotWithShape="1">
            <a:blip r:embed="rId4">
              <a:alphaModFix/>
            </a:blip>
            <a:srcRect/>
            <a:stretch/>
          </p:blipFill>
          <p:spPr>
            <a:xfrm>
              <a:off x="8077200" y="6515100"/>
              <a:ext cx="1219200" cy="1219200"/>
            </a:xfrm>
            <a:prstGeom prst="rect">
              <a:avLst/>
            </a:prstGeom>
            <a:noFill/>
            <a:ln>
              <a:noFill/>
            </a:ln>
          </p:spPr>
        </p:pic>
        <p:pic>
          <p:nvPicPr>
            <p:cNvPr id="200" name="Google Shape;200;p16" descr="Lightbulb and gear with solid fill"/>
            <p:cNvPicPr preferRelativeResize="0"/>
            <p:nvPr/>
          </p:nvPicPr>
          <p:blipFill rotWithShape="1">
            <a:blip r:embed="rId5">
              <a:alphaModFix/>
            </a:blip>
            <a:srcRect/>
            <a:stretch/>
          </p:blipFill>
          <p:spPr>
            <a:xfrm>
              <a:off x="10001250" y="3943350"/>
              <a:ext cx="1200150" cy="1200150"/>
            </a:xfrm>
            <a:prstGeom prst="rect">
              <a:avLst/>
            </a:prstGeom>
            <a:noFill/>
            <a:ln>
              <a:noFill/>
            </a:ln>
          </p:spPr>
        </p:pic>
      </p:grpSp>
      <p:sp>
        <p:nvSpPr>
          <p:cNvPr id="201" name="Google Shape;201;p16"/>
          <p:cNvSpPr txBox="1"/>
          <p:nvPr/>
        </p:nvSpPr>
        <p:spPr>
          <a:xfrm>
            <a:off x="7061732" y="3646545"/>
            <a:ext cx="4786500" cy="1189800"/>
          </a:xfrm>
          <a:prstGeom prst="rect">
            <a:avLst/>
          </a:prstGeom>
          <a:noFill/>
          <a:ln>
            <a:noFill/>
          </a:ln>
        </p:spPr>
        <p:txBody>
          <a:bodyPr spcFirstLastPara="1" wrap="square" lIns="1040350" tIns="182875" rIns="182875" bIns="182875" anchor="ctr" anchorCtr="0">
            <a:noAutofit/>
          </a:bodyPr>
          <a:lstStyle/>
          <a:p>
            <a:pPr marL="0" marR="0" lvl="0" indent="0" algn="l" rtl="0">
              <a:lnSpc>
                <a:spcPct val="90000"/>
              </a:lnSpc>
              <a:spcBef>
                <a:spcPts val="0"/>
              </a:spcBef>
              <a:spcAft>
                <a:spcPts val="0"/>
              </a:spcAft>
              <a:buClr>
                <a:schemeClr val="lt1"/>
              </a:buClr>
              <a:buSzPts val="4800"/>
              <a:buFont typeface="Roboto"/>
              <a:buNone/>
            </a:pPr>
            <a:r>
              <a:rPr lang="en-US" sz="4000" b="1">
                <a:solidFill>
                  <a:schemeClr val="lt1"/>
                </a:solidFill>
                <a:latin typeface="Roboto"/>
                <a:ea typeface="Roboto"/>
                <a:cs typeface="Roboto"/>
                <a:sym typeface="Roboto"/>
              </a:rPr>
              <a:t>1 câu hỏi</a:t>
            </a:r>
            <a:endParaRPr sz="4000" b="1">
              <a:solidFill>
                <a:schemeClr val="lt1"/>
              </a:solidFill>
              <a:latin typeface="Roboto"/>
              <a:ea typeface="Roboto"/>
              <a:cs typeface="Roboto"/>
              <a:sym typeface="Roboto"/>
            </a:endParaRPr>
          </a:p>
          <a:p>
            <a:pPr marL="0" marR="0" lvl="0" indent="0" algn="l" rtl="0">
              <a:lnSpc>
                <a:spcPct val="90000"/>
              </a:lnSpc>
              <a:spcBef>
                <a:spcPts val="0"/>
              </a:spcBef>
              <a:spcAft>
                <a:spcPts val="0"/>
              </a:spcAft>
              <a:buClr>
                <a:schemeClr val="lt1"/>
              </a:buClr>
              <a:buSzPts val="4800"/>
              <a:buFont typeface="Roboto"/>
              <a:buNone/>
            </a:pPr>
            <a:r>
              <a:rPr lang="en-US" sz="4000" b="1">
                <a:solidFill>
                  <a:schemeClr val="lt1"/>
                </a:solidFill>
                <a:latin typeface="Roboto"/>
                <a:ea typeface="Roboto"/>
                <a:cs typeface="Roboto"/>
                <a:sym typeface="Roboto"/>
              </a:rPr>
              <a:t>4 chỗ trống</a:t>
            </a:r>
            <a:endParaRPr sz="4000" b="1">
              <a:solidFill>
                <a:schemeClr val="lt1"/>
              </a:solidFill>
              <a:latin typeface="Roboto"/>
              <a:ea typeface="Roboto"/>
              <a:cs typeface="Roboto"/>
              <a:sym typeface="Roboto"/>
            </a:endParaRPr>
          </a:p>
        </p:txBody>
      </p:sp>
      <p:sp>
        <p:nvSpPr>
          <p:cNvPr id="202" name="Google Shape;202;p16"/>
          <p:cNvSpPr txBox="1"/>
          <p:nvPr/>
        </p:nvSpPr>
        <p:spPr>
          <a:xfrm>
            <a:off x="4572000" y="6174750"/>
            <a:ext cx="5303400" cy="1189800"/>
          </a:xfrm>
          <a:prstGeom prst="rect">
            <a:avLst/>
          </a:prstGeom>
          <a:noFill/>
          <a:ln>
            <a:noFill/>
          </a:ln>
        </p:spPr>
        <p:txBody>
          <a:bodyPr spcFirstLastPara="1" wrap="square" lIns="1040350" tIns="182875" rIns="182875" bIns="182875" anchor="ctr" anchorCtr="0">
            <a:noAutofit/>
          </a:bodyPr>
          <a:lstStyle/>
          <a:p>
            <a:pPr marL="0" marR="0" lvl="0" indent="0" algn="l" rtl="0">
              <a:lnSpc>
                <a:spcPct val="90000"/>
              </a:lnSpc>
              <a:spcBef>
                <a:spcPts val="0"/>
              </a:spcBef>
              <a:spcAft>
                <a:spcPts val="0"/>
              </a:spcAft>
              <a:buClr>
                <a:schemeClr val="lt1"/>
              </a:buClr>
              <a:buSzPts val="4800"/>
              <a:buFont typeface="Roboto"/>
              <a:buNone/>
            </a:pPr>
            <a:r>
              <a:rPr lang="en-US" sz="4000" b="1">
                <a:solidFill>
                  <a:schemeClr val="lt1"/>
                </a:solidFill>
                <a:latin typeface="Roboto"/>
                <a:ea typeface="Roboto"/>
                <a:cs typeface="Roboto"/>
                <a:sym typeface="Roboto"/>
              </a:rPr>
              <a:t>Hội thoại giữa nam - nữ</a:t>
            </a:r>
            <a:endParaRPr sz="4000" b="1">
              <a:solidFill>
                <a:schemeClr val="lt1"/>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80"/>
                                        </p:tgtEl>
                                        <p:attrNameLst>
                                          <p:attrName>style.visibility</p:attrName>
                                        </p:attrNameLst>
                                      </p:cBhvr>
                                      <p:to>
                                        <p:strVal val="visible"/>
                                      </p:to>
                                    </p:set>
                                    <p:animEffect transition="in" filter="fade">
                                      <p:cBhvr>
                                        <p:cTn id="7" dur="500"/>
                                        <p:tgtEl>
                                          <p:spTgt spid="18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7"/>
                                        </p:tgtEl>
                                        <p:attrNameLst>
                                          <p:attrName>style.visibility</p:attrName>
                                        </p:attrNameLst>
                                      </p:cBhvr>
                                      <p:to>
                                        <p:strVal val="visible"/>
                                      </p:to>
                                    </p:set>
                                    <p:animEffect transition="in" filter="fade">
                                      <p:cBhvr>
                                        <p:cTn id="12" dur="1000"/>
                                        <p:tgtEl>
                                          <p:spTgt spid="167"/>
                                        </p:tgtEl>
                                      </p:cBhvr>
                                    </p:animEffect>
                                  </p:childTnLst>
                                </p:cTn>
                              </p:par>
                              <p:par>
                                <p:cTn id="13" presetID="10" presetClass="entr" presetSubtype="0" fill="hold" nodeType="withEffect">
                                  <p:stCondLst>
                                    <p:cond delay="0"/>
                                  </p:stCondLst>
                                  <p:childTnLst>
                                    <p:set>
                                      <p:cBhvr>
                                        <p:cTn id="14" dur="1" fill="hold">
                                          <p:stCondLst>
                                            <p:cond delay="0"/>
                                          </p:stCondLst>
                                        </p:cTn>
                                        <p:tgtEl>
                                          <p:spTgt spid="168"/>
                                        </p:tgtEl>
                                        <p:attrNameLst>
                                          <p:attrName>style.visibility</p:attrName>
                                        </p:attrNameLst>
                                      </p:cBhvr>
                                      <p:to>
                                        <p:strVal val="visible"/>
                                      </p:to>
                                    </p:set>
                                    <p:animEffect transition="in" filter="fade">
                                      <p:cBhvr>
                                        <p:cTn id="15" dur="1000"/>
                                        <p:tgtEl>
                                          <p:spTgt spid="168"/>
                                        </p:tgtEl>
                                      </p:cBhvr>
                                    </p:animEffect>
                                  </p:childTnLst>
                                </p:cTn>
                              </p:par>
                              <p:par>
                                <p:cTn id="16" presetID="10" presetClass="entr" presetSubtype="0" fill="hold" nodeType="withEffect">
                                  <p:stCondLst>
                                    <p:cond delay="0"/>
                                  </p:stCondLst>
                                  <p:childTnLst>
                                    <p:set>
                                      <p:cBhvr>
                                        <p:cTn id="17" dur="1" fill="hold">
                                          <p:stCondLst>
                                            <p:cond delay="0"/>
                                          </p:stCondLst>
                                        </p:cTn>
                                        <p:tgtEl>
                                          <p:spTgt spid="171"/>
                                        </p:tgtEl>
                                        <p:attrNameLst>
                                          <p:attrName>style.visibility</p:attrName>
                                        </p:attrNameLst>
                                      </p:cBhvr>
                                      <p:to>
                                        <p:strVal val="visible"/>
                                      </p:to>
                                    </p:set>
                                    <p:animEffect transition="in" filter="fade">
                                      <p:cBhvr>
                                        <p:cTn id="18" dur="1000"/>
                                        <p:tgtEl>
                                          <p:spTgt spid="171"/>
                                        </p:tgtEl>
                                      </p:cBhvr>
                                    </p:animEffect>
                                  </p:childTnLst>
                                </p:cTn>
                              </p:par>
                              <p:par>
                                <p:cTn id="19" presetID="10" presetClass="entr" presetSubtype="0" fill="hold" nodeType="withEffect">
                                  <p:stCondLst>
                                    <p:cond delay="0"/>
                                  </p:stCondLst>
                                  <p:childTnLst>
                                    <p:set>
                                      <p:cBhvr>
                                        <p:cTn id="20" dur="1" fill="hold">
                                          <p:stCondLst>
                                            <p:cond delay="0"/>
                                          </p:stCondLst>
                                        </p:cTn>
                                        <p:tgtEl>
                                          <p:spTgt spid="181"/>
                                        </p:tgtEl>
                                        <p:attrNameLst>
                                          <p:attrName>style.visibility</p:attrName>
                                        </p:attrNameLst>
                                      </p:cBhvr>
                                      <p:to>
                                        <p:strVal val="visible"/>
                                      </p:to>
                                    </p:set>
                                    <p:animEffect transition="in" filter="fade">
                                      <p:cBhvr>
                                        <p:cTn id="21" dur="1000"/>
                                        <p:tgtEl>
                                          <p:spTgt spid="181"/>
                                        </p:tgtEl>
                                      </p:cBhvr>
                                    </p:animEffect>
                                  </p:childTnLst>
                                </p:cTn>
                              </p:par>
                              <p:par>
                                <p:cTn id="22" presetID="10" presetClass="entr" presetSubtype="0" fill="hold" nodeType="withEffect">
                                  <p:stCondLst>
                                    <p:cond delay="0"/>
                                  </p:stCondLst>
                                  <p:childTnLst>
                                    <p:set>
                                      <p:cBhvr>
                                        <p:cTn id="23" dur="1" fill="hold">
                                          <p:stCondLst>
                                            <p:cond delay="0"/>
                                          </p:stCondLst>
                                        </p:cTn>
                                        <p:tgtEl>
                                          <p:spTgt spid="201"/>
                                        </p:tgtEl>
                                        <p:attrNameLst>
                                          <p:attrName>style.visibility</p:attrName>
                                        </p:attrNameLst>
                                      </p:cBhvr>
                                      <p:to>
                                        <p:strVal val="visible"/>
                                      </p:to>
                                    </p:set>
                                    <p:animEffect transition="in" filter="fade">
                                      <p:cBhvr>
                                        <p:cTn id="24" dur="1000"/>
                                        <p:tgtEl>
                                          <p:spTgt spid="201"/>
                                        </p:tgtEl>
                                      </p:cBhvr>
                                    </p:animEffect>
                                  </p:childTnLst>
                                </p:cTn>
                              </p:par>
                              <p:par>
                                <p:cTn id="25" presetID="10" presetClass="entr" presetSubtype="0" fill="hold" nodeType="withEffect">
                                  <p:stCondLst>
                                    <p:cond delay="0"/>
                                  </p:stCondLst>
                                  <p:childTnLst>
                                    <p:set>
                                      <p:cBhvr>
                                        <p:cTn id="26" dur="1" fill="hold">
                                          <p:stCondLst>
                                            <p:cond delay="0"/>
                                          </p:stCondLst>
                                        </p:cTn>
                                        <p:tgtEl>
                                          <p:spTgt spid="202"/>
                                        </p:tgtEl>
                                        <p:attrNameLst>
                                          <p:attrName>style.visibility</p:attrName>
                                        </p:attrNameLst>
                                      </p:cBhvr>
                                      <p:to>
                                        <p:strVal val="visible"/>
                                      </p:to>
                                    </p:set>
                                    <p:animEffect transition="in" filter="fade">
                                      <p:cBhvr>
                                        <p:cTn id="27" dur="1000"/>
                                        <p:tgtEl>
                                          <p:spTgt spid="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cxnSp>
        <p:nvCxnSpPr>
          <p:cNvPr id="207" name="Google Shape;207;p17"/>
          <p:cNvCxnSpPr/>
          <p:nvPr/>
        </p:nvCxnSpPr>
        <p:spPr>
          <a:xfrm>
            <a:off x="6400799" y="2235185"/>
            <a:ext cx="9982201" cy="0"/>
          </a:xfrm>
          <a:prstGeom prst="straightConnector1">
            <a:avLst/>
          </a:prstGeom>
          <a:noFill/>
          <a:ln w="38100" cap="flat" cmpd="sng">
            <a:solidFill>
              <a:srgbClr val="018345"/>
            </a:solidFill>
            <a:prstDash val="solid"/>
            <a:round/>
            <a:headEnd type="none" w="sm" len="sm"/>
            <a:tailEnd type="none" w="sm" len="sm"/>
          </a:ln>
        </p:spPr>
      </p:cxnSp>
      <p:cxnSp>
        <p:nvCxnSpPr>
          <p:cNvPr id="208" name="Google Shape;208;p17"/>
          <p:cNvCxnSpPr/>
          <p:nvPr/>
        </p:nvCxnSpPr>
        <p:spPr>
          <a:xfrm>
            <a:off x="-249883" y="5124450"/>
            <a:ext cx="5303520" cy="0"/>
          </a:xfrm>
          <a:prstGeom prst="straightConnector1">
            <a:avLst/>
          </a:prstGeom>
          <a:noFill/>
          <a:ln w="38100" cap="flat" cmpd="sng">
            <a:solidFill>
              <a:srgbClr val="FFFFFF"/>
            </a:solidFill>
            <a:prstDash val="solid"/>
            <a:round/>
            <a:headEnd type="none" w="sm" len="sm"/>
            <a:tailEnd type="none" w="sm" len="sm"/>
          </a:ln>
        </p:spPr>
      </p:cxnSp>
      <p:grpSp>
        <p:nvGrpSpPr>
          <p:cNvPr id="209" name="Google Shape;209;p17"/>
          <p:cNvGrpSpPr/>
          <p:nvPr/>
        </p:nvGrpSpPr>
        <p:grpSpPr>
          <a:xfrm rot="10800000">
            <a:off x="15044552" y="-741521"/>
            <a:ext cx="7681766" cy="4260610"/>
            <a:chOff x="0" y="-38100"/>
            <a:chExt cx="406400" cy="225405"/>
          </a:xfrm>
        </p:grpSpPr>
        <p:sp>
          <p:nvSpPr>
            <p:cNvPr id="210" name="Google Shape;210;p17"/>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11" name="Google Shape;211;p17"/>
            <p:cNvSpPr txBox="1"/>
            <p:nvPr/>
          </p:nvSpPr>
          <p:spPr>
            <a:xfrm>
              <a:off x="127000" y="-38100"/>
              <a:ext cx="15240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212" name="Google Shape;212;p17" descr="Books with solid fill"/>
          <p:cNvSpPr/>
          <p:nvPr/>
        </p:nvSpPr>
        <p:spPr>
          <a:xfrm>
            <a:off x="3241317" y="6937835"/>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213" name="Google Shape;213;p17"/>
          <p:cNvSpPr/>
          <p:nvPr/>
        </p:nvSpPr>
        <p:spPr>
          <a:xfrm>
            <a:off x="18157088" y="2761190"/>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214" name="Google Shape;214;p17"/>
          <p:cNvSpPr txBox="1"/>
          <p:nvPr/>
        </p:nvSpPr>
        <p:spPr>
          <a:xfrm>
            <a:off x="5511794" y="2502271"/>
            <a:ext cx="11760300" cy="2512800"/>
          </a:xfrm>
          <a:prstGeom prst="rect">
            <a:avLst/>
          </a:prstGeom>
          <a:noFill/>
          <a:ln>
            <a:noFill/>
          </a:ln>
        </p:spPr>
        <p:txBody>
          <a:bodyPr spcFirstLastPara="1" wrap="square" lIns="0" tIns="0" rIns="0" bIns="0" anchor="t" anchorCtr="0">
            <a:spAutoFit/>
          </a:bodyPr>
          <a:lstStyle/>
          <a:p>
            <a:pPr marL="0" marR="0" lvl="0" indent="0" algn="ctr" rtl="0">
              <a:lnSpc>
                <a:spcPct val="147348"/>
              </a:lnSpc>
              <a:spcBef>
                <a:spcPts val="0"/>
              </a:spcBef>
              <a:spcAft>
                <a:spcPts val="0"/>
              </a:spcAft>
              <a:buNone/>
            </a:pPr>
            <a:r>
              <a:rPr lang="en-US" sz="6600" b="1">
                <a:solidFill>
                  <a:srgbClr val="018345"/>
                </a:solidFill>
                <a:latin typeface="Montserrat"/>
                <a:ea typeface="Montserrat"/>
                <a:cs typeface="Montserrat"/>
                <a:sym typeface="Montserrat"/>
              </a:rPr>
              <a:t>Lưu ý khi làm bài nghe APTIS Part 3</a:t>
            </a:r>
            <a:endParaRPr/>
          </a:p>
        </p:txBody>
      </p:sp>
      <p:sp>
        <p:nvSpPr>
          <p:cNvPr id="215" name="Google Shape;215;p17"/>
          <p:cNvSpPr txBox="1"/>
          <p:nvPr/>
        </p:nvSpPr>
        <p:spPr>
          <a:xfrm>
            <a:off x="9601200" y="339710"/>
            <a:ext cx="2755633" cy="1837554"/>
          </a:xfrm>
          <a:prstGeom prst="rect">
            <a:avLst/>
          </a:prstGeom>
          <a:noFill/>
          <a:ln>
            <a:noFill/>
          </a:ln>
        </p:spPr>
        <p:txBody>
          <a:bodyPr spcFirstLastPara="1" wrap="square" lIns="0" tIns="0" rIns="0" bIns="0" anchor="t" anchorCtr="0">
            <a:spAutoFit/>
          </a:bodyPr>
          <a:lstStyle/>
          <a:p>
            <a:pPr marL="0" marR="0" lvl="0" indent="0" algn="ctr" rtl="0">
              <a:lnSpc>
                <a:spcPct val="119998"/>
              </a:lnSpc>
              <a:spcBef>
                <a:spcPts val="0"/>
              </a:spcBef>
              <a:spcAft>
                <a:spcPts val="0"/>
              </a:spcAft>
              <a:buNone/>
            </a:pPr>
            <a:r>
              <a:rPr lang="en-US" sz="12461" b="1">
                <a:solidFill>
                  <a:srgbClr val="018345"/>
                </a:solidFill>
                <a:latin typeface="Montserrat"/>
                <a:ea typeface="Montserrat"/>
                <a:cs typeface="Montserrat"/>
                <a:sym typeface="Montserrat"/>
              </a:rPr>
              <a:t>02</a:t>
            </a:r>
            <a:endParaRPr/>
          </a:p>
        </p:txBody>
      </p:sp>
      <p:sp>
        <p:nvSpPr>
          <p:cNvPr id="216" name="Google Shape;216;p17"/>
          <p:cNvSpPr txBox="1"/>
          <p:nvPr/>
        </p:nvSpPr>
        <p:spPr>
          <a:xfrm>
            <a:off x="-10653311" y="9715322"/>
            <a:ext cx="13923203" cy="285768"/>
          </a:xfrm>
          <a:prstGeom prst="rect">
            <a:avLst/>
          </a:prstGeom>
          <a:noFill/>
          <a:ln>
            <a:noFill/>
          </a:ln>
        </p:spPr>
        <p:txBody>
          <a:bodyPr spcFirstLastPara="1" wrap="square" lIns="0" tIns="0" rIns="0" bIns="0" anchor="t" anchorCtr="0">
            <a:spAutoFit/>
          </a:bodyPr>
          <a:lstStyle/>
          <a:p>
            <a:pPr marL="0" marR="0" lvl="0" indent="0" algn="r" rtl="0">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17" name="Google Shape;217;p17"/>
          <p:cNvGrpSpPr/>
          <p:nvPr/>
        </p:nvGrpSpPr>
        <p:grpSpPr>
          <a:xfrm>
            <a:off x="-2718010" y="9274528"/>
            <a:ext cx="7950400" cy="1707231"/>
            <a:chOff x="0" y="-384762"/>
            <a:chExt cx="10600533" cy="2276307"/>
          </a:xfrm>
        </p:grpSpPr>
        <p:grpSp>
          <p:nvGrpSpPr>
            <p:cNvPr id="218" name="Google Shape;218;p17"/>
            <p:cNvGrpSpPr/>
            <p:nvPr/>
          </p:nvGrpSpPr>
          <p:grpSpPr>
            <a:xfrm>
              <a:off x="0" y="-384762"/>
              <a:ext cx="10600533" cy="2276307"/>
              <a:chOff x="0" y="-38100"/>
              <a:chExt cx="1049690" cy="225405"/>
            </a:xfrm>
          </p:grpSpPr>
          <p:sp>
            <p:nvSpPr>
              <p:cNvPr id="219" name="Google Shape;219;p17"/>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220" name="Google Shape;220;p17"/>
              <p:cNvSpPr txBox="1"/>
              <p:nvPr/>
            </p:nvSpPr>
            <p:spPr>
              <a:xfrm>
                <a:off x="127000" y="-38100"/>
                <a:ext cx="79569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221" name="Google Shape;221;p17"/>
            <p:cNvSpPr txBox="1"/>
            <p:nvPr/>
          </p:nvSpPr>
          <p:spPr>
            <a:xfrm>
              <a:off x="4182979" y="666743"/>
              <a:ext cx="3721150" cy="529484"/>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pic>
        <p:nvPicPr>
          <p:cNvPr id="222" name="Google Shape;222;p17" descr="Stressed Out Woman Cartoon Images – Browse 1,008 Stock Photos, Vectors, and  Video | Adobe Stock"/>
          <p:cNvPicPr preferRelativeResize="0"/>
          <p:nvPr/>
        </p:nvPicPr>
        <p:blipFill rotWithShape="1">
          <a:blip r:embed="rId5">
            <a:alphaModFix/>
          </a:blip>
          <a:srcRect/>
          <a:stretch/>
        </p:blipFill>
        <p:spPr>
          <a:xfrm>
            <a:off x="8305800" y="4969014"/>
            <a:ext cx="7127824" cy="399069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215"/>
                                        </p:tgtEl>
                                        <p:attrNameLst>
                                          <p:attrName>style.visibility</p:attrName>
                                        </p:attrNameLst>
                                      </p:cBhvr>
                                      <p:to>
                                        <p:strVal val="visible"/>
                                      </p:to>
                                    </p:set>
                                    <p:anim calcmode="lin" valueType="num">
                                      <p:cBhvr additive="base">
                                        <p:cTn id="7" dur="500"/>
                                        <p:tgtEl>
                                          <p:spTgt spid="215"/>
                                        </p:tgtEl>
                                        <p:attrNameLst>
                                          <p:attrName>ppt_w</p:attrName>
                                        </p:attrNameLst>
                                      </p:cBhvr>
                                      <p:tavLst>
                                        <p:tav tm="0">
                                          <p:val>
                                            <p:strVal val="0"/>
                                          </p:val>
                                        </p:tav>
                                        <p:tav tm="100000">
                                          <p:val>
                                            <p:strVal val="#ppt_w"/>
                                          </p:val>
                                        </p:tav>
                                      </p:tavLst>
                                    </p:anim>
                                    <p:anim calcmode="lin" valueType="num">
                                      <p:cBhvr additive="base">
                                        <p:cTn id="8" dur="500"/>
                                        <p:tgtEl>
                                          <p:spTgt spid="215"/>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214"/>
                                        </p:tgtEl>
                                        <p:attrNameLst>
                                          <p:attrName>style.visibility</p:attrName>
                                        </p:attrNameLst>
                                      </p:cBhvr>
                                      <p:to>
                                        <p:strVal val="visible"/>
                                      </p:to>
                                    </p:set>
                                    <p:anim calcmode="lin" valueType="num">
                                      <p:cBhvr additive="base">
                                        <p:cTn id="11" dur="500"/>
                                        <p:tgtEl>
                                          <p:spTgt spid="214"/>
                                        </p:tgtEl>
                                        <p:attrNameLst>
                                          <p:attrName>ppt_w</p:attrName>
                                        </p:attrNameLst>
                                      </p:cBhvr>
                                      <p:tavLst>
                                        <p:tav tm="0">
                                          <p:val>
                                            <p:strVal val="0"/>
                                          </p:val>
                                        </p:tav>
                                        <p:tav tm="100000">
                                          <p:val>
                                            <p:strVal val="#ppt_w"/>
                                          </p:val>
                                        </p:tav>
                                      </p:tavLst>
                                    </p:anim>
                                    <p:anim calcmode="lin" valueType="num">
                                      <p:cBhvr additive="base">
                                        <p:cTn id="12" dur="500"/>
                                        <p:tgtEl>
                                          <p:spTgt spid="21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cxnSp>
        <p:nvCxnSpPr>
          <p:cNvPr id="228" name="Google Shape;228;p18"/>
          <p:cNvCxnSpPr/>
          <p:nvPr/>
        </p:nvCxnSpPr>
        <p:spPr>
          <a:xfrm rot="10800000" flipH="1">
            <a:off x="3996362" y="1619250"/>
            <a:ext cx="11243637" cy="19050"/>
          </a:xfrm>
          <a:prstGeom prst="straightConnector1">
            <a:avLst/>
          </a:prstGeom>
          <a:noFill/>
          <a:ln w="38100" cap="flat" cmpd="sng">
            <a:solidFill>
              <a:srgbClr val="018345"/>
            </a:solidFill>
            <a:prstDash val="solid"/>
            <a:round/>
            <a:headEnd type="none" w="sm" len="sm"/>
            <a:tailEnd type="none" w="sm" len="sm"/>
          </a:ln>
        </p:spPr>
      </p:cxnSp>
      <p:grpSp>
        <p:nvGrpSpPr>
          <p:cNvPr id="229" name="Google Shape;229;p18"/>
          <p:cNvGrpSpPr/>
          <p:nvPr/>
        </p:nvGrpSpPr>
        <p:grpSpPr>
          <a:xfrm rot="10800000">
            <a:off x="15785091" y="-536942"/>
            <a:ext cx="7681766" cy="4260610"/>
            <a:chOff x="0" y="-38100"/>
            <a:chExt cx="406400" cy="225405"/>
          </a:xfrm>
        </p:grpSpPr>
        <p:sp>
          <p:nvSpPr>
            <p:cNvPr id="230" name="Google Shape;230;p18"/>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31" name="Google Shape;231;p18"/>
            <p:cNvSpPr txBox="1"/>
            <p:nvPr/>
          </p:nvSpPr>
          <p:spPr>
            <a:xfrm>
              <a:off x="127000" y="-38100"/>
              <a:ext cx="15240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232" name="Google Shape;232;p18"/>
          <p:cNvSpPr/>
          <p:nvPr/>
        </p:nvSpPr>
        <p:spPr>
          <a:xfrm>
            <a:off x="18978732" y="1741370"/>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233" name="Google Shape;233;p18"/>
          <p:cNvSpPr txBox="1"/>
          <p:nvPr/>
        </p:nvSpPr>
        <p:spPr>
          <a:xfrm>
            <a:off x="3359002" y="401132"/>
            <a:ext cx="11880900" cy="738900"/>
          </a:xfrm>
          <a:prstGeom prst="rect">
            <a:avLst/>
          </a:prstGeom>
          <a:noFill/>
          <a:ln>
            <a:noFill/>
          </a:ln>
        </p:spPr>
        <p:txBody>
          <a:bodyPr spcFirstLastPara="1" wrap="square" lIns="0" tIns="0" rIns="0" bIns="0" anchor="t" anchorCtr="0">
            <a:spAutoFit/>
          </a:bodyPr>
          <a:lstStyle/>
          <a:p>
            <a:pPr marL="0" marR="0" lvl="0" indent="0" algn="ctr" rtl="0">
              <a:lnSpc>
                <a:spcPct val="154791"/>
              </a:lnSpc>
              <a:spcBef>
                <a:spcPts val="0"/>
              </a:spcBef>
              <a:spcAft>
                <a:spcPts val="0"/>
              </a:spcAft>
              <a:buNone/>
            </a:pPr>
            <a:r>
              <a:rPr lang="en-US" sz="4800" b="1">
                <a:solidFill>
                  <a:srgbClr val="018345"/>
                </a:solidFill>
                <a:latin typeface="Montserrat"/>
                <a:ea typeface="Montserrat"/>
                <a:cs typeface="Montserrat"/>
                <a:sym typeface="Montserrat"/>
              </a:rPr>
              <a:t>Lưu ý khi làm bài nghe APTIS part 3</a:t>
            </a:r>
            <a:endParaRPr/>
          </a:p>
        </p:txBody>
      </p:sp>
      <p:grpSp>
        <p:nvGrpSpPr>
          <p:cNvPr id="234" name="Google Shape;234;p18"/>
          <p:cNvGrpSpPr/>
          <p:nvPr/>
        </p:nvGrpSpPr>
        <p:grpSpPr>
          <a:xfrm>
            <a:off x="-2718010" y="9274528"/>
            <a:ext cx="7950400" cy="1707231"/>
            <a:chOff x="0" y="-384762"/>
            <a:chExt cx="10600533" cy="2276307"/>
          </a:xfrm>
        </p:grpSpPr>
        <p:grpSp>
          <p:nvGrpSpPr>
            <p:cNvPr id="235" name="Google Shape;235;p18"/>
            <p:cNvGrpSpPr/>
            <p:nvPr/>
          </p:nvGrpSpPr>
          <p:grpSpPr>
            <a:xfrm>
              <a:off x="0" y="-384762"/>
              <a:ext cx="10600533" cy="2276307"/>
              <a:chOff x="0" y="-38100"/>
              <a:chExt cx="1049690" cy="225405"/>
            </a:xfrm>
          </p:grpSpPr>
          <p:sp>
            <p:nvSpPr>
              <p:cNvPr id="236" name="Google Shape;236;p18"/>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237" name="Google Shape;237;p18"/>
              <p:cNvSpPr txBox="1"/>
              <p:nvPr/>
            </p:nvSpPr>
            <p:spPr>
              <a:xfrm>
                <a:off x="127000" y="-38100"/>
                <a:ext cx="79569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238" name="Google Shape;238;p18"/>
            <p:cNvSpPr txBox="1"/>
            <p:nvPr/>
          </p:nvSpPr>
          <p:spPr>
            <a:xfrm>
              <a:off x="4182979" y="666743"/>
              <a:ext cx="3721150" cy="529484"/>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
        <p:nvSpPr>
          <p:cNvPr id="239" name="Google Shape;239;p18"/>
          <p:cNvSpPr txBox="1"/>
          <p:nvPr/>
        </p:nvSpPr>
        <p:spPr>
          <a:xfrm>
            <a:off x="7245275" y="2117525"/>
            <a:ext cx="10810500" cy="1631700"/>
          </a:xfrm>
          <a:prstGeom prst="rect">
            <a:avLst/>
          </a:prstGeom>
          <a:noFill/>
          <a:ln>
            <a:noFill/>
          </a:ln>
        </p:spPr>
        <p:txBody>
          <a:bodyPr spcFirstLastPara="1" wrap="square" lIns="91425" tIns="45700" rIns="91425" bIns="45700" anchor="t" anchorCtr="0">
            <a:spAutoFit/>
          </a:bodyPr>
          <a:lstStyle/>
          <a:p>
            <a:pPr marL="457200" marR="0" lvl="0" indent="-482600" algn="l" rtl="0">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Gạch chân từ khóa trong các ý kiến được đề bài đưa ra</a:t>
            </a:r>
            <a:endParaRPr>
              <a:latin typeface="Roboto"/>
              <a:ea typeface="Roboto"/>
              <a:cs typeface="Roboto"/>
              <a:sym typeface="Roboto"/>
            </a:endParaRPr>
          </a:p>
        </p:txBody>
      </p:sp>
      <p:sp>
        <p:nvSpPr>
          <p:cNvPr id="240" name="Google Shape;240;p18"/>
          <p:cNvSpPr txBox="1"/>
          <p:nvPr/>
        </p:nvSpPr>
        <p:spPr>
          <a:xfrm>
            <a:off x="7245275" y="4036719"/>
            <a:ext cx="10810500" cy="1631700"/>
          </a:xfrm>
          <a:prstGeom prst="rect">
            <a:avLst/>
          </a:prstGeom>
          <a:noFill/>
          <a:ln>
            <a:noFill/>
          </a:ln>
        </p:spPr>
        <p:txBody>
          <a:bodyPr spcFirstLastPara="1" wrap="square" lIns="91425" tIns="45700" rIns="91425" bIns="45700" anchor="t" anchorCtr="0">
            <a:spAutoFit/>
          </a:bodyPr>
          <a:lstStyle/>
          <a:p>
            <a:pPr marL="457200" marR="0" lvl="0" indent="-482600" algn="l" rtl="0">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Tận dụng 2 lần nghe để nghe kỹ phân biệt thông tin từng nhân vật </a:t>
            </a:r>
            <a:endParaRPr>
              <a:latin typeface="Roboto"/>
              <a:ea typeface="Roboto"/>
              <a:cs typeface="Roboto"/>
              <a:sym typeface="Roboto"/>
            </a:endParaRPr>
          </a:p>
        </p:txBody>
      </p:sp>
      <p:sp>
        <p:nvSpPr>
          <p:cNvPr id="241" name="Google Shape;241;p18"/>
          <p:cNvSpPr txBox="1"/>
          <p:nvPr/>
        </p:nvSpPr>
        <p:spPr>
          <a:xfrm>
            <a:off x="7245275" y="5964906"/>
            <a:ext cx="10810500" cy="1631700"/>
          </a:xfrm>
          <a:prstGeom prst="rect">
            <a:avLst/>
          </a:prstGeom>
          <a:noFill/>
          <a:ln>
            <a:noFill/>
          </a:ln>
        </p:spPr>
        <p:txBody>
          <a:bodyPr spcFirstLastPara="1" wrap="square" lIns="91425" tIns="45700" rIns="91425" bIns="45700" anchor="t" anchorCtr="0">
            <a:spAutoFit/>
          </a:bodyPr>
          <a:lstStyle/>
          <a:p>
            <a:pPr marL="457200" marR="0" lvl="0" indent="-482600" algn="l" rtl="0">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Chú ý các yếu tố gây nhiễu, và các từ/cụm từ có thể được paraphrase</a:t>
            </a:r>
            <a:endParaRPr>
              <a:latin typeface="Roboto"/>
              <a:ea typeface="Roboto"/>
              <a:cs typeface="Roboto"/>
              <a:sym typeface="Roboto"/>
            </a:endParaRPr>
          </a:p>
        </p:txBody>
      </p:sp>
      <p:sp>
        <p:nvSpPr>
          <p:cNvPr id="242" name="Google Shape;242;p18"/>
          <p:cNvSpPr txBox="1"/>
          <p:nvPr/>
        </p:nvSpPr>
        <p:spPr>
          <a:xfrm>
            <a:off x="7245275" y="8032475"/>
            <a:ext cx="10810500" cy="1631700"/>
          </a:xfrm>
          <a:prstGeom prst="rect">
            <a:avLst/>
          </a:prstGeom>
          <a:noFill/>
          <a:ln>
            <a:noFill/>
          </a:ln>
        </p:spPr>
        <p:txBody>
          <a:bodyPr spcFirstLastPara="1" wrap="square" lIns="91425" tIns="45700" rIns="91425" bIns="45700" anchor="t" anchorCtr="0">
            <a:spAutoFit/>
          </a:bodyPr>
          <a:lstStyle/>
          <a:p>
            <a:pPr marL="457200" marR="0" lvl="0" indent="-482600" algn="l" rtl="0">
              <a:lnSpc>
                <a:spcPct val="150000"/>
              </a:lnSpc>
              <a:spcBef>
                <a:spcPts val="0"/>
              </a:spcBef>
              <a:spcAft>
                <a:spcPts val="0"/>
              </a:spcAft>
              <a:buClr>
                <a:schemeClr val="dk1"/>
              </a:buClr>
              <a:buSzPts val="4000"/>
              <a:buFont typeface="Roboto"/>
              <a:buChar char="➢"/>
            </a:pPr>
            <a:r>
              <a:rPr lang="en-US" sz="4000">
                <a:solidFill>
                  <a:schemeClr val="dk1"/>
                </a:solidFill>
                <a:latin typeface="Roboto"/>
                <a:ea typeface="Roboto"/>
                <a:cs typeface="Roboto"/>
                <a:sym typeface="Roboto"/>
              </a:rPr>
              <a:t>Các ý kiến được nhắc đến theo thứ tự thời gian, take notes để tìm được đáp án phù hợp</a:t>
            </a:r>
            <a:endParaRPr>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33"/>
                                        </p:tgtEl>
                                        <p:attrNameLst>
                                          <p:attrName>style.visibility</p:attrName>
                                        </p:attrNameLst>
                                      </p:cBhvr>
                                      <p:to>
                                        <p:strVal val="visible"/>
                                      </p:to>
                                    </p:set>
                                    <p:animEffect transition="in" filter="fade">
                                      <p:cBhvr>
                                        <p:cTn id="7" dur="500"/>
                                        <p:tgtEl>
                                          <p:spTgt spid="2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9"/>
                                        </p:tgtEl>
                                        <p:attrNameLst>
                                          <p:attrName>style.visibility</p:attrName>
                                        </p:attrNameLst>
                                      </p:cBhvr>
                                      <p:to>
                                        <p:strVal val="visible"/>
                                      </p:to>
                                    </p:set>
                                    <p:animEffect transition="in" filter="fade">
                                      <p:cBhvr>
                                        <p:cTn id="12" dur="1000"/>
                                        <p:tgtEl>
                                          <p:spTgt spid="239"/>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40"/>
                                        </p:tgtEl>
                                        <p:attrNameLst>
                                          <p:attrName>style.visibility</p:attrName>
                                        </p:attrNameLst>
                                      </p:cBhvr>
                                      <p:to>
                                        <p:strVal val="visible"/>
                                      </p:to>
                                    </p:set>
                                    <p:animEffect transition="in" filter="fade">
                                      <p:cBhvr>
                                        <p:cTn id="21" dur="1000"/>
                                        <p:tgtEl>
                                          <p:spTgt spid="24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41"/>
                                        </p:tgtEl>
                                        <p:attrNameLst>
                                          <p:attrName>style.visibility</p:attrName>
                                        </p:attrNameLst>
                                      </p:cBhvr>
                                      <p:to>
                                        <p:strVal val="visible"/>
                                      </p:to>
                                    </p:set>
                                    <p:animEffect transition="in" filter="fade">
                                      <p:cBhvr>
                                        <p:cTn id="26" dur="1000"/>
                                        <p:tgtEl>
                                          <p:spTgt spid="24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2"/>
                                        </p:tgtEl>
                                        <p:attrNameLst>
                                          <p:attrName>style.visibility</p:attrName>
                                        </p:attrNameLst>
                                      </p:cBhvr>
                                      <p:to>
                                        <p:strVal val="visible"/>
                                      </p:to>
                                    </p:set>
                                    <p:animEffect transition="in" filter="fade">
                                      <p:cBhvr>
                                        <p:cTn id="31" dur="1000"/>
                                        <p:tgtEl>
                                          <p:spTgt spid="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cxnSp>
        <p:nvCxnSpPr>
          <p:cNvPr id="248" name="Google Shape;248;p19"/>
          <p:cNvCxnSpPr/>
          <p:nvPr/>
        </p:nvCxnSpPr>
        <p:spPr>
          <a:xfrm>
            <a:off x="3154" y="5124450"/>
            <a:ext cx="5303520" cy="0"/>
          </a:xfrm>
          <a:prstGeom prst="straightConnector1">
            <a:avLst/>
          </a:prstGeom>
          <a:noFill/>
          <a:ln w="38100" cap="flat" cmpd="sng">
            <a:solidFill>
              <a:srgbClr val="FFFFFF"/>
            </a:solidFill>
            <a:prstDash val="solid"/>
            <a:round/>
            <a:headEnd type="none" w="sm" len="sm"/>
            <a:tailEnd type="none" w="sm" len="sm"/>
          </a:ln>
        </p:spPr>
      </p:cxnSp>
      <p:grpSp>
        <p:nvGrpSpPr>
          <p:cNvPr id="249" name="Google Shape;249;p19"/>
          <p:cNvGrpSpPr/>
          <p:nvPr/>
        </p:nvGrpSpPr>
        <p:grpSpPr>
          <a:xfrm rot="10800000">
            <a:off x="15785091" y="-536942"/>
            <a:ext cx="7681766" cy="4260610"/>
            <a:chOff x="0" y="-38100"/>
            <a:chExt cx="406400" cy="225405"/>
          </a:xfrm>
        </p:grpSpPr>
        <p:sp>
          <p:nvSpPr>
            <p:cNvPr id="250" name="Google Shape;250;p19"/>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51" name="Google Shape;251;p19"/>
            <p:cNvSpPr txBox="1"/>
            <p:nvPr/>
          </p:nvSpPr>
          <p:spPr>
            <a:xfrm>
              <a:off x="127000" y="-38100"/>
              <a:ext cx="15240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252" name="Google Shape;252;p19"/>
          <p:cNvSpPr txBox="1"/>
          <p:nvPr/>
        </p:nvSpPr>
        <p:spPr>
          <a:xfrm>
            <a:off x="6866001" y="910025"/>
            <a:ext cx="10787700" cy="738900"/>
          </a:xfrm>
          <a:prstGeom prst="rect">
            <a:avLst/>
          </a:prstGeom>
          <a:noFill/>
          <a:ln>
            <a:noFill/>
          </a:ln>
        </p:spPr>
        <p:txBody>
          <a:bodyPr spcFirstLastPara="1" wrap="square" lIns="0" tIns="0" rIns="0" bIns="0" anchor="t" anchorCtr="0">
            <a:spAutoFit/>
          </a:bodyPr>
          <a:lstStyle/>
          <a:p>
            <a:pPr marL="0" marR="0" lvl="0" indent="0" algn="ctr" rtl="0">
              <a:lnSpc>
                <a:spcPct val="154791"/>
              </a:lnSpc>
              <a:spcBef>
                <a:spcPts val="0"/>
              </a:spcBef>
              <a:spcAft>
                <a:spcPts val="0"/>
              </a:spcAft>
              <a:buNone/>
            </a:pPr>
            <a:r>
              <a:rPr lang="en-US" sz="4800" b="1">
                <a:solidFill>
                  <a:srgbClr val="018345"/>
                </a:solidFill>
                <a:latin typeface="Montserrat"/>
                <a:ea typeface="Montserrat"/>
                <a:cs typeface="Montserrat"/>
                <a:sym typeface="Montserrat"/>
              </a:rPr>
              <a:t>Lưu ý</a:t>
            </a:r>
            <a:endParaRPr/>
          </a:p>
        </p:txBody>
      </p:sp>
      <p:grpSp>
        <p:nvGrpSpPr>
          <p:cNvPr id="253" name="Google Shape;253;p19"/>
          <p:cNvGrpSpPr/>
          <p:nvPr/>
        </p:nvGrpSpPr>
        <p:grpSpPr>
          <a:xfrm>
            <a:off x="-2718010" y="9274528"/>
            <a:ext cx="7950400" cy="1707231"/>
            <a:chOff x="0" y="-384762"/>
            <a:chExt cx="10600533" cy="2276307"/>
          </a:xfrm>
        </p:grpSpPr>
        <p:grpSp>
          <p:nvGrpSpPr>
            <p:cNvPr id="254" name="Google Shape;254;p19"/>
            <p:cNvGrpSpPr/>
            <p:nvPr/>
          </p:nvGrpSpPr>
          <p:grpSpPr>
            <a:xfrm>
              <a:off x="0" y="-384762"/>
              <a:ext cx="10600533" cy="2276307"/>
              <a:chOff x="0" y="-38100"/>
              <a:chExt cx="1049690" cy="225405"/>
            </a:xfrm>
          </p:grpSpPr>
          <p:sp>
            <p:nvSpPr>
              <p:cNvPr id="255" name="Google Shape;255;p19"/>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256" name="Google Shape;256;p19"/>
              <p:cNvSpPr txBox="1"/>
              <p:nvPr/>
            </p:nvSpPr>
            <p:spPr>
              <a:xfrm>
                <a:off x="127000" y="-38100"/>
                <a:ext cx="79569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257" name="Google Shape;257;p19"/>
            <p:cNvSpPr txBox="1"/>
            <p:nvPr/>
          </p:nvSpPr>
          <p:spPr>
            <a:xfrm>
              <a:off x="4182979" y="666743"/>
              <a:ext cx="3721150" cy="529484"/>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
        <p:nvSpPr>
          <p:cNvPr id="258" name="Google Shape;258;p19"/>
          <p:cNvSpPr/>
          <p:nvPr/>
        </p:nvSpPr>
        <p:spPr>
          <a:xfrm>
            <a:off x="7720637" y="2270061"/>
            <a:ext cx="10186363" cy="7004467"/>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9"/>
          <p:cNvSpPr/>
          <p:nvPr/>
        </p:nvSpPr>
        <p:spPr>
          <a:xfrm>
            <a:off x="-52203" y="1059893"/>
            <a:ext cx="9424803" cy="9424803"/>
          </a:xfrm>
          <a:prstGeom prst="blockArc">
            <a:avLst>
              <a:gd name="adj1" fmla="val 19397388"/>
              <a:gd name="adj2" fmla="val 1908187"/>
              <a:gd name="adj3" fmla="val 0"/>
            </a:avLst>
          </a:prstGeom>
          <a:noFill/>
          <a:ln w="25400" cap="flat" cmpd="sng">
            <a:solidFill>
              <a:srgbClr val="0183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60" name="Google Shape;260;p19"/>
          <p:cNvCxnSpPr/>
          <p:nvPr/>
        </p:nvCxnSpPr>
        <p:spPr>
          <a:xfrm>
            <a:off x="7690000" y="1972100"/>
            <a:ext cx="9381900" cy="40500"/>
          </a:xfrm>
          <a:prstGeom prst="straightConnector1">
            <a:avLst/>
          </a:prstGeom>
          <a:noFill/>
          <a:ln w="38100" cap="flat" cmpd="sng">
            <a:solidFill>
              <a:srgbClr val="018345"/>
            </a:solidFill>
            <a:prstDash val="solid"/>
            <a:round/>
            <a:headEnd type="none" w="sm" len="sm"/>
            <a:tailEnd type="none" w="sm" len="sm"/>
          </a:ln>
        </p:spPr>
      </p:cxnSp>
      <p:grpSp>
        <p:nvGrpSpPr>
          <p:cNvPr id="261" name="Google Shape;261;p19"/>
          <p:cNvGrpSpPr/>
          <p:nvPr/>
        </p:nvGrpSpPr>
        <p:grpSpPr>
          <a:xfrm>
            <a:off x="8158730" y="3207820"/>
            <a:ext cx="8684450" cy="1094798"/>
            <a:chOff x="7100641" y="2598220"/>
            <a:chExt cx="8684450" cy="1094798"/>
          </a:xfrm>
        </p:grpSpPr>
        <p:sp>
          <p:nvSpPr>
            <p:cNvPr id="262" name="Google Shape;262;p19"/>
            <p:cNvSpPr/>
            <p:nvPr/>
          </p:nvSpPr>
          <p:spPr>
            <a:xfrm>
              <a:off x="7648040" y="2707700"/>
              <a:ext cx="8137051" cy="875838"/>
            </a:xfrm>
            <a:custGeom>
              <a:avLst/>
              <a:gdLst/>
              <a:ahLst/>
              <a:cxnLst/>
              <a:rect l="l" t="t" r="r" b="b"/>
              <a:pathLst>
                <a:path w="9428479" h="875838" extrusionOk="0">
                  <a:moveTo>
                    <a:pt x="0" y="0"/>
                  </a:moveTo>
                  <a:lnTo>
                    <a:pt x="9428479" y="0"/>
                  </a:lnTo>
                  <a:lnTo>
                    <a:pt x="9428479" y="875838"/>
                  </a:lnTo>
                  <a:lnTo>
                    <a:pt x="0" y="875838"/>
                  </a:lnTo>
                  <a:lnTo>
                    <a:pt x="0" y="0"/>
                  </a:lnTo>
                  <a:close/>
                </a:path>
              </a:pathLst>
            </a:custGeom>
            <a:solidFill>
              <a:srgbClr val="4CB487"/>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695175" tIns="116825" rIns="116825" bIns="116825" anchor="ctr" anchorCtr="0">
              <a:noAutofit/>
            </a:bodyPr>
            <a:lstStyle/>
            <a:p>
              <a:pPr marL="0" marR="0" lvl="0" indent="0" algn="l" rtl="0">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Giữ bình tĩnh và tự tin</a:t>
              </a:r>
              <a:endParaRPr sz="4600">
                <a:solidFill>
                  <a:schemeClr val="lt1"/>
                </a:solidFill>
                <a:latin typeface="Roboto"/>
                <a:ea typeface="Roboto"/>
                <a:cs typeface="Roboto"/>
                <a:sym typeface="Roboto"/>
              </a:endParaRPr>
            </a:p>
          </p:txBody>
        </p:sp>
        <p:sp>
          <p:nvSpPr>
            <p:cNvPr id="263" name="Google Shape;263;p19"/>
            <p:cNvSpPr/>
            <p:nvPr/>
          </p:nvSpPr>
          <p:spPr>
            <a:xfrm>
              <a:off x="7100641" y="2598220"/>
              <a:ext cx="1094798" cy="1094798"/>
            </a:xfrm>
            <a:prstGeom prst="ellipse">
              <a:avLst/>
            </a:prstGeom>
            <a:solidFill>
              <a:schemeClr val="lt1"/>
            </a:solidFill>
            <a:ln w="25400" cap="flat" cmpd="sng">
              <a:solidFill>
                <a:srgbClr val="0183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4" name="Google Shape;264;p19"/>
          <p:cNvGrpSpPr/>
          <p:nvPr/>
        </p:nvGrpSpPr>
        <p:grpSpPr>
          <a:xfrm>
            <a:off x="8786330" y="4444957"/>
            <a:ext cx="8056850" cy="1094798"/>
            <a:chOff x="7728241" y="3911557"/>
            <a:chExt cx="8056850" cy="1094798"/>
          </a:xfrm>
        </p:grpSpPr>
        <p:sp>
          <p:nvSpPr>
            <p:cNvPr id="265" name="Google Shape;265;p19"/>
            <p:cNvSpPr/>
            <p:nvPr/>
          </p:nvSpPr>
          <p:spPr>
            <a:xfrm>
              <a:off x="8275640" y="4021037"/>
              <a:ext cx="7509451" cy="875838"/>
            </a:xfrm>
            <a:custGeom>
              <a:avLst/>
              <a:gdLst/>
              <a:ahLst/>
              <a:cxnLst/>
              <a:rect l="l" t="t" r="r" b="b"/>
              <a:pathLst>
                <a:path w="8800879" h="875838" extrusionOk="0">
                  <a:moveTo>
                    <a:pt x="0" y="0"/>
                  </a:moveTo>
                  <a:lnTo>
                    <a:pt x="8800879" y="0"/>
                  </a:lnTo>
                  <a:lnTo>
                    <a:pt x="8800879" y="875838"/>
                  </a:lnTo>
                  <a:lnTo>
                    <a:pt x="0" y="875838"/>
                  </a:lnTo>
                  <a:lnTo>
                    <a:pt x="0" y="0"/>
                  </a:lnTo>
                  <a:close/>
                </a:path>
              </a:pathLst>
            </a:custGeom>
            <a:solidFill>
              <a:srgbClr val="4CB487"/>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695175" tIns="116825" rIns="116825" bIns="116825" anchor="ctr" anchorCtr="0">
              <a:noAutofit/>
            </a:bodyPr>
            <a:lstStyle/>
            <a:p>
              <a:pPr marL="0" marR="0" lvl="0" indent="0" algn="l" rtl="0">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Nghe kỹ hướng dẫn</a:t>
              </a:r>
              <a:endParaRPr sz="4600">
                <a:solidFill>
                  <a:schemeClr val="lt1"/>
                </a:solidFill>
                <a:latin typeface="Roboto"/>
                <a:ea typeface="Roboto"/>
                <a:cs typeface="Roboto"/>
                <a:sym typeface="Roboto"/>
              </a:endParaRPr>
            </a:p>
          </p:txBody>
        </p:sp>
        <p:sp>
          <p:nvSpPr>
            <p:cNvPr id="266" name="Google Shape;266;p19"/>
            <p:cNvSpPr/>
            <p:nvPr/>
          </p:nvSpPr>
          <p:spPr>
            <a:xfrm>
              <a:off x="7728241" y="3911557"/>
              <a:ext cx="1094798" cy="1094798"/>
            </a:xfrm>
            <a:prstGeom prst="ellipse">
              <a:avLst/>
            </a:prstGeom>
            <a:solidFill>
              <a:schemeClr val="lt1"/>
            </a:solidFill>
            <a:ln w="25400" cap="flat" cmpd="sng">
              <a:solidFill>
                <a:srgbClr val="0183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7" name="Google Shape;267;p19"/>
          <p:cNvGrpSpPr/>
          <p:nvPr/>
        </p:nvGrpSpPr>
        <p:grpSpPr>
          <a:xfrm>
            <a:off x="8978953" y="5758295"/>
            <a:ext cx="7864227" cy="1094798"/>
            <a:chOff x="7920864" y="5224895"/>
            <a:chExt cx="7864227" cy="1094798"/>
          </a:xfrm>
        </p:grpSpPr>
        <p:sp>
          <p:nvSpPr>
            <p:cNvPr id="268" name="Google Shape;268;p19"/>
            <p:cNvSpPr/>
            <p:nvPr/>
          </p:nvSpPr>
          <p:spPr>
            <a:xfrm>
              <a:off x="8468263" y="5334375"/>
              <a:ext cx="7316828" cy="875838"/>
            </a:xfrm>
            <a:custGeom>
              <a:avLst/>
              <a:gdLst/>
              <a:ahLst/>
              <a:cxnLst/>
              <a:rect l="l" t="t" r="r" b="b"/>
              <a:pathLst>
                <a:path w="8608256" h="875838" extrusionOk="0">
                  <a:moveTo>
                    <a:pt x="0" y="0"/>
                  </a:moveTo>
                  <a:lnTo>
                    <a:pt x="8608256" y="0"/>
                  </a:lnTo>
                  <a:lnTo>
                    <a:pt x="8608256" y="875838"/>
                  </a:lnTo>
                  <a:lnTo>
                    <a:pt x="0" y="875838"/>
                  </a:lnTo>
                  <a:lnTo>
                    <a:pt x="0" y="0"/>
                  </a:lnTo>
                  <a:close/>
                </a:path>
              </a:pathLst>
            </a:custGeom>
            <a:solidFill>
              <a:srgbClr val="4CB487"/>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695175" tIns="116825" rIns="116825" bIns="116825" anchor="ctr" anchorCtr="0">
              <a:noAutofit/>
            </a:bodyPr>
            <a:lstStyle/>
            <a:p>
              <a:pPr marL="0" marR="0" lvl="0" indent="0" algn="l" rtl="0">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Theo sát các từ khóa</a:t>
              </a:r>
              <a:endParaRPr sz="4600">
                <a:solidFill>
                  <a:schemeClr val="lt1"/>
                </a:solidFill>
                <a:latin typeface="Roboto"/>
                <a:ea typeface="Roboto"/>
                <a:cs typeface="Roboto"/>
                <a:sym typeface="Roboto"/>
              </a:endParaRPr>
            </a:p>
          </p:txBody>
        </p:sp>
        <p:sp>
          <p:nvSpPr>
            <p:cNvPr id="269" name="Google Shape;269;p19"/>
            <p:cNvSpPr/>
            <p:nvPr/>
          </p:nvSpPr>
          <p:spPr>
            <a:xfrm>
              <a:off x="7920864" y="5224895"/>
              <a:ext cx="1094798" cy="1094798"/>
            </a:xfrm>
            <a:prstGeom prst="ellipse">
              <a:avLst/>
            </a:prstGeom>
            <a:solidFill>
              <a:schemeClr val="lt1"/>
            </a:solidFill>
            <a:ln w="25400" cap="flat" cmpd="sng">
              <a:solidFill>
                <a:srgbClr val="0183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0" name="Google Shape;270;p19"/>
          <p:cNvGrpSpPr/>
          <p:nvPr/>
        </p:nvGrpSpPr>
        <p:grpSpPr>
          <a:xfrm>
            <a:off x="8786330" y="6995432"/>
            <a:ext cx="8056850" cy="1094798"/>
            <a:chOff x="7728241" y="6538232"/>
            <a:chExt cx="8056850" cy="1094798"/>
          </a:xfrm>
        </p:grpSpPr>
        <p:sp>
          <p:nvSpPr>
            <p:cNvPr id="271" name="Google Shape;271;p19"/>
            <p:cNvSpPr/>
            <p:nvPr/>
          </p:nvSpPr>
          <p:spPr>
            <a:xfrm>
              <a:off x="8275640" y="6647712"/>
              <a:ext cx="7509451" cy="875838"/>
            </a:xfrm>
            <a:custGeom>
              <a:avLst/>
              <a:gdLst/>
              <a:ahLst/>
              <a:cxnLst/>
              <a:rect l="l" t="t" r="r" b="b"/>
              <a:pathLst>
                <a:path w="8800879" h="875838" extrusionOk="0">
                  <a:moveTo>
                    <a:pt x="0" y="0"/>
                  </a:moveTo>
                  <a:lnTo>
                    <a:pt x="8800879" y="0"/>
                  </a:lnTo>
                  <a:lnTo>
                    <a:pt x="8800879" y="875838"/>
                  </a:lnTo>
                  <a:lnTo>
                    <a:pt x="0" y="875838"/>
                  </a:lnTo>
                  <a:lnTo>
                    <a:pt x="0" y="0"/>
                  </a:lnTo>
                  <a:close/>
                </a:path>
              </a:pathLst>
            </a:custGeom>
            <a:solidFill>
              <a:srgbClr val="4CB487"/>
            </a:solidFill>
            <a:ln w="38100" cap="flat" cmpd="sng">
              <a:solidFill>
                <a:schemeClr val="lt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695175" tIns="116825" rIns="116825" bIns="116825" anchor="ctr" anchorCtr="0">
              <a:noAutofit/>
            </a:bodyPr>
            <a:lstStyle/>
            <a:p>
              <a:pPr marL="0" marR="0" lvl="0" indent="0" algn="l" rtl="0">
                <a:lnSpc>
                  <a:spcPct val="90000"/>
                </a:lnSpc>
                <a:spcBef>
                  <a:spcPts val="0"/>
                </a:spcBef>
                <a:spcAft>
                  <a:spcPts val="0"/>
                </a:spcAft>
                <a:buClr>
                  <a:schemeClr val="lt1"/>
                </a:buClr>
                <a:buSzPts val="4600"/>
                <a:buFont typeface="Calibri"/>
                <a:buNone/>
              </a:pPr>
              <a:r>
                <a:rPr lang="en-US" sz="4600">
                  <a:solidFill>
                    <a:schemeClr val="lt1"/>
                  </a:solidFill>
                  <a:latin typeface="Roboto"/>
                  <a:ea typeface="Roboto"/>
                  <a:cs typeface="Roboto"/>
                  <a:sym typeface="Roboto"/>
                </a:rPr>
                <a:t>Luôn kiểm tra lại đáp án</a:t>
              </a:r>
              <a:endParaRPr sz="4600">
                <a:solidFill>
                  <a:schemeClr val="lt1"/>
                </a:solidFill>
                <a:latin typeface="Roboto"/>
                <a:ea typeface="Roboto"/>
                <a:cs typeface="Roboto"/>
                <a:sym typeface="Roboto"/>
              </a:endParaRPr>
            </a:p>
          </p:txBody>
        </p:sp>
        <p:sp>
          <p:nvSpPr>
            <p:cNvPr id="272" name="Google Shape;272;p19"/>
            <p:cNvSpPr/>
            <p:nvPr/>
          </p:nvSpPr>
          <p:spPr>
            <a:xfrm>
              <a:off x="7728241" y="6538232"/>
              <a:ext cx="1094798" cy="1094798"/>
            </a:xfrm>
            <a:prstGeom prst="ellipse">
              <a:avLst/>
            </a:prstGeom>
            <a:solidFill>
              <a:schemeClr val="lt1"/>
            </a:solidFill>
            <a:ln w="25400" cap="flat" cmpd="sng">
              <a:solidFill>
                <a:srgbClr val="01834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2"/>
                                        </p:tgtEl>
                                        <p:attrNameLst>
                                          <p:attrName>style.visibility</p:attrName>
                                        </p:attrNameLst>
                                      </p:cBhvr>
                                      <p:to>
                                        <p:strVal val="visible"/>
                                      </p:to>
                                    </p:set>
                                    <p:animEffect transition="in" filter="fade">
                                      <p:cBhvr>
                                        <p:cTn id="7" dur="500"/>
                                        <p:tgtEl>
                                          <p:spTgt spid="25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1"/>
                                        </p:tgtEl>
                                        <p:attrNameLst>
                                          <p:attrName>style.visibility</p:attrName>
                                        </p:attrNameLst>
                                      </p:cBhvr>
                                      <p:to>
                                        <p:strVal val="visible"/>
                                      </p:to>
                                    </p:set>
                                    <p:animEffect transition="in" filter="fade">
                                      <p:cBhvr>
                                        <p:cTn id="12" dur="500"/>
                                        <p:tgtEl>
                                          <p:spTgt spid="26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4"/>
                                        </p:tgtEl>
                                        <p:attrNameLst>
                                          <p:attrName>style.visibility</p:attrName>
                                        </p:attrNameLst>
                                      </p:cBhvr>
                                      <p:to>
                                        <p:strVal val="visible"/>
                                      </p:to>
                                    </p:set>
                                    <p:animEffect transition="in" filter="fade">
                                      <p:cBhvr>
                                        <p:cTn id="17" dur="500"/>
                                        <p:tgtEl>
                                          <p:spTgt spid="26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7"/>
                                        </p:tgtEl>
                                        <p:attrNameLst>
                                          <p:attrName>style.visibility</p:attrName>
                                        </p:attrNameLst>
                                      </p:cBhvr>
                                      <p:to>
                                        <p:strVal val="visible"/>
                                      </p:to>
                                    </p:set>
                                    <p:animEffect transition="in" filter="fade">
                                      <p:cBhvr>
                                        <p:cTn id="22" dur="500"/>
                                        <p:tgtEl>
                                          <p:spTgt spid="26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0"/>
                                        </p:tgtEl>
                                        <p:attrNameLst>
                                          <p:attrName>style.visibility</p:attrName>
                                        </p:attrNameLst>
                                      </p:cBhvr>
                                      <p:to>
                                        <p:strVal val="visible"/>
                                      </p:to>
                                    </p:set>
                                    <p:animEffect transition="in" filter="fade">
                                      <p:cBhvr>
                                        <p:cTn id="27" dur="500"/>
                                        <p:tgtEl>
                                          <p:spTgt spid="27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59"/>
                                        </p:tgtEl>
                                        <p:attrNameLst>
                                          <p:attrName>style.visibility</p:attrName>
                                        </p:attrNameLst>
                                      </p:cBhvr>
                                      <p:to>
                                        <p:strVal val="visible"/>
                                      </p:to>
                                    </p:set>
                                    <p:animEffect transition="in" filter="fade">
                                      <p:cBhvr>
                                        <p:cTn id="32" dur="500"/>
                                        <p:tgtEl>
                                          <p:spTgt spid="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cxnSp>
        <p:nvCxnSpPr>
          <p:cNvPr id="277" name="Google Shape;277;p20"/>
          <p:cNvCxnSpPr/>
          <p:nvPr/>
        </p:nvCxnSpPr>
        <p:spPr>
          <a:xfrm>
            <a:off x="6400799" y="2235185"/>
            <a:ext cx="9982201" cy="0"/>
          </a:xfrm>
          <a:prstGeom prst="straightConnector1">
            <a:avLst/>
          </a:prstGeom>
          <a:noFill/>
          <a:ln w="38100" cap="flat" cmpd="sng">
            <a:solidFill>
              <a:srgbClr val="018345"/>
            </a:solidFill>
            <a:prstDash val="solid"/>
            <a:round/>
            <a:headEnd type="none" w="sm" len="sm"/>
            <a:tailEnd type="none" w="sm" len="sm"/>
          </a:ln>
        </p:spPr>
      </p:cxnSp>
      <p:cxnSp>
        <p:nvCxnSpPr>
          <p:cNvPr id="278" name="Google Shape;278;p20"/>
          <p:cNvCxnSpPr/>
          <p:nvPr/>
        </p:nvCxnSpPr>
        <p:spPr>
          <a:xfrm>
            <a:off x="-249883" y="5124450"/>
            <a:ext cx="5303520" cy="0"/>
          </a:xfrm>
          <a:prstGeom prst="straightConnector1">
            <a:avLst/>
          </a:prstGeom>
          <a:noFill/>
          <a:ln w="38100" cap="flat" cmpd="sng">
            <a:solidFill>
              <a:srgbClr val="FFFFFF"/>
            </a:solidFill>
            <a:prstDash val="solid"/>
            <a:round/>
            <a:headEnd type="none" w="sm" len="sm"/>
            <a:tailEnd type="none" w="sm" len="sm"/>
          </a:ln>
        </p:spPr>
      </p:cxnSp>
      <p:grpSp>
        <p:nvGrpSpPr>
          <p:cNvPr id="279" name="Google Shape;279;p20"/>
          <p:cNvGrpSpPr/>
          <p:nvPr/>
        </p:nvGrpSpPr>
        <p:grpSpPr>
          <a:xfrm rot="10800000">
            <a:off x="15044552" y="-741521"/>
            <a:ext cx="7681766" cy="4260610"/>
            <a:chOff x="0" y="-38100"/>
            <a:chExt cx="406400" cy="225405"/>
          </a:xfrm>
        </p:grpSpPr>
        <p:sp>
          <p:nvSpPr>
            <p:cNvPr id="280" name="Google Shape;280;p20"/>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81" name="Google Shape;281;p20"/>
            <p:cNvSpPr txBox="1"/>
            <p:nvPr/>
          </p:nvSpPr>
          <p:spPr>
            <a:xfrm>
              <a:off x="127000" y="-38100"/>
              <a:ext cx="15240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282" name="Google Shape;282;p20" descr="Books with solid fill"/>
          <p:cNvSpPr/>
          <p:nvPr/>
        </p:nvSpPr>
        <p:spPr>
          <a:xfrm>
            <a:off x="3241317" y="6937835"/>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283" name="Google Shape;283;p20"/>
          <p:cNvSpPr/>
          <p:nvPr/>
        </p:nvSpPr>
        <p:spPr>
          <a:xfrm>
            <a:off x="18157088" y="2761190"/>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284" name="Google Shape;284;p20"/>
          <p:cNvSpPr txBox="1"/>
          <p:nvPr/>
        </p:nvSpPr>
        <p:spPr>
          <a:xfrm>
            <a:off x="5511794" y="2502271"/>
            <a:ext cx="11760300" cy="1015800"/>
          </a:xfrm>
          <a:prstGeom prst="rect">
            <a:avLst/>
          </a:prstGeom>
          <a:noFill/>
          <a:ln>
            <a:noFill/>
          </a:ln>
        </p:spPr>
        <p:txBody>
          <a:bodyPr spcFirstLastPara="1" wrap="square" lIns="0" tIns="0" rIns="0" bIns="0" anchor="t" anchorCtr="0">
            <a:spAutoFit/>
          </a:bodyPr>
          <a:lstStyle/>
          <a:p>
            <a:pPr marL="0" marR="0" lvl="0" indent="0" algn="ctr" rtl="0">
              <a:lnSpc>
                <a:spcPct val="147348"/>
              </a:lnSpc>
              <a:spcBef>
                <a:spcPts val="0"/>
              </a:spcBef>
              <a:spcAft>
                <a:spcPts val="0"/>
              </a:spcAft>
              <a:buNone/>
            </a:pPr>
            <a:r>
              <a:rPr lang="en-US" sz="6600" b="1">
                <a:solidFill>
                  <a:srgbClr val="018345"/>
                </a:solidFill>
                <a:latin typeface="Montserrat"/>
                <a:ea typeface="Montserrat"/>
                <a:cs typeface="Montserrat"/>
                <a:sym typeface="Montserrat"/>
              </a:rPr>
              <a:t>Đề mẫu</a:t>
            </a:r>
            <a:endParaRPr sz="6600" b="1">
              <a:solidFill>
                <a:srgbClr val="018345"/>
              </a:solidFill>
              <a:latin typeface="Montserrat"/>
              <a:ea typeface="Montserrat"/>
              <a:cs typeface="Montserrat"/>
              <a:sym typeface="Montserrat"/>
            </a:endParaRPr>
          </a:p>
        </p:txBody>
      </p:sp>
      <p:sp>
        <p:nvSpPr>
          <p:cNvPr id="285" name="Google Shape;285;p20"/>
          <p:cNvSpPr txBox="1"/>
          <p:nvPr/>
        </p:nvSpPr>
        <p:spPr>
          <a:xfrm>
            <a:off x="9601200" y="339710"/>
            <a:ext cx="2755633" cy="1837554"/>
          </a:xfrm>
          <a:prstGeom prst="rect">
            <a:avLst/>
          </a:prstGeom>
          <a:noFill/>
          <a:ln>
            <a:noFill/>
          </a:ln>
        </p:spPr>
        <p:txBody>
          <a:bodyPr spcFirstLastPara="1" wrap="square" lIns="0" tIns="0" rIns="0" bIns="0" anchor="t" anchorCtr="0">
            <a:spAutoFit/>
          </a:bodyPr>
          <a:lstStyle/>
          <a:p>
            <a:pPr marL="0" marR="0" lvl="0" indent="0" algn="ctr" rtl="0">
              <a:lnSpc>
                <a:spcPct val="119998"/>
              </a:lnSpc>
              <a:spcBef>
                <a:spcPts val="0"/>
              </a:spcBef>
              <a:spcAft>
                <a:spcPts val="0"/>
              </a:spcAft>
              <a:buNone/>
            </a:pPr>
            <a:r>
              <a:rPr lang="en-US" sz="12461" b="1">
                <a:solidFill>
                  <a:srgbClr val="018345"/>
                </a:solidFill>
                <a:latin typeface="Montserrat"/>
                <a:ea typeface="Montserrat"/>
                <a:cs typeface="Montserrat"/>
                <a:sym typeface="Montserrat"/>
              </a:rPr>
              <a:t>03</a:t>
            </a:r>
            <a:endParaRPr/>
          </a:p>
        </p:txBody>
      </p:sp>
      <p:sp>
        <p:nvSpPr>
          <p:cNvPr id="286" name="Google Shape;286;p20"/>
          <p:cNvSpPr txBox="1"/>
          <p:nvPr/>
        </p:nvSpPr>
        <p:spPr>
          <a:xfrm>
            <a:off x="-10653311" y="9715322"/>
            <a:ext cx="13923203" cy="285768"/>
          </a:xfrm>
          <a:prstGeom prst="rect">
            <a:avLst/>
          </a:prstGeom>
          <a:noFill/>
          <a:ln>
            <a:noFill/>
          </a:ln>
        </p:spPr>
        <p:txBody>
          <a:bodyPr spcFirstLastPara="1" wrap="square" lIns="0" tIns="0" rIns="0" bIns="0" anchor="t" anchorCtr="0">
            <a:spAutoFit/>
          </a:bodyPr>
          <a:lstStyle/>
          <a:p>
            <a:pPr marL="0" marR="0" lvl="0" indent="0" algn="r" rtl="0">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87" name="Google Shape;287;p20"/>
          <p:cNvGrpSpPr/>
          <p:nvPr/>
        </p:nvGrpSpPr>
        <p:grpSpPr>
          <a:xfrm>
            <a:off x="-2718010" y="9274528"/>
            <a:ext cx="7950400" cy="1707231"/>
            <a:chOff x="0" y="-384762"/>
            <a:chExt cx="10600533" cy="2276307"/>
          </a:xfrm>
        </p:grpSpPr>
        <p:grpSp>
          <p:nvGrpSpPr>
            <p:cNvPr id="288" name="Google Shape;288;p20"/>
            <p:cNvGrpSpPr/>
            <p:nvPr/>
          </p:nvGrpSpPr>
          <p:grpSpPr>
            <a:xfrm>
              <a:off x="0" y="-384762"/>
              <a:ext cx="10600533" cy="2276307"/>
              <a:chOff x="0" y="-38100"/>
              <a:chExt cx="1049690" cy="225405"/>
            </a:xfrm>
          </p:grpSpPr>
          <p:sp>
            <p:nvSpPr>
              <p:cNvPr id="289" name="Google Shape;289;p20"/>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290" name="Google Shape;290;p20"/>
              <p:cNvSpPr txBox="1"/>
              <p:nvPr/>
            </p:nvSpPr>
            <p:spPr>
              <a:xfrm>
                <a:off x="127000" y="-38100"/>
                <a:ext cx="79569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291" name="Google Shape;291;p20"/>
            <p:cNvSpPr txBox="1"/>
            <p:nvPr/>
          </p:nvSpPr>
          <p:spPr>
            <a:xfrm>
              <a:off x="4182979" y="666743"/>
              <a:ext cx="3721150" cy="529484"/>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pic>
        <p:nvPicPr>
          <p:cNvPr id="292" name="Google Shape;292;p20"/>
          <p:cNvPicPr preferRelativeResize="0"/>
          <p:nvPr/>
        </p:nvPicPr>
        <p:blipFill rotWithShape="1">
          <a:blip r:embed="rId5">
            <a:alphaModFix/>
          </a:blip>
          <a:srcRect t="10547" b="10096"/>
          <a:stretch/>
        </p:blipFill>
        <p:spPr>
          <a:xfrm>
            <a:off x="7772400" y="4099418"/>
            <a:ext cx="6391277" cy="507199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285"/>
                                        </p:tgtEl>
                                        <p:attrNameLst>
                                          <p:attrName>style.visibility</p:attrName>
                                        </p:attrNameLst>
                                      </p:cBhvr>
                                      <p:to>
                                        <p:strVal val="visible"/>
                                      </p:to>
                                    </p:set>
                                    <p:anim calcmode="lin" valueType="num">
                                      <p:cBhvr additive="base">
                                        <p:cTn id="7" dur="500"/>
                                        <p:tgtEl>
                                          <p:spTgt spid="285"/>
                                        </p:tgtEl>
                                        <p:attrNameLst>
                                          <p:attrName>ppt_w</p:attrName>
                                        </p:attrNameLst>
                                      </p:cBhvr>
                                      <p:tavLst>
                                        <p:tav tm="0">
                                          <p:val>
                                            <p:strVal val="0"/>
                                          </p:val>
                                        </p:tav>
                                        <p:tav tm="100000">
                                          <p:val>
                                            <p:strVal val="#ppt_w"/>
                                          </p:val>
                                        </p:tav>
                                      </p:tavLst>
                                    </p:anim>
                                    <p:anim calcmode="lin" valueType="num">
                                      <p:cBhvr additive="base">
                                        <p:cTn id="8" dur="500"/>
                                        <p:tgtEl>
                                          <p:spTgt spid="285"/>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284"/>
                                        </p:tgtEl>
                                        <p:attrNameLst>
                                          <p:attrName>style.visibility</p:attrName>
                                        </p:attrNameLst>
                                      </p:cBhvr>
                                      <p:to>
                                        <p:strVal val="visible"/>
                                      </p:to>
                                    </p:set>
                                    <p:anim calcmode="lin" valueType="num">
                                      <p:cBhvr additive="base">
                                        <p:cTn id="11" dur="500"/>
                                        <p:tgtEl>
                                          <p:spTgt spid="284"/>
                                        </p:tgtEl>
                                        <p:attrNameLst>
                                          <p:attrName>ppt_w</p:attrName>
                                        </p:attrNameLst>
                                      </p:cBhvr>
                                      <p:tavLst>
                                        <p:tav tm="0">
                                          <p:val>
                                            <p:strVal val="0"/>
                                          </p:val>
                                        </p:tav>
                                        <p:tav tm="100000">
                                          <p:val>
                                            <p:strVal val="#ppt_w"/>
                                          </p:val>
                                        </p:tav>
                                      </p:tavLst>
                                    </p:anim>
                                    <p:anim calcmode="lin" valueType="num">
                                      <p:cBhvr additive="base">
                                        <p:cTn id="12" dur="500"/>
                                        <p:tgtEl>
                                          <p:spTgt spid="28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cxnSp>
        <p:nvCxnSpPr>
          <p:cNvPr id="298" name="Google Shape;298;p21"/>
          <p:cNvCxnSpPr/>
          <p:nvPr/>
        </p:nvCxnSpPr>
        <p:spPr>
          <a:xfrm rot="10800000" flipH="1">
            <a:off x="7543801" y="1816500"/>
            <a:ext cx="9909000" cy="50400"/>
          </a:xfrm>
          <a:prstGeom prst="straightConnector1">
            <a:avLst/>
          </a:prstGeom>
          <a:noFill/>
          <a:ln w="38100" cap="flat" cmpd="sng">
            <a:solidFill>
              <a:srgbClr val="018345"/>
            </a:solidFill>
            <a:prstDash val="solid"/>
            <a:round/>
            <a:headEnd type="none" w="sm" len="sm"/>
            <a:tailEnd type="none" w="sm" len="sm"/>
          </a:ln>
        </p:spPr>
      </p:cxnSp>
      <p:grpSp>
        <p:nvGrpSpPr>
          <p:cNvPr id="299" name="Google Shape;299;p21"/>
          <p:cNvGrpSpPr/>
          <p:nvPr/>
        </p:nvGrpSpPr>
        <p:grpSpPr>
          <a:xfrm rot="10800000">
            <a:off x="15785084" y="-536938"/>
            <a:ext cx="7681773" cy="4260605"/>
            <a:chOff x="0" y="-38100"/>
            <a:chExt cx="406400" cy="225405"/>
          </a:xfrm>
        </p:grpSpPr>
        <p:sp>
          <p:nvSpPr>
            <p:cNvPr id="300" name="Google Shape;300;p21"/>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1" name="Google Shape;301;p21"/>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302" name="Google Shape;302;p21"/>
          <p:cNvSpPr/>
          <p:nvPr/>
        </p:nvSpPr>
        <p:spPr>
          <a:xfrm>
            <a:off x="18099269" y="1809027"/>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grpSp>
        <p:nvGrpSpPr>
          <p:cNvPr id="303" name="Google Shape;303;p21"/>
          <p:cNvGrpSpPr/>
          <p:nvPr/>
        </p:nvGrpSpPr>
        <p:grpSpPr>
          <a:xfrm>
            <a:off x="-2718010" y="9274530"/>
            <a:ext cx="7950378" cy="1707223"/>
            <a:chOff x="0" y="-384760"/>
            <a:chExt cx="10600504" cy="2276297"/>
          </a:xfrm>
        </p:grpSpPr>
        <p:grpSp>
          <p:nvGrpSpPr>
            <p:cNvPr id="304" name="Google Shape;304;p21"/>
            <p:cNvGrpSpPr/>
            <p:nvPr/>
          </p:nvGrpSpPr>
          <p:grpSpPr>
            <a:xfrm>
              <a:off x="0" y="-384760"/>
              <a:ext cx="10600504" cy="2276297"/>
              <a:chOff x="0" y="-38100"/>
              <a:chExt cx="1049690" cy="225405"/>
            </a:xfrm>
          </p:grpSpPr>
          <p:sp>
            <p:nvSpPr>
              <p:cNvPr id="305" name="Google Shape;305;p21"/>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306" name="Google Shape;306;p21"/>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307" name="Google Shape;307;p21"/>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
        <p:nvSpPr>
          <p:cNvPr id="308" name="Google Shape;308;p21"/>
          <p:cNvSpPr txBox="1"/>
          <p:nvPr/>
        </p:nvSpPr>
        <p:spPr>
          <a:xfrm>
            <a:off x="6592847" y="660250"/>
            <a:ext cx="11880900" cy="923400"/>
          </a:xfrm>
          <a:prstGeom prst="rect">
            <a:avLst/>
          </a:prstGeom>
          <a:noFill/>
          <a:ln>
            <a:noFill/>
          </a:ln>
        </p:spPr>
        <p:txBody>
          <a:bodyPr spcFirstLastPara="1" wrap="square" lIns="0" tIns="0" rIns="0" bIns="0" anchor="t" anchorCtr="0">
            <a:spAutoFit/>
          </a:bodyPr>
          <a:lstStyle/>
          <a:p>
            <a:pPr marL="0" marR="0" lvl="0" indent="0" algn="ctr" rtl="0">
              <a:lnSpc>
                <a:spcPct val="123833"/>
              </a:lnSpc>
              <a:spcBef>
                <a:spcPts val="0"/>
              </a:spcBef>
              <a:spcAft>
                <a:spcPts val="0"/>
              </a:spcAft>
              <a:buNone/>
            </a:pPr>
            <a:r>
              <a:rPr lang="en-US" sz="6000" b="1">
                <a:solidFill>
                  <a:srgbClr val="018345"/>
                </a:solidFill>
                <a:latin typeface="Montserrat"/>
                <a:ea typeface="Montserrat"/>
                <a:cs typeface="Montserrat"/>
                <a:sym typeface="Montserrat"/>
              </a:rPr>
              <a:t>Đề mẫu</a:t>
            </a:r>
            <a:endParaRPr sz="6000" b="1">
              <a:solidFill>
                <a:srgbClr val="018345"/>
              </a:solidFill>
              <a:latin typeface="Montserrat"/>
              <a:ea typeface="Montserrat"/>
              <a:cs typeface="Montserrat"/>
              <a:sym typeface="Montserrat"/>
            </a:endParaRPr>
          </a:p>
        </p:txBody>
      </p:sp>
      <p:sp>
        <p:nvSpPr>
          <p:cNvPr id="309" name="Google Shape;309;p21"/>
          <p:cNvSpPr txBox="1"/>
          <p:nvPr/>
        </p:nvSpPr>
        <p:spPr>
          <a:xfrm>
            <a:off x="3399363" y="1420486"/>
            <a:ext cx="15074384" cy="9325589"/>
          </a:xfrm>
          <a:prstGeom prst="rect">
            <a:avLst/>
          </a:prstGeom>
          <a:noFill/>
          <a:ln>
            <a:noFill/>
          </a:ln>
        </p:spPr>
        <p:txBody>
          <a:bodyPr spcFirstLastPara="1" wrap="square" lIns="91425" tIns="45700" rIns="91425" bIns="45700" anchor="t" anchorCtr="0">
            <a:spAutoFit/>
          </a:bodyPr>
          <a:lstStyle/>
          <a:p>
            <a:pPr marL="457200" lvl="0" indent="0" algn="l" rtl="0">
              <a:lnSpc>
                <a:spcPct val="150000"/>
              </a:lnSpc>
              <a:spcBef>
                <a:spcPts val="0"/>
              </a:spcBef>
              <a:spcAft>
                <a:spcPts val="0"/>
              </a:spcAft>
              <a:buClr>
                <a:schemeClr val="dk1"/>
              </a:buClr>
              <a:buSzPts val="1100"/>
              <a:buFont typeface="Arial"/>
              <a:buNone/>
            </a:pPr>
            <a:r>
              <a:rPr lang="en-US" sz="2500" b="1" dirty="0">
                <a:solidFill>
                  <a:srgbClr val="018345"/>
                </a:solidFill>
                <a:latin typeface="Roboto"/>
                <a:ea typeface="Roboto"/>
                <a:cs typeface="Roboto"/>
                <a:sym typeface="Roboto"/>
              </a:rPr>
              <a:t>Listen to two people talking about working for companies of different sizes (</a:t>
            </a:r>
            <a:r>
              <a:rPr lang="en-US" sz="2500" b="1" dirty="0" err="1">
                <a:solidFill>
                  <a:srgbClr val="018345"/>
                </a:solidFill>
                <a:latin typeface="Roboto"/>
                <a:ea typeface="Roboto"/>
                <a:cs typeface="Roboto"/>
                <a:sym typeface="Roboto"/>
              </a:rPr>
              <a:t>quy</a:t>
            </a:r>
            <a:r>
              <a:rPr lang="en-US" sz="2500" b="1" dirty="0">
                <a:solidFill>
                  <a:srgbClr val="018345"/>
                </a:solidFill>
                <a:latin typeface="Roboto"/>
                <a:ea typeface="Roboto"/>
                <a:cs typeface="Roboto"/>
                <a:sym typeface="Roboto"/>
              </a:rPr>
              <a:t> </a:t>
            </a:r>
            <a:r>
              <a:rPr lang="en-US" sz="2500" b="1" dirty="0" err="1">
                <a:solidFill>
                  <a:srgbClr val="018345"/>
                </a:solidFill>
                <a:latin typeface="Roboto"/>
                <a:ea typeface="Roboto"/>
                <a:cs typeface="Roboto"/>
                <a:sym typeface="Roboto"/>
              </a:rPr>
              <a:t>mô</a:t>
            </a:r>
            <a:r>
              <a:rPr lang="en-US" sz="2500" b="1" dirty="0">
                <a:solidFill>
                  <a:srgbClr val="018345"/>
                </a:solidFill>
                <a:latin typeface="Roboto"/>
                <a:ea typeface="Roboto"/>
                <a:cs typeface="Roboto"/>
                <a:sym typeface="Roboto"/>
              </a:rPr>
              <a:t> </a:t>
            </a:r>
            <a:r>
              <a:rPr lang="en-US" sz="2500" b="1" dirty="0" err="1">
                <a:solidFill>
                  <a:srgbClr val="018345"/>
                </a:solidFill>
                <a:latin typeface="Roboto"/>
                <a:ea typeface="Roboto"/>
                <a:cs typeface="Roboto"/>
                <a:sym typeface="Roboto"/>
              </a:rPr>
              <a:t>cty</a:t>
            </a:r>
            <a:r>
              <a:rPr lang="en-US" sz="2500" b="1" dirty="0">
                <a:solidFill>
                  <a:srgbClr val="018345"/>
                </a:solidFill>
                <a:latin typeface="Roboto"/>
                <a:ea typeface="Roboto"/>
                <a:cs typeface="Roboto"/>
                <a:sym typeface="Roboto"/>
              </a:rPr>
              <a:t>). Read the statements below and decide who expresses which opinion – the man, the woman, or both the man and the woman.</a:t>
            </a:r>
            <a:endParaRPr sz="2500" b="1" dirty="0">
              <a:solidFill>
                <a:srgbClr val="018345"/>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dirty="0">
                <a:latin typeface="Roboto"/>
                <a:ea typeface="Roboto"/>
                <a:cs typeface="Roboto"/>
                <a:sym typeface="Roboto"/>
              </a:rPr>
              <a:t>Who expresses which opinion?</a:t>
            </a:r>
            <a:endParaRPr sz="2500" dirty="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dirty="0">
                <a:latin typeface="Roboto"/>
                <a:ea typeface="Roboto"/>
                <a:cs typeface="Roboto"/>
                <a:sym typeface="Roboto"/>
              </a:rPr>
              <a:t>Promotion chances are more limited in smaller companies . ____________</a:t>
            </a:r>
          </a:p>
          <a:p>
            <a:pPr marL="457200" lvl="0" indent="0" algn="l" rtl="0">
              <a:lnSpc>
                <a:spcPct val="150000"/>
              </a:lnSpc>
              <a:spcBef>
                <a:spcPts val="0"/>
              </a:spcBef>
              <a:spcAft>
                <a:spcPts val="0"/>
              </a:spcAft>
              <a:buClr>
                <a:schemeClr val="dk1"/>
              </a:buClr>
              <a:buSzPts val="1100"/>
              <a:buFont typeface="Arial"/>
              <a:buNone/>
            </a:pPr>
            <a:r>
              <a:rPr lang="en-US" sz="2500" dirty="0">
                <a:latin typeface="Roboto"/>
                <a:ea typeface="Roboto"/>
                <a:cs typeface="Roboto"/>
                <a:sym typeface="Roboto"/>
              </a:rPr>
              <a:t>(</a:t>
            </a:r>
            <a:r>
              <a:rPr lang="en-US" sz="2500" dirty="0" err="1">
                <a:latin typeface="Roboto"/>
                <a:ea typeface="Roboto"/>
                <a:cs typeface="Roboto"/>
                <a:sym typeface="Roboto"/>
              </a:rPr>
              <a:t>Có</a:t>
            </a:r>
            <a:r>
              <a:rPr lang="en-US" sz="2500" dirty="0">
                <a:latin typeface="Roboto"/>
                <a:ea typeface="Roboto"/>
                <a:cs typeface="Roboto"/>
                <a:sym typeface="Roboto"/>
              </a:rPr>
              <a:t> </a:t>
            </a:r>
            <a:r>
              <a:rPr lang="en-US" sz="2500" dirty="0" err="1">
                <a:latin typeface="Roboto"/>
                <a:ea typeface="Roboto"/>
                <a:cs typeface="Roboto"/>
                <a:sym typeface="Roboto"/>
              </a:rPr>
              <a:t>ít</a:t>
            </a:r>
            <a:r>
              <a:rPr lang="en-US" sz="2500" dirty="0">
                <a:latin typeface="Roboto"/>
                <a:ea typeface="Roboto"/>
                <a:cs typeface="Roboto"/>
                <a:sym typeface="Roboto"/>
              </a:rPr>
              <a:t> </a:t>
            </a:r>
            <a:r>
              <a:rPr lang="en-US" sz="2500" dirty="0" err="1">
                <a:latin typeface="Roboto"/>
                <a:ea typeface="Roboto"/>
                <a:cs typeface="Roboto"/>
                <a:sym typeface="Roboto"/>
              </a:rPr>
              <a:t>các</a:t>
            </a:r>
            <a:r>
              <a:rPr lang="en-US" sz="2500" dirty="0">
                <a:latin typeface="Roboto"/>
                <a:ea typeface="Roboto"/>
                <a:cs typeface="Roboto"/>
                <a:sym typeface="Roboto"/>
              </a:rPr>
              <a:t> </a:t>
            </a:r>
            <a:r>
              <a:rPr lang="en-US" sz="2500" dirty="0" err="1">
                <a:latin typeface="Roboto"/>
                <a:ea typeface="Roboto"/>
                <a:cs typeface="Roboto"/>
                <a:sym typeface="Roboto"/>
              </a:rPr>
              <a:t>cơ</a:t>
            </a:r>
            <a:r>
              <a:rPr lang="en-US" sz="2500" dirty="0">
                <a:latin typeface="Roboto"/>
                <a:ea typeface="Roboto"/>
                <a:cs typeface="Roboto"/>
                <a:sym typeface="Roboto"/>
              </a:rPr>
              <a:t> </a:t>
            </a:r>
            <a:r>
              <a:rPr lang="en-US" sz="2500" dirty="0" err="1">
                <a:latin typeface="Roboto"/>
                <a:ea typeface="Roboto"/>
                <a:cs typeface="Roboto"/>
                <a:sym typeface="Roboto"/>
              </a:rPr>
              <a:t>hội</a:t>
            </a:r>
            <a:r>
              <a:rPr lang="en-US" sz="2500" dirty="0">
                <a:latin typeface="Roboto"/>
                <a:ea typeface="Roboto"/>
                <a:cs typeface="Roboto"/>
                <a:sym typeface="Roboto"/>
              </a:rPr>
              <a:t> </a:t>
            </a:r>
            <a:r>
              <a:rPr lang="en-US" sz="2500" dirty="0" err="1">
                <a:latin typeface="Roboto"/>
                <a:ea typeface="Roboto"/>
                <a:cs typeface="Roboto"/>
                <a:sym typeface="Roboto"/>
              </a:rPr>
              <a:t>thăng</a:t>
            </a:r>
            <a:r>
              <a:rPr lang="en-US" sz="2500" dirty="0">
                <a:latin typeface="Roboto"/>
                <a:ea typeface="Roboto"/>
                <a:cs typeface="Roboto"/>
                <a:sym typeface="Roboto"/>
              </a:rPr>
              <a:t> </a:t>
            </a:r>
            <a:r>
              <a:rPr lang="en-US" sz="2500" dirty="0" err="1">
                <a:latin typeface="Roboto"/>
                <a:ea typeface="Roboto"/>
                <a:cs typeface="Roboto"/>
                <a:sym typeface="Roboto"/>
              </a:rPr>
              <a:t>chứng</a:t>
            </a:r>
            <a:r>
              <a:rPr lang="en-US" sz="2500" dirty="0">
                <a:latin typeface="Roboto"/>
                <a:ea typeface="Roboto"/>
                <a:cs typeface="Roboto"/>
                <a:sym typeface="Roboto"/>
              </a:rPr>
              <a:t> </a:t>
            </a:r>
            <a:r>
              <a:rPr lang="en-US" sz="2500" dirty="0" err="1">
                <a:latin typeface="Roboto"/>
                <a:ea typeface="Roboto"/>
                <a:cs typeface="Roboto"/>
                <a:sym typeface="Roboto"/>
              </a:rPr>
              <a:t>thường</a:t>
            </a:r>
            <a:r>
              <a:rPr lang="en-US" sz="2500" dirty="0">
                <a:latin typeface="Roboto"/>
                <a:ea typeface="Roboto"/>
                <a:cs typeface="Roboto"/>
                <a:sym typeface="Roboto"/>
              </a:rPr>
              <a:t> ở </a:t>
            </a:r>
            <a:r>
              <a:rPr lang="en-US" sz="2500" dirty="0" err="1">
                <a:latin typeface="Roboto"/>
                <a:ea typeface="Roboto"/>
                <a:cs typeface="Roboto"/>
                <a:sym typeface="Roboto"/>
              </a:rPr>
              <a:t>các</a:t>
            </a:r>
            <a:r>
              <a:rPr lang="en-US" sz="2500" dirty="0">
                <a:latin typeface="Roboto"/>
                <a:ea typeface="Roboto"/>
                <a:cs typeface="Roboto"/>
                <a:sym typeface="Roboto"/>
              </a:rPr>
              <a:t> </a:t>
            </a:r>
            <a:r>
              <a:rPr lang="en-US" sz="2500" dirty="0" err="1">
                <a:latin typeface="Roboto"/>
                <a:ea typeface="Roboto"/>
                <a:cs typeface="Roboto"/>
                <a:sym typeface="Roboto"/>
              </a:rPr>
              <a:t>cty</a:t>
            </a:r>
            <a:r>
              <a:rPr lang="en-US" sz="2500" dirty="0">
                <a:latin typeface="Roboto"/>
                <a:ea typeface="Roboto"/>
                <a:cs typeface="Roboto"/>
                <a:sym typeface="Roboto"/>
              </a:rPr>
              <a:t> </a:t>
            </a:r>
            <a:r>
              <a:rPr lang="en-US" sz="2500" dirty="0" err="1">
                <a:latin typeface="Roboto"/>
                <a:ea typeface="Roboto"/>
                <a:cs typeface="Roboto"/>
                <a:sym typeface="Roboto"/>
              </a:rPr>
              <a:t>nhỏ</a:t>
            </a:r>
            <a:r>
              <a:rPr lang="en-US" sz="2500" dirty="0">
                <a:latin typeface="Roboto"/>
                <a:ea typeface="Roboto"/>
                <a:cs typeface="Roboto"/>
                <a:sym typeface="Roboto"/>
              </a:rPr>
              <a:t>).</a:t>
            </a:r>
            <a:endParaRPr sz="2500" dirty="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dirty="0">
                <a:latin typeface="Roboto"/>
                <a:ea typeface="Roboto"/>
                <a:cs typeface="Roboto"/>
                <a:sym typeface="Roboto"/>
              </a:rPr>
              <a:t>Large companies offer more training opportunities. ____________</a:t>
            </a:r>
          </a:p>
          <a:p>
            <a:pPr marL="457200" lvl="0" indent="0" algn="l" rtl="0">
              <a:lnSpc>
                <a:spcPct val="150000"/>
              </a:lnSpc>
              <a:spcBef>
                <a:spcPts val="0"/>
              </a:spcBef>
              <a:spcAft>
                <a:spcPts val="0"/>
              </a:spcAft>
              <a:buClr>
                <a:schemeClr val="dk1"/>
              </a:buClr>
              <a:buSzPts val="1100"/>
              <a:buFont typeface="Arial"/>
              <a:buNone/>
            </a:pPr>
            <a:r>
              <a:rPr lang="en-US" sz="2500" dirty="0">
                <a:latin typeface="Roboto"/>
                <a:ea typeface="Roboto"/>
                <a:cs typeface="Roboto"/>
                <a:sym typeface="Roboto"/>
              </a:rPr>
              <a:t>(</a:t>
            </a:r>
            <a:r>
              <a:rPr lang="en-US" sz="2500" dirty="0" err="1">
                <a:latin typeface="Roboto"/>
                <a:ea typeface="Roboto"/>
                <a:cs typeface="Roboto"/>
                <a:sym typeface="Roboto"/>
              </a:rPr>
              <a:t>Cty</a:t>
            </a:r>
            <a:r>
              <a:rPr lang="en-US" sz="2500" dirty="0">
                <a:latin typeface="Roboto"/>
                <a:ea typeface="Roboto"/>
                <a:cs typeface="Roboto"/>
                <a:sym typeface="Roboto"/>
              </a:rPr>
              <a:t> </a:t>
            </a:r>
            <a:r>
              <a:rPr lang="en-US" sz="2500" dirty="0" err="1">
                <a:latin typeface="Roboto"/>
                <a:ea typeface="Roboto"/>
                <a:cs typeface="Roboto"/>
                <a:sym typeface="Roboto"/>
              </a:rPr>
              <a:t>lớn</a:t>
            </a:r>
            <a:r>
              <a:rPr lang="en-US" sz="2500" dirty="0">
                <a:latin typeface="Roboto"/>
                <a:ea typeface="Roboto"/>
                <a:cs typeface="Roboto"/>
                <a:sym typeface="Roboto"/>
              </a:rPr>
              <a:t> </a:t>
            </a:r>
            <a:r>
              <a:rPr lang="en-US" sz="2500" dirty="0" err="1">
                <a:latin typeface="Roboto"/>
                <a:ea typeface="Roboto"/>
                <a:cs typeface="Roboto"/>
                <a:sym typeface="Roboto"/>
              </a:rPr>
              <a:t>thường</a:t>
            </a:r>
            <a:r>
              <a:rPr lang="en-US" sz="2500" dirty="0">
                <a:latin typeface="Roboto"/>
                <a:ea typeface="Roboto"/>
                <a:cs typeface="Roboto"/>
                <a:sym typeface="Roboto"/>
              </a:rPr>
              <a:t> </a:t>
            </a:r>
            <a:r>
              <a:rPr lang="en-US" sz="2500" dirty="0" err="1">
                <a:latin typeface="Roboto"/>
                <a:ea typeface="Roboto"/>
                <a:cs typeface="Roboto"/>
                <a:sym typeface="Roboto"/>
              </a:rPr>
              <a:t>cung</a:t>
            </a:r>
            <a:r>
              <a:rPr lang="en-US" sz="2500" dirty="0">
                <a:latin typeface="Roboto"/>
                <a:ea typeface="Roboto"/>
                <a:cs typeface="Roboto"/>
                <a:sym typeface="Roboto"/>
              </a:rPr>
              <a:t> </a:t>
            </a:r>
            <a:r>
              <a:rPr lang="en-US" sz="2500" dirty="0" err="1">
                <a:latin typeface="Roboto"/>
                <a:ea typeface="Roboto"/>
                <a:cs typeface="Roboto"/>
                <a:sym typeface="Roboto"/>
              </a:rPr>
              <a:t>cấp</a:t>
            </a:r>
            <a:r>
              <a:rPr lang="en-US" sz="2500" dirty="0">
                <a:latin typeface="Roboto"/>
                <a:ea typeface="Roboto"/>
                <a:cs typeface="Roboto"/>
                <a:sym typeface="Roboto"/>
              </a:rPr>
              <a:t> </a:t>
            </a:r>
            <a:r>
              <a:rPr lang="en-US" sz="2500" dirty="0" err="1">
                <a:latin typeface="Roboto"/>
                <a:ea typeface="Roboto"/>
                <a:cs typeface="Roboto"/>
                <a:sym typeface="Roboto"/>
              </a:rPr>
              <a:t>nhiều</a:t>
            </a:r>
            <a:r>
              <a:rPr lang="en-US" sz="2500" dirty="0">
                <a:latin typeface="Roboto"/>
                <a:ea typeface="Roboto"/>
                <a:cs typeface="Roboto"/>
                <a:sym typeface="Roboto"/>
              </a:rPr>
              <a:t> </a:t>
            </a:r>
            <a:r>
              <a:rPr lang="en-US" sz="2500" dirty="0" err="1">
                <a:latin typeface="Roboto"/>
                <a:ea typeface="Roboto"/>
                <a:cs typeface="Roboto"/>
                <a:sym typeface="Roboto"/>
              </a:rPr>
              <a:t>cơ</a:t>
            </a:r>
            <a:r>
              <a:rPr lang="en-US" sz="2500" dirty="0">
                <a:latin typeface="Roboto"/>
                <a:ea typeface="Roboto"/>
                <a:cs typeface="Roboto"/>
                <a:sym typeface="Roboto"/>
              </a:rPr>
              <a:t> </a:t>
            </a:r>
            <a:r>
              <a:rPr lang="en-US" sz="2500" dirty="0" err="1">
                <a:latin typeface="Roboto"/>
                <a:ea typeface="Roboto"/>
                <a:cs typeface="Roboto"/>
                <a:sym typeface="Roboto"/>
              </a:rPr>
              <a:t>hội</a:t>
            </a:r>
            <a:r>
              <a:rPr lang="en-US" sz="2500" dirty="0">
                <a:latin typeface="Roboto"/>
                <a:ea typeface="Roboto"/>
                <a:cs typeface="Roboto"/>
                <a:sym typeface="Roboto"/>
              </a:rPr>
              <a:t> </a:t>
            </a:r>
            <a:r>
              <a:rPr lang="en-US" sz="2500" dirty="0" err="1">
                <a:latin typeface="Roboto"/>
                <a:ea typeface="Roboto"/>
                <a:cs typeface="Roboto"/>
                <a:sym typeface="Roboto"/>
              </a:rPr>
              <a:t>đào</a:t>
            </a:r>
            <a:r>
              <a:rPr lang="en-US" sz="2500" dirty="0">
                <a:latin typeface="Roboto"/>
                <a:ea typeface="Roboto"/>
                <a:cs typeface="Roboto"/>
                <a:sym typeface="Roboto"/>
              </a:rPr>
              <a:t> </a:t>
            </a:r>
            <a:r>
              <a:rPr lang="en-US" sz="2500" dirty="0" err="1">
                <a:latin typeface="Roboto"/>
                <a:ea typeface="Roboto"/>
                <a:cs typeface="Roboto"/>
                <a:sym typeface="Roboto"/>
              </a:rPr>
              <a:t>tạo</a:t>
            </a:r>
            <a:r>
              <a:rPr lang="en-US" sz="2500" dirty="0">
                <a:latin typeface="Roboto"/>
                <a:ea typeface="Roboto"/>
                <a:cs typeface="Roboto"/>
                <a:sym typeface="Roboto"/>
              </a:rPr>
              <a:t> </a:t>
            </a:r>
            <a:r>
              <a:rPr lang="en-US" sz="2500" dirty="0" err="1">
                <a:latin typeface="Roboto"/>
                <a:ea typeface="Roboto"/>
                <a:cs typeface="Roboto"/>
                <a:sym typeface="Roboto"/>
              </a:rPr>
              <a:t>cho</a:t>
            </a:r>
            <a:r>
              <a:rPr lang="en-US" sz="2500" dirty="0">
                <a:latin typeface="Roboto"/>
                <a:ea typeface="Roboto"/>
                <a:cs typeface="Roboto"/>
                <a:sym typeface="Roboto"/>
              </a:rPr>
              <a:t> </a:t>
            </a:r>
            <a:r>
              <a:rPr lang="en-US" sz="2500" dirty="0" err="1">
                <a:latin typeface="Roboto"/>
                <a:ea typeface="Roboto"/>
                <a:cs typeface="Roboto"/>
                <a:sym typeface="Roboto"/>
              </a:rPr>
              <a:t>nv</a:t>
            </a:r>
            <a:r>
              <a:rPr lang="en-US" sz="2500" dirty="0">
                <a:latin typeface="Roboto"/>
                <a:ea typeface="Roboto"/>
                <a:cs typeface="Roboto"/>
                <a:sym typeface="Roboto"/>
              </a:rPr>
              <a:t> </a:t>
            </a:r>
            <a:r>
              <a:rPr lang="en-US" sz="2500" dirty="0" err="1">
                <a:latin typeface="Roboto"/>
                <a:ea typeface="Roboto"/>
                <a:cs typeface="Roboto"/>
                <a:sym typeface="Roboto"/>
              </a:rPr>
              <a:t>hơn</a:t>
            </a:r>
            <a:r>
              <a:rPr lang="en-US" sz="2500" dirty="0">
                <a:latin typeface="Roboto"/>
                <a:ea typeface="Roboto"/>
                <a:cs typeface="Roboto"/>
                <a:sym typeface="Roboto"/>
              </a:rPr>
              <a:t>)</a:t>
            </a:r>
            <a:endParaRPr sz="2500" dirty="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dirty="0">
                <a:latin typeface="Roboto"/>
                <a:ea typeface="Roboto"/>
                <a:cs typeface="Roboto"/>
                <a:sym typeface="Roboto"/>
              </a:rPr>
              <a:t>Large companies have narrowly defined roles for employees. ____________</a:t>
            </a:r>
          </a:p>
          <a:p>
            <a:pPr marL="457200" lvl="0" indent="0" algn="l" rtl="0">
              <a:lnSpc>
                <a:spcPct val="150000"/>
              </a:lnSpc>
              <a:spcBef>
                <a:spcPts val="0"/>
              </a:spcBef>
              <a:spcAft>
                <a:spcPts val="0"/>
              </a:spcAft>
              <a:buClr>
                <a:schemeClr val="dk1"/>
              </a:buClr>
              <a:buSzPts val="1100"/>
              <a:buFont typeface="Arial"/>
              <a:buNone/>
            </a:pPr>
            <a:r>
              <a:rPr lang="en-US" sz="2500" dirty="0">
                <a:latin typeface="Roboto"/>
                <a:ea typeface="Roboto"/>
                <a:cs typeface="Roboto"/>
                <a:sym typeface="Roboto"/>
              </a:rPr>
              <a:t>(Các </a:t>
            </a:r>
            <a:r>
              <a:rPr lang="en-US" sz="2500" dirty="0" err="1">
                <a:latin typeface="Roboto"/>
                <a:ea typeface="Roboto"/>
                <a:cs typeface="Roboto"/>
                <a:sym typeface="Roboto"/>
              </a:rPr>
              <a:t>cty</a:t>
            </a:r>
            <a:r>
              <a:rPr lang="en-US" sz="2500" dirty="0">
                <a:latin typeface="Roboto"/>
                <a:ea typeface="Roboto"/>
                <a:cs typeface="Roboto"/>
                <a:sym typeface="Roboto"/>
              </a:rPr>
              <a:t> </a:t>
            </a:r>
            <a:r>
              <a:rPr lang="en-US" sz="2500" dirty="0" err="1">
                <a:latin typeface="Roboto"/>
                <a:ea typeface="Roboto"/>
                <a:cs typeface="Roboto"/>
                <a:sym typeface="Roboto"/>
              </a:rPr>
              <a:t>lớn</a:t>
            </a:r>
            <a:r>
              <a:rPr lang="en-US" sz="2500" dirty="0">
                <a:latin typeface="Roboto"/>
                <a:ea typeface="Roboto"/>
                <a:cs typeface="Roboto"/>
                <a:sym typeface="Roboto"/>
              </a:rPr>
              <a:t> </a:t>
            </a:r>
            <a:r>
              <a:rPr lang="en-US" sz="2500" dirty="0" err="1">
                <a:latin typeface="Roboto"/>
                <a:ea typeface="Roboto"/>
                <a:cs typeface="Roboto"/>
                <a:sym typeface="Roboto"/>
              </a:rPr>
              <a:t>có</a:t>
            </a:r>
            <a:r>
              <a:rPr lang="en-US" sz="2500" dirty="0">
                <a:latin typeface="Roboto"/>
                <a:ea typeface="Roboto"/>
                <a:cs typeface="Roboto"/>
                <a:sym typeface="Roboto"/>
              </a:rPr>
              <a:t> </a:t>
            </a:r>
            <a:r>
              <a:rPr lang="en-US" sz="2500" dirty="0" err="1">
                <a:latin typeface="Roboto"/>
                <a:ea typeface="Roboto"/>
                <a:cs typeface="Roboto"/>
                <a:sym typeface="Roboto"/>
              </a:rPr>
              <a:t>nhiều</a:t>
            </a:r>
            <a:r>
              <a:rPr lang="en-US" sz="2500" dirty="0">
                <a:latin typeface="Roboto"/>
                <a:ea typeface="Roboto"/>
                <a:cs typeface="Roboto"/>
                <a:sym typeface="Roboto"/>
              </a:rPr>
              <a:t> </a:t>
            </a:r>
            <a:r>
              <a:rPr lang="en-US" sz="2500" dirty="0" err="1">
                <a:latin typeface="Roboto"/>
                <a:ea typeface="Roboto"/>
                <a:cs typeface="Roboto"/>
                <a:sym typeface="Roboto"/>
              </a:rPr>
              <a:t>vị</a:t>
            </a:r>
            <a:r>
              <a:rPr lang="en-US" sz="2500" dirty="0">
                <a:latin typeface="Roboto"/>
                <a:ea typeface="Roboto"/>
                <a:cs typeface="Roboto"/>
                <a:sym typeface="Roboto"/>
              </a:rPr>
              <a:t> </a:t>
            </a:r>
            <a:r>
              <a:rPr lang="en-US" sz="2500" dirty="0" err="1">
                <a:latin typeface="Roboto"/>
                <a:ea typeface="Roboto"/>
                <a:cs typeface="Roboto"/>
                <a:sym typeface="Roboto"/>
              </a:rPr>
              <a:t>trí</a:t>
            </a:r>
            <a:r>
              <a:rPr lang="en-US" sz="2500" dirty="0">
                <a:latin typeface="Roboto"/>
                <a:ea typeface="Roboto"/>
                <a:cs typeface="Roboto"/>
                <a:sym typeface="Roboto"/>
              </a:rPr>
              <a:t> </a:t>
            </a:r>
            <a:r>
              <a:rPr lang="en-US" sz="2500" dirty="0" err="1">
                <a:latin typeface="Roboto"/>
                <a:ea typeface="Roboto"/>
                <a:cs typeface="Roboto"/>
                <a:sym typeface="Roboto"/>
              </a:rPr>
              <a:t>cho</a:t>
            </a:r>
            <a:r>
              <a:rPr lang="en-US" sz="2500" dirty="0">
                <a:latin typeface="Roboto"/>
                <a:ea typeface="Roboto"/>
                <a:cs typeface="Roboto"/>
                <a:sym typeface="Roboto"/>
              </a:rPr>
              <a:t> </a:t>
            </a:r>
            <a:r>
              <a:rPr lang="en-US" sz="2500" dirty="0" err="1">
                <a:latin typeface="Roboto"/>
                <a:ea typeface="Roboto"/>
                <a:cs typeface="Roboto"/>
                <a:sym typeface="Roboto"/>
              </a:rPr>
              <a:t>nv</a:t>
            </a:r>
            <a:r>
              <a:rPr lang="en-US" sz="2500" dirty="0">
                <a:latin typeface="Roboto"/>
                <a:ea typeface="Roboto"/>
                <a:cs typeface="Roboto"/>
                <a:sym typeface="Roboto"/>
              </a:rPr>
              <a:t>)</a:t>
            </a:r>
            <a:endParaRPr sz="2500" dirty="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dirty="0">
                <a:latin typeface="Roboto"/>
                <a:ea typeface="Roboto"/>
                <a:cs typeface="Roboto"/>
                <a:sym typeface="Roboto"/>
              </a:rPr>
              <a:t>People are impressed by large companies. ____________</a:t>
            </a:r>
          </a:p>
          <a:p>
            <a:pPr marL="457200" lvl="0" indent="0" algn="l" rtl="0">
              <a:lnSpc>
                <a:spcPct val="150000"/>
              </a:lnSpc>
              <a:spcBef>
                <a:spcPts val="0"/>
              </a:spcBef>
              <a:spcAft>
                <a:spcPts val="0"/>
              </a:spcAft>
              <a:buClr>
                <a:schemeClr val="dk1"/>
              </a:buClr>
              <a:buSzPts val="1100"/>
              <a:buFont typeface="Arial"/>
              <a:buNone/>
            </a:pPr>
            <a:r>
              <a:rPr lang="en-US" sz="2500" dirty="0">
                <a:latin typeface="Roboto"/>
                <a:ea typeface="Roboto"/>
                <a:cs typeface="Roboto"/>
                <a:sym typeface="Roboto"/>
              </a:rPr>
              <a:t>(</a:t>
            </a:r>
            <a:r>
              <a:rPr lang="en-US" sz="2500" dirty="0" err="1">
                <a:latin typeface="Roboto"/>
                <a:ea typeface="Roboto"/>
                <a:cs typeface="Roboto"/>
                <a:sym typeface="Roboto"/>
              </a:rPr>
              <a:t>Mọi</a:t>
            </a:r>
            <a:r>
              <a:rPr lang="en-US" sz="2500" dirty="0">
                <a:latin typeface="Roboto"/>
                <a:ea typeface="Roboto"/>
                <a:cs typeface="Roboto"/>
                <a:sym typeface="Roboto"/>
              </a:rPr>
              <a:t> </a:t>
            </a:r>
            <a:r>
              <a:rPr lang="en-US" sz="2500" dirty="0" err="1">
                <a:latin typeface="Roboto"/>
                <a:ea typeface="Roboto"/>
                <a:cs typeface="Roboto"/>
                <a:sym typeface="Roboto"/>
              </a:rPr>
              <a:t>người</a:t>
            </a:r>
            <a:r>
              <a:rPr lang="en-US" sz="2500" dirty="0">
                <a:latin typeface="Roboto"/>
                <a:ea typeface="Roboto"/>
                <a:cs typeface="Roboto"/>
                <a:sym typeface="Roboto"/>
              </a:rPr>
              <a:t> </a:t>
            </a:r>
            <a:r>
              <a:rPr lang="en-US" sz="2500" dirty="0" err="1">
                <a:latin typeface="Roboto"/>
                <a:ea typeface="Roboto"/>
                <a:cs typeface="Roboto"/>
                <a:sym typeface="Roboto"/>
              </a:rPr>
              <a:t>thường</a:t>
            </a:r>
            <a:r>
              <a:rPr lang="en-US" sz="2500" dirty="0">
                <a:latin typeface="Roboto"/>
                <a:ea typeface="Roboto"/>
                <a:cs typeface="Roboto"/>
                <a:sym typeface="Roboto"/>
              </a:rPr>
              <a:t> </a:t>
            </a:r>
            <a:r>
              <a:rPr lang="en-US" sz="2500" dirty="0" err="1">
                <a:latin typeface="Roboto"/>
                <a:ea typeface="Roboto"/>
                <a:cs typeface="Roboto"/>
                <a:sym typeface="Roboto"/>
              </a:rPr>
              <a:t>bị</a:t>
            </a:r>
            <a:r>
              <a:rPr lang="en-US" sz="2500" dirty="0">
                <a:latin typeface="Roboto"/>
                <a:ea typeface="Roboto"/>
                <a:cs typeface="Roboto"/>
                <a:sym typeface="Roboto"/>
              </a:rPr>
              <a:t> </a:t>
            </a:r>
            <a:r>
              <a:rPr lang="en-US" sz="2500" dirty="0" err="1">
                <a:latin typeface="Roboto"/>
                <a:ea typeface="Roboto"/>
                <a:cs typeface="Roboto"/>
                <a:sym typeface="Roboto"/>
              </a:rPr>
              <a:t>hấp</a:t>
            </a:r>
            <a:r>
              <a:rPr lang="en-US" sz="2500" dirty="0">
                <a:latin typeface="Roboto"/>
                <a:ea typeface="Roboto"/>
                <a:cs typeface="Roboto"/>
                <a:sym typeface="Roboto"/>
              </a:rPr>
              <a:t> </a:t>
            </a:r>
            <a:r>
              <a:rPr lang="en-US" sz="2500" dirty="0" err="1">
                <a:latin typeface="Roboto"/>
                <a:ea typeface="Roboto"/>
                <a:cs typeface="Roboto"/>
                <a:sym typeface="Roboto"/>
              </a:rPr>
              <a:t>dẫn</a:t>
            </a:r>
            <a:r>
              <a:rPr lang="en-US" sz="2500" dirty="0">
                <a:latin typeface="Roboto"/>
                <a:ea typeface="Roboto"/>
                <a:cs typeface="Roboto"/>
                <a:sym typeface="Roboto"/>
              </a:rPr>
              <a:t> </a:t>
            </a:r>
            <a:r>
              <a:rPr lang="en-US" sz="2500" dirty="0" err="1">
                <a:latin typeface="Roboto"/>
                <a:ea typeface="Roboto"/>
                <a:cs typeface="Roboto"/>
                <a:sym typeface="Roboto"/>
              </a:rPr>
              <a:t>bởi</a:t>
            </a:r>
            <a:r>
              <a:rPr lang="en-US" sz="2500" dirty="0">
                <a:latin typeface="Roboto"/>
                <a:ea typeface="Roboto"/>
                <a:cs typeface="Roboto"/>
                <a:sym typeface="Roboto"/>
              </a:rPr>
              <a:t> </a:t>
            </a:r>
            <a:r>
              <a:rPr lang="en-US" sz="2500" dirty="0" err="1">
                <a:latin typeface="Roboto"/>
                <a:ea typeface="Roboto"/>
                <a:cs typeface="Roboto"/>
                <a:sym typeface="Roboto"/>
              </a:rPr>
              <a:t>cty</a:t>
            </a:r>
            <a:r>
              <a:rPr lang="en-US" sz="2500" dirty="0">
                <a:latin typeface="Roboto"/>
                <a:ea typeface="Roboto"/>
                <a:cs typeface="Roboto"/>
                <a:sym typeface="Roboto"/>
              </a:rPr>
              <a:t> </a:t>
            </a:r>
            <a:r>
              <a:rPr lang="en-US" sz="2500" dirty="0" err="1">
                <a:latin typeface="Roboto"/>
                <a:ea typeface="Roboto"/>
                <a:cs typeface="Roboto"/>
                <a:sym typeface="Roboto"/>
              </a:rPr>
              <a:t>có</a:t>
            </a:r>
            <a:r>
              <a:rPr lang="en-US" sz="2500" dirty="0">
                <a:latin typeface="Roboto"/>
                <a:ea typeface="Roboto"/>
                <a:cs typeface="Roboto"/>
                <a:sym typeface="Roboto"/>
              </a:rPr>
              <a:t> </a:t>
            </a:r>
            <a:r>
              <a:rPr lang="en-US" sz="2500" dirty="0" err="1">
                <a:latin typeface="Roboto"/>
                <a:ea typeface="Roboto"/>
                <a:cs typeface="Roboto"/>
                <a:sym typeface="Roboto"/>
              </a:rPr>
              <a:t>quy</a:t>
            </a:r>
            <a:r>
              <a:rPr lang="en-US" sz="2500" dirty="0">
                <a:latin typeface="Roboto"/>
                <a:ea typeface="Roboto"/>
                <a:cs typeface="Roboto"/>
                <a:sym typeface="Roboto"/>
              </a:rPr>
              <a:t> </a:t>
            </a:r>
            <a:r>
              <a:rPr lang="en-US" sz="2500">
                <a:latin typeface="Roboto"/>
                <a:ea typeface="Roboto"/>
                <a:cs typeface="Roboto"/>
                <a:sym typeface="Roboto"/>
              </a:rPr>
              <a:t>mô </a:t>
            </a:r>
            <a:r>
              <a:rPr lang="en-US" sz="2500" dirty="0" err="1">
                <a:latin typeface="Roboto"/>
                <a:ea typeface="Roboto"/>
                <a:cs typeface="Roboto"/>
                <a:sym typeface="Roboto"/>
              </a:rPr>
              <a:t>lớn</a:t>
            </a:r>
            <a:r>
              <a:rPr lang="en-US" sz="2500" dirty="0">
                <a:latin typeface="Roboto"/>
                <a:ea typeface="Roboto"/>
                <a:cs typeface="Roboto"/>
                <a:sym typeface="Roboto"/>
              </a:rPr>
              <a:t>)</a:t>
            </a:r>
            <a:endParaRPr sz="2500" dirty="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b="1" dirty="0">
                <a:solidFill>
                  <a:schemeClr val="dk1"/>
                </a:solidFill>
                <a:latin typeface="Roboto"/>
                <a:ea typeface="Roboto"/>
                <a:cs typeface="Roboto"/>
                <a:sym typeface="Roboto"/>
              </a:rPr>
              <a:t>1. 	Man</a:t>
            </a:r>
            <a:endParaRPr sz="2500" b="1" dirty="0">
              <a:solidFill>
                <a:schemeClr val="dk1"/>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b="1" dirty="0">
                <a:solidFill>
                  <a:schemeClr val="dk1"/>
                </a:solidFill>
                <a:latin typeface="Roboto"/>
                <a:ea typeface="Roboto"/>
                <a:cs typeface="Roboto"/>
                <a:sym typeface="Roboto"/>
              </a:rPr>
              <a:t>2. 	Woman</a:t>
            </a:r>
            <a:endParaRPr sz="2500" b="1" dirty="0">
              <a:solidFill>
                <a:schemeClr val="dk1"/>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b="1" dirty="0">
                <a:solidFill>
                  <a:schemeClr val="dk1"/>
                </a:solidFill>
                <a:latin typeface="Roboto"/>
                <a:ea typeface="Roboto"/>
                <a:cs typeface="Roboto"/>
                <a:sym typeface="Roboto"/>
              </a:rPr>
              <a:t>3. 	Both</a:t>
            </a:r>
            <a:endParaRPr sz="2500" b="1" dirty="0">
              <a:solidFill>
                <a:schemeClr val="dk1"/>
              </a:solidFill>
              <a:latin typeface="Roboto"/>
              <a:ea typeface="Roboto"/>
              <a:cs typeface="Roboto"/>
              <a:sym typeface="Roboto"/>
            </a:endParaRPr>
          </a:p>
          <a:p>
            <a:pPr marL="0" lvl="0" indent="0" algn="l" rtl="0">
              <a:lnSpc>
                <a:spcPct val="150000"/>
              </a:lnSpc>
              <a:spcBef>
                <a:spcPts val="0"/>
              </a:spcBef>
              <a:spcAft>
                <a:spcPts val="0"/>
              </a:spcAft>
              <a:buNone/>
            </a:pPr>
            <a:endParaRPr sz="2500" b="1" dirty="0">
              <a:solidFill>
                <a:srgbClr val="018345"/>
              </a:solidFill>
              <a:latin typeface="Roboto"/>
              <a:ea typeface="Roboto"/>
              <a:cs typeface="Roboto"/>
              <a:sym typeface="Roboto"/>
            </a:endParaRPr>
          </a:p>
        </p:txBody>
      </p:sp>
      <p:pic>
        <p:nvPicPr>
          <p:cNvPr id="310" name="Google Shape;310;p21" title="Q15 Part 3.MP3">
            <a:hlinkClick r:id="rId4"/>
          </p:cNvPr>
          <p:cNvPicPr preferRelativeResize="0"/>
          <p:nvPr/>
        </p:nvPicPr>
        <p:blipFill>
          <a:blip r:embed="rId5">
            <a:alphaModFix/>
          </a:blip>
          <a:stretch>
            <a:fillRect/>
          </a:stretch>
        </p:blipFill>
        <p:spPr>
          <a:xfrm>
            <a:off x="13044375" y="7404516"/>
            <a:ext cx="782375" cy="7823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8"/>
                                        </p:tgtEl>
                                        <p:attrNameLst>
                                          <p:attrName>style.visibility</p:attrName>
                                        </p:attrNameLst>
                                      </p:cBhvr>
                                      <p:to>
                                        <p:strVal val="visible"/>
                                      </p:to>
                                    </p:set>
                                    <p:animEffect transition="in" filter="fade">
                                      <p:cBhvr>
                                        <p:cTn id="7" dur="5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cxnSp>
        <p:nvCxnSpPr>
          <p:cNvPr id="315" name="Google Shape;315;p22"/>
          <p:cNvCxnSpPr/>
          <p:nvPr/>
        </p:nvCxnSpPr>
        <p:spPr>
          <a:xfrm>
            <a:off x="6400799" y="2235185"/>
            <a:ext cx="9982201" cy="0"/>
          </a:xfrm>
          <a:prstGeom prst="straightConnector1">
            <a:avLst/>
          </a:prstGeom>
          <a:noFill/>
          <a:ln w="38100" cap="flat" cmpd="sng">
            <a:solidFill>
              <a:srgbClr val="018345"/>
            </a:solidFill>
            <a:prstDash val="solid"/>
            <a:round/>
            <a:headEnd type="none" w="sm" len="sm"/>
            <a:tailEnd type="none" w="sm" len="sm"/>
          </a:ln>
        </p:spPr>
      </p:cxnSp>
      <p:cxnSp>
        <p:nvCxnSpPr>
          <p:cNvPr id="316" name="Google Shape;316;p22"/>
          <p:cNvCxnSpPr/>
          <p:nvPr/>
        </p:nvCxnSpPr>
        <p:spPr>
          <a:xfrm>
            <a:off x="-249883" y="5124450"/>
            <a:ext cx="5303520" cy="0"/>
          </a:xfrm>
          <a:prstGeom prst="straightConnector1">
            <a:avLst/>
          </a:prstGeom>
          <a:noFill/>
          <a:ln w="38100" cap="flat" cmpd="sng">
            <a:solidFill>
              <a:srgbClr val="FFFFFF"/>
            </a:solidFill>
            <a:prstDash val="solid"/>
            <a:round/>
            <a:headEnd type="none" w="sm" len="sm"/>
            <a:tailEnd type="none" w="sm" len="sm"/>
          </a:ln>
        </p:spPr>
      </p:cxnSp>
      <p:grpSp>
        <p:nvGrpSpPr>
          <p:cNvPr id="317" name="Google Shape;317;p22"/>
          <p:cNvGrpSpPr/>
          <p:nvPr/>
        </p:nvGrpSpPr>
        <p:grpSpPr>
          <a:xfrm rot="10800000">
            <a:off x="15044552" y="-741521"/>
            <a:ext cx="7681766" cy="4260610"/>
            <a:chOff x="0" y="-38100"/>
            <a:chExt cx="406400" cy="225405"/>
          </a:xfrm>
        </p:grpSpPr>
        <p:sp>
          <p:nvSpPr>
            <p:cNvPr id="318" name="Google Shape;318;p22"/>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19" name="Google Shape;319;p22"/>
            <p:cNvSpPr txBox="1"/>
            <p:nvPr/>
          </p:nvSpPr>
          <p:spPr>
            <a:xfrm>
              <a:off x="127000" y="-38100"/>
              <a:ext cx="15240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320" name="Google Shape;320;p22" descr="Books with solid fill"/>
          <p:cNvSpPr/>
          <p:nvPr/>
        </p:nvSpPr>
        <p:spPr>
          <a:xfrm>
            <a:off x="3241317" y="6937835"/>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321" name="Google Shape;321;p22"/>
          <p:cNvSpPr/>
          <p:nvPr/>
        </p:nvSpPr>
        <p:spPr>
          <a:xfrm>
            <a:off x="18157088" y="2761190"/>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322" name="Google Shape;322;p22"/>
          <p:cNvSpPr txBox="1"/>
          <p:nvPr/>
        </p:nvSpPr>
        <p:spPr>
          <a:xfrm>
            <a:off x="5232390" y="2564021"/>
            <a:ext cx="11760300" cy="831300"/>
          </a:xfrm>
          <a:prstGeom prst="rect">
            <a:avLst/>
          </a:prstGeom>
          <a:noFill/>
          <a:ln>
            <a:noFill/>
          </a:ln>
        </p:spPr>
        <p:txBody>
          <a:bodyPr spcFirstLastPara="1" wrap="square" lIns="0" tIns="0" rIns="0" bIns="0" anchor="t" anchorCtr="0">
            <a:spAutoFit/>
          </a:bodyPr>
          <a:lstStyle/>
          <a:p>
            <a:pPr marL="0" marR="0" lvl="0" indent="0" algn="ctr" rtl="0">
              <a:lnSpc>
                <a:spcPct val="180092"/>
              </a:lnSpc>
              <a:spcBef>
                <a:spcPts val="0"/>
              </a:spcBef>
              <a:spcAft>
                <a:spcPts val="0"/>
              </a:spcAft>
              <a:buNone/>
            </a:pPr>
            <a:r>
              <a:rPr lang="en-US" sz="5400" b="1">
                <a:solidFill>
                  <a:srgbClr val="018345"/>
                </a:solidFill>
                <a:latin typeface="Montserrat"/>
                <a:ea typeface="Montserrat"/>
                <a:cs typeface="Montserrat"/>
                <a:sym typeface="Montserrat"/>
              </a:rPr>
              <a:t>Hướng dẫn trả lời &amp; Đáp án</a:t>
            </a:r>
            <a:endParaRPr/>
          </a:p>
        </p:txBody>
      </p:sp>
      <p:sp>
        <p:nvSpPr>
          <p:cNvPr id="323" name="Google Shape;323;p22"/>
          <p:cNvSpPr txBox="1"/>
          <p:nvPr/>
        </p:nvSpPr>
        <p:spPr>
          <a:xfrm>
            <a:off x="9601200" y="339710"/>
            <a:ext cx="2755633" cy="1837554"/>
          </a:xfrm>
          <a:prstGeom prst="rect">
            <a:avLst/>
          </a:prstGeom>
          <a:noFill/>
          <a:ln>
            <a:noFill/>
          </a:ln>
        </p:spPr>
        <p:txBody>
          <a:bodyPr spcFirstLastPara="1" wrap="square" lIns="0" tIns="0" rIns="0" bIns="0" anchor="t" anchorCtr="0">
            <a:spAutoFit/>
          </a:bodyPr>
          <a:lstStyle/>
          <a:p>
            <a:pPr marL="0" marR="0" lvl="0" indent="0" algn="ctr" rtl="0">
              <a:lnSpc>
                <a:spcPct val="119998"/>
              </a:lnSpc>
              <a:spcBef>
                <a:spcPts val="0"/>
              </a:spcBef>
              <a:spcAft>
                <a:spcPts val="0"/>
              </a:spcAft>
              <a:buNone/>
            </a:pPr>
            <a:r>
              <a:rPr lang="en-US" sz="12461" b="1">
                <a:solidFill>
                  <a:srgbClr val="018345"/>
                </a:solidFill>
                <a:latin typeface="Montserrat"/>
                <a:ea typeface="Montserrat"/>
                <a:cs typeface="Montserrat"/>
                <a:sym typeface="Montserrat"/>
              </a:rPr>
              <a:t>04</a:t>
            </a:r>
            <a:endParaRPr/>
          </a:p>
        </p:txBody>
      </p:sp>
      <p:sp>
        <p:nvSpPr>
          <p:cNvPr id="324" name="Google Shape;324;p22"/>
          <p:cNvSpPr txBox="1"/>
          <p:nvPr/>
        </p:nvSpPr>
        <p:spPr>
          <a:xfrm>
            <a:off x="-10653311" y="9715322"/>
            <a:ext cx="13923203" cy="285768"/>
          </a:xfrm>
          <a:prstGeom prst="rect">
            <a:avLst/>
          </a:prstGeom>
          <a:noFill/>
          <a:ln>
            <a:noFill/>
          </a:ln>
        </p:spPr>
        <p:txBody>
          <a:bodyPr spcFirstLastPara="1" wrap="square" lIns="0" tIns="0" rIns="0" bIns="0" anchor="t" anchorCtr="0">
            <a:spAutoFit/>
          </a:bodyPr>
          <a:lstStyle/>
          <a:p>
            <a:pPr marL="0" marR="0" lvl="0" indent="0" algn="r" rtl="0">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25" name="Google Shape;325;p22"/>
          <p:cNvGrpSpPr/>
          <p:nvPr/>
        </p:nvGrpSpPr>
        <p:grpSpPr>
          <a:xfrm>
            <a:off x="-2718010" y="9274528"/>
            <a:ext cx="7950400" cy="1707231"/>
            <a:chOff x="0" y="-384762"/>
            <a:chExt cx="10600533" cy="2276307"/>
          </a:xfrm>
        </p:grpSpPr>
        <p:grpSp>
          <p:nvGrpSpPr>
            <p:cNvPr id="326" name="Google Shape;326;p22"/>
            <p:cNvGrpSpPr/>
            <p:nvPr/>
          </p:nvGrpSpPr>
          <p:grpSpPr>
            <a:xfrm>
              <a:off x="0" y="-384762"/>
              <a:ext cx="10600533" cy="2276307"/>
              <a:chOff x="0" y="-38100"/>
              <a:chExt cx="1049690" cy="225405"/>
            </a:xfrm>
          </p:grpSpPr>
          <p:sp>
            <p:nvSpPr>
              <p:cNvPr id="327" name="Google Shape;327;p22"/>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328" name="Google Shape;328;p22"/>
              <p:cNvSpPr txBox="1"/>
              <p:nvPr/>
            </p:nvSpPr>
            <p:spPr>
              <a:xfrm>
                <a:off x="127000" y="-38100"/>
                <a:ext cx="79569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329" name="Google Shape;329;p22"/>
            <p:cNvSpPr txBox="1"/>
            <p:nvPr/>
          </p:nvSpPr>
          <p:spPr>
            <a:xfrm>
              <a:off x="4182979" y="666743"/>
              <a:ext cx="3721150" cy="529484"/>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
        <p:nvSpPr>
          <p:cNvPr id="330" name="Google Shape;330;p22"/>
          <p:cNvSpPr/>
          <p:nvPr/>
        </p:nvSpPr>
        <p:spPr>
          <a:xfrm>
            <a:off x="9563099" y="4749873"/>
            <a:ext cx="3276055" cy="3301942"/>
          </a:xfrm>
          <a:custGeom>
            <a:avLst/>
            <a:gdLst/>
            <a:ahLst/>
            <a:cxnLst/>
            <a:rect l="l" t="t" r="r" b="b"/>
            <a:pathLst>
              <a:path w="4025053" h="4310632" extrusionOk="0">
                <a:moveTo>
                  <a:pt x="0" y="0"/>
                </a:moveTo>
                <a:lnTo>
                  <a:pt x="4025053" y="0"/>
                </a:lnTo>
                <a:lnTo>
                  <a:pt x="4025053" y="4310632"/>
                </a:lnTo>
                <a:lnTo>
                  <a:pt x="0" y="4310632"/>
                </a:lnTo>
                <a:lnTo>
                  <a:pt x="0" y="0"/>
                </a:lnTo>
                <a:close/>
              </a:path>
            </a:pathLst>
          </a:custGeom>
          <a:blipFill rotWithShape="1">
            <a:blip r:embed="rId5">
              <a:alphaModFix/>
            </a:blip>
            <a:stretch>
              <a:fillRect/>
            </a:stretch>
          </a:blipFill>
          <a:ln>
            <a:noFill/>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323"/>
                                        </p:tgtEl>
                                        <p:attrNameLst>
                                          <p:attrName>style.visibility</p:attrName>
                                        </p:attrNameLst>
                                      </p:cBhvr>
                                      <p:to>
                                        <p:strVal val="visible"/>
                                      </p:to>
                                    </p:set>
                                    <p:anim calcmode="lin" valueType="num">
                                      <p:cBhvr additive="base">
                                        <p:cTn id="7" dur="500"/>
                                        <p:tgtEl>
                                          <p:spTgt spid="323"/>
                                        </p:tgtEl>
                                        <p:attrNameLst>
                                          <p:attrName>ppt_w</p:attrName>
                                        </p:attrNameLst>
                                      </p:cBhvr>
                                      <p:tavLst>
                                        <p:tav tm="0">
                                          <p:val>
                                            <p:strVal val="0"/>
                                          </p:val>
                                        </p:tav>
                                        <p:tav tm="100000">
                                          <p:val>
                                            <p:strVal val="#ppt_w"/>
                                          </p:val>
                                        </p:tav>
                                      </p:tavLst>
                                    </p:anim>
                                    <p:anim calcmode="lin" valueType="num">
                                      <p:cBhvr additive="base">
                                        <p:cTn id="8" dur="500"/>
                                        <p:tgtEl>
                                          <p:spTgt spid="323"/>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322"/>
                                        </p:tgtEl>
                                        <p:attrNameLst>
                                          <p:attrName>style.visibility</p:attrName>
                                        </p:attrNameLst>
                                      </p:cBhvr>
                                      <p:to>
                                        <p:strVal val="visible"/>
                                      </p:to>
                                    </p:set>
                                    <p:anim calcmode="lin" valueType="num">
                                      <p:cBhvr additive="base">
                                        <p:cTn id="11" dur="500"/>
                                        <p:tgtEl>
                                          <p:spTgt spid="322"/>
                                        </p:tgtEl>
                                        <p:attrNameLst>
                                          <p:attrName>ppt_w</p:attrName>
                                        </p:attrNameLst>
                                      </p:cBhvr>
                                      <p:tavLst>
                                        <p:tav tm="0">
                                          <p:val>
                                            <p:strVal val="0"/>
                                          </p:val>
                                        </p:tav>
                                        <p:tav tm="100000">
                                          <p:val>
                                            <p:strVal val="#ppt_w"/>
                                          </p:val>
                                        </p:tav>
                                      </p:tavLst>
                                    </p:anim>
                                    <p:anim calcmode="lin" valueType="num">
                                      <p:cBhvr additive="base">
                                        <p:cTn id="12" dur="500"/>
                                        <p:tgtEl>
                                          <p:spTgt spid="32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cxnSp>
        <p:nvCxnSpPr>
          <p:cNvPr id="335" name="Google Shape;335;p23"/>
          <p:cNvCxnSpPr/>
          <p:nvPr/>
        </p:nvCxnSpPr>
        <p:spPr>
          <a:xfrm>
            <a:off x="5571910" y="2437219"/>
            <a:ext cx="11880900" cy="0"/>
          </a:xfrm>
          <a:prstGeom prst="straightConnector1">
            <a:avLst/>
          </a:prstGeom>
          <a:noFill/>
          <a:ln w="38100" cap="flat" cmpd="sng">
            <a:solidFill>
              <a:srgbClr val="018345"/>
            </a:solidFill>
            <a:prstDash val="solid"/>
            <a:round/>
            <a:headEnd type="none" w="sm" len="sm"/>
            <a:tailEnd type="none" w="sm" len="sm"/>
          </a:ln>
        </p:spPr>
      </p:cxnSp>
      <p:cxnSp>
        <p:nvCxnSpPr>
          <p:cNvPr id="336" name="Google Shape;336;p23"/>
          <p:cNvCxnSpPr/>
          <p:nvPr/>
        </p:nvCxnSpPr>
        <p:spPr>
          <a:xfrm>
            <a:off x="-249883" y="5124450"/>
            <a:ext cx="5303400" cy="0"/>
          </a:xfrm>
          <a:prstGeom prst="straightConnector1">
            <a:avLst/>
          </a:prstGeom>
          <a:noFill/>
          <a:ln w="38100" cap="flat" cmpd="sng">
            <a:solidFill>
              <a:srgbClr val="FFFFFF"/>
            </a:solidFill>
            <a:prstDash val="solid"/>
            <a:round/>
            <a:headEnd type="none" w="sm" len="sm"/>
            <a:tailEnd type="none" w="sm" len="sm"/>
          </a:ln>
        </p:spPr>
      </p:cxnSp>
      <p:grpSp>
        <p:nvGrpSpPr>
          <p:cNvPr id="337" name="Google Shape;337;p23"/>
          <p:cNvGrpSpPr/>
          <p:nvPr/>
        </p:nvGrpSpPr>
        <p:grpSpPr>
          <a:xfrm rot="10800000">
            <a:off x="15785084" y="-536938"/>
            <a:ext cx="7681773" cy="4260605"/>
            <a:chOff x="0" y="-38100"/>
            <a:chExt cx="406400" cy="225405"/>
          </a:xfrm>
        </p:grpSpPr>
        <p:sp>
          <p:nvSpPr>
            <p:cNvPr id="338" name="Google Shape;338;p23"/>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39" name="Google Shape;339;p23"/>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40" name="Google Shape;340;p23" descr="Books with solid fill"/>
          <p:cNvSpPr/>
          <p:nvPr/>
        </p:nvSpPr>
        <p:spPr>
          <a:xfrm>
            <a:off x="3241317" y="6937835"/>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341" name="Google Shape;341;p23"/>
          <p:cNvSpPr/>
          <p:nvPr/>
        </p:nvSpPr>
        <p:spPr>
          <a:xfrm>
            <a:off x="18099269" y="1809027"/>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grpSp>
        <p:nvGrpSpPr>
          <p:cNvPr id="342" name="Google Shape;342;p23"/>
          <p:cNvGrpSpPr/>
          <p:nvPr/>
        </p:nvGrpSpPr>
        <p:grpSpPr>
          <a:xfrm>
            <a:off x="6146917" y="3357868"/>
            <a:ext cx="3360600" cy="2221525"/>
            <a:chOff x="0" y="-57150"/>
            <a:chExt cx="4480800" cy="2962033"/>
          </a:xfrm>
        </p:grpSpPr>
        <p:sp>
          <p:nvSpPr>
            <p:cNvPr id="343" name="Google Shape;343;p23"/>
            <p:cNvSpPr/>
            <p:nvPr/>
          </p:nvSpPr>
          <p:spPr>
            <a:xfrm>
              <a:off x="21587" y="23176"/>
              <a:ext cx="4437608" cy="2858534"/>
            </a:xfrm>
            <a:custGeom>
              <a:avLst/>
              <a:gdLst/>
              <a:ahLst/>
              <a:cxnLst/>
              <a:rect l="l" t="t" r="r" b="b"/>
              <a:pathLst>
                <a:path w="4437608" h="2858534" extrusionOk="0">
                  <a:moveTo>
                    <a:pt x="0" y="285838"/>
                  </a:moveTo>
                  <a:cubicBezTo>
                    <a:pt x="0" y="127932"/>
                    <a:pt x="119162" y="0"/>
                    <a:pt x="266242" y="0"/>
                  </a:cubicBezTo>
                  <a:lnTo>
                    <a:pt x="4171366" y="0"/>
                  </a:lnTo>
                  <a:cubicBezTo>
                    <a:pt x="4318447" y="0"/>
                    <a:pt x="4437609" y="127932"/>
                    <a:pt x="4437609" y="285838"/>
                  </a:cubicBezTo>
                  <a:lnTo>
                    <a:pt x="4437609" y="2572696"/>
                  </a:lnTo>
                  <a:cubicBezTo>
                    <a:pt x="4437609" y="2730602"/>
                    <a:pt x="4318447" y="2858534"/>
                    <a:pt x="4171366" y="2858534"/>
                  </a:cubicBezTo>
                  <a:lnTo>
                    <a:pt x="266242" y="2858534"/>
                  </a:lnTo>
                  <a:cubicBezTo>
                    <a:pt x="119162" y="2858534"/>
                    <a:pt x="0" y="2730602"/>
                    <a:pt x="0" y="2572696"/>
                  </a:cubicBezTo>
                  <a:lnTo>
                    <a:pt x="0" y="285838"/>
                  </a:lnTo>
                  <a:close/>
                </a:path>
              </a:pathLst>
            </a:custGeom>
            <a:solidFill>
              <a:srgbClr val="0181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3"/>
            <p:cNvSpPr/>
            <p:nvPr/>
          </p:nvSpPr>
          <p:spPr>
            <a:xfrm>
              <a:off x="0" y="0"/>
              <a:ext cx="4480780" cy="2904883"/>
            </a:xfrm>
            <a:custGeom>
              <a:avLst/>
              <a:gdLst/>
              <a:ahLst/>
              <a:cxnLst/>
              <a:rect l="l" t="t" r="r" b="b"/>
              <a:pathLst>
                <a:path w="4480780" h="2904883" extrusionOk="0">
                  <a:moveTo>
                    <a:pt x="0" y="309014"/>
                  </a:moveTo>
                  <a:cubicBezTo>
                    <a:pt x="0" y="138284"/>
                    <a:pt x="128804" y="0"/>
                    <a:pt x="287829" y="0"/>
                  </a:cubicBezTo>
                  <a:lnTo>
                    <a:pt x="287829" y="23176"/>
                  </a:lnTo>
                  <a:lnTo>
                    <a:pt x="287829" y="0"/>
                  </a:lnTo>
                  <a:lnTo>
                    <a:pt x="4192953" y="0"/>
                  </a:lnTo>
                  <a:lnTo>
                    <a:pt x="4192953" y="23176"/>
                  </a:lnTo>
                  <a:lnTo>
                    <a:pt x="4192953" y="0"/>
                  </a:lnTo>
                  <a:cubicBezTo>
                    <a:pt x="4351979" y="0"/>
                    <a:pt x="4480780" y="138284"/>
                    <a:pt x="4480780" y="309014"/>
                  </a:cubicBezTo>
                  <a:lnTo>
                    <a:pt x="4459196" y="309014"/>
                  </a:lnTo>
                  <a:lnTo>
                    <a:pt x="4480780" y="309014"/>
                  </a:lnTo>
                  <a:lnTo>
                    <a:pt x="4480780" y="2595872"/>
                  </a:lnTo>
                  <a:lnTo>
                    <a:pt x="4459196" y="2595872"/>
                  </a:lnTo>
                  <a:lnTo>
                    <a:pt x="4480780" y="2595872"/>
                  </a:lnTo>
                  <a:cubicBezTo>
                    <a:pt x="4480780" y="2766602"/>
                    <a:pt x="4351979" y="2904883"/>
                    <a:pt x="4192953" y="2904883"/>
                  </a:cubicBezTo>
                  <a:lnTo>
                    <a:pt x="4192953" y="2881710"/>
                  </a:lnTo>
                  <a:lnTo>
                    <a:pt x="4192953" y="2904883"/>
                  </a:lnTo>
                  <a:lnTo>
                    <a:pt x="287829" y="2904883"/>
                  </a:lnTo>
                  <a:lnTo>
                    <a:pt x="287829" y="2881710"/>
                  </a:lnTo>
                  <a:lnTo>
                    <a:pt x="287829" y="2904883"/>
                  </a:lnTo>
                  <a:cubicBezTo>
                    <a:pt x="128804" y="2904883"/>
                    <a:pt x="0" y="2766602"/>
                    <a:pt x="0" y="2595872"/>
                  </a:cubicBezTo>
                  <a:lnTo>
                    <a:pt x="21587" y="2595872"/>
                  </a:lnTo>
                  <a:lnTo>
                    <a:pt x="0" y="2595872"/>
                  </a:lnTo>
                  <a:lnTo>
                    <a:pt x="0" y="309014"/>
                  </a:lnTo>
                  <a:lnTo>
                    <a:pt x="21587" y="309014"/>
                  </a:lnTo>
                  <a:lnTo>
                    <a:pt x="0" y="309014"/>
                  </a:lnTo>
                  <a:moveTo>
                    <a:pt x="43174" y="309014"/>
                  </a:moveTo>
                  <a:lnTo>
                    <a:pt x="43174" y="2595872"/>
                  </a:lnTo>
                  <a:cubicBezTo>
                    <a:pt x="43174" y="2740954"/>
                    <a:pt x="152693" y="2858534"/>
                    <a:pt x="287829" y="2858534"/>
                  </a:cubicBezTo>
                  <a:lnTo>
                    <a:pt x="4192953" y="2858534"/>
                  </a:lnTo>
                  <a:cubicBezTo>
                    <a:pt x="4328090" y="2858534"/>
                    <a:pt x="4437609" y="2740954"/>
                    <a:pt x="4437609" y="2595872"/>
                  </a:cubicBezTo>
                  <a:lnTo>
                    <a:pt x="4437609" y="309014"/>
                  </a:lnTo>
                  <a:cubicBezTo>
                    <a:pt x="4437609" y="163932"/>
                    <a:pt x="4328090" y="46352"/>
                    <a:pt x="4192953" y="46352"/>
                  </a:cubicBezTo>
                  <a:lnTo>
                    <a:pt x="287829" y="46352"/>
                  </a:lnTo>
                  <a:cubicBezTo>
                    <a:pt x="152693" y="46352"/>
                    <a:pt x="43174" y="163932"/>
                    <a:pt x="43174" y="309014"/>
                  </a:cubicBezTo>
                  <a:close/>
                </a:path>
              </a:pathLst>
            </a:custGeom>
            <a:solidFill>
              <a:srgbClr val="0181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3"/>
            <p:cNvSpPr txBox="1"/>
            <p:nvPr/>
          </p:nvSpPr>
          <p:spPr>
            <a:xfrm>
              <a:off x="0" y="-57150"/>
              <a:ext cx="4480800" cy="2961900"/>
            </a:xfrm>
            <a:prstGeom prst="rect">
              <a:avLst/>
            </a:prstGeom>
            <a:solidFill>
              <a:srgbClr val="018146"/>
            </a:solidFill>
            <a:ln>
              <a:noFill/>
            </a:ln>
          </p:spPr>
          <p:txBody>
            <a:bodyPr spcFirstLastPara="1" wrap="square" lIns="50800" tIns="50800" rIns="50800" bIns="50800" anchor="ctr" anchorCtr="0">
              <a:noAutofit/>
            </a:bodyPr>
            <a:lstStyle/>
            <a:p>
              <a:pPr marL="0" marR="0" lvl="0" indent="0" algn="ctr" rtl="0">
                <a:lnSpc>
                  <a:spcPct val="135009"/>
                </a:lnSpc>
                <a:spcBef>
                  <a:spcPts val="0"/>
                </a:spcBef>
                <a:spcAft>
                  <a:spcPts val="0"/>
                </a:spcAft>
                <a:buNone/>
              </a:pPr>
              <a:r>
                <a:rPr lang="en-US" sz="3899" b="1" i="0" u="none" strike="noStrike" cap="none">
                  <a:solidFill>
                    <a:srgbClr val="FFFFFF"/>
                  </a:solidFill>
                  <a:latin typeface="Roboto"/>
                  <a:ea typeface="Roboto"/>
                  <a:cs typeface="Roboto"/>
                  <a:sym typeface="Roboto"/>
                </a:rPr>
                <a:t>Trước</a:t>
              </a:r>
              <a:endParaRPr/>
            </a:p>
            <a:p>
              <a:pPr marL="0" marR="0" lvl="0" indent="0" algn="ctr" rtl="0">
                <a:lnSpc>
                  <a:spcPct val="135009"/>
                </a:lnSpc>
                <a:spcBef>
                  <a:spcPts val="0"/>
                </a:spcBef>
                <a:spcAft>
                  <a:spcPts val="0"/>
                </a:spcAft>
                <a:buNone/>
              </a:pPr>
              <a:r>
                <a:rPr lang="en-US" sz="3899" b="0" i="0" u="none" strike="noStrike" cap="none">
                  <a:solidFill>
                    <a:srgbClr val="FFFFFF"/>
                  </a:solidFill>
                  <a:latin typeface="Roboto"/>
                  <a:ea typeface="Roboto"/>
                  <a:cs typeface="Roboto"/>
                  <a:sym typeface="Roboto"/>
                </a:rPr>
                <a:t> khi nghe</a:t>
              </a:r>
              <a:endParaRPr/>
            </a:p>
          </p:txBody>
        </p:sp>
      </p:grpSp>
      <p:sp>
        <p:nvSpPr>
          <p:cNvPr id="346" name="Google Shape;346;p23"/>
          <p:cNvSpPr/>
          <p:nvPr/>
        </p:nvSpPr>
        <p:spPr>
          <a:xfrm>
            <a:off x="5266540" y="3818361"/>
            <a:ext cx="705669" cy="1007457"/>
          </a:xfrm>
          <a:custGeom>
            <a:avLst/>
            <a:gdLst/>
            <a:ahLst/>
            <a:cxnLst/>
            <a:rect l="l" t="t" r="r" b="b"/>
            <a:pathLst>
              <a:path w="830199" h="1185243" extrusionOk="0">
                <a:moveTo>
                  <a:pt x="0" y="236987"/>
                </a:moveTo>
                <a:lnTo>
                  <a:pt x="415036" y="236987"/>
                </a:lnTo>
                <a:lnTo>
                  <a:pt x="415036" y="0"/>
                </a:lnTo>
                <a:lnTo>
                  <a:pt x="830199" y="592700"/>
                </a:lnTo>
                <a:lnTo>
                  <a:pt x="415036" y="1185244"/>
                </a:lnTo>
                <a:lnTo>
                  <a:pt x="415036" y="948257"/>
                </a:lnTo>
                <a:lnTo>
                  <a:pt x="0" y="948257"/>
                </a:lnTo>
                <a:lnTo>
                  <a:pt x="0" y="236987"/>
                </a:lnTo>
                <a:close/>
              </a:path>
            </a:pathLst>
          </a:custGeom>
          <a:solidFill>
            <a:srgbClr val="018146"/>
          </a:solidFill>
          <a:ln>
            <a:noFill/>
          </a:ln>
        </p:spPr>
      </p:sp>
      <p:grpSp>
        <p:nvGrpSpPr>
          <p:cNvPr id="347" name="Google Shape;347;p23"/>
          <p:cNvGrpSpPr/>
          <p:nvPr/>
        </p:nvGrpSpPr>
        <p:grpSpPr>
          <a:xfrm>
            <a:off x="9976655" y="5264180"/>
            <a:ext cx="3360600" cy="2470725"/>
            <a:chOff x="0" y="-57150"/>
            <a:chExt cx="4480800" cy="3294300"/>
          </a:xfrm>
        </p:grpSpPr>
        <p:sp>
          <p:nvSpPr>
            <p:cNvPr id="348" name="Google Shape;348;p23"/>
            <p:cNvSpPr/>
            <p:nvPr/>
          </p:nvSpPr>
          <p:spPr>
            <a:xfrm>
              <a:off x="21587" y="25826"/>
              <a:ext cx="4437608" cy="3185422"/>
            </a:xfrm>
            <a:custGeom>
              <a:avLst/>
              <a:gdLst/>
              <a:ahLst/>
              <a:cxnLst/>
              <a:rect l="l" t="t" r="r" b="b"/>
              <a:pathLst>
                <a:path w="4437608" h="3185422" extrusionOk="0">
                  <a:moveTo>
                    <a:pt x="0" y="318525"/>
                  </a:moveTo>
                  <a:cubicBezTo>
                    <a:pt x="0" y="142562"/>
                    <a:pt x="119162" y="0"/>
                    <a:pt x="266242" y="0"/>
                  </a:cubicBezTo>
                  <a:lnTo>
                    <a:pt x="4171366" y="0"/>
                  </a:lnTo>
                  <a:cubicBezTo>
                    <a:pt x="4318447" y="0"/>
                    <a:pt x="4437609" y="142562"/>
                    <a:pt x="4437609" y="318525"/>
                  </a:cubicBezTo>
                  <a:lnTo>
                    <a:pt x="4437609" y="2866897"/>
                  </a:lnTo>
                  <a:cubicBezTo>
                    <a:pt x="4437609" y="3042861"/>
                    <a:pt x="4318447" y="3185422"/>
                    <a:pt x="4171366" y="3185422"/>
                  </a:cubicBezTo>
                  <a:lnTo>
                    <a:pt x="266242" y="3185422"/>
                  </a:lnTo>
                  <a:cubicBezTo>
                    <a:pt x="119162" y="3185422"/>
                    <a:pt x="0" y="3042861"/>
                    <a:pt x="0" y="2866897"/>
                  </a:cubicBezTo>
                  <a:lnTo>
                    <a:pt x="0" y="318525"/>
                  </a:lnTo>
                  <a:close/>
                </a:path>
              </a:pathLst>
            </a:custGeom>
            <a:solidFill>
              <a:srgbClr val="0181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3"/>
            <p:cNvSpPr/>
            <p:nvPr/>
          </p:nvSpPr>
          <p:spPr>
            <a:xfrm>
              <a:off x="0" y="0"/>
              <a:ext cx="4480780" cy="3237069"/>
            </a:xfrm>
            <a:custGeom>
              <a:avLst/>
              <a:gdLst/>
              <a:ahLst/>
              <a:cxnLst/>
              <a:rect l="l" t="t" r="r" b="b"/>
              <a:pathLst>
                <a:path w="4480780" h="3237069" extrusionOk="0">
                  <a:moveTo>
                    <a:pt x="0" y="344351"/>
                  </a:moveTo>
                  <a:cubicBezTo>
                    <a:pt x="0" y="154097"/>
                    <a:pt x="128804" y="0"/>
                    <a:pt x="287829" y="0"/>
                  </a:cubicBezTo>
                  <a:lnTo>
                    <a:pt x="287829" y="25826"/>
                  </a:lnTo>
                  <a:lnTo>
                    <a:pt x="287829" y="0"/>
                  </a:lnTo>
                  <a:lnTo>
                    <a:pt x="4192953" y="0"/>
                  </a:lnTo>
                  <a:lnTo>
                    <a:pt x="4192953" y="25826"/>
                  </a:lnTo>
                  <a:lnTo>
                    <a:pt x="4192953" y="0"/>
                  </a:lnTo>
                  <a:cubicBezTo>
                    <a:pt x="4351979" y="0"/>
                    <a:pt x="4480780" y="154097"/>
                    <a:pt x="4480780" y="344351"/>
                  </a:cubicBezTo>
                  <a:lnTo>
                    <a:pt x="4459196" y="344351"/>
                  </a:lnTo>
                  <a:lnTo>
                    <a:pt x="4480780" y="344351"/>
                  </a:lnTo>
                  <a:lnTo>
                    <a:pt x="4480780" y="2892723"/>
                  </a:lnTo>
                  <a:lnTo>
                    <a:pt x="4459196" y="2892723"/>
                  </a:lnTo>
                  <a:lnTo>
                    <a:pt x="4480780" y="2892723"/>
                  </a:lnTo>
                  <a:cubicBezTo>
                    <a:pt x="4480780" y="3082978"/>
                    <a:pt x="4351979" y="3237069"/>
                    <a:pt x="4192953" y="3237069"/>
                  </a:cubicBezTo>
                  <a:lnTo>
                    <a:pt x="4192953" y="3211248"/>
                  </a:lnTo>
                  <a:lnTo>
                    <a:pt x="4192953" y="3237069"/>
                  </a:lnTo>
                  <a:lnTo>
                    <a:pt x="287829" y="3237069"/>
                  </a:lnTo>
                  <a:lnTo>
                    <a:pt x="287829" y="3211248"/>
                  </a:lnTo>
                  <a:lnTo>
                    <a:pt x="287829" y="3237069"/>
                  </a:lnTo>
                  <a:cubicBezTo>
                    <a:pt x="128804" y="3237069"/>
                    <a:pt x="0" y="3082978"/>
                    <a:pt x="0" y="2892723"/>
                  </a:cubicBezTo>
                  <a:lnTo>
                    <a:pt x="21587" y="2892723"/>
                  </a:lnTo>
                  <a:lnTo>
                    <a:pt x="0" y="2892723"/>
                  </a:lnTo>
                  <a:lnTo>
                    <a:pt x="0" y="344351"/>
                  </a:lnTo>
                  <a:lnTo>
                    <a:pt x="21587" y="344351"/>
                  </a:lnTo>
                  <a:lnTo>
                    <a:pt x="0" y="344351"/>
                  </a:lnTo>
                  <a:moveTo>
                    <a:pt x="43174" y="344351"/>
                  </a:moveTo>
                  <a:lnTo>
                    <a:pt x="43174" y="2892723"/>
                  </a:lnTo>
                  <a:cubicBezTo>
                    <a:pt x="43174" y="3054396"/>
                    <a:pt x="152693" y="3185422"/>
                    <a:pt x="287829" y="3185422"/>
                  </a:cubicBezTo>
                  <a:lnTo>
                    <a:pt x="4192953" y="3185422"/>
                  </a:lnTo>
                  <a:cubicBezTo>
                    <a:pt x="4328090" y="3185422"/>
                    <a:pt x="4437609" y="3054396"/>
                    <a:pt x="4437609" y="2892723"/>
                  </a:cubicBezTo>
                  <a:lnTo>
                    <a:pt x="4437609" y="344351"/>
                  </a:lnTo>
                  <a:cubicBezTo>
                    <a:pt x="4437609" y="182678"/>
                    <a:pt x="4328090" y="51653"/>
                    <a:pt x="4192953" y="51653"/>
                  </a:cubicBezTo>
                  <a:lnTo>
                    <a:pt x="287829" y="51653"/>
                  </a:lnTo>
                  <a:cubicBezTo>
                    <a:pt x="152693" y="51653"/>
                    <a:pt x="43174" y="182678"/>
                    <a:pt x="43174" y="34435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3"/>
            <p:cNvSpPr txBox="1"/>
            <p:nvPr/>
          </p:nvSpPr>
          <p:spPr>
            <a:xfrm>
              <a:off x="0" y="-57150"/>
              <a:ext cx="4480800" cy="3294300"/>
            </a:xfrm>
            <a:prstGeom prst="rect">
              <a:avLst/>
            </a:prstGeom>
            <a:noFill/>
            <a:ln>
              <a:noFill/>
            </a:ln>
          </p:spPr>
          <p:txBody>
            <a:bodyPr spcFirstLastPara="1" wrap="square" lIns="50800" tIns="50800" rIns="50800" bIns="50800" anchor="ctr" anchorCtr="0">
              <a:noAutofit/>
            </a:bodyPr>
            <a:lstStyle/>
            <a:p>
              <a:pPr marL="0" marR="0" lvl="0" indent="0" algn="ctr" rtl="0">
                <a:lnSpc>
                  <a:spcPct val="135009"/>
                </a:lnSpc>
                <a:spcBef>
                  <a:spcPts val="0"/>
                </a:spcBef>
                <a:spcAft>
                  <a:spcPts val="0"/>
                </a:spcAft>
                <a:buNone/>
              </a:pPr>
              <a:r>
                <a:rPr lang="en-US" sz="3899" b="1" i="0" u="none" strike="noStrike" cap="none">
                  <a:solidFill>
                    <a:srgbClr val="FFFFFF"/>
                  </a:solidFill>
                  <a:latin typeface="Roboto"/>
                  <a:ea typeface="Roboto"/>
                  <a:cs typeface="Roboto"/>
                  <a:sym typeface="Roboto"/>
                </a:rPr>
                <a:t>Trong </a:t>
              </a:r>
              <a:endParaRPr/>
            </a:p>
            <a:p>
              <a:pPr marL="0" marR="0" lvl="0" indent="0" algn="ctr" rtl="0">
                <a:lnSpc>
                  <a:spcPct val="135009"/>
                </a:lnSpc>
                <a:spcBef>
                  <a:spcPts val="0"/>
                </a:spcBef>
                <a:spcAft>
                  <a:spcPts val="0"/>
                </a:spcAft>
                <a:buNone/>
              </a:pPr>
              <a:r>
                <a:rPr lang="en-US" sz="3899" b="0" i="0" u="none" strike="noStrike" cap="none">
                  <a:solidFill>
                    <a:srgbClr val="FFFFFF"/>
                  </a:solidFill>
                  <a:latin typeface="Roboto"/>
                  <a:ea typeface="Roboto"/>
                  <a:cs typeface="Roboto"/>
                  <a:sym typeface="Roboto"/>
                </a:rPr>
                <a:t>khi nghe</a:t>
              </a:r>
              <a:endParaRPr sz="3899" b="0" i="0" u="none" strike="noStrike" cap="none">
                <a:solidFill>
                  <a:srgbClr val="FFFFFF"/>
                </a:solidFill>
                <a:latin typeface="Roboto"/>
                <a:ea typeface="Roboto"/>
                <a:cs typeface="Roboto"/>
                <a:sym typeface="Roboto"/>
              </a:endParaRPr>
            </a:p>
          </p:txBody>
        </p:sp>
      </p:grpSp>
      <p:sp>
        <p:nvSpPr>
          <p:cNvPr id="351" name="Google Shape;351;p23"/>
          <p:cNvSpPr/>
          <p:nvPr/>
        </p:nvSpPr>
        <p:spPr>
          <a:xfrm>
            <a:off x="8977911" y="5911448"/>
            <a:ext cx="705669" cy="1013265"/>
          </a:xfrm>
          <a:custGeom>
            <a:avLst/>
            <a:gdLst/>
            <a:ahLst/>
            <a:cxnLst/>
            <a:rect l="l" t="t" r="r" b="b"/>
            <a:pathLst>
              <a:path w="830199" h="1192077" extrusionOk="0">
                <a:moveTo>
                  <a:pt x="0" y="238353"/>
                </a:moveTo>
                <a:lnTo>
                  <a:pt x="415036" y="238353"/>
                </a:lnTo>
                <a:lnTo>
                  <a:pt x="415036" y="0"/>
                </a:lnTo>
                <a:lnTo>
                  <a:pt x="830199" y="596117"/>
                </a:lnTo>
                <a:lnTo>
                  <a:pt x="415036" y="1192077"/>
                </a:lnTo>
                <a:lnTo>
                  <a:pt x="415036" y="953724"/>
                </a:lnTo>
                <a:lnTo>
                  <a:pt x="0" y="953724"/>
                </a:lnTo>
                <a:lnTo>
                  <a:pt x="0" y="238353"/>
                </a:lnTo>
                <a:close/>
              </a:path>
            </a:pathLst>
          </a:custGeom>
          <a:solidFill>
            <a:srgbClr val="018146"/>
          </a:solidFill>
          <a:ln>
            <a:noFill/>
          </a:ln>
        </p:spPr>
      </p:sp>
      <p:grpSp>
        <p:nvGrpSpPr>
          <p:cNvPr id="352" name="Google Shape;352;p23"/>
          <p:cNvGrpSpPr/>
          <p:nvPr/>
        </p:nvGrpSpPr>
        <p:grpSpPr>
          <a:xfrm>
            <a:off x="13738169" y="7379270"/>
            <a:ext cx="3360600" cy="2296204"/>
            <a:chOff x="0" y="-57150"/>
            <a:chExt cx="4480800" cy="3061605"/>
          </a:xfrm>
        </p:grpSpPr>
        <p:sp>
          <p:nvSpPr>
            <p:cNvPr id="353" name="Google Shape;353;p23"/>
            <p:cNvSpPr/>
            <p:nvPr/>
          </p:nvSpPr>
          <p:spPr>
            <a:xfrm>
              <a:off x="21587" y="23970"/>
              <a:ext cx="4437608" cy="2956518"/>
            </a:xfrm>
            <a:custGeom>
              <a:avLst/>
              <a:gdLst/>
              <a:ahLst/>
              <a:cxnLst/>
              <a:rect l="l" t="t" r="r" b="b"/>
              <a:pathLst>
                <a:path w="4437608" h="2956518" extrusionOk="0">
                  <a:moveTo>
                    <a:pt x="0" y="295636"/>
                  </a:moveTo>
                  <a:cubicBezTo>
                    <a:pt x="0" y="132317"/>
                    <a:pt x="119162" y="0"/>
                    <a:pt x="266242" y="0"/>
                  </a:cubicBezTo>
                  <a:lnTo>
                    <a:pt x="4171366" y="0"/>
                  </a:lnTo>
                  <a:cubicBezTo>
                    <a:pt x="4318447" y="0"/>
                    <a:pt x="4437609" y="132317"/>
                    <a:pt x="4437609" y="295636"/>
                  </a:cubicBezTo>
                  <a:lnTo>
                    <a:pt x="4437609" y="2660883"/>
                  </a:lnTo>
                  <a:cubicBezTo>
                    <a:pt x="4437609" y="2824201"/>
                    <a:pt x="4318447" y="2956518"/>
                    <a:pt x="4171366" y="2956518"/>
                  </a:cubicBezTo>
                  <a:lnTo>
                    <a:pt x="266242" y="2956518"/>
                  </a:lnTo>
                  <a:cubicBezTo>
                    <a:pt x="119162" y="2956518"/>
                    <a:pt x="0" y="2824201"/>
                    <a:pt x="0" y="2660883"/>
                  </a:cubicBezTo>
                  <a:lnTo>
                    <a:pt x="0" y="295636"/>
                  </a:lnTo>
                  <a:close/>
                </a:path>
              </a:pathLst>
            </a:custGeom>
            <a:solidFill>
              <a:srgbClr val="006B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3"/>
            <p:cNvSpPr/>
            <p:nvPr/>
          </p:nvSpPr>
          <p:spPr>
            <a:xfrm>
              <a:off x="0" y="0"/>
              <a:ext cx="4480780" cy="3004455"/>
            </a:xfrm>
            <a:custGeom>
              <a:avLst/>
              <a:gdLst/>
              <a:ahLst/>
              <a:cxnLst/>
              <a:rect l="l" t="t" r="r" b="b"/>
              <a:pathLst>
                <a:path w="4480780" h="3004455" extrusionOk="0">
                  <a:moveTo>
                    <a:pt x="0" y="319606"/>
                  </a:moveTo>
                  <a:cubicBezTo>
                    <a:pt x="0" y="143024"/>
                    <a:pt x="128804" y="0"/>
                    <a:pt x="287829" y="0"/>
                  </a:cubicBezTo>
                  <a:lnTo>
                    <a:pt x="287829" y="23970"/>
                  </a:lnTo>
                  <a:lnTo>
                    <a:pt x="287829" y="0"/>
                  </a:lnTo>
                  <a:lnTo>
                    <a:pt x="4192953" y="0"/>
                  </a:lnTo>
                  <a:lnTo>
                    <a:pt x="4192953" y="23970"/>
                  </a:lnTo>
                  <a:lnTo>
                    <a:pt x="4192953" y="0"/>
                  </a:lnTo>
                  <a:cubicBezTo>
                    <a:pt x="4351979" y="0"/>
                    <a:pt x="4480780" y="143024"/>
                    <a:pt x="4480780" y="319606"/>
                  </a:cubicBezTo>
                  <a:lnTo>
                    <a:pt x="4459196" y="319606"/>
                  </a:lnTo>
                  <a:lnTo>
                    <a:pt x="4480780" y="319606"/>
                  </a:lnTo>
                  <a:lnTo>
                    <a:pt x="4480780" y="2684853"/>
                  </a:lnTo>
                  <a:lnTo>
                    <a:pt x="4459196" y="2684853"/>
                  </a:lnTo>
                  <a:lnTo>
                    <a:pt x="4480780" y="2684853"/>
                  </a:lnTo>
                  <a:cubicBezTo>
                    <a:pt x="4480780" y="2861435"/>
                    <a:pt x="4351979" y="3004455"/>
                    <a:pt x="4192953" y="3004455"/>
                  </a:cubicBezTo>
                  <a:lnTo>
                    <a:pt x="4192953" y="2980488"/>
                  </a:lnTo>
                  <a:lnTo>
                    <a:pt x="4192953" y="3004455"/>
                  </a:lnTo>
                  <a:lnTo>
                    <a:pt x="287829" y="3004455"/>
                  </a:lnTo>
                  <a:lnTo>
                    <a:pt x="287829" y="2980488"/>
                  </a:lnTo>
                  <a:lnTo>
                    <a:pt x="287829" y="3004455"/>
                  </a:lnTo>
                  <a:cubicBezTo>
                    <a:pt x="128804" y="3004455"/>
                    <a:pt x="0" y="2861435"/>
                    <a:pt x="0" y="2684853"/>
                  </a:cubicBezTo>
                  <a:lnTo>
                    <a:pt x="21587" y="2684853"/>
                  </a:lnTo>
                  <a:lnTo>
                    <a:pt x="0" y="2684853"/>
                  </a:lnTo>
                  <a:lnTo>
                    <a:pt x="0" y="319606"/>
                  </a:lnTo>
                  <a:lnTo>
                    <a:pt x="21587" y="319606"/>
                  </a:lnTo>
                  <a:lnTo>
                    <a:pt x="0" y="319606"/>
                  </a:lnTo>
                  <a:moveTo>
                    <a:pt x="43174" y="319606"/>
                  </a:moveTo>
                  <a:lnTo>
                    <a:pt x="43174" y="2684853"/>
                  </a:lnTo>
                  <a:cubicBezTo>
                    <a:pt x="43174" y="2834908"/>
                    <a:pt x="152693" y="2956518"/>
                    <a:pt x="287829" y="2956518"/>
                  </a:cubicBezTo>
                  <a:lnTo>
                    <a:pt x="4192953" y="2956518"/>
                  </a:lnTo>
                  <a:cubicBezTo>
                    <a:pt x="4328090" y="2956518"/>
                    <a:pt x="4437609" y="2834908"/>
                    <a:pt x="4437609" y="2684853"/>
                  </a:cubicBezTo>
                  <a:lnTo>
                    <a:pt x="4437609" y="319606"/>
                  </a:lnTo>
                  <a:cubicBezTo>
                    <a:pt x="4437609" y="169551"/>
                    <a:pt x="4328090" y="47941"/>
                    <a:pt x="4192953" y="47941"/>
                  </a:cubicBezTo>
                  <a:lnTo>
                    <a:pt x="287829" y="47941"/>
                  </a:lnTo>
                  <a:cubicBezTo>
                    <a:pt x="152693" y="47941"/>
                    <a:pt x="43174" y="169551"/>
                    <a:pt x="43174" y="31960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3"/>
            <p:cNvSpPr txBox="1"/>
            <p:nvPr/>
          </p:nvSpPr>
          <p:spPr>
            <a:xfrm>
              <a:off x="0" y="-57150"/>
              <a:ext cx="4480800" cy="3061500"/>
            </a:xfrm>
            <a:prstGeom prst="rect">
              <a:avLst/>
            </a:prstGeom>
            <a:solidFill>
              <a:srgbClr val="018146"/>
            </a:solidFill>
            <a:ln>
              <a:noFill/>
            </a:ln>
          </p:spPr>
          <p:txBody>
            <a:bodyPr spcFirstLastPara="1" wrap="square" lIns="50800" tIns="50800" rIns="50800" bIns="50800" anchor="ctr" anchorCtr="0">
              <a:noAutofit/>
            </a:bodyPr>
            <a:lstStyle/>
            <a:p>
              <a:pPr marL="0" marR="0" lvl="0" indent="0" algn="ctr" rtl="0">
                <a:lnSpc>
                  <a:spcPct val="135009"/>
                </a:lnSpc>
                <a:spcBef>
                  <a:spcPts val="0"/>
                </a:spcBef>
                <a:spcAft>
                  <a:spcPts val="0"/>
                </a:spcAft>
                <a:buNone/>
              </a:pPr>
              <a:r>
                <a:rPr lang="en-US" sz="3899" b="1" i="0" u="none" strike="noStrike" cap="none">
                  <a:solidFill>
                    <a:srgbClr val="FFFFFF"/>
                  </a:solidFill>
                  <a:latin typeface="Roboto"/>
                  <a:ea typeface="Roboto"/>
                  <a:cs typeface="Roboto"/>
                  <a:sym typeface="Roboto"/>
                </a:rPr>
                <a:t>Sau </a:t>
              </a:r>
              <a:endParaRPr/>
            </a:p>
            <a:p>
              <a:pPr marL="0" marR="0" lvl="0" indent="0" algn="ctr" rtl="0">
                <a:lnSpc>
                  <a:spcPct val="135009"/>
                </a:lnSpc>
                <a:spcBef>
                  <a:spcPts val="0"/>
                </a:spcBef>
                <a:spcAft>
                  <a:spcPts val="0"/>
                </a:spcAft>
                <a:buNone/>
              </a:pPr>
              <a:r>
                <a:rPr lang="en-US" sz="3899" b="0" i="0" u="none" strike="noStrike" cap="none">
                  <a:solidFill>
                    <a:srgbClr val="FFFFFF"/>
                  </a:solidFill>
                  <a:latin typeface="Roboto"/>
                  <a:ea typeface="Roboto"/>
                  <a:cs typeface="Roboto"/>
                  <a:sym typeface="Roboto"/>
                </a:rPr>
                <a:t>khi nghe</a:t>
              </a:r>
              <a:endParaRPr/>
            </a:p>
          </p:txBody>
        </p:sp>
      </p:grpSp>
      <p:sp>
        <p:nvSpPr>
          <p:cNvPr id="356" name="Google Shape;356;p23"/>
          <p:cNvSpPr txBox="1"/>
          <p:nvPr/>
        </p:nvSpPr>
        <p:spPr>
          <a:xfrm>
            <a:off x="5571910" y="1208799"/>
            <a:ext cx="11880900" cy="847200"/>
          </a:xfrm>
          <a:prstGeom prst="rect">
            <a:avLst/>
          </a:prstGeom>
          <a:noFill/>
          <a:ln>
            <a:noFill/>
          </a:ln>
        </p:spPr>
        <p:txBody>
          <a:bodyPr spcFirstLastPara="1" wrap="square" lIns="0" tIns="0" rIns="0" bIns="0" anchor="t" anchorCtr="0">
            <a:spAutoFit/>
          </a:bodyPr>
          <a:lstStyle/>
          <a:p>
            <a:pPr marL="0" marR="0" lvl="0" indent="0" algn="l" rtl="0">
              <a:lnSpc>
                <a:spcPct val="134992"/>
              </a:lnSpc>
              <a:spcBef>
                <a:spcPts val="0"/>
              </a:spcBef>
              <a:spcAft>
                <a:spcPts val="0"/>
              </a:spcAft>
              <a:buNone/>
            </a:pPr>
            <a:r>
              <a:rPr lang="en-US" sz="5504" b="1" i="0" u="none" strike="noStrike" cap="none">
                <a:solidFill>
                  <a:srgbClr val="018345"/>
                </a:solidFill>
                <a:latin typeface="Montserrat"/>
                <a:ea typeface="Montserrat"/>
                <a:cs typeface="Montserrat"/>
                <a:sym typeface="Montserrat"/>
              </a:rPr>
              <a:t>KỸ NĂNG LÀM BÀI NGHE PART </a:t>
            </a:r>
            <a:r>
              <a:rPr lang="en-US" sz="5504" b="1">
                <a:solidFill>
                  <a:srgbClr val="018345"/>
                </a:solidFill>
                <a:latin typeface="Montserrat"/>
                <a:ea typeface="Montserrat"/>
                <a:cs typeface="Montserrat"/>
                <a:sym typeface="Montserrat"/>
              </a:rPr>
              <a:t>3</a:t>
            </a:r>
            <a:endParaRPr/>
          </a:p>
        </p:txBody>
      </p:sp>
      <p:sp>
        <p:nvSpPr>
          <p:cNvPr id="357" name="Google Shape;357;p23"/>
          <p:cNvSpPr/>
          <p:nvPr/>
        </p:nvSpPr>
        <p:spPr>
          <a:xfrm>
            <a:off x="12620854" y="8092172"/>
            <a:ext cx="705669" cy="1041715"/>
          </a:xfrm>
          <a:custGeom>
            <a:avLst/>
            <a:gdLst/>
            <a:ahLst/>
            <a:cxnLst/>
            <a:rect l="l" t="t" r="r" b="b"/>
            <a:pathLst>
              <a:path w="830199" h="1225547" extrusionOk="0">
                <a:moveTo>
                  <a:pt x="0" y="245045"/>
                </a:moveTo>
                <a:lnTo>
                  <a:pt x="415036" y="245045"/>
                </a:lnTo>
                <a:lnTo>
                  <a:pt x="415036" y="0"/>
                </a:lnTo>
                <a:lnTo>
                  <a:pt x="830199" y="612853"/>
                </a:lnTo>
                <a:lnTo>
                  <a:pt x="415036" y="1225547"/>
                </a:lnTo>
                <a:lnTo>
                  <a:pt x="415036" y="980501"/>
                </a:lnTo>
                <a:lnTo>
                  <a:pt x="0" y="980501"/>
                </a:lnTo>
                <a:lnTo>
                  <a:pt x="0" y="245045"/>
                </a:lnTo>
                <a:close/>
              </a:path>
            </a:pathLst>
          </a:custGeom>
          <a:solidFill>
            <a:srgbClr val="018146"/>
          </a:solidFill>
          <a:ln>
            <a:noFill/>
          </a:ln>
        </p:spPr>
      </p:sp>
      <p:sp>
        <p:nvSpPr>
          <p:cNvPr id="358" name="Google Shape;358;p23"/>
          <p:cNvSpPr/>
          <p:nvPr/>
        </p:nvSpPr>
        <p:spPr>
          <a:xfrm>
            <a:off x="14885603" y="3060651"/>
            <a:ext cx="2567304" cy="2246391"/>
          </a:xfrm>
          <a:custGeom>
            <a:avLst/>
            <a:gdLst/>
            <a:ahLst/>
            <a:cxnLst/>
            <a:rect l="l" t="t" r="r" b="b"/>
            <a:pathLst>
              <a:path w="2567304" h="2246391" extrusionOk="0">
                <a:moveTo>
                  <a:pt x="0" y="0"/>
                </a:moveTo>
                <a:lnTo>
                  <a:pt x="2567304" y="0"/>
                </a:lnTo>
                <a:lnTo>
                  <a:pt x="2567304" y="2246391"/>
                </a:lnTo>
                <a:lnTo>
                  <a:pt x="0" y="2246391"/>
                </a:lnTo>
                <a:lnTo>
                  <a:pt x="0" y="0"/>
                </a:lnTo>
                <a:close/>
              </a:path>
            </a:pathLst>
          </a:custGeom>
          <a:blipFill rotWithShape="1">
            <a:blip r:embed="rId5">
              <a:alphaModFix/>
            </a:blip>
            <a:stretch>
              <a:fillRect/>
            </a:stretch>
          </a:blipFill>
          <a:ln>
            <a:noFill/>
          </a:ln>
        </p:spPr>
      </p:sp>
      <p:grpSp>
        <p:nvGrpSpPr>
          <p:cNvPr id="359" name="Google Shape;359;p23"/>
          <p:cNvGrpSpPr/>
          <p:nvPr/>
        </p:nvGrpSpPr>
        <p:grpSpPr>
          <a:xfrm>
            <a:off x="-2718010" y="9274530"/>
            <a:ext cx="7950378" cy="1707223"/>
            <a:chOff x="0" y="-384760"/>
            <a:chExt cx="10600504" cy="2276297"/>
          </a:xfrm>
        </p:grpSpPr>
        <p:grpSp>
          <p:nvGrpSpPr>
            <p:cNvPr id="360" name="Google Shape;360;p23"/>
            <p:cNvGrpSpPr/>
            <p:nvPr/>
          </p:nvGrpSpPr>
          <p:grpSpPr>
            <a:xfrm>
              <a:off x="0" y="-384760"/>
              <a:ext cx="10600504" cy="2276297"/>
              <a:chOff x="0" y="-38100"/>
              <a:chExt cx="1049690" cy="225405"/>
            </a:xfrm>
          </p:grpSpPr>
          <p:sp>
            <p:nvSpPr>
              <p:cNvPr id="361" name="Google Shape;361;p23"/>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362" name="Google Shape;362;p23"/>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63" name="Google Shape;363;p23"/>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56"/>
                                        </p:tgtEl>
                                        <p:attrNameLst>
                                          <p:attrName>style.visibility</p:attrName>
                                        </p:attrNameLst>
                                      </p:cBhvr>
                                      <p:to>
                                        <p:strVal val="visible"/>
                                      </p:to>
                                    </p:set>
                                    <p:animEffect transition="in" filter="fade">
                                      <p:cBhvr>
                                        <p:cTn id="7" dur="500"/>
                                        <p:tgtEl>
                                          <p:spTgt spid="356"/>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42"/>
                                        </p:tgtEl>
                                        <p:attrNameLst>
                                          <p:attrName>style.visibility</p:attrName>
                                        </p:attrNameLst>
                                      </p:cBhvr>
                                      <p:to>
                                        <p:strVal val="visible"/>
                                      </p:to>
                                    </p:set>
                                    <p:animEffect transition="in" filter="fade">
                                      <p:cBhvr>
                                        <p:cTn id="11" dur="500"/>
                                        <p:tgtEl>
                                          <p:spTgt spid="34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47"/>
                                        </p:tgtEl>
                                        <p:attrNameLst>
                                          <p:attrName>style.visibility</p:attrName>
                                        </p:attrNameLst>
                                      </p:cBhvr>
                                      <p:to>
                                        <p:strVal val="visible"/>
                                      </p:to>
                                    </p:set>
                                    <p:animEffect transition="in" filter="fade">
                                      <p:cBhvr>
                                        <p:cTn id="15" dur="500"/>
                                        <p:tgtEl>
                                          <p:spTgt spid="34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52"/>
                                        </p:tgtEl>
                                        <p:attrNameLst>
                                          <p:attrName>style.visibility</p:attrName>
                                        </p:attrNameLst>
                                      </p:cBhvr>
                                      <p:to>
                                        <p:strVal val="visible"/>
                                      </p:to>
                                    </p:set>
                                    <p:animEffect transition="in" filter="fade">
                                      <p:cBhvr>
                                        <p:cTn id="19" dur="500"/>
                                        <p:tgtEl>
                                          <p:spTgt spid="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cxnSp>
        <p:nvCxnSpPr>
          <p:cNvPr id="369" name="Google Shape;369;p24"/>
          <p:cNvCxnSpPr/>
          <p:nvPr/>
        </p:nvCxnSpPr>
        <p:spPr>
          <a:xfrm>
            <a:off x="-249883" y="5124450"/>
            <a:ext cx="5303400" cy="0"/>
          </a:xfrm>
          <a:prstGeom prst="straightConnector1">
            <a:avLst/>
          </a:prstGeom>
          <a:noFill/>
          <a:ln w="38100" cap="flat" cmpd="sng">
            <a:solidFill>
              <a:srgbClr val="FFFFFF"/>
            </a:solidFill>
            <a:prstDash val="solid"/>
            <a:round/>
            <a:headEnd type="none" w="sm" len="sm"/>
            <a:tailEnd type="none" w="sm" len="sm"/>
          </a:ln>
        </p:spPr>
      </p:cxnSp>
      <p:sp>
        <p:nvSpPr>
          <p:cNvPr id="370" name="Google Shape;370;p24"/>
          <p:cNvSpPr txBox="1"/>
          <p:nvPr/>
        </p:nvSpPr>
        <p:spPr>
          <a:xfrm>
            <a:off x="-2113814" y="8271858"/>
            <a:ext cx="7123800" cy="20181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371" name="Google Shape;371;p24"/>
          <p:cNvGrpSpPr/>
          <p:nvPr/>
        </p:nvGrpSpPr>
        <p:grpSpPr>
          <a:xfrm rot="10800000">
            <a:off x="15561046" y="-410238"/>
            <a:ext cx="7681773" cy="4260605"/>
            <a:chOff x="0" y="-38100"/>
            <a:chExt cx="406400" cy="225405"/>
          </a:xfrm>
        </p:grpSpPr>
        <p:sp>
          <p:nvSpPr>
            <p:cNvPr id="372" name="Google Shape;372;p24"/>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73" name="Google Shape;373;p24"/>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74" name="Google Shape;374;p24" descr="Books with solid fill"/>
          <p:cNvSpPr/>
          <p:nvPr/>
        </p:nvSpPr>
        <p:spPr>
          <a:xfrm>
            <a:off x="3241317" y="6937835"/>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375" name="Google Shape;375;p24"/>
          <p:cNvSpPr/>
          <p:nvPr/>
        </p:nvSpPr>
        <p:spPr>
          <a:xfrm>
            <a:off x="18099269" y="1809027"/>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376" name="Google Shape;376;p24"/>
          <p:cNvSpPr/>
          <p:nvPr/>
        </p:nvSpPr>
        <p:spPr>
          <a:xfrm>
            <a:off x="15561053" y="8025621"/>
            <a:ext cx="2861837" cy="2504108"/>
          </a:xfrm>
          <a:custGeom>
            <a:avLst/>
            <a:gdLst/>
            <a:ahLst/>
            <a:cxnLst/>
            <a:rect l="l" t="t" r="r" b="b"/>
            <a:pathLst>
              <a:path w="2861837" h="2504108" extrusionOk="0">
                <a:moveTo>
                  <a:pt x="0" y="0"/>
                </a:moveTo>
                <a:lnTo>
                  <a:pt x="2861837" y="0"/>
                </a:lnTo>
                <a:lnTo>
                  <a:pt x="2861837" y="2504108"/>
                </a:lnTo>
                <a:lnTo>
                  <a:pt x="0" y="2504108"/>
                </a:lnTo>
                <a:lnTo>
                  <a:pt x="0" y="0"/>
                </a:lnTo>
                <a:close/>
              </a:path>
            </a:pathLst>
          </a:custGeom>
          <a:blipFill rotWithShape="1">
            <a:blip r:embed="rId5">
              <a:alphaModFix/>
            </a:blip>
            <a:stretch>
              <a:fillRect/>
            </a:stretch>
          </a:blipFill>
          <a:ln>
            <a:noFill/>
          </a:ln>
        </p:spPr>
      </p:sp>
      <p:grpSp>
        <p:nvGrpSpPr>
          <p:cNvPr id="377" name="Google Shape;377;p24"/>
          <p:cNvGrpSpPr/>
          <p:nvPr/>
        </p:nvGrpSpPr>
        <p:grpSpPr>
          <a:xfrm>
            <a:off x="6435332" y="443278"/>
            <a:ext cx="6295740" cy="1365760"/>
            <a:chOff x="0" y="-76200"/>
            <a:chExt cx="8394320" cy="1821013"/>
          </a:xfrm>
        </p:grpSpPr>
        <p:sp>
          <p:nvSpPr>
            <p:cNvPr id="378" name="Google Shape;378;p24"/>
            <p:cNvSpPr/>
            <p:nvPr/>
          </p:nvSpPr>
          <p:spPr>
            <a:xfrm>
              <a:off x="40442" y="13921"/>
              <a:ext cx="8313463" cy="1716968"/>
            </a:xfrm>
            <a:custGeom>
              <a:avLst/>
              <a:gdLst/>
              <a:ahLst/>
              <a:cxnLst/>
              <a:rect l="l" t="t" r="r" b="b"/>
              <a:pathLst>
                <a:path w="8313463" h="1716968" extrusionOk="0">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0B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4"/>
            <p:cNvSpPr/>
            <p:nvPr/>
          </p:nvSpPr>
          <p:spPr>
            <a:xfrm>
              <a:off x="0" y="0"/>
              <a:ext cx="8394320" cy="1744813"/>
            </a:xfrm>
            <a:custGeom>
              <a:avLst/>
              <a:gdLst/>
              <a:ahLst/>
              <a:cxnLst/>
              <a:rect l="l" t="t" r="r" b="b"/>
              <a:pathLst>
                <a:path w="8394320" h="1744813" extrusionOk="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4"/>
            <p:cNvSpPr txBox="1"/>
            <p:nvPr/>
          </p:nvSpPr>
          <p:spPr>
            <a:xfrm>
              <a:off x="0" y="-76200"/>
              <a:ext cx="8394300" cy="1821000"/>
            </a:xfrm>
            <a:prstGeom prst="rect">
              <a:avLst/>
            </a:prstGeom>
            <a:solidFill>
              <a:srgbClr val="018146"/>
            </a:solidFill>
            <a:ln>
              <a:noFill/>
            </a:ln>
          </p:spPr>
          <p:txBody>
            <a:bodyPr spcFirstLastPara="1" wrap="square" lIns="50800" tIns="50800" rIns="50800" bIns="50800" anchor="ctr" anchorCtr="0">
              <a:noAutofit/>
            </a:bodyPr>
            <a:lstStyle/>
            <a:p>
              <a:pPr marL="0" marR="0" lvl="0" indent="0" algn="ctr" rtl="0">
                <a:lnSpc>
                  <a:spcPct val="135007"/>
                </a:lnSpc>
                <a:spcBef>
                  <a:spcPts val="0"/>
                </a:spcBef>
                <a:spcAft>
                  <a:spcPts val="0"/>
                </a:spcAft>
                <a:buNone/>
              </a:pPr>
              <a:r>
                <a:rPr lang="en-US" sz="4499" b="1" i="0" u="none" strike="noStrike" cap="none">
                  <a:solidFill>
                    <a:srgbClr val="FFFFFF"/>
                  </a:solidFill>
                  <a:latin typeface="Roboto"/>
                  <a:ea typeface="Roboto"/>
                  <a:cs typeface="Roboto"/>
                  <a:sym typeface="Roboto"/>
                </a:rPr>
                <a:t>Trước khi nghe</a:t>
              </a:r>
              <a:endParaRPr/>
            </a:p>
          </p:txBody>
        </p:sp>
      </p:grpSp>
      <p:sp>
        <p:nvSpPr>
          <p:cNvPr id="381" name="Google Shape;381;p24"/>
          <p:cNvSpPr/>
          <p:nvPr/>
        </p:nvSpPr>
        <p:spPr>
          <a:xfrm>
            <a:off x="5071395" y="535659"/>
            <a:ext cx="1160989" cy="1275408"/>
          </a:xfrm>
          <a:custGeom>
            <a:avLst/>
            <a:gdLst/>
            <a:ahLst/>
            <a:cxnLst/>
            <a:rect l="l" t="t" r="r" b="b"/>
            <a:pathLst>
              <a:path w="1365870" h="1500480" extrusionOk="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sp>
        <p:nvSpPr>
          <p:cNvPr id="382" name="Google Shape;382;p24"/>
          <p:cNvSpPr txBox="1"/>
          <p:nvPr/>
        </p:nvSpPr>
        <p:spPr>
          <a:xfrm>
            <a:off x="6091023" y="2580716"/>
            <a:ext cx="10879800" cy="3841200"/>
          </a:xfrm>
          <a:prstGeom prst="rect">
            <a:avLst/>
          </a:prstGeom>
          <a:noFill/>
          <a:ln>
            <a:noFill/>
          </a:ln>
        </p:spPr>
        <p:txBody>
          <a:bodyPr spcFirstLastPara="1" wrap="square" lIns="0" tIns="0" rIns="0" bIns="0" anchor="t" anchorCtr="0">
            <a:spAutoFit/>
          </a:bodyPr>
          <a:lstStyle/>
          <a:p>
            <a:pPr marL="705801" marR="0" lvl="1" indent="-352901" algn="just" rtl="0">
              <a:lnSpc>
                <a:spcPct val="135009"/>
              </a:lnSpc>
              <a:spcBef>
                <a:spcPts val="0"/>
              </a:spcBef>
              <a:spcAft>
                <a:spcPts val="0"/>
              </a:spcAft>
              <a:buClr>
                <a:srgbClr val="000000"/>
              </a:buClr>
              <a:buSzPts val="3899"/>
              <a:buFont typeface="Arial"/>
              <a:buChar char="•"/>
            </a:pPr>
            <a:r>
              <a:rPr lang="en-US" sz="3899">
                <a:latin typeface="Roboto"/>
                <a:ea typeface="Roboto"/>
                <a:cs typeface="Roboto"/>
                <a:sym typeface="Roboto"/>
              </a:rPr>
              <a:t>Xác định ngữ cảnh được đề bài đưa ra</a:t>
            </a:r>
            <a:r>
              <a:rPr lang="en-US" sz="3899" b="0" i="0" u="none" strike="noStrike" cap="none">
                <a:solidFill>
                  <a:srgbClr val="000000"/>
                </a:solidFill>
                <a:latin typeface="Roboto"/>
                <a:ea typeface="Roboto"/>
                <a:cs typeface="Roboto"/>
                <a:sym typeface="Roboto"/>
              </a:rPr>
              <a:t> đồng thời </a:t>
            </a:r>
            <a:r>
              <a:rPr lang="en-US" sz="3899" b="1" i="0" u="none" strike="noStrike" cap="none">
                <a:solidFill>
                  <a:srgbClr val="EA222A"/>
                </a:solidFill>
                <a:latin typeface="Roboto"/>
                <a:ea typeface="Roboto"/>
                <a:cs typeface="Roboto"/>
                <a:sym typeface="Roboto"/>
              </a:rPr>
              <a:t>gạch chân từ khóa</a:t>
            </a:r>
            <a:r>
              <a:rPr lang="en-US" sz="3899" b="0" i="0" u="none" strike="noStrike" cap="none">
                <a:solidFill>
                  <a:srgbClr val="000000"/>
                </a:solidFill>
                <a:latin typeface="Roboto"/>
                <a:ea typeface="Roboto"/>
                <a:cs typeface="Roboto"/>
                <a:sym typeface="Roboto"/>
              </a:rPr>
              <a:t> trong</a:t>
            </a:r>
            <a:r>
              <a:rPr lang="en-US" sz="3899">
                <a:latin typeface="Roboto"/>
                <a:ea typeface="Roboto"/>
                <a:cs typeface="Roboto"/>
                <a:sym typeface="Roboto"/>
              </a:rPr>
              <a:t> các quan điểm, nhận định của đề bài nhằm khoanh vùng những gì cần nghe </a:t>
            </a:r>
            <a:endParaRPr sz="3899" b="0" i="0" u="none" strike="noStrike" cap="none">
              <a:solidFill>
                <a:srgbClr val="000000"/>
              </a:solidFill>
              <a:latin typeface="Roboto"/>
              <a:ea typeface="Roboto"/>
              <a:cs typeface="Roboto"/>
              <a:sym typeface="Roboto"/>
            </a:endParaRPr>
          </a:p>
          <a:p>
            <a:pPr marL="914400" marR="0" lvl="0" indent="0" algn="just" rtl="0">
              <a:lnSpc>
                <a:spcPct val="135009"/>
              </a:lnSpc>
              <a:spcBef>
                <a:spcPts val="0"/>
              </a:spcBef>
              <a:spcAft>
                <a:spcPts val="0"/>
              </a:spcAft>
              <a:buNone/>
            </a:pPr>
            <a:r>
              <a:rPr lang="en-US" sz="3899">
                <a:latin typeface="Roboto"/>
                <a:ea typeface="Roboto"/>
                <a:cs typeface="Roboto"/>
                <a:sym typeface="Roboto"/>
              </a:rPr>
              <a:t> </a:t>
            </a:r>
            <a:endParaRPr sz="3899">
              <a:latin typeface="Roboto"/>
              <a:ea typeface="Roboto"/>
              <a:cs typeface="Roboto"/>
              <a:sym typeface="Roboto"/>
            </a:endParaRPr>
          </a:p>
        </p:txBody>
      </p:sp>
      <p:grpSp>
        <p:nvGrpSpPr>
          <p:cNvPr id="383" name="Google Shape;383;p24"/>
          <p:cNvGrpSpPr/>
          <p:nvPr/>
        </p:nvGrpSpPr>
        <p:grpSpPr>
          <a:xfrm>
            <a:off x="-2718010" y="9274530"/>
            <a:ext cx="7950378" cy="1707223"/>
            <a:chOff x="0" y="-384760"/>
            <a:chExt cx="10600504" cy="2276297"/>
          </a:xfrm>
        </p:grpSpPr>
        <p:grpSp>
          <p:nvGrpSpPr>
            <p:cNvPr id="384" name="Google Shape;384;p24"/>
            <p:cNvGrpSpPr/>
            <p:nvPr/>
          </p:nvGrpSpPr>
          <p:grpSpPr>
            <a:xfrm>
              <a:off x="0" y="-384760"/>
              <a:ext cx="10600504" cy="2276297"/>
              <a:chOff x="0" y="-38100"/>
              <a:chExt cx="1049690" cy="225405"/>
            </a:xfrm>
          </p:grpSpPr>
          <p:sp>
            <p:nvSpPr>
              <p:cNvPr id="385" name="Google Shape;385;p24"/>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386" name="Google Shape;386;p24"/>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87" name="Google Shape;387;p24"/>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82"/>
                                        </p:tgtEl>
                                        <p:attrNameLst>
                                          <p:attrName>style.visibility</p:attrName>
                                        </p:attrNameLst>
                                      </p:cBhvr>
                                      <p:to>
                                        <p:strVal val="visible"/>
                                      </p:to>
                                    </p:set>
                                    <p:anim calcmode="lin" valueType="num">
                                      <p:cBhvr additive="base">
                                        <p:cTn id="7" dur="500"/>
                                        <p:tgtEl>
                                          <p:spTgt spid="382"/>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cxnSp>
        <p:nvCxnSpPr>
          <p:cNvPr id="393" name="Google Shape;393;p25"/>
          <p:cNvCxnSpPr/>
          <p:nvPr/>
        </p:nvCxnSpPr>
        <p:spPr>
          <a:xfrm>
            <a:off x="-249883" y="5460507"/>
            <a:ext cx="5303400" cy="0"/>
          </a:xfrm>
          <a:prstGeom prst="straightConnector1">
            <a:avLst/>
          </a:prstGeom>
          <a:noFill/>
          <a:ln w="38100" cap="flat" cmpd="sng">
            <a:solidFill>
              <a:srgbClr val="FFFFFF"/>
            </a:solidFill>
            <a:prstDash val="solid"/>
            <a:round/>
            <a:headEnd type="none" w="sm" len="sm"/>
            <a:tailEnd type="none" w="sm" len="sm"/>
          </a:ln>
        </p:spPr>
      </p:cxnSp>
      <p:sp>
        <p:nvSpPr>
          <p:cNvPr id="394" name="Google Shape;394;p25" descr="Books with solid fill"/>
          <p:cNvSpPr/>
          <p:nvPr/>
        </p:nvSpPr>
        <p:spPr>
          <a:xfrm>
            <a:off x="3052586" y="6937835"/>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395" name="Google Shape;395;p25"/>
          <p:cNvSpPr/>
          <p:nvPr/>
        </p:nvSpPr>
        <p:spPr>
          <a:xfrm>
            <a:off x="18099269" y="1809027"/>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396" name="Google Shape;396;p25"/>
          <p:cNvSpPr/>
          <p:nvPr/>
        </p:nvSpPr>
        <p:spPr>
          <a:xfrm>
            <a:off x="9604943" y="7541690"/>
            <a:ext cx="3569688" cy="3123477"/>
          </a:xfrm>
          <a:custGeom>
            <a:avLst/>
            <a:gdLst/>
            <a:ahLst/>
            <a:cxnLst/>
            <a:rect l="l" t="t" r="r" b="b"/>
            <a:pathLst>
              <a:path w="3569688" h="3123477" extrusionOk="0">
                <a:moveTo>
                  <a:pt x="0" y="0"/>
                </a:moveTo>
                <a:lnTo>
                  <a:pt x="3569688" y="0"/>
                </a:lnTo>
                <a:lnTo>
                  <a:pt x="3569688" y="3123477"/>
                </a:lnTo>
                <a:lnTo>
                  <a:pt x="0" y="3123477"/>
                </a:lnTo>
                <a:lnTo>
                  <a:pt x="0" y="0"/>
                </a:lnTo>
                <a:close/>
              </a:path>
            </a:pathLst>
          </a:custGeom>
          <a:blipFill rotWithShape="1">
            <a:blip r:embed="rId5">
              <a:alphaModFix/>
            </a:blip>
            <a:stretch>
              <a:fillRect/>
            </a:stretch>
          </a:blipFill>
          <a:ln>
            <a:noFill/>
          </a:ln>
        </p:spPr>
      </p:sp>
      <p:grpSp>
        <p:nvGrpSpPr>
          <p:cNvPr id="397" name="Google Shape;397;p25"/>
          <p:cNvGrpSpPr/>
          <p:nvPr/>
        </p:nvGrpSpPr>
        <p:grpSpPr>
          <a:xfrm>
            <a:off x="7527559" y="648530"/>
            <a:ext cx="6295740" cy="1365760"/>
            <a:chOff x="0" y="-76200"/>
            <a:chExt cx="8394320" cy="1821013"/>
          </a:xfrm>
        </p:grpSpPr>
        <p:sp>
          <p:nvSpPr>
            <p:cNvPr id="398" name="Google Shape;398;p25"/>
            <p:cNvSpPr/>
            <p:nvPr/>
          </p:nvSpPr>
          <p:spPr>
            <a:xfrm>
              <a:off x="40442" y="13921"/>
              <a:ext cx="8313463" cy="1716968"/>
            </a:xfrm>
            <a:custGeom>
              <a:avLst/>
              <a:gdLst/>
              <a:ahLst/>
              <a:cxnLst/>
              <a:rect l="l" t="t" r="r" b="b"/>
              <a:pathLst>
                <a:path w="8313463" h="1716968" extrusionOk="0">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181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5"/>
            <p:cNvSpPr/>
            <p:nvPr/>
          </p:nvSpPr>
          <p:spPr>
            <a:xfrm>
              <a:off x="0" y="0"/>
              <a:ext cx="8394320" cy="1744813"/>
            </a:xfrm>
            <a:custGeom>
              <a:avLst/>
              <a:gdLst/>
              <a:ahLst/>
              <a:cxnLst/>
              <a:rect l="l" t="t" r="r" b="b"/>
              <a:pathLst>
                <a:path w="8394320" h="1744813" extrusionOk="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0181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5"/>
            <p:cNvSpPr txBox="1"/>
            <p:nvPr/>
          </p:nvSpPr>
          <p:spPr>
            <a:xfrm>
              <a:off x="0" y="-76200"/>
              <a:ext cx="8394300" cy="1821000"/>
            </a:xfrm>
            <a:prstGeom prst="rect">
              <a:avLst/>
            </a:prstGeom>
            <a:solidFill>
              <a:srgbClr val="018146"/>
            </a:solidFill>
            <a:ln>
              <a:noFill/>
            </a:ln>
          </p:spPr>
          <p:txBody>
            <a:bodyPr spcFirstLastPara="1" wrap="square" lIns="50800" tIns="50800" rIns="50800" bIns="50800" anchor="ctr" anchorCtr="0">
              <a:noAutofit/>
            </a:bodyPr>
            <a:lstStyle/>
            <a:p>
              <a:pPr marL="0" marR="0" lvl="0" indent="0" algn="ctr" rtl="0">
                <a:lnSpc>
                  <a:spcPct val="135007"/>
                </a:lnSpc>
                <a:spcBef>
                  <a:spcPts val="0"/>
                </a:spcBef>
                <a:spcAft>
                  <a:spcPts val="0"/>
                </a:spcAft>
                <a:buNone/>
              </a:pPr>
              <a:r>
                <a:rPr lang="en-US" sz="4499" b="1" i="0" u="none" strike="noStrike" cap="none">
                  <a:solidFill>
                    <a:srgbClr val="FFFFFF"/>
                  </a:solidFill>
                  <a:latin typeface="Roboto"/>
                  <a:ea typeface="Roboto"/>
                  <a:cs typeface="Roboto"/>
                  <a:sym typeface="Roboto"/>
                </a:rPr>
                <a:t>Trong khi nghe</a:t>
              </a:r>
              <a:endParaRPr/>
            </a:p>
          </p:txBody>
        </p:sp>
      </p:grpSp>
      <p:sp>
        <p:nvSpPr>
          <p:cNvPr id="401" name="Google Shape;401;p25"/>
          <p:cNvSpPr/>
          <p:nvPr/>
        </p:nvSpPr>
        <p:spPr>
          <a:xfrm>
            <a:off x="5611462" y="2468568"/>
            <a:ext cx="11970353" cy="5935605"/>
          </a:xfrm>
          <a:custGeom>
            <a:avLst/>
            <a:gdLst/>
            <a:ahLst/>
            <a:cxnLst/>
            <a:rect l="l" t="t" r="r" b="b"/>
            <a:pathLst>
              <a:path w="15960470" h="7914140" extrusionOk="0">
                <a:moveTo>
                  <a:pt x="0" y="1978494"/>
                </a:moveTo>
                <a:lnTo>
                  <a:pt x="12366678" y="1978494"/>
                </a:lnTo>
                <a:lnTo>
                  <a:pt x="12366678" y="0"/>
                </a:lnTo>
                <a:lnTo>
                  <a:pt x="15960470" y="3957151"/>
                </a:lnTo>
                <a:lnTo>
                  <a:pt x="12366678" y="7914139"/>
                </a:lnTo>
                <a:lnTo>
                  <a:pt x="12366678" y="5935645"/>
                </a:lnTo>
                <a:lnTo>
                  <a:pt x="0" y="5935645"/>
                </a:lnTo>
                <a:close/>
              </a:path>
            </a:pathLst>
          </a:custGeom>
          <a:solidFill>
            <a:srgbClr val="018146">
              <a:alpha val="80000"/>
            </a:srgbClr>
          </a:solidFill>
          <a:ln>
            <a:noFill/>
          </a:ln>
        </p:spPr>
      </p:sp>
      <p:grpSp>
        <p:nvGrpSpPr>
          <p:cNvPr id="402" name="Google Shape;402;p25"/>
          <p:cNvGrpSpPr/>
          <p:nvPr/>
        </p:nvGrpSpPr>
        <p:grpSpPr>
          <a:xfrm>
            <a:off x="5953971" y="4314747"/>
            <a:ext cx="3279600" cy="2243273"/>
            <a:chOff x="0" y="-38100"/>
            <a:chExt cx="4372800" cy="2991030"/>
          </a:xfrm>
        </p:grpSpPr>
        <p:sp>
          <p:nvSpPr>
            <p:cNvPr id="403" name="Google Shape;403;p25"/>
            <p:cNvSpPr/>
            <p:nvPr/>
          </p:nvSpPr>
          <p:spPr>
            <a:xfrm>
              <a:off x="21352" y="22594"/>
              <a:ext cx="4329964" cy="2907741"/>
            </a:xfrm>
            <a:custGeom>
              <a:avLst/>
              <a:gdLst/>
              <a:ahLst/>
              <a:cxnLst/>
              <a:rect l="l" t="t" r="r" b="b"/>
              <a:pathLst>
                <a:path w="4329964" h="2907741" extrusionOk="0">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5"/>
            <p:cNvSpPr/>
            <p:nvPr/>
          </p:nvSpPr>
          <p:spPr>
            <a:xfrm>
              <a:off x="0" y="0"/>
              <a:ext cx="4372668" cy="2952930"/>
            </a:xfrm>
            <a:custGeom>
              <a:avLst/>
              <a:gdLst/>
              <a:ahLst/>
              <a:cxnLst/>
              <a:rect l="l" t="t" r="r" b="b"/>
              <a:pathLst>
                <a:path w="4372668" h="2952930" extrusionOk="0">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5"/>
            <p:cNvSpPr txBox="1"/>
            <p:nvPr/>
          </p:nvSpPr>
          <p:spPr>
            <a:xfrm>
              <a:off x="0" y="-38100"/>
              <a:ext cx="4372800" cy="2991000"/>
            </a:xfrm>
            <a:prstGeom prst="rect">
              <a:avLst/>
            </a:prstGeom>
            <a:noFill/>
            <a:ln>
              <a:noFill/>
            </a:ln>
          </p:spPr>
          <p:txBody>
            <a:bodyPr spcFirstLastPara="1" wrap="square" lIns="50800" tIns="50800" rIns="50800" bIns="50800" anchor="ctr" anchorCtr="0">
              <a:noAutofit/>
            </a:bodyPr>
            <a:lstStyle/>
            <a:p>
              <a:pPr marL="0" marR="0" lvl="0" indent="0" algn="ctr" rtl="0">
                <a:lnSpc>
                  <a:spcPct val="135014"/>
                </a:lnSpc>
                <a:spcBef>
                  <a:spcPts val="0"/>
                </a:spcBef>
                <a:spcAft>
                  <a:spcPts val="0"/>
                </a:spcAft>
                <a:buNone/>
              </a:pPr>
              <a:r>
                <a:rPr lang="en-US" sz="2499" b="1" i="0" u="none" strike="noStrike" cap="none">
                  <a:solidFill>
                    <a:srgbClr val="FFFFFF"/>
                  </a:solidFill>
                  <a:latin typeface="Roboto"/>
                  <a:ea typeface="Roboto"/>
                  <a:cs typeface="Roboto"/>
                  <a:sym typeface="Roboto"/>
                </a:rPr>
                <a:t>Xác định vùng</a:t>
              </a:r>
              <a:r>
                <a:rPr lang="en-US" sz="2499" b="0" i="0" u="none" strike="noStrike" cap="none">
                  <a:solidFill>
                    <a:srgbClr val="FFFFFF"/>
                  </a:solidFill>
                  <a:latin typeface="Roboto"/>
                  <a:ea typeface="Roboto"/>
                  <a:cs typeface="Roboto"/>
                  <a:sym typeface="Roboto"/>
                </a:rPr>
                <a:t> thông tin chứa đáp án theo </a:t>
              </a:r>
              <a:r>
                <a:rPr lang="en-US" sz="2499">
                  <a:solidFill>
                    <a:srgbClr val="FFFFFF"/>
                  </a:solidFill>
                  <a:latin typeface="Roboto"/>
                  <a:ea typeface="Roboto"/>
                  <a:cs typeface="Roboto"/>
                  <a:sym typeface="Roboto"/>
                </a:rPr>
                <a:t>giọng nam/nữ</a:t>
              </a:r>
              <a:endParaRPr/>
            </a:p>
          </p:txBody>
        </p:sp>
      </p:grpSp>
      <p:grpSp>
        <p:nvGrpSpPr>
          <p:cNvPr id="406" name="Google Shape;406;p25"/>
          <p:cNvGrpSpPr/>
          <p:nvPr/>
        </p:nvGrpSpPr>
        <p:grpSpPr>
          <a:xfrm>
            <a:off x="9749984" y="4314759"/>
            <a:ext cx="3279600" cy="2243273"/>
            <a:chOff x="0" y="-38100"/>
            <a:chExt cx="4372800" cy="2991030"/>
          </a:xfrm>
        </p:grpSpPr>
        <p:sp>
          <p:nvSpPr>
            <p:cNvPr id="407" name="Google Shape;407;p25"/>
            <p:cNvSpPr/>
            <p:nvPr/>
          </p:nvSpPr>
          <p:spPr>
            <a:xfrm>
              <a:off x="21352" y="22594"/>
              <a:ext cx="4329964" cy="2907741"/>
            </a:xfrm>
            <a:custGeom>
              <a:avLst/>
              <a:gdLst/>
              <a:ahLst/>
              <a:cxnLst/>
              <a:rect l="l" t="t" r="r" b="b"/>
              <a:pathLst>
                <a:path w="4329964" h="2907741" extrusionOk="0">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5"/>
            <p:cNvSpPr/>
            <p:nvPr/>
          </p:nvSpPr>
          <p:spPr>
            <a:xfrm>
              <a:off x="0" y="0"/>
              <a:ext cx="4372668" cy="2952930"/>
            </a:xfrm>
            <a:custGeom>
              <a:avLst/>
              <a:gdLst/>
              <a:ahLst/>
              <a:cxnLst/>
              <a:rect l="l" t="t" r="r" b="b"/>
              <a:pathLst>
                <a:path w="4372668" h="2952930" extrusionOk="0">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5"/>
            <p:cNvSpPr txBox="1"/>
            <p:nvPr/>
          </p:nvSpPr>
          <p:spPr>
            <a:xfrm>
              <a:off x="0" y="-38100"/>
              <a:ext cx="4372800" cy="2991000"/>
            </a:xfrm>
            <a:prstGeom prst="rect">
              <a:avLst/>
            </a:prstGeom>
            <a:noFill/>
            <a:ln>
              <a:noFill/>
            </a:ln>
          </p:spPr>
          <p:txBody>
            <a:bodyPr spcFirstLastPara="1" wrap="square" lIns="50800" tIns="50800" rIns="50800" bIns="50800" anchor="ctr" anchorCtr="0">
              <a:noAutofit/>
            </a:bodyPr>
            <a:lstStyle/>
            <a:p>
              <a:pPr marL="0" marR="0" lvl="0" indent="0" algn="ctr" rtl="0">
                <a:lnSpc>
                  <a:spcPct val="135014"/>
                </a:lnSpc>
                <a:spcBef>
                  <a:spcPts val="0"/>
                </a:spcBef>
                <a:spcAft>
                  <a:spcPts val="0"/>
                </a:spcAft>
                <a:buNone/>
              </a:pPr>
              <a:r>
                <a:rPr lang="en-US" sz="2499" b="0" i="0" u="none" strike="noStrike" cap="none">
                  <a:solidFill>
                    <a:srgbClr val="FFFFFF"/>
                  </a:solidFill>
                  <a:latin typeface="Roboto"/>
                  <a:ea typeface="Roboto"/>
                  <a:cs typeface="Roboto"/>
                  <a:sym typeface="Roboto"/>
                </a:rPr>
                <a:t>Nhận diện </a:t>
              </a:r>
              <a:r>
                <a:rPr lang="en-US" sz="2499">
                  <a:solidFill>
                    <a:srgbClr val="FFFFFF"/>
                  </a:solidFill>
                  <a:latin typeface="Roboto"/>
                  <a:ea typeface="Roboto"/>
                  <a:cs typeface="Roboto"/>
                  <a:sym typeface="Roboto"/>
                </a:rPr>
                <a:t>các yếu tố gây nhiễu và các thông tin được paraphase</a:t>
              </a:r>
              <a:endParaRPr>
                <a:latin typeface="Roboto"/>
                <a:ea typeface="Roboto"/>
                <a:cs typeface="Roboto"/>
                <a:sym typeface="Roboto"/>
              </a:endParaRPr>
            </a:p>
          </p:txBody>
        </p:sp>
      </p:grpSp>
      <p:grpSp>
        <p:nvGrpSpPr>
          <p:cNvPr id="410" name="Google Shape;410;p25"/>
          <p:cNvGrpSpPr/>
          <p:nvPr/>
        </p:nvGrpSpPr>
        <p:grpSpPr>
          <a:xfrm>
            <a:off x="13417245" y="4300459"/>
            <a:ext cx="3279600" cy="2243273"/>
            <a:chOff x="0" y="-38100"/>
            <a:chExt cx="4372800" cy="2991030"/>
          </a:xfrm>
        </p:grpSpPr>
        <p:sp>
          <p:nvSpPr>
            <p:cNvPr id="411" name="Google Shape;411;p25"/>
            <p:cNvSpPr/>
            <p:nvPr/>
          </p:nvSpPr>
          <p:spPr>
            <a:xfrm>
              <a:off x="21352" y="22594"/>
              <a:ext cx="4329964" cy="2907741"/>
            </a:xfrm>
            <a:custGeom>
              <a:avLst/>
              <a:gdLst/>
              <a:ahLst/>
              <a:cxnLst/>
              <a:rect l="l" t="t" r="r" b="b"/>
              <a:pathLst>
                <a:path w="4329964" h="2907741" extrusionOk="0">
                  <a:moveTo>
                    <a:pt x="0" y="484574"/>
                  </a:moveTo>
                  <a:cubicBezTo>
                    <a:pt x="0" y="217057"/>
                    <a:pt x="205117" y="0"/>
                    <a:pt x="457920" y="0"/>
                  </a:cubicBezTo>
                  <a:lnTo>
                    <a:pt x="3872043" y="0"/>
                  </a:lnTo>
                  <a:cubicBezTo>
                    <a:pt x="4124988" y="0"/>
                    <a:pt x="4329964" y="217057"/>
                    <a:pt x="4329964" y="484574"/>
                  </a:cubicBezTo>
                  <a:lnTo>
                    <a:pt x="4329964" y="2423168"/>
                  </a:lnTo>
                  <a:cubicBezTo>
                    <a:pt x="4329964" y="2690836"/>
                    <a:pt x="4124846" y="2907742"/>
                    <a:pt x="3872043" y="2907742"/>
                  </a:cubicBezTo>
                  <a:lnTo>
                    <a:pt x="457920" y="2907742"/>
                  </a:lnTo>
                  <a:cubicBezTo>
                    <a:pt x="204975" y="2907742"/>
                    <a:pt x="0" y="2690685"/>
                    <a:pt x="0" y="2423168"/>
                  </a:cubicBezTo>
                  <a:lnTo>
                    <a:pt x="0" y="484574"/>
                  </a:lnTo>
                  <a:close/>
                </a:path>
              </a:pathLst>
            </a:custGeom>
            <a:solidFill>
              <a:srgbClr val="D85E5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5"/>
            <p:cNvSpPr/>
            <p:nvPr/>
          </p:nvSpPr>
          <p:spPr>
            <a:xfrm>
              <a:off x="0" y="0"/>
              <a:ext cx="4372668" cy="2952930"/>
            </a:xfrm>
            <a:custGeom>
              <a:avLst/>
              <a:gdLst/>
              <a:ahLst/>
              <a:cxnLst/>
              <a:rect l="l" t="t" r="r" b="b"/>
              <a:pathLst>
                <a:path w="4372668" h="2952930" extrusionOk="0">
                  <a:moveTo>
                    <a:pt x="0" y="507168"/>
                  </a:moveTo>
                  <a:cubicBezTo>
                    <a:pt x="0" y="227148"/>
                    <a:pt x="214655" y="0"/>
                    <a:pt x="479272" y="0"/>
                  </a:cubicBezTo>
                  <a:lnTo>
                    <a:pt x="479272" y="22594"/>
                  </a:lnTo>
                  <a:lnTo>
                    <a:pt x="479272" y="0"/>
                  </a:lnTo>
                  <a:lnTo>
                    <a:pt x="3893395" y="0"/>
                  </a:lnTo>
                  <a:lnTo>
                    <a:pt x="3893395" y="22594"/>
                  </a:lnTo>
                  <a:lnTo>
                    <a:pt x="3893395" y="0"/>
                  </a:lnTo>
                  <a:cubicBezTo>
                    <a:pt x="4158155" y="0"/>
                    <a:pt x="4372668" y="227148"/>
                    <a:pt x="4372668" y="507168"/>
                  </a:cubicBezTo>
                  <a:lnTo>
                    <a:pt x="4351316" y="507168"/>
                  </a:lnTo>
                  <a:lnTo>
                    <a:pt x="4372668" y="507168"/>
                  </a:lnTo>
                  <a:lnTo>
                    <a:pt x="4372668" y="2445762"/>
                  </a:lnTo>
                  <a:lnTo>
                    <a:pt x="4351316" y="2445762"/>
                  </a:lnTo>
                  <a:lnTo>
                    <a:pt x="4372668" y="2445762"/>
                  </a:lnTo>
                  <a:cubicBezTo>
                    <a:pt x="4372668" y="2725932"/>
                    <a:pt x="4158012" y="2952930"/>
                    <a:pt x="3893395" y="2952930"/>
                  </a:cubicBezTo>
                  <a:lnTo>
                    <a:pt x="3893395" y="2930336"/>
                  </a:lnTo>
                  <a:lnTo>
                    <a:pt x="3893395" y="2952930"/>
                  </a:lnTo>
                  <a:lnTo>
                    <a:pt x="479272" y="2952930"/>
                  </a:lnTo>
                  <a:lnTo>
                    <a:pt x="479272" y="2930336"/>
                  </a:lnTo>
                  <a:lnTo>
                    <a:pt x="479272" y="2952930"/>
                  </a:lnTo>
                  <a:cubicBezTo>
                    <a:pt x="214655" y="2952930"/>
                    <a:pt x="0" y="2725932"/>
                    <a:pt x="0" y="2445762"/>
                  </a:cubicBezTo>
                  <a:lnTo>
                    <a:pt x="21352" y="2445762"/>
                  </a:lnTo>
                  <a:lnTo>
                    <a:pt x="0" y="2445762"/>
                  </a:lnTo>
                  <a:lnTo>
                    <a:pt x="0" y="507168"/>
                  </a:lnTo>
                  <a:lnTo>
                    <a:pt x="21352" y="507168"/>
                  </a:lnTo>
                  <a:lnTo>
                    <a:pt x="0" y="507168"/>
                  </a:lnTo>
                  <a:moveTo>
                    <a:pt x="42703" y="507168"/>
                  </a:moveTo>
                  <a:lnTo>
                    <a:pt x="42703" y="2445762"/>
                  </a:lnTo>
                  <a:cubicBezTo>
                    <a:pt x="42703" y="2700928"/>
                    <a:pt x="238142" y="2907741"/>
                    <a:pt x="479273" y="2907741"/>
                  </a:cubicBezTo>
                  <a:lnTo>
                    <a:pt x="3893395" y="2907741"/>
                  </a:lnTo>
                  <a:cubicBezTo>
                    <a:pt x="4134526" y="2907741"/>
                    <a:pt x="4329964" y="2700928"/>
                    <a:pt x="4329964" y="2445762"/>
                  </a:cubicBezTo>
                  <a:lnTo>
                    <a:pt x="4329964" y="507168"/>
                  </a:lnTo>
                  <a:cubicBezTo>
                    <a:pt x="4330107" y="252002"/>
                    <a:pt x="4134526" y="45189"/>
                    <a:pt x="3893395" y="45189"/>
                  </a:cubicBezTo>
                  <a:lnTo>
                    <a:pt x="479272" y="45189"/>
                  </a:lnTo>
                  <a:cubicBezTo>
                    <a:pt x="238142" y="45189"/>
                    <a:pt x="42703" y="252002"/>
                    <a:pt x="42703" y="50716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5"/>
            <p:cNvSpPr txBox="1"/>
            <p:nvPr/>
          </p:nvSpPr>
          <p:spPr>
            <a:xfrm>
              <a:off x="0" y="-38100"/>
              <a:ext cx="4372800" cy="2991000"/>
            </a:xfrm>
            <a:prstGeom prst="rect">
              <a:avLst/>
            </a:prstGeom>
            <a:noFill/>
            <a:ln>
              <a:noFill/>
            </a:ln>
          </p:spPr>
          <p:txBody>
            <a:bodyPr spcFirstLastPara="1" wrap="square" lIns="50800" tIns="50800" rIns="50800" bIns="50800" anchor="ctr" anchorCtr="0">
              <a:noAutofit/>
            </a:bodyPr>
            <a:lstStyle/>
            <a:p>
              <a:pPr marL="0" marR="0" lvl="0" indent="0" algn="ctr" rtl="0">
                <a:lnSpc>
                  <a:spcPct val="135014"/>
                </a:lnSpc>
                <a:spcBef>
                  <a:spcPts val="0"/>
                </a:spcBef>
                <a:spcAft>
                  <a:spcPts val="0"/>
                </a:spcAft>
                <a:buNone/>
              </a:pPr>
              <a:r>
                <a:rPr lang="en-US" sz="2499" b="1" i="0" u="none" strike="noStrike" cap="none">
                  <a:solidFill>
                    <a:srgbClr val="FFFFFF"/>
                  </a:solidFill>
                  <a:latin typeface="Roboto"/>
                  <a:ea typeface="Roboto"/>
                  <a:cs typeface="Roboto"/>
                  <a:sym typeface="Roboto"/>
                </a:rPr>
                <a:t>Ghi chú</a:t>
              </a:r>
              <a:r>
                <a:rPr lang="en-US" sz="2499" b="0" i="0" u="none" strike="noStrike" cap="none">
                  <a:solidFill>
                    <a:srgbClr val="FFFFFF"/>
                  </a:solidFill>
                  <a:latin typeface="Roboto"/>
                  <a:ea typeface="Roboto"/>
                  <a:cs typeface="Roboto"/>
                  <a:sym typeface="Roboto"/>
                </a:rPr>
                <a:t> thông tin </a:t>
              </a:r>
              <a:r>
                <a:rPr lang="en-US" sz="2499">
                  <a:solidFill>
                    <a:srgbClr val="FFFFFF"/>
                  </a:solidFill>
                  <a:latin typeface="Roboto"/>
                  <a:ea typeface="Roboto"/>
                  <a:cs typeface="Roboto"/>
                  <a:sym typeface="Roboto"/>
                </a:rPr>
                <a:t>đã</a:t>
              </a:r>
              <a:r>
                <a:rPr lang="en-US" sz="2499" b="0" i="0" u="none" strike="noStrike" cap="none">
                  <a:solidFill>
                    <a:srgbClr val="FFFFFF"/>
                  </a:solidFill>
                  <a:latin typeface="Roboto"/>
                  <a:ea typeface="Roboto"/>
                  <a:cs typeface="Roboto"/>
                  <a:sym typeface="Roboto"/>
                </a:rPr>
                <a:t> </a:t>
              </a:r>
              <a:r>
                <a:rPr lang="en-US" sz="2499">
                  <a:solidFill>
                    <a:srgbClr val="FFFFFF"/>
                  </a:solidFill>
                  <a:latin typeface="Roboto"/>
                  <a:ea typeface="Roboto"/>
                  <a:cs typeface="Roboto"/>
                  <a:sym typeface="Roboto"/>
                </a:rPr>
                <a:t>nghe được để nghe lại lần thứ hai</a:t>
              </a:r>
              <a:endParaRPr/>
            </a:p>
          </p:txBody>
        </p:sp>
      </p:grpSp>
      <p:grpSp>
        <p:nvGrpSpPr>
          <p:cNvPr id="414" name="Google Shape;414;p25"/>
          <p:cNvGrpSpPr/>
          <p:nvPr/>
        </p:nvGrpSpPr>
        <p:grpSpPr>
          <a:xfrm rot="10800000">
            <a:off x="15561046" y="-410238"/>
            <a:ext cx="7681773" cy="4260605"/>
            <a:chOff x="0" y="-38100"/>
            <a:chExt cx="406400" cy="225405"/>
          </a:xfrm>
        </p:grpSpPr>
        <p:sp>
          <p:nvSpPr>
            <p:cNvPr id="415" name="Google Shape;415;p25"/>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16" name="Google Shape;416;p25"/>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17" name="Google Shape;417;p25"/>
          <p:cNvSpPr/>
          <p:nvPr/>
        </p:nvSpPr>
        <p:spPr>
          <a:xfrm>
            <a:off x="5649291" y="722357"/>
            <a:ext cx="1160990" cy="1275408"/>
          </a:xfrm>
          <a:custGeom>
            <a:avLst/>
            <a:gdLst/>
            <a:ahLst/>
            <a:cxnLst/>
            <a:rect l="l" t="t" r="r" b="b"/>
            <a:pathLst>
              <a:path w="1365870" h="1500480" extrusionOk="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grpSp>
        <p:nvGrpSpPr>
          <p:cNvPr id="418" name="Google Shape;418;p25"/>
          <p:cNvGrpSpPr/>
          <p:nvPr/>
        </p:nvGrpSpPr>
        <p:grpSpPr>
          <a:xfrm>
            <a:off x="-2718010" y="9274530"/>
            <a:ext cx="7950378" cy="1707223"/>
            <a:chOff x="0" y="-384760"/>
            <a:chExt cx="10600504" cy="2276297"/>
          </a:xfrm>
        </p:grpSpPr>
        <p:grpSp>
          <p:nvGrpSpPr>
            <p:cNvPr id="419" name="Google Shape;419;p25"/>
            <p:cNvGrpSpPr/>
            <p:nvPr/>
          </p:nvGrpSpPr>
          <p:grpSpPr>
            <a:xfrm>
              <a:off x="0" y="-384760"/>
              <a:ext cx="10600504" cy="2276297"/>
              <a:chOff x="0" y="-38100"/>
              <a:chExt cx="1049690" cy="225405"/>
            </a:xfrm>
          </p:grpSpPr>
          <p:sp>
            <p:nvSpPr>
              <p:cNvPr id="420" name="Google Shape;420;p25"/>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421" name="Google Shape;421;p25"/>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22" name="Google Shape;422;p25"/>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1"/>
                                        </p:tgtEl>
                                        <p:attrNameLst>
                                          <p:attrName>style.visibility</p:attrName>
                                        </p:attrNameLst>
                                      </p:cBhvr>
                                      <p:to>
                                        <p:strVal val="visible"/>
                                      </p:to>
                                    </p:set>
                                    <p:animEffect transition="in" filter="fade">
                                      <p:cBhvr>
                                        <p:cTn id="7" dur="500"/>
                                        <p:tgtEl>
                                          <p:spTgt spid="4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2"/>
                                        </p:tgtEl>
                                        <p:attrNameLst>
                                          <p:attrName>style.visibility</p:attrName>
                                        </p:attrNameLst>
                                      </p:cBhvr>
                                      <p:to>
                                        <p:strVal val="visible"/>
                                      </p:to>
                                    </p:set>
                                    <p:animEffect transition="in" filter="fade">
                                      <p:cBhvr>
                                        <p:cTn id="12" dur="500"/>
                                        <p:tgtEl>
                                          <p:spTgt spid="4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06"/>
                                        </p:tgtEl>
                                        <p:attrNameLst>
                                          <p:attrName>style.visibility</p:attrName>
                                        </p:attrNameLst>
                                      </p:cBhvr>
                                      <p:to>
                                        <p:strVal val="visible"/>
                                      </p:to>
                                    </p:set>
                                    <p:animEffect transition="in" filter="fade">
                                      <p:cBhvr>
                                        <p:cTn id="17" dur="500"/>
                                        <p:tgtEl>
                                          <p:spTgt spid="40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10"/>
                                        </p:tgtEl>
                                        <p:attrNameLst>
                                          <p:attrName>style.visibility</p:attrName>
                                        </p:attrNameLst>
                                      </p:cBhvr>
                                      <p:to>
                                        <p:strVal val="visible"/>
                                      </p:to>
                                    </p:set>
                                    <p:animEffect transition="in" filter="fade">
                                      <p:cBhvr>
                                        <p:cTn id="22" dur="500"/>
                                        <p:tgtEl>
                                          <p:spTgt spid="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cxnSp>
        <p:nvCxnSpPr>
          <p:cNvPr id="428" name="Google Shape;428;p26"/>
          <p:cNvCxnSpPr/>
          <p:nvPr/>
        </p:nvCxnSpPr>
        <p:spPr>
          <a:xfrm>
            <a:off x="-61151" y="5460507"/>
            <a:ext cx="5303400" cy="0"/>
          </a:xfrm>
          <a:prstGeom prst="straightConnector1">
            <a:avLst/>
          </a:prstGeom>
          <a:noFill/>
          <a:ln w="38100" cap="flat" cmpd="sng">
            <a:solidFill>
              <a:srgbClr val="FFFFFF"/>
            </a:solidFill>
            <a:prstDash val="solid"/>
            <a:round/>
            <a:headEnd type="none" w="sm" len="sm"/>
            <a:tailEnd type="none" w="sm" len="sm"/>
          </a:ln>
        </p:spPr>
      </p:cxnSp>
      <p:sp>
        <p:nvSpPr>
          <p:cNvPr id="429" name="Google Shape;429;p26" descr="Books with solid fill"/>
          <p:cNvSpPr/>
          <p:nvPr/>
        </p:nvSpPr>
        <p:spPr>
          <a:xfrm>
            <a:off x="3241317" y="6937835"/>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430" name="Google Shape;430;p26"/>
          <p:cNvSpPr/>
          <p:nvPr/>
        </p:nvSpPr>
        <p:spPr>
          <a:xfrm>
            <a:off x="18099269" y="1809027"/>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grpSp>
        <p:nvGrpSpPr>
          <p:cNvPr id="431" name="Google Shape;431;p26"/>
          <p:cNvGrpSpPr/>
          <p:nvPr/>
        </p:nvGrpSpPr>
        <p:grpSpPr>
          <a:xfrm>
            <a:off x="6755182" y="443278"/>
            <a:ext cx="6295740" cy="1365760"/>
            <a:chOff x="0" y="-76200"/>
            <a:chExt cx="8394320" cy="1821013"/>
          </a:xfrm>
        </p:grpSpPr>
        <p:sp>
          <p:nvSpPr>
            <p:cNvPr id="432" name="Google Shape;432;p26"/>
            <p:cNvSpPr/>
            <p:nvPr/>
          </p:nvSpPr>
          <p:spPr>
            <a:xfrm>
              <a:off x="40442" y="13921"/>
              <a:ext cx="8313463" cy="1716968"/>
            </a:xfrm>
            <a:custGeom>
              <a:avLst/>
              <a:gdLst/>
              <a:ahLst/>
              <a:cxnLst/>
              <a:rect l="l" t="t" r="r" b="b"/>
              <a:pathLst>
                <a:path w="8313463" h="1716968" extrusionOk="0">
                  <a:moveTo>
                    <a:pt x="0" y="171687"/>
                  </a:moveTo>
                  <a:cubicBezTo>
                    <a:pt x="0" y="76841"/>
                    <a:pt x="223238" y="0"/>
                    <a:pt x="498781" y="0"/>
                  </a:cubicBezTo>
                  <a:lnTo>
                    <a:pt x="7814682" y="0"/>
                  </a:lnTo>
                  <a:cubicBezTo>
                    <a:pt x="8090225" y="0"/>
                    <a:pt x="8313463" y="76841"/>
                    <a:pt x="8313463" y="171687"/>
                  </a:cubicBezTo>
                  <a:lnTo>
                    <a:pt x="8313463" y="1545280"/>
                  </a:lnTo>
                  <a:cubicBezTo>
                    <a:pt x="8313463" y="1640126"/>
                    <a:pt x="8090225" y="1716968"/>
                    <a:pt x="7814682" y="1716968"/>
                  </a:cubicBezTo>
                  <a:lnTo>
                    <a:pt x="498781" y="1716968"/>
                  </a:lnTo>
                  <a:cubicBezTo>
                    <a:pt x="223238" y="1716968"/>
                    <a:pt x="0" y="1640126"/>
                    <a:pt x="0" y="1545280"/>
                  </a:cubicBezTo>
                  <a:lnTo>
                    <a:pt x="0" y="171687"/>
                  </a:lnTo>
                  <a:close/>
                </a:path>
              </a:pathLst>
            </a:custGeom>
            <a:solidFill>
              <a:srgbClr val="0181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6"/>
            <p:cNvSpPr/>
            <p:nvPr/>
          </p:nvSpPr>
          <p:spPr>
            <a:xfrm>
              <a:off x="0" y="0"/>
              <a:ext cx="8394320" cy="1744813"/>
            </a:xfrm>
            <a:custGeom>
              <a:avLst/>
              <a:gdLst/>
              <a:ahLst/>
              <a:cxnLst/>
              <a:rect l="l" t="t" r="r" b="b"/>
              <a:pathLst>
                <a:path w="8394320" h="1744813" extrusionOk="0">
                  <a:moveTo>
                    <a:pt x="0" y="185608"/>
                  </a:moveTo>
                  <a:cubicBezTo>
                    <a:pt x="0" y="83060"/>
                    <a:pt x="241302" y="0"/>
                    <a:pt x="539223" y="0"/>
                  </a:cubicBezTo>
                  <a:lnTo>
                    <a:pt x="539223" y="13921"/>
                  </a:lnTo>
                  <a:lnTo>
                    <a:pt x="539223" y="0"/>
                  </a:lnTo>
                  <a:lnTo>
                    <a:pt x="7855124" y="0"/>
                  </a:lnTo>
                  <a:lnTo>
                    <a:pt x="7855124" y="13921"/>
                  </a:lnTo>
                  <a:lnTo>
                    <a:pt x="7855124" y="0"/>
                  </a:lnTo>
                  <a:cubicBezTo>
                    <a:pt x="8153044" y="0"/>
                    <a:pt x="8394320" y="83060"/>
                    <a:pt x="8394320" y="185608"/>
                  </a:cubicBezTo>
                  <a:lnTo>
                    <a:pt x="8353905" y="185608"/>
                  </a:lnTo>
                  <a:lnTo>
                    <a:pt x="8394320" y="185608"/>
                  </a:lnTo>
                  <a:lnTo>
                    <a:pt x="8394320" y="1559201"/>
                  </a:lnTo>
                  <a:lnTo>
                    <a:pt x="8353905" y="1559201"/>
                  </a:lnTo>
                  <a:lnTo>
                    <a:pt x="8394320" y="1559201"/>
                  </a:lnTo>
                  <a:cubicBezTo>
                    <a:pt x="8394320" y="1661750"/>
                    <a:pt x="8153044" y="1744813"/>
                    <a:pt x="7855124" y="1744813"/>
                  </a:cubicBezTo>
                  <a:lnTo>
                    <a:pt x="7855124" y="1730889"/>
                  </a:lnTo>
                  <a:lnTo>
                    <a:pt x="7855124" y="1744813"/>
                  </a:lnTo>
                  <a:lnTo>
                    <a:pt x="539223" y="1744813"/>
                  </a:lnTo>
                  <a:lnTo>
                    <a:pt x="539223" y="1730889"/>
                  </a:lnTo>
                  <a:lnTo>
                    <a:pt x="539223" y="1744813"/>
                  </a:lnTo>
                  <a:cubicBezTo>
                    <a:pt x="241302" y="1744813"/>
                    <a:pt x="0" y="1661750"/>
                    <a:pt x="0" y="1559201"/>
                  </a:cubicBezTo>
                  <a:lnTo>
                    <a:pt x="40442" y="1559201"/>
                  </a:lnTo>
                  <a:lnTo>
                    <a:pt x="0" y="1559201"/>
                  </a:lnTo>
                  <a:lnTo>
                    <a:pt x="0" y="185608"/>
                  </a:lnTo>
                  <a:lnTo>
                    <a:pt x="40442" y="185608"/>
                  </a:lnTo>
                  <a:lnTo>
                    <a:pt x="0" y="185608"/>
                  </a:lnTo>
                  <a:moveTo>
                    <a:pt x="80883" y="185608"/>
                  </a:moveTo>
                  <a:lnTo>
                    <a:pt x="80883" y="1559201"/>
                  </a:lnTo>
                  <a:cubicBezTo>
                    <a:pt x="80883" y="1646344"/>
                    <a:pt x="286058" y="1716968"/>
                    <a:pt x="539223" y="1716968"/>
                  </a:cubicBezTo>
                  <a:lnTo>
                    <a:pt x="7855124" y="1716968"/>
                  </a:lnTo>
                  <a:cubicBezTo>
                    <a:pt x="8108290" y="1716968"/>
                    <a:pt x="8313463" y="1646344"/>
                    <a:pt x="8313463" y="1559201"/>
                  </a:cubicBezTo>
                  <a:lnTo>
                    <a:pt x="8313463" y="185608"/>
                  </a:lnTo>
                  <a:cubicBezTo>
                    <a:pt x="8313463" y="98465"/>
                    <a:pt x="8108290" y="27841"/>
                    <a:pt x="7855124" y="27841"/>
                  </a:cubicBezTo>
                  <a:lnTo>
                    <a:pt x="539223" y="27841"/>
                  </a:lnTo>
                  <a:cubicBezTo>
                    <a:pt x="286058" y="27841"/>
                    <a:pt x="80883" y="98465"/>
                    <a:pt x="80883" y="185608"/>
                  </a:cubicBezTo>
                  <a:close/>
                </a:path>
              </a:pathLst>
            </a:custGeom>
            <a:solidFill>
              <a:srgbClr val="0181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6"/>
            <p:cNvSpPr txBox="1"/>
            <p:nvPr/>
          </p:nvSpPr>
          <p:spPr>
            <a:xfrm>
              <a:off x="0" y="-76200"/>
              <a:ext cx="8394300" cy="1821000"/>
            </a:xfrm>
            <a:prstGeom prst="rect">
              <a:avLst/>
            </a:prstGeom>
            <a:solidFill>
              <a:srgbClr val="018146"/>
            </a:solidFill>
            <a:ln>
              <a:noFill/>
            </a:ln>
          </p:spPr>
          <p:txBody>
            <a:bodyPr spcFirstLastPara="1" wrap="square" lIns="50800" tIns="50800" rIns="50800" bIns="50800" anchor="ctr" anchorCtr="0">
              <a:noAutofit/>
            </a:bodyPr>
            <a:lstStyle/>
            <a:p>
              <a:pPr marL="0" marR="0" lvl="0" indent="0" algn="ctr" rtl="0">
                <a:lnSpc>
                  <a:spcPct val="135007"/>
                </a:lnSpc>
                <a:spcBef>
                  <a:spcPts val="0"/>
                </a:spcBef>
                <a:spcAft>
                  <a:spcPts val="0"/>
                </a:spcAft>
                <a:buNone/>
              </a:pPr>
              <a:r>
                <a:rPr lang="en-US" sz="4499" b="1" i="0" u="none" strike="noStrike" cap="none">
                  <a:solidFill>
                    <a:srgbClr val="FFFFFF"/>
                  </a:solidFill>
                  <a:latin typeface="Roboto"/>
                  <a:ea typeface="Roboto"/>
                  <a:cs typeface="Roboto"/>
                  <a:sym typeface="Roboto"/>
                </a:rPr>
                <a:t>Sau khi nghe</a:t>
              </a:r>
              <a:endParaRPr/>
            </a:p>
          </p:txBody>
        </p:sp>
      </p:grpSp>
      <p:sp>
        <p:nvSpPr>
          <p:cNvPr id="435" name="Google Shape;435;p26"/>
          <p:cNvSpPr/>
          <p:nvPr/>
        </p:nvSpPr>
        <p:spPr>
          <a:xfrm>
            <a:off x="5208632" y="517105"/>
            <a:ext cx="1160989" cy="1275408"/>
          </a:xfrm>
          <a:custGeom>
            <a:avLst/>
            <a:gdLst/>
            <a:ahLst/>
            <a:cxnLst/>
            <a:rect l="l" t="t" r="r" b="b"/>
            <a:pathLst>
              <a:path w="1365870" h="1500480" extrusionOk="0">
                <a:moveTo>
                  <a:pt x="0" y="300017"/>
                </a:moveTo>
                <a:lnTo>
                  <a:pt x="682831" y="300017"/>
                </a:lnTo>
                <a:lnTo>
                  <a:pt x="682831" y="0"/>
                </a:lnTo>
                <a:lnTo>
                  <a:pt x="1365871" y="750338"/>
                </a:lnTo>
                <a:lnTo>
                  <a:pt x="682831" y="1500479"/>
                </a:lnTo>
                <a:lnTo>
                  <a:pt x="682831" y="1200462"/>
                </a:lnTo>
                <a:lnTo>
                  <a:pt x="0" y="1200462"/>
                </a:lnTo>
                <a:lnTo>
                  <a:pt x="0" y="300017"/>
                </a:lnTo>
                <a:close/>
              </a:path>
            </a:pathLst>
          </a:custGeom>
          <a:solidFill>
            <a:srgbClr val="018146"/>
          </a:solidFill>
          <a:ln>
            <a:noFill/>
          </a:ln>
        </p:spPr>
      </p:sp>
      <p:grpSp>
        <p:nvGrpSpPr>
          <p:cNvPr id="436" name="Google Shape;436;p26"/>
          <p:cNvGrpSpPr/>
          <p:nvPr/>
        </p:nvGrpSpPr>
        <p:grpSpPr>
          <a:xfrm rot="10800000">
            <a:off x="15561046" y="-410238"/>
            <a:ext cx="7681773" cy="4260605"/>
            <a:chOff x="0" y="-38100"/>
            <a:chExt cx="406400" cy="225405"/>
          </a:xfrm>
        </p:grpSpPr>
        <p:sp>
          <p:nvSpPr>
            <p:cNvPr id="437" name="Google Shape;437;p26"/>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38" name="Google Shape;438;p26"/>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39" name="Google Shape;439;p26"/>
          <p:cNvSpPr/>
          <p:nvPr/>
        </p:nvSpPr>
        <p:spPr>
          <a:xfrm>
            <a:off x="9745027" y="7166408"/>
            <a:ext cx="3569688" cy="3123477"/>
          </a:xfrm>
          <a:custGeom>
            <a:avLst/>
            <a:gdLst/>
            <a:ahLst/>
            <a:cxnLst/>
            <a:rect l="l" t="t" r="r" b="b"/>
            <a:pathLst>
              <a:path w="3569688" h="3123477" extrusionOk="0">
                <a:moveTo>
                  <a:pt x="0" y="0"/>
                </a:moveTo>
                <a:lnTo>
                  <a:pt x="3569687" y="0"/>
                </a:lnTo>
                <a:lnTo>
                  <a:pt x="3569687" y="3123477"/>
                </a:lnTo>
                <a:lnTo>
                  <a:pt x="0" y="3123477"/>
                </a:lnTo>
                <a:lnTo>
                  <a:pt x="0" y="0"/>
                </a:lnTo>
                <a:close/>
              </a:path>
            </a:pathLst>
          </a:custGeom>
          <a:blipFill rotWithShape="1">
            <a:blip r:embed="rId5">
              <a:alphaModFix/>
            </a:blip>
            <a:stretch>
              <a:fillRect/>
            </a:stretch>
          </a:blipFill>
          <a:ln>
            <a:noFill/>
          </a:ln>
        </p:spPr>
      </p:sp>
      <p:sp>
        <p:nvSpPr>
          <p:cNvPr id="440" name="Google Shape;440;p26"/>
          <p:cNvSpPr txBox="1"/>
          <p:nvPr/>
        </p:nvSpPr>
        <p:spPr>
          <a:xfrm>
            <a:off x="6490737" y="2954660"/>
            <a:ext cx="9742200" cy="600000"/>
          </a:xfrm>
          <a:prstGeom prst="rect">
            <a:avLst/>
          </a:prstGeom>
          <a:noFill/>
          <a:ln>
            <a:noFill/>
          </a:ln>
        </p:spPr>
        <p:txBody>
          <a:bodyPr spcFirstLastPara="1" wrap="square" lIns="0" tIns="0" rIns="0" bIns="0" anchor="t" anchorCtr="0">
            <a:spAutoFit/>
          </a:bodyPr>
          <a:lstStyle/>
          <a:p>
            <a:pPr marL="705801" marR="0" lvl="1" indent="-352901" algn="just" rtl="0">
              <a:lnSpc>
                <a:spcPct val="135009"/>
              </a:lnSpc>
              <a:spcBef>
                <a:spcPts val="0"/>
              </a:spcBef>
              <a:spcAft>
                <a:spcPts val="0"/>
              </a:spcAft>
              <a:buClr>
                <a:srgbClr val="EA222A"/>
              </a:buClr>
              <a:buSzPts val="3899"/>
              <a:buFont typeface="Arial"/>
              <a:buChar char="•"/>
            </a:pPr>
            <a:r>
              <a:rPr lang="en-US" sz="3899" b="1" i="0" u="none" strike="noStrike" cap="none">
                <a:solidFill>
                  <a:srgbClr val="EA222A"/>
                </a:solidFill>
                <a:latin typeface="Roboto"/>
                <a:ea typeface="Roboto"/>
                <a:cs typeface="Roboto"/>
                <a:sym typeface="Roboto"/>
              </a:rPr>
              <a:t>Kiểm tra lại</a:t>
            </a:r>
            <a:r>
              <a:rPr lang="en-US" sz="3899" b="0" i="0" u="none" strike="noStrike" cap="none">
                <a:solidFill>
                  <a:srgbClr val="000000"/>
                </a:solidFill>
                <a:latin typeface="Roboto"/>
                <a:ea typeface="Roboto"/>
                <a:cs typeface="Roboto"/>
                <a:sym typeface="Roboto"/>
              </a:rPr>
              <a:t> các đáp án mình đã chọn</a:t>
            </a:r>
            <a:endParaRPr sz="3899" b="0" i="0" u="none" strike="noStrike" cap="none">
              <a:solidFill>
                <a:srgbClr val="000000"/>
              </a:solidFill>
              <a:latin typeface="Roboto"/>
              <a:ea typeface="Roboto"/>
              <a:cs typeface="Roboto"/>
              <a:sym typeface="Roboto"/>
            </a:endParaRPr>
          </a:p>
        </p:txBody>
      </p:sp>
      <p:sp>
        <p:nvSpPr>
          <p:cNvPr id="441" name="Google Shape;441;p26"/>
          <p:cNvSpPr txBox="1"/>
          <p:nvPr/>
        </p:nvSpPr>
        <p:spPr>
          <a:xfrm>
            <a:off x="6490737" y="4123372"/>
            <a:ext cx="10078200" cy="1410300"/>
          </a:xfrm>
          <a:prstGeom prst="rect">
            <a:avLst/>
          </a:prstGeom>
          <a:noFill/>
          <a:ln>
            <a:noFill/>
          </a:ln>
        </p:spPr>
        <p:txBody>
          <a:bodyPr spcFirstLastPara="1" wrap="square" lIns="0" tIns="0" rIns="0" bIns="0" anchor="t" anchorCtr="0">
            <a:spAutoFit/>
          </a:bodyPr>
          <a:lstStyle/>
          <a:p>
            <a:pPr marL="705801" marR="0" lvl="1" indent="-352901" algn="just" rtl="0">
              <a:lnSpc>
                <a:spcPct val="135009"/>
              </a:lnSpc>
              <a:spcBef>
                <a:spcPts val="0"/>
              </a:spcBef>
              <a:spcAft>
                <a:spcPts val="0"/>
              </a:spcAft>
              <a:buClr>
                <a:srgbClr val="000000"/>
              </a:buClr>
              <a:buSzPts val="3899"/>
              <a:buFont typeface="Arial"/>
              <a:buChar char="•"/>
            </a:pPr>
            <a:r>
              <a:rPr lang="en-US" sz="3899" b="1">
                <a:latin typeface="Roboto"/>
                <a:ea typeface="Roboto"/>
                <a:cs typeface="Roboto"/>
                <a:sym typeface="Roboto"/>
              </a:rPr>
              <a:t>Lưu ý:</a:t>
            </a:r>
            <a:r>
              <a:rPr lang="en-US" sz="3899">
                <a:latin typeface="Roboto"/>
                <a:ea typeface="Roboto"/>
                <a:cs typeface="Roboto"/>
                <a:sym typeface="Roboto"/>
              </a:rPr>
              <a:t> Không để lựa chọn nào trống vì các đáp án sai sẽ </a:t>
            </a:r>
            <a:r>
              <a:rPr lang="en-US" sz="3899" b="1">
                <a:latin typeface="Roboto"/>
                <a:ea typeface="Roboto"/>
                <a:cs typeface="Roboto"/>
                <a:sym typeface="Roboto"/>
              </a:rPr>
              <a:t>không bị trừ điểm</a:t>
            </a:r>
            <a:endParaRPr b="1"/>
          </a:p>
        </p:txBody>
      </p:sp>
      <p:grpSp>
        <p:nvGrpSpPr>
          <p:cNvPr id="442" name="Google Shape;442;p26"/>
          <p:cNvGrpSpPr/>
          <p:nvPr/>
        </p:nvGrpSpPr>
        <p:grpSpPr>
          <a:xfrm>
            <a:off x="-2718010" y="9274530"/>
            <a:ext cx="7950378" cy="1707223"/>
            <a:chOff x="0" y="-384760"/>
            <a:chExt cx="10600504" cy="2276297"/>
          </a:xfrm>
        </p:grpSpPr>
        <p:grpSp>
          <p:nvGrpSpPr>
            <p:cNvPr id="443" name="Google Shape;443;p26"/>
            <p:cNvGrpSpPr/>
            <p:nvPr/>
          </p:nvGrpSpPr>
          <p:grpSpPr>
            <a:xfrm>
              <a:off x="0" y="-384760"/>
              <a:ext cx="10600504" cy="2276297"/>
              <a:chOff x="0" y="-38100"/>
              <a:chExt cx="1049690" cy="225405"/>
            </a:xfrm>
          </p:grpSpPr>
          <p:sp>
            <p:nvSpPr>
              <p:cNvPr id="444" name="Google Shape;444;p26"/>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445" name="Google Shape;445;p26"/>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446" name="Google Shape;446;p26"/>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440"/>
                                        </p:tgtEl>
                                        <p:attrNameLst>
                                          <p:attrName>style.visibility</p:attrName>
                                        </p:attrNameLst>
                                      </p:cBhvr>
                                      <p:to>
                                        <p:strVal val="visible"/>
                                      </p:to>
                                    </p:set>
                                    <p:anim calcmode="lin" valueType="num">
                                      <p:cBhvr additive="base">
                                        <p:cTn id="7" dur="500"/>
                                        <p:tgtEl>
                                          <p:spTgt spid="440"/>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41"/>
                                        </p:tgtEl>
                                        <p:attrNameLst>
                                          <p:attrName>style.visibility</p:attrName>
                                        </p:attrNameLst>
                                      </p:cBhvr>
                                      <p:to>
                                        <p:strVal val="visible"/>
                                      </p:to>
                                    </p:set>
                                    <p:anim calcmode="lin" valueType="num">
                                      <p:cBhvr additive="base">
                                        <p:cTn id="12" dur="500"/>
                                        <p:tgtEl>
                                          <p:spTgt spid="441"/>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cxnSp>
        <p:nvCxnSpPr>
          <p:cNvPr id="452" name="Google Shape;452;p27"/>
          <p:cNvCxnSpPr/>
          <p:nvPr/>
        </p:nvCxnSpPr>
        <p:spPr>
          <a:xfrm rot="10800000" flipH="1">
            <a:off x="7543801" y="1816500"/>
            <a:ext cx="9909000" cy="50400"/>
          </a:xfrm>
          <a:prstGeom prst="straightConnector1">
            <a:avLst/>
          </a:prstGeom>
          <a:noFill/>
          <a:ln w="38100" cap="flat" cmpd="sng">
            <a:solidFill>
              <a:srgbClr val="018345"/>
            </a:solidFill>
            <a:prstDash val="solid"/>
            <a:round/>
            <a:headEnd type="none" w="sm" len="sm"/>
            <a:tailEnd type="none" w="sm" len="sm"/>
          </a:ln>
        </p:spPr>
      </p:cxnSp>
      <p:grpSp>
        <p:nvGrpSpPr>
          <p:cNvPr id="453" name="Google Shape;453;p27"/>
          <p:cNvGrpSpPr/>
          <p:nvPr/>
        </p:nvGrpSpPr>
        <p:grpSpPr>
          <a:xfrm rot="10800000">
            <a:off x="15785084" y="-536938"/>
            <a:ext cx="7681773" cy="4260605"/>
            <a:chOff x="0" y="-38100"/>
            <a:chExt cx="406400" cy="225405"/>
          </a:xfrm>
        </p:grpSpPr>
        <p:sp>
          <p:nvSpPr>
            <p:cNvPr id="454" name="Google Shape;454;p27"/>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55" name="Google Shape;455;p27"/>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456" name="Google Shape;456;p27"/>
          <p:cNvSpPr/>
          <p:nvPr/>
        </p:nvSpPr>
        <p:spPr>
          <a:xfrm>
            <a:off x="18099269" y="1809027"/>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grpSp>
        <p:nvGrpSpPr>
          <p:cNvPr id="457" name="Google Shape;457;p27"/>
          <p:cNvGrpSpPr/>
          <p:nvPr/>
        </p:nvGrpSpPr>
        <p:grpSpPr>
          <a:xfrm>
            <a:off x="-2718010" y="9274530"/>
            <a:ext cx="7950378" cy="1707223"/>
            <a:chOff x="0" y="-384760"/>
            <a:chExt cx="10600504" cy="2276297"/>
          </a:xfrm>
        </p:grpSpPr>
        <p:grpSp>
          <p:nvGrpSpPr>
            <p:cNvPr id="458" name="Google Shape;458;p27"/>
            <p:cNvGrpSpPr/>
            <p:nvPr/>
          </p:nvGrpSpPr>
          <p:grpSpPr>
            <a:xfrm>
              <a:off x="0" y="-384760"/>
              <a:ext cx="10600504" cy="2276297"/>
              <a:chOff x="0" y="-38100"/>
              <a:chExt cx="1049690" cy="225405"/>
            </a:xfrm>
          </p:grpSpPr>
          <p:sp>
            <p:nvSpPr>
              <p:cNvPr id="459" name="Google Shape;459;p27"/>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460" name="Google Shape;460;p27"/>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461" name="Google Shape;461;p27"/>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
        <p:nvSpPr>
          <p:cNvPr id="462" name="Google Shape;462;p27"/>
          <p:cNvSpPr txBox="1"/>
          <p:nvPr/>
        </p:nvSpPr>
        <p:spPr>
          <a:xfrm>
            <a:off x="6592847" y="660250"/>
            <a:ext cx="11880900" cy="923400"/>
          </a:xfrm>
          <a:prstGeom prst="rect">
            <a:avLst/>
          </a:prstGeom>
          <a:noFill/>
          <a:ln>
            <a:noFill/>
          </a:ln>
        </p:spPr>
        <p:txBody>
          <a:bodyPr spcFirstLastPara="1" wrap="square" lIns="0" tIns="0" rIns="0" bIns="0" anchor="t" anchorCtr="0">
            <a:spAutoFit/>
          </a:bodyPr>
          <a:lstStyle/>
          <a:p>
            <a:pPr marL="0" marR="0" lvl="0" indent="0" algn="ctr" rtl="0">
              <a:lnSpc>
                <a:spcPct val="123833"/>
              </a:lnSpc>
              <a:spcBef>
                <a:spcPts val="0"/>
              </a:spcBef>
              <a:spcAft>
                <a:spcPts val="0"/>
              </a:spcAft>
              <a:buNone/>
            </a:pPr>
            <a:r>
              <a:rPr lang="en-US" sz="6000" b="1">
                <a:solidFill>
                  <a:srgbClr val="018345"/>
                </a:solidFill>
                <a:latin typeface="Montserrat"/>
                <a:ea typeface="Montserrat"/>
                <a:cs typeface="Montserrat"/>
                <a:sym typeface="Montserrat"/>
              </a:rPr>
              <a:t>Đề mẫu</a:t>
            </a:r>
            <a:endParaRPr sz="6000" b="1">
              <a:solidFill>
                <a:srgbClr val="018345"/>
              </a:solidFill>
              <a:latin typeface="Montserrat"/>
              <a:ea typeface="Montserrat"/>
              <a:cs typeface="Montserrat"/>
              <a:sym typeface="Montserrat"/>
            </a:endParaRPr>
          </a:p>
        </p:txBody>
      </p:sp>
      <p:sp>
        <p:nvSpPr>
          <p:cNvPr id="463" name="Google Shape;463;p27"/>
          <p:cNvSpPr txBox="1"/>
          <p:nvPr/>
        </p:nvSpPr>
        <p:spPr>
          <a:xfrm>
            <a:off x="7198500" y="2306100"/>
            <a:ext cx="11089500" cy="7403700"/>
          </a:xfrm>
          <a:prstGeom prst="rect">
            <a:avLst/>
          </a:prstGeom>
          <a:noFill/>
          <a:ln>
            <a:noFill/>
          </a:ln>
        </p:spPr>
        <p:txBody>
          <a:bodyPr spcFirstLastPara="1" wrap="square" lIns="91425" tIns="45700" rIns="91425" bIns="45700" anchor="t" anchorCtr="0">
            <a:spAutoFit/>
          </a:bodyPr>
          <a:lstStyle/>
          <a:p>
            <a:pPr marL="457200" lvl="0" indent="0" algn="l" rtl="0">
              <a:lnSpc>
                <a:spcPct val="150000"/>
              </a:lnSpc>
              <a:spcBef>
                <a:spcPts val="0"/>
              </a:spcBef>
              <a:spcAft>
                <a:spcPts val="0"/>
              </a:spcAft>
              <a:buClr>
                <a:schemeClr val="dk1"/>
              </a:buClr>
              <a:buSzPts val="1100"/>
              <a:buFont typeface="Arial"/>
              <a:buNone/>
            </a:pPr>
            <a:r>
              <a:rPr lang="en-US" sz="2500" b="1">
                <a:solidFill>
                  <a:srgbClr val="018345"/>
                </a:solidFill>
                <a:latin typeface="Roboto"/>
                <a:ea typeface="Roboto"/>
                <a:cs typeface="Roboto"/>
                <a:sym typeface="Roboto"/>
              </a:rPr>
              <a:t>Listen to two people talking about working for companies of different sizes. Read the statements below and decide who expresses which opinion – the man, the woman, or both the man and the woman.</a:t>
            </a:r>
            <a:endParaRPr sz="2500" b="1">
              <a:solidFill>
                <a:srgbClr val="018345"/>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a:latin typeface="Roboto"/>
                <a:ea typeface="Roboto"/>
                <a:cs typeface="Roboto"/>
                <a:sym typeface="Roboto"/>
              </a:rPr>
              <a:t>Who expresses which opinion?</a:t>
            </a:r>
            <a:endParaRPr sz="250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a:latin typeface="Roboto"/>
                <a:ea typeface="Roboto"/>
                <a:cs typeface="Roboto"/>
                <a:sym typeface="Roboto"/>
              </a:rPr>
              <a:t>Promotion chances are more limited in smaller companies. ____________</a:t>
            </a:r>
            <a:endParaRPr sz="250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a:latin typeface="Roboto"/>
                <a:ea typeface="Roboto"/>
                <a:cs typeface="Roboto"/>
                <a:sym typeface="Roboto"/>
              </a:rPr>
              <a:t>Large companies offer more training opportunities. ____________</a:t>
            </a:r>
            <a:endParaRPr sz="250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a:latin typeface="Roboto"/>
                <a:ea typeface="Roboto"/>
                <a:cs typeface="Roboto"/>
                <a:sym typeface="Roboto"/>
              </a:rPr>
              <a:t>Large companies have narrowly defined roles for employees. ____________</a:t>
            </a:r>
            <a:endParaRPr sz="250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a:latin typeface="Roboto"/>
                <a:ea typeface="Roboto"/>
                <a:cs typeface="Roboto"/>
                <a:sym typeface="Roboto"/>
              </a:rPr>
              <a:t>People are impressed by large companies. ____________</a:t>
            </a:r>
            <a:endParaRPr sz="250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endParaRPr sz="2500" b="1">
              <a:solidFill>
                <a:srgbClr val="018345"/>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b="1">
                <a:solidFill>
                  <a:schemeClr val="dk1"/>
                </a:solidFill>
                <a:latin typeface="Roboto"/>
                <a:ea typeface="Roboto"/>
                <a:cs typeface="Roboto"/>
                <a:sym typeface="Roboto"/>
              </a:rPr>
              <a:t>1. 	Man</a:t>
            </a:r>
            <a:endParaRPr sz="2500" b="1">
              <a:solidFill>
                <a:schemeClr val="dk1"/>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b="1">
                <a:solidFill>
                  <a:schemeClr val="dk1"/>
                </a:solidFill>
                <a:latin typeface="Roboto"/>
                <a:ea typeface="Roboto"/>
                <a:cs typeface="Roboto"/>
                <a:sym typeface="Roboto"/>
              </a:rPr>
              <a:t>2. 	Woman</a:t>
            </a:r>
            <a:endParaRPr sz="2500" b="1">
              <a:solidFill>
                <a:schemeClr val="dk1"/>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b="1">
                <a:solidFill>
                  <a:schemeClr val="dk1"/>
                </a:solidFill>
                <a:latin typeface="Roboto"/>
                <a:ea typeface="Roboto"/>
                <a:cs typeface="Roboto"/>
                <a:sym typeface="Roboto"/>
              </a:rPr>
              <a:t>3. 	Both</a:t>
            </a:r>
            <a:endParaRPr sz="2500" b="1">
              <a:solidFill>
                <a:schemeClr val="dk1"/>
              </a:solidFill>
              <a:latin typeface="Roboto"/>
              <a:ea typeface="Roboto"/>
              <a:cs typeface="Roboto"/>
              <a:sym typeface="Roboto"/>
            </a:endParaRPr>
          </a:p>
          <a:p>
            <a:pPr marL="0" lvl="0" indent="0" algn="l" rtl="0">
              <a:lnSpc>
                <a:spcPct val="150000"/>
              </a:lnSpc>
              <a:spcBef>
                <a:spcPts val="0"/>
              </a:spcBef>
              <a:spcAft>
                <a:spcPts val="0"/>
              </a:spcAft>
              <a:buNone/>
            </a:pPr>
            <a:endParaRPr sz="2500" b="1">
              <a:solidFill>
                <a:srgbClr val="018345"/>
              </a:solidFill>
              <a:latin typeface="Roboto"/>
              <a:ea typeface="Roboto"/>
              <a:cs typeface="Roboto"/>
              <a:sym typeface="Roboto"/>
            </a:endParaRPr>
          </a:p>
        </p:txBody>
      </p:sp>
      <p:cxnSp>
        <p:nvCxnSpPr>
          <p:cNvPr id="464" name="Google Shape;464;p27"/>
          <p:cNvCxnSpPr/>
          <p:nvPr/>
        </p:nvCxnSpPr>
        <p:spPr>
          <a:xfrm>
            <a:off x="7742025" y="5043900"/>
            <a:ext cx="2738100" cy="3000"/>
          </a:xfrm>
          <a:prstGeom prst="straightConnector1">
            <a:avLst/>
          </a:prstGeom>
          <a:noFill/>
          <a:ln w="38100" cap="flat" cmpd="sng">
            <a:solidFill>
              <a:srgbClr val="980000"/>
            </a:solidFill>
            <a:prstDash val="solid"/>
            <a:round/>
            <a:headEnd type="none" w="med" len="med"/>
            <a:tailEnd type="none" w="med" len="med"/>
          </a:ln>
        </p:spPr>
      </p:cxnSp>
      <p:cxnSp>
        <p:nvCxnSpPr>
          <p:cNvPr id="465" name="Google Shape;465;p27"/>
          <p:cNvCxnSpPr/>
          <p:nvPr/>
        </p:nvCxnSpPr>
        <p:spPr>
          <a:xfrm>
            <a:off x="13296275" y="5047950"/>
            <a:ext cx="2676900" cy="14700"/>
          </a:xfrm>
          <a:prstGeom prst="straightConnector1">
            <a:avLst/>
          </a:prstGeom>
          <a:noFill/>
          <a:ln w="38100" cap="flat" cmpd="sng">
            <a:solidFill>
              <a:srgbClr val="980000"/>
            </a:solidFill>
            <a:prstDash val="solid"/>
            <a:round/>
            <a:headEnd type="none" w="med" len="med"/>
            <a:tailEnd type="none" w="med" len="med"/>
          </a:ln>
        </p:spPr>
      </p:cxnSp>
      <p:cxnSp>
        <p:nvCxnSpPr>
          <p:cNvPr id="466" name="Google Shape;466;p27"/>
          <p:cNvCxnSpPr/>
          <p:nvPr/>
        </p:nvCxnSpPr>
        <p:spPr>
          <a:xfrm>
            <a:off x="11941475" y="5036500"/>
            <a:ext cx="929400" cy="6300"/>
          </a:xfrm>
          <a:prstGeom prst="straightConnector1">
            <a:avLst/>
          </a:prstGeom>
          <a:noFill/>
          <a:ln w="38100" cap="flat" cmpd="sng">
            <a:solidFill>
              <a:srgbClr val="980000"/>
            </a:solidFill>
            <a:prstDash val="solid"/>
            <a:round/>
            <a:headEnd type="none" w="med" len="med"/>
            <a:tailEnd type="none" w="med" len="med"/>
          </a:ln>
        </p:spPr>
      </p:cxnSp>
      <p:cxnSp>
        <p:nvCxnSpPr>
          <p:cNvPr id="467" name="Google Shape;467;p27"/>
          <p:cNvCxnSpPr/>
          <p:nvPr/>
        </p:nvCxnSpPr>
        <p:spPr>
          <a:xfrm rot="10800000" flipH="1">
            <a:off x="7846900" y="5613425"/>
            <a:ext cx="2188500" cy="5100"/>
          </a:xfrm>
          <a:prstGeom prst="straightConnector1">
            <a:avLst/>
          </a:prstGeom>
          <a:noFill/>
          <a:ln w="38100" cap="flat" cmpd="sng">
            <a:solidFill>
              <a:srgbClr val="980000"/>
            </a:solidFill>
            <a:prstDash val="solid"/>
            <a:round/>
            <a:headEnd type="none" w="med" len="med"/>
            <a:tailEnd type="none" w="med" len="med"/>
          </a:ln>
        </p:spPr>
      </p:cxnSp>
      <p:cxnSp>
        <p:nvCxnSpPr>
          <p:cNvPr id="468" name="Google Shape;468;p27"/>
          <p:cNvCxnSpPr/>
          <p:nvPr/>
        </p:nvCxnSpPr>
        <p:spPr>
          <a:xfrm>
            <a:off x="11861525" y="5613425"/>
            <a:ext cx="2950500" cy="7500"/>
          </a:xfrm>
          <a:prstGeom prst="straightConnector1">
            <a:avLst/>
          </a:prstGeom>
          <a:noFill/>
          <a:ln w="38100" cap="flat" cmpd="sng">
            <a:solidFill>
              <a:srgbClr val="980000"/>
            </a:solidFill>
            <a:prstDash val="solid"/>
            <a:round/>
            <a:headEnd type="none" w="med" len="med"/>
            <a:tailEnd type="none" w="med" len="med"/>
          </a:ln>
        </p:spPr>
      </p:cxnSp>
      <p:cxnSp>
        <p:nvCxnSpPr>
          <p:cNvPr id="469" name="Google Shape;469;p27"/>
          <p:cNvCxnSpPr/>
          <p:nvPr/>
        </p:nvCxnSpPr>
        <p:spPr>
          <a:xfrm rot="10800000" flipH="1">
            <a:off x="7846900" y="6185050"/>
            <a:ext cx="2188500" cy="5100"/>
          </a:xfrm>
          <a:prstGeom prst="straightConnector1">
            <a:avLst/>
          </a:prstGeom>
          <a:noFill/>
          <a:ln w="38100" cap="flat" cmpd="sng">
            <a:solidFill>
              <a:srgbClr val="980000"/>
            </a:solidFill>
            <a:prstDash val="solid"/>
            <a:round/>
            <a:headEnd type="none" w="med" len="med"/>
            <a:tailEnd type="none" w="med" len="med"/>
          </a:ln>
        </p:spPr>
      </p:cxnSp>
      <p:cxnSp>
        <p:nvCxnSpPr>
          <p:cNvPr id="470" name="Google Shape;470;p27"/>
          <p:cNvCxnSpPr/>
          <p:nvPr/>
        </p:nvCxnSpPr>
        <p:spPr>
          <a:xfrm rot="10800000" flipH="1">
            <a:off x="10990350" y="6191550"/>
            <a:ext cx="1185900" cy="5400"/>
          </a:xfrm>
          <a:prstGeom prst="straightConnector1">
            <a:avLst/>
          </a:prstGeom>
          <a:noFill/>
          <a:ln w="38100" cap="flat" cmpd="sng">
            <a:solidFill>
              <a:srgbClr val="980000"/>
            </a:solidFill>
            <a:prstDash val="solid"/>
            <a:round/>
            <a:headEnd type="none" w="med" len="med"/>
            <a:tailEnd type="none" w="med" len="med"/>
          </a:ln>
        </p:spPr>
      </p:cxnSp>
      <p:cxnSp>
        <p:nvCxnSpPr>
          <p:cNvPr id="471" name="Google Shape;471;p27"/>
          <p:cNvCxnSpPr/>
          <p:nvPr/>
        </p:nvCxnSpPr>
        <p:spPr>
          <a:xfrm rot="10800000" flipH="1">
            <a:off x="14667350" y="6171700"/>
            <a:ext cx="1501800" cy="5100"/>
          </a:xfrm>
          <a:prstGeom prst="straightConnector1">
            <a:avLst/>
          </a:prstGeom>
          <a:noFill/>
          <a:ln w="38100" cap="flat" cmpd="sng">
            <a:solidFill>
              <a:srgbClr val="980000"/>
            </a:solidFill>
            <a:prstDash val="solid"/>
            <a:round/>
            <a:headEnd type="none" w="med" len="med"/>
            <a:tailEnd type="none" w="med" len="med"/>
          </a:ln>
        </p:spPr>
      </p:cxnSp>
      <p:cxnSp>
        <p:nvCxnSpPr>
          <p:cNvPr id="472" name="Google Shape;472;p27"/>
          <p:cNvCxnSpPr/>
          <p:nvPr/>
        </p:nvCxnSpPr>
        <p:spPr>
          <a:xfrm rot="10800000" flipH="1">
            <a:off x="9287400" y="6758775"/>
            <a:ext cx="1518900" cy="3000"/>
          </a:xfrm>
          <a:prstGeom prst="straightConnector1">
            <a:avLst/>
          </a:prstGeom>
          <a:noFill/>
          <a:ln w="38100" cap="flat" cmpd="sng">
            <a:solidFill>
              <a:srgbClr val="980000"/>
            </a:solidFill>
            <a:prstDash val="solid"/>
            <a:round/>
            <a:headEnd type="none" w="med" len="med"/>
            <a:tailEnd type="none" w="med" len="med"/>
          </a:ln>
        </p:spPr>
      </p:cxnSp>
      <p:cxnSp>
        <p:nvCxnSpPr>
          <p:cNvPr id="473" name="Google Shape;473;p27"/>
          <p:cNvCxnSpPr/>
          <p:nvPr/>
        </p:nvCxnSpPr>
        <p:spPr>
          <a:xfrm rot="10800000" flipH="1">
            <a:off x="11311925" y="6767575"/>
            <a:ext cx="2188500" cy="5100"/>
          </a:xfrm>
          <a:prstGeom prst="straightConnector1">
            <a:avLst/>
          </a:prstGeom>
          <a:noFill/>
          <a:ln w="38100" cap="flat" cmpd="sng">
            <a:solidFill>
              <a:srgbClr val="980000"/>
            </a:solidFill>
            <a:prstDash val="solid"/>
            <a:round/>
            <a:headEnd type="none" w="med" len="med"/>
            <a:tailEnd type="none" w="med" len="med"/>
          </a:ln>
        </p:spPr>
      </p:cxnSp>
      <p:pic>
        <p:nvPicPr>
          <p:cNvPr id="474" name="Google Shape;474;p27" title="Q15 Part 3.MP3">
            <a:hlinkClick r:id="rId4"/>
          </p:cNvPr>
          <p:cNvPicPr preferRelativeResize="0"/>
          <p:nvPr/>
        </p:nvPicPr>
        <p:blipFill>
          <a:blip r:embed="rId5">
            <a:alphaModFix/>
          </a:blip>
          <a:stretch>
            <a:fillRect/>
          </a:stretch>
        </p:blipFill>
        <p:spPr>
          <a:xfrm>
            <a:off x="13044375" y="7404516"/>
            <a:ext cx="782375" cy="7823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62"/>
                                        </p:tgtEl>
                                        <p:attrNameLst>
                                          <p:attrName>style.visibility</p:attrName>
                                        </p:attrNameLst>
                                      </p:cBhvr>
                                      <p:to>
                                        <p:strVal val="visible"/>
                                      </p:to>
                                    </p:set>
                                    <p:animEffect transition="in" filter="fade">
                                      <p:cBhvr>
                                        <p:cTn id="7" dur="500"/>
                                        <p:tgtEl>
                                          <p:spTgt spid="46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46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46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6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464"/>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466"/>
                                        </p:tgtEl>
                                        <p:attrNameLst>
                                          <p:attrName>style.visibility</p:attrName>
                                        </p:attrNameLst>
                                      </p:cBhvr>
                                      <p:to>
                                        <p:strVal val="visible"/>
                                      </p:to>
                                    </p:set>
                                  </p:childTnLst>
                                </p:cTn>
                              </p:par>
                              <p:par>
                                <p:cTn id="22" presetID="10" presetClass="entr" presetSubtype="0" fill="hold" nodeType="withEffect">
                                  <p:stCondLst>
                                    <p:cond delay="0"/>
                                  </p:stCondLst>
                                  <p:childTnLst>
                                    <p:set>
                                      <p:cBhvr>
                                        <p:cTn id="23" dur="1" fill="hold">
                                          <p:stCondLst>
                                            <p:cond delay="0"/>
                                          </p:stCondLst>
                                        </p:cTn>
                                        <p:tgtEl>
                                          <p:spTgt spid="465"/>
                                        </p:tgtEl>
                                        <p:attrNameLst>
                                          <p:attrName>style.visibility</p:attrName>
                                        </p:attrNameLst>
                                      </p:cBhvr>
                                      <p:to>
                                        <p:strVal val="visible"/>
                                      </p:to>
                                    </p:set>
                                    <p:animEffect transition="in" filter="fade">
                                      <p:cBhvr>
                                        <p:cTn id="24" dur="1000"/>
                                        <p:tgtEl>
                                          <p:spTgt spid="46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67"/>
                                        </p:tgtEl>
                                        <p:attrNameLst>
                                          <p:attrName>style.visibility</p:attrName>
                                        </p:attrNameLst>
                                      </p:cBhvr>
                                      <p:to>
                                        <p:strVal val="visible"/>
                                      </p:to>
                                    </p:set>
                                  </p:childTnLst>
                                </p:cTn>
                              </p:par>
                              <p:par>
                                <p:cTn id="29" presetID="10" presetClass="entr" presetSubtype="0" fill="hold" nodeType="withEffect">
                                  <p:stCondLst>
                                    <p:cond delay="0"/>
                                  </p:stCondLst>
                                  <p:childTnLst>
                                    <p:set>
                                      <p:cBhvr>
                                        <p:cTn id="30" dur="1" fill="hold">
                                          <p:stCondLst>
                                            <p:cond delay="0"/>
                                          </p:stCondLst>
                                        </p:cTn>
                                        <p:tgtEl>
                                          <p:spTgt spid="468"/>
                                        </p:tgtEl>
                                        <p:attrNameLst>
                                          <p:attrName>style.visibility</p:attrName>
                                        </p:attrNameLst>
                                      </p:cBhvr>
                                      <p:to>
                                        <p:strVal val="visible"/>
                                      </p:to>
                                    </p:set>
                                    <p:animEffect transition="in" filter="fade">
                                      <p:cBhvr>
                                        <p:cTn id="31" dur="1000"/>
                                        <p:tgtEl>
                                          <p:spTgt spid="468"/>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469"/>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470"/>
                                        </p:tgtEl>
                                        <p:attrNameLst>
                                          <p:attrName>style.visibility</p:attrName>
                                        </p:attrNameLst>
                                      </p:cBhvr>
                                      <p:to>
                                        <p:strVal val="visible"/>
                                      </p:to>
                                    </p:set>
                                  </p:childTnLst>
                                </p:cTn>
                              </p:par>
                              <p:par>
                                <p:cTn id="38" presetID="10" presetClass="entr" presetSubtype="0" fill="hold" nodeType="withEffect">
                                  <p:stCondLst>
                                    <p:cond delay="0"/>
                                  </p:stCondLst>
                                  <p:childTnLst>
                                    <p:set>
                                      <p:cBhvr>
                                        <p:cTn id="39" dur="1" fill="hold">
                                          <p:stCondLst>
                                            <p:cond delay="0"/>
                                          </p:stCondLst>
                                        </p:cTn>
                                        <p:tgtEl>
                                          <p:spTgt spid="471"/>
                                        </p:tgtEl>
                                        <p:attrNameLst>
                                          <p:attrName>style.visibility</p:attrName>
                                        </p:attrNameLst>
                                      </p:cBhvr>
                                      <p:to>
                                        <p:strVal val="visible"/>
                                      </p:to>
                                    </p:set>
                                    <p:animEffect transition="in" filter="fade">
                                      <p:cBhvr>
                                        <p:cTn id="40" dur="1000"/>
                                        <p:tgtEl>
                                          <p:spTgt spid="471"/>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72"/>
                                        </p:tgtEl>
                                        <p:attrNameLst>
                                          <p:attrName>style.visibility</p:attrName>
                                        </p:attrNameLst>
                                      </p:cBhvr>
                                      <p:to>
                                        <p:strVal val="visible"/>
                                      </p:to>
                                    </p:set>
                                  </p:childTnLst>
                                </p:cTn>
                              </p:par>
                              <p:par>
                                <p:cTn id="45" presetID="10" presetClass="entr" presetSubtype="0" fill="hold" nodeType="withEffect">
                                  <p:stCondLst>
                                    <p:cond delay="0"/>
                                  </p:stCondLst>
                                  <p:childTnLst>
                                    <p:set>
                                      <p:cBhvr>
                                        <p:cTn id="46" dur="1" fill="hold">
                                          <p:stCondLst>
                                            <p:cond delay="0"/>
                                          </p:stCondLst>
                                        </p:cTn>
                                        <p:tgtEl>
                                          <p:spTgt spid="473"/>
                                        </p:tgtEl>
                                        <p:attrNameLst>
                                          <p:attrName>style.visibility</p:attrName>
                                        </p:attrNameLst>
                                      </p:cBhvr>
                                      <p:to>
                                        <p:strVal val="visible"/>
                                      </p:to>
                                    </p:set>
                                    <p:animEffect transition="in" filter="fade">
                                      <p:cBhvr>
                                        <p:cTn id="47" dur="1000"/>
                                        <p:tgtEl>
                                          <p:spTgt spid="4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cxnSp>
        <p:nvCxnSpPr>
          <p:cNvPr id="480" name="Google Shape;480;p28"/>
          <p:cNvCxnSpPr/>
          <p:nvPr/>
        </p:nvCxnSpPr>
        <p:spPr>
          <a:xfrm rot="10800000" flipH="1">
            <a:off x="7543801" y="1816500"/>
            <a:ext cx="9909000" cy="50400"/>
          </a:xfrm>
          <a:prstGeom prst="straightConnector1">
            <a:avLst/>
          </a:prstGeom>
          <a:noFill/>
          <a:ln w="38100" cap="flat" cmpd="sng">
            <a:solidFill>
              <a:srgbClr val="018345"/>
            </a:solidFill>
            <a:prstDash val="solid"/>
            <a:round/>
            <a:headEnd type="none" w="sm" len="sm"/>
            <a:tailEnd type="none" w="sm" len="sm"/>
          </a:ln>
        </p:spPr>
      </p:cxnSp>
      <p:grpSp>
        <p:nvGrpSpPr>
          <p:cNvPr id="481" name="Google Shape;481;p28"/>
          <p:cNvGrpSpPr/>
          <p:nvPr/>
        </p:nvGrpSpPr>
        <p:grpSpPr>
          <a:xfrm rot="10800000">
            <a:off x="15785084" y="-536938"/>
            <a:ext cx="7681773" cy="4260605"/>
            <a:chOff x="0" y="-38100"/>
            <a:chExt cx="406400" cy="225405"/>
          </a:xfrm>
        </p:grpSpPr>
        <p:sp>
          <p:nvSpPr>
            <p:cNvPr id="482" name="Google Shape;482;p28"/>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83" name="Google Shape;483;p28"/>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484" name="Google Shape;484;p28"/>
          <p:cNvSpPr/>
          <p:nvPr/>
        </p:nvSpPr>
        <p:spPr>
          <a:xfrm>
            <a:off x="18099269" y="1809027"/>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grpSp>
        <p:nvGrpSpPr>
          <p:cNvPr id="485" name="Google Shape;485;p28"/>
          <p:cNvGrpSpPr/>
          <p:nvPr/>
        </p:nvGrpSpPr>
        <p:grpSpPr>
          <a:xfrm>
            <a:off x="-2718010" y="9274530"/>
            <a:ext cx="7950378" cy="1707223"/>
            <a:chOff x="0" y="-384760"/>
            <a:chExt cx="10600504" cy="2276297"/>
          </a:xfrm>
        </p:grpSpPr>
        <p:grpSp>
          <p:nvGrpSpPr>
            <p:cNvPr id="486" name="Google Shape;486;p28"/>
            <p:cNvGrpSpPr/>
            <p:nvPr/>
          </p:nvGrpSpPr>
          <p:grpSpPr>
            <a:xfrm>
              <a:off x="0" y="-384760"/>
              <a:ext cx="10600504" cy="2276297"/>
              <a:chOff x="0" y="-38100"/>
              <a:chExt cx="1049690" cy="225405"/>
            </a:xfrm>
          </p:grpSpPr>
          <p:sp>
            <p:nvSpPr>
              <p:cNvPr id="487" name="Google Shape;487;p28"/>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488" name="Google Shape;488;p28"/>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489" name="Google Shape;489;p28"/>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
        <p:nvSpPr>
          <p:cNvPr id="490" name="Google Shape;490;p28"/>
          <p:cNvSpPr txBox="1"/>
          <p:nvPr/>
        </p:nvSpPr>
        <p:spPr>
          <a:xfrm>
            <a:off x="6592847" y="660250"/>
            <a:ext cx="11880900" cy="923400"/>
          </a:xfrm>
          <a:prstGeom prst="rect">
            <a:avLst/>
          </a:prstGeom>
          <a:noFill/>
          <a:ln>
            <a:noFill/>
          </a:ln>
        </p:spPr>
        <p:txBody>
          <a:bodyPr spcFirstLastPara="1" wrap="square" lIns="0" tIns="0" rIns="0" bIns="0" anchor="t" anchorCtr="0">
            <a:spAutoFit/>
          </a:bodyPr>
          <a:lstStyle/>
          <a:p>
            <a:pPr marL="0" marR="0" lvl="0" indent="0" algn="ctr" rtl="0">
              <a:lnSpc>
                <a:spcPct val="123833"/>
              </a:lnSpc>
              <a:spcBef>
                <a:spcPts val="0"/>
              </a:spcBef>
              <a:spcAft>
                <a:spcPts val="0"/>
              </a:spcAft>
              <a:buNone/>
            </a:pPr>
            <a:r>
              <a:rPr lang="en-US" sz="6000" b="1">
                <a:solidFill>
                  <a:srgbClr val="018345"/>
                </a:solidFill>
                <a:latin typeface="Montserrat"/>
                <a:ea typeface="Montserrat"/>
                <a:cs typeface="Montserrat"/>
                <a:sym typeface="Montserrat"/>
              </a:rPr>
              <a:t>Đề mẫu</a:t>
            </a:r>
            <a:endParaRPr sz="6000" b="1">
              <a:solidFill>
                <a:srgbClr val="018345"/>
              </a:solidFill>
              <a:latin typeface="Montserrat"/>
              <a:ea typeface="Montserrat"/>
              <a:cs typeface="Montserrat"/>
              <a:sym typeface="Montserrat"/>
            </a:endParaRPr>
          </a:p>
        </p:txBody>
      </p:sp>
      <p:sp>
        <p:nvSpPr>
          <p:cNvPr id="491" name="Google Shape;491;p28"/>
          <p:cNvSpPr txBox="1"/>
          <p:nvPr/>
        </p:nvSpPr>
        <p:spPr>
          <a:xfrm>
            <a:off x="7198500" y="2306100"/>
            <a:ext cx="11089500" cy="7403700"/>
          </a:xfrm>
          <a:prstGeom prst="rect">
            <a:avLst/>
          </a:prstGeom>
          <a:noFill/>
          <a:ln>
            <a:noFill/>
          </a:ln>
        </p:spPr>
        <p:txBody>
          <a:bodyPr spcFirstLastPara="1" wrap="square" lIns="91425" tIns="45700" rIns="91425" bIns="45700" anchor="t" anchorCtr="0">
            <a:spAutoFit/>
          </a:bodyPr>
          <a:lstStyle/>
          <a:p>
            <a:pPr marL="457200" lvl="0" indent="0" algn="l" rtl="0">
              <a:lnSpc>
                <a:spcPct val="150000"/>
              </a:lnSpc>
              <a:spcBef>
                <a:spcPts val="0"/>
              </a:spcBef>
              <a:spcAft>
                <a:spcPts val="0"/>
              </a:spcAft>
              <a:buClr>
                <a:schemeClr val="dk1"/>
              </a:buClr>
              <a:buSzPts val="1100"/>
              <a:buFont typeface="Arial"/>
              <a:buNone/>
            </a:pPr>
            <a:r>
              <a:rPr lang="en-US" sz="2500" b="1">
                <a:solidFill>
                  <a:srgbClr val="018345"/>
                </a:solidFill>
                <a:latin typeface="Roboto"/>
                <a:ea typeface="Roboto"/>
                <a:cs typeface="Roboto"/>
                <a:sym typeface="Roboto"/>
              </a:rPr>
              <a:t>Listen to two people talking about working for companies of different sizes. Read the statements below and decide who expresses which opinion – the man, the woman, or both the man and the woman.</a:t>
            </a:r>
            <a:endParaRPr sz="2500" b="1">
              <a:solidFill>
                <a:srgbClr val="018345"/>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a:latin typeface="Roboto"/>
                <a:ea typeface="Roboto"/>
                <a:cs typeface="Roboto"/>
                <a:sym typeface="Roboto"/>
              </a:rPr>
              <a:t>Who expresses which opinion?</a:t>
            </a:r>
            <a:endParaRPr sz="250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a:latin typeface="Roboto"/>
                <a:ea typeface="Roboto"/>
                <a:cs typeface="Roboto"/>
                <a:sym typeface="Roboto"/>
              </a:rPr>
              <a:t>Promotion chances are more limited in smaller companies. </a:t>
            </a:r>
            <a:r>
              <a:rPr lang="en-US" sz="2500" b="1">
                <a:solidFill>
                  <a:srgbClr val="FF0000"/>
                </a:solidFill>
                <a:latin typeface="Roboto"/>
                <a:ea typeface="Roboto"/>
                <a:cs typeface="Roboto"/>
                <a:sym typeface="Roboto"/>
              </a:rPr>
              <a:t>2. Woman</a:t>
            </a:r>
            <a:endParaRPr sz="250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a:latin typeface="Roboto"/>
                <a:ea typeface="Roboto"/>
                <a:cs typeface="Roboto"/>
                <a:sym typeface="Roboto"/>
              </a:rPr>
              <a:t>Large companies offer more training opportunities. </a:t>
            </a:r>
            <a:r>
              <a:rPr lang="en-US" sz="2500" b="1">
                <a:solidFill>
                  <a:srgbClr val="FF0000"/>
                </a:solidFill>
                <a:latin typeface="Roboto"/>
                <a:ea typeface="Roboto"/>
                <a:cs typeface="Roboto"/>
                <a:sym typeface="Roboto"/>
              </a:rPr>
              <a:t>2. Woman</a:t>
            </a:r>
            <a:endParaRPr sz="250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a:latin typeface="Roboto"/>
                <a:ea typeface="Roboto"/>
                <a:cs typeface="Roboto"/>
                <a:sym typeface="Roboto"/>
              </a:rPr>
              <a:t>Large companies have narrowly defined roles for employees. </a:t>
            </a:r>
            <a:r>
              <a:rPr lang="en-US" sz="2500" b="1">
                <a:solidFill>
                  <a:srgbClr val="FF0000"/>
                </a:solidFill>
                <a:latin typeface="Roboto"/>
                <a:ea typeface="Roboto"/>
                <a:cs typeface="Roboto"/>
                <a:sym typeface="Roboto"/>
              </a:rPr>
              <a:t>1. Man</a:t>
            </a:r>
            <a:endParaRPr sz="250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a:latin typeface="Roboto"/>
                <a:ea typeface="Roboto"/>
                <a:cs typeface="Roboto"/>
                <a:sym typeface="Roboto"/>
              </a:rPr>
              <a:t>People are impressed by large companies. </a:t>
            </a:r>
            <a:r>
              <a:rPr lang="en-US" sz="2500" b="1">
                <a:solidFill>
                  <a:srgbClr val="FF0000"/>
                </a:solidFill>
                <a:latin typeface="Roboto"/>
                <a:ea typeface="Roboto"/>
                <a:cs typeface="Roboto"/>
                <a:sym typeface="Roboto"/>
              </a:rPr>
              <a:t>3. 	Both</a:t>
            </a:r>
            <a:endParaRPr sz="2500">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endParaRPr sz="2500" b="1">
              <a:solidFill>
                <a:srgbClr val="018345"/>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b="1">
                <a:solidFill>
                  <a:srgbClr val="FF0000"/>
                </a:solidFill>
                <a:latin typeface="Roboto"/>
                <a:ea typeface="Roboto"/>
                <a:cs typeface="Roboto"/>
                <a:sym typeface="Roboto"/>
              </a:rPr>
              <a:t>1. 	Man</a:t>
            </a:r>
            <a:endParaRPr sz="2500" b="1">
              <a:solidFill>
                <a:srgbClr val="FF0000"/>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b="1">
                <a:solidFill>
                  <a:srgbClr val="FF0000"/>
                </a:solidFill>
                <a:latin typeface="Roboto"/>
                <a:ea typeface="Roboto"/>
                <a:cs typeface="Roboto"/>
                <a:sym typeface="Roboto"/>
              </a:rPr>
              <a:t>2. 	Woman</a:t>
            </a:r>
            <a:endParaRPr sz="2500" b="1">
              <a:solidFill>
                <a:srgbClr val="FF0000"/>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b="1">
                <a:solidFill>
                  <a:srgbClr val="FF0000"/>
                </a:solidFill>
                <a:latin typeface="Roboto"/>
                <a:ea typeface="Roboto"/>
                <a:cs typeface="Roboto"/>
                <a:sym typeface="Roboto"/>
              </a:rPr>
              <a:t>3. 	Both</a:t>
            </a:r>
            <a:endParaRPr sz="2500" b="1">
              <a:solidFill>
                <a:srgbClr val="FF0000"/>
              </a:solidFill>
              <a:latin typeface="Roboto"/>
              <a:ea typeface="Roboto"/>
              <a:cs typeface="Roboto"/>
              <a:sym typeface="Roboto"/>
            </a:endParaRPr>
          </a:p>
          <a:p>
            <a:pPr marL="0" lvl="0" indent="0" algn="l" rtl="0">
              <a:lnSpc>
                <a:spcPct val="150000"/>
              </a:lnSpc>
              <a:spcBef>
                <a:spcPts val="0"/>
              </a:spcBef>
              <a:spcAft>
                <a:spcPts val="0"/>
              </a:spcAft>
              <a:buNone/>
            </a:pPr>
            <a:endParaRPr sz="2500" b="1">
              <a:solidFill>
                <a:srgbClr val="018345"/>
              </a:solidFill>
              <a:latin typeface="Roboto"/>
              <a:ea typeface="Roboto"/>
              <a:cs typeface="Roboto"/>
              <a:sym typeface="Roboto"/>
            </a:endParaRPr>
          </a:p>
        </p:txBody>
      </p:sp>
      <p:cxnSp>
        <p:nvCxnSpPr>
          <p:cNvPr id="492" name="Google Shape;492;p28"/>
          <p:cNvCxnSpPr/>
          <p:nvPr/>
        </p:nvCxnSpPr>
        <p:spPr>
          <a:xfrm>
            <a:off x="7742025" y="5043900"/>
            <a:ext cx="2738100" cy="3000"/>
          </a:xfrm>
          <a:prstGeom prst="straightConnector1">
            <a:avLst/>
          </a:prstGeom>
          <a:noFill/>
          <a:ln w="38100" cap="flat" cmpd="sng">
            <a:solidFill>
              <a:srgbClr val="980000"/>
            </a:solidFill>
            <a:prstDash val="solid"/>
            <a:round/>
            <a:headEnd type="none" w="med" len="med"/>
            <a:tailEnd type="none" w="med" len="med"/>
          </a:ln>
        </p:spPr>
      </p:cxnSp>
      <p:cxnSp>
        <p:nvCxnSpPr>
          <p:cNvPr id="493" name="Google Shape;493;p28"/>
          <p:cNvCxnSpPr/>
          <p:nvPr/>
        </p:nvCxnSpPr>
        <p:spPr>
          <a:xfrm>
            <a:off x="13296275" y="5047950"/>
            <a:ext cx="2676900" cy="14700"/>
          </a:xfrm>
          <a:prstGeom prst="straightConnector1">
            <a:avLst/>
          </a:prstGeom>
          <a:noFill/>
          <a:ln w="38100" cap="flat" cmpd="sng">
            <a:solidFill>
              <a:srgbClr val="980000"/>
            </a:solidFill>
            <a:prstDash val="solid"/>
            <a:round/>
            <a:headEnd type="none" w="med" len="med"/>
            <a:tailEnd type="none" w="med" len="med"/>
          </a:ln>
        </p:spPr>
      </p:cxnSp>
      <p:cxnSp>
        <p:nvCxnSpPr>
          <p:cNvPr id="494" name="Google Shape;494;p28"/>
          <p:cNvCxnSpPr/>
          <p:nvPr/>
        </p:nvCxnSpPr>
        <p:spPr>
          <a:xfrm>
            <a:off x="11941475" y="5036500"/>
            <a:ext cx="929400" cy="6300"/>
          </a:xfrm>
          <a:prstGeom prst="straightConnector1">
            <a:avLst/>
          </a:prstGeom>
          <a:noFill/>
          <a:ln w="38100" cap="flat" cmpd="sng">
            <a:solidFill>
              <a:srgbClr val="980000"/>
            </a:solidFill>
            <a:prstDash val="solid"/>
            <a:round/>
            <a:headEnd type="none" w="med" len="med"/>
            <a:tailEnd type="none" w="med" len="med"/>
          </a:ln>
        </p:spPr>
      </p:cxnSp>
      <p:cxnSp>
        <p:nvCxnSpPr>
          <p:cNvPr id="495" name="Google Shape;495;p28"/>
          <p:cNvCxnSpPr/>
          <p:nvPr/>
        </p:nvCxnSpPr>
        <p:spPr>
          <a:xfrm rot="10800000" flipH="1">
            <a:off x="7846900" y="5613425"/>
            <a:ext cx="2188500" cy="5100"/>
          </a:xfrm>
          <a:prstGeom prst="straightConnector1">
            <a:avLst/>
          </a:prstGeom>
          <a:noFill/>
          <a:ln w="38100" cap="flat" cmpd="sng">
            <a:solidFill>
              <a:srgbClr val="980000"/>
            </a:solidFill>
            <a:prstDash val="solid"/>
            <a:round/>
            <a:headEnd type="none" w="med" len="med"/>
            <a:tailEnd type="none" w="med" len="med"/>
          </a:ln>
        </p:spPr>
      </p:cxnSp>
      <p:cxnSp>
        <p:nvCxnSpPr>
          <p:cNvPr id="496" name="Google Shape;496;p28"/>
          <p:cNvCxnSpPr/>
          <p:nvPr/>
        </p:nvCxnSpPr>
        <p:spPr>
          <a:xfrm>
            <a:off x="11861525" y="5613425"/>
            <a:ext cx="2950500" cy="7500"/>
          </a:xfrm>
          <a:prstGeom prst="straightConnector1">
            <a:avLst/>
          </a:prstGeom>
          <a:noFill/>
          <a:ln w="38100" cap="flat" cmpd="sng">
            <a:solidFill>
              <a:srgbClr val="980000"/>
            </a:solidFill>
            <a:prstDash val="solid"/>
            <a:round/>
            <a:headEnd type="none" w="med" len="med"/>
            <a:tailEnd type="none" w="med" len="med"/>
          </a:ln>
        </p:spPr>
      </p:cxnSp>
      <p:cxnSp>
        <p:nvCxnSpPr>
          <p:cNvPr id="497" name="Google Shape;497;p28"/>
          <p:cNvCxnSpPr/>
          <p:nvPr/>
        </p:nvCxnSpPr>
        <p:spPr>
          <a:xfrm rot="10800000" flipH="1">
            <a:off x="7846900" y="6185050"/>
            <a:ext cx="2188500" cy="5100"/>
          </a:xfrm>
          <a:prstGeom prst="straightConnector1">
            <a:avLst/>
          </a:prstGeom>
          <a:noFill/>
          <a:ln w="38100" cap="flat" cmpd="sng">
            <a:solidFill>
              <a:srgbClr val="980000"/>
            </a:solidFill>
            <a:prstDash val="solid"/>
            <a:round/>
            <a:headEnd type="none" w="med" len="med"/>
            <a:tailEnd type="none" w="med" len="med"/>
          </a:ln>
        </p:spPr>
      </p:cxnSp>
      <p:cxnSp>
        <p:nvCxnSpPr>
          <p:cNvPr id="498" name="Google Shape;498;p28"/>
          <p:cNvCxnSpPr/>
          <p:nvPr/>
        </p:nvCxnSpPr>
        <p:spPr>
          <a:xfrm rot="10800000" flipH="1">
            <a:off x="10990350" y="6191550"/>
            <a:ext cx="1185900" cy="5400"/>
          </a:xfrm>
          <a:prstGeom prst="straightConnector1">
            <a:avLst/>
          </a:prstGeom>
          <a:noFill/>
          <a:ln w="38100" cap="flat" cmpd="sng">
            <a:solidFill>
              <a:srgbClr val="980000"/>
            </a:solidFill>
            <a:prstDash val="solid"/>
            <a:round/>
            <a:headEnd type="none" w="med" len="med"/>
            <a:tailEnd type="none" w="med" len="med"/>
          </a:ln>
        </p:spPr>
      </p:cxnSp>
      <p:cxnSp>
        <p:nvCxnSpPr>
          <p:cNvPr id="499" name="Google Shape;499;p28"/>
          <p:cNvCxnSpPr/>
          <p:nvPr/>
        </p:nvCxnSpPr>
        <p:spPr>
          <a:xfrm rot="10800000" flipH="1">
            <a:off x="14667350" y="6171700"/>
            <a:ext cx="1501800" cy="5100"/>
          </a:xfrm>
          <a:prstGeom prst="straightConnector1">
            <a:avLst/>
          </a:prstGeom>
          <a:noFill/>
          <a:ln w="38100" cap="flat" cmpd="sng">
            <a:solidFill>
              <a:srgbClr val="980000"/>
            </a:solidFill>
            <a:prstDash val="solid"/>
            <a:round/>
            <a:headEnd type="none" w="med" len="med"/>
            <a:tailEnd type="none" w="med" len="med"/>
          </a:ln>
        </p:spPr>
      </p:cxnSp>
      <p:cxnSp>
        <p:nvCxnSpPr>
          <p:cNvPr id="500" name="Google Shape;500;p28"/>
          <p:cNvCxnSpPr/>
          <p:nvPr/>
        </p:nvCxnSpPr>
        <p:spPr>
          <a:xfrm rot="10800000" flipH="1">
            <a:off x="9287400" y="6758775"/>
            <a:ext cx="1518900" cy="3000"/>
          </a:xfrm>
          <a:prstGeom prst="straightConnector1">
            <a:avLst/>
          </a:prstGeom>
          <a:noFill/>
          <a:ln w="38100" cap="flat" cmpd="sng">
            <a:solidFill>
              <a:srgbClr val="980000"/>
            </a:solidFill>
            <a:prstDash val="solid"/>
            <a:round/>
            <a:headEnd type="none" w="med" len="med"/>
            <a:tailEnd type="none" w="med" len="med"/>
          </a:ln>
        </p:spPr>
      </p:cxnSp>
      <p:cxnSp>
        <p:nvCxnSpPr>
          <p:cNvPr id="501" name="Google Shape;501;p28"/>
          <p:cNvCxnSpPr/>
          <p:nvPr/>
        </p:nvCxnSpPr>
        <p:spPr>
          <a:xfrm rot="10800000" flipH="1">
            <a:off x="11311925" y="6767575"/>
            <a:ext cx="2188500" cy="5100"/>
          </a:xfrm>
          <a:prstGeom prst="straightConnector1">
            <a:avLst/>
          </a:prstGeom>
          <a:noFill/>
          <a:ln w="38100" cap="flat" cmpd="sng">
            <a:solidFill>
              <a:srgbClr val="980000"/>
            </a:solidFill>
            <a:prstDash val="solid"/>
            <a:round/>
            <a:headEnd type="none" w="med" len="med"/>
            <a:tailEnd type="none" w="med" len="med"/>
          </a:ln>
        </p:spPr>
      </p:cxnSp>
      <p:pic>
        <p:nvPicPr>
          <p:cNvPr id="502" name="Google Shape;502;p28" title="Q15 Part 3.MP3">
            <a:hlinkClick r:id="rId4"/>
          </p:cNvPr>
          <p:cNvPicPr preferRelativeResize="0"/>
          <p:nvPr/>
        </p:nvPicPr>
        <p:blipFill>
          <a:blip r:embed="rId5">
            <a:alphaModFix/>
          </a:blip>
          <a:stretch>
            <a:fillRect/>
          </a:stretch>
        </p:blipFill>
        <p:spPr>
          <a:xfrm>
            <a:off x="13044375" y="7404516"/>
            <a:ext cx="782375" cy="7823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90"/>
                                        </p:tgtEl>
                                        <p:attrNameLst>
                                          <p:attrName>style.visibility</p:attrName>
                                        </p:attrNameLst>
                                      </p:cBhvr>
                                      <p:to>
                                        <p:strVal val="visible"/>
                                      </p:to>
                                    </p:set>
                                    <p:animEffect transition="in" filter="fade">
                                      <p:cBhvr>
                                        <p:cTn id="7" dur="500"/>
                                        <p:tgtEl>
                                          <p:spTgt spid="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cxnSp>
        <p:nvCxnSpPr>
          <p:cNvPr id="508" name="Google Shape;508;p29"/>
          <p:cNvCxnSpPr/>
          <p:nvPr/>
        </p:nvCxnSpPr>
        <p:spPr>
          <a:xfrm rot="10800000" flipH="1">
            <a:off x="4572001" y="1220575"/>
            <a:ext cx="9909000" cy="50400"/>
          </a:xfrm>
          <a:prstGeom prst="straightConnector1">
            <a:avLst/>
          </a:prstGeom>
          <a:noFill/>
          <a:ln w="38100" cap="flat" cmpd="sng">
            <a:solidFill>
              <a:srgbClr val="018345"/>
            </a:solidFill>
            <a:prstDash val="solid"/>
            <a:round/>
            <a:headEnd type="none" w="sm" len="sm"/>
            <a:tailEnd type="none" w="sm" len="sm"/>
          </a:ln>
        </p:spPr>
      </p:cxnSp>
      <p:grpSp>
        <p:nvGrpSpPr>
          <p:cNvPr id="509" name="Google Shape;509;p29"/>
          <p:cNvGrpSpPr/>
          <p:nvPr/>
        </p:nvGrpSpPr>
        <p:grpSpPr>
          <a:xfrm rot="10800000">
            <a:off x="15785084" y="-536938"/>
            <a:ext cx="7681773" cy="4260605"/>
            <a:chOff x="0" y="-38100"/>
            <a:chExt cx="406400" cy="225405"/>
          </a:xfrm>
        </p:grpSpPr>
        <p:sp>
          <p:nvSpPr>
            <p:cNvPr id="510" name="Google Shape;510;p29"/>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11" name="Google Shape;511;p29"/>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512" name="Google Shape;512;p29"/>
          <p:cNvSpPr/>
          <p:nvPr/>
        </p:nvSpPr>
        <p:spPr>
          <a:xfrm>
            <a:off x="18099269" y="1809027"/>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grpSp>
        <p:nvGrpSpPr>
          <p:cNvPr id="513" name="Google Shape;513;p29"/>
          <p:cNvGrpSpPr/>
          <p:nvPr/>
        </p:nvGrpSpPr>
        <p:grpSpPr>
          <a:xfrm>
            <a:off x="-2718010" y="9274530"/>
            <a:ext cx="7950378" cy="1707223"/>
            <a:chOff x="0" y="-384760"/>
            <a:chExt cx="10600504" cy="2276297"/>
          </a:xfrm>
        </p:grpSpPr>
        <p:grpSp>
          <p:nvGrpSpPr>
            <p:cNvPr id="514" name="Google Shape;514;p29"/>
            <p:cNvGrpSpPr/>
            <p:nvPr/>
          </p:nvGrpSpPr>
          <p:grpSpPr>
            <a:xfrm>
              <a:off x="0" y="-384760"/>
              <a:ext cx="10600504" cy="2276297"/>
              <a:chOff x="0" y="-38100"/>
              <a:chExt cx="1049690" cy="225405"/>
            </a:xfrm>
          </p:grpSpPr>
          <p:sp>
            <p:nvSpPr>
              <p:cNvPr id="515" name="Google Shape;515;p29"/>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516" name="Google Shape;516;p29"/>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517" name="Google Shape;517;p29"/>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
        <p:nvSpPr>
          <p:cNvPr id="518" name="Google Shape;518;p29"/>
          <p:cNvSpPr txBox="1"/>
          <p:nvPr/>
        </p:nvSpPr>
        <p:spPr>
          <a:xfrm>
            <a:off x="3345397" y="297175"/>
            <a:ext cx="11880900" cy="923400"/>
          </a:xfrm>
          <a:prstGeom prst="rect">
            <a:avLst/>
          </a:prstGeom>
          <a:noFill/>
          <a:ln>
            <a:noFill/>
          </a:ln>
        </p:spPr>
        <p:txBody>
          <a:bodyPr spcFirstLastPara="1" wrap="square" lIns="0" tIns="0" rIns="0" bIns="0" anchor="t" anchorCtr="0">
            <a:spAutoFit/>
          </a:bodyPr>
          <a:lstStyle/>
          <a:p>
            <a:pPr marL="0" marR="0" lvl="0" indent="0" algn="ctr" rtl="0">
              <a:lnSpc>
                <a:spcPct val="123833"/>
              </a:lnSpc>
              <a:spcBef>
                <a:spcPts val="0"/>
              </a:spcBef>
              <a:spcAft>
                <a:spcPts val="0"/>
              </a:spcAft>
              <a:buNone/>
            </a:pPr>
            <a:r>
              <a:rPr lang="en-US" sz="6000" b="1">
                <a:solidFill>
                  <a:srgbClr val="018345"/>
                </a:solidFill>
                <a:latin typeface="Montserrat"/>
                <a:ea typeface="Montserrat"/>
                <a:cs typeface="Montserrat"/>
                <a:sym typeface="Montserrat"/>
              </a:rPr>
              <a:t>Đề mẫu</a:t>
            </a:r>
            <a:endParaRPr sz="6000" b="1">
              <a:solidFill>
                <a:srgbClr val="018345"/>
              </a:solidFill>
              <a:latin typeface="Montserrat"/>
              <a:ea typeface="Montserrat"/>
              <a:cs typeface="Montserrat"/>
              <a:sym typeface="Montserrat"/>
            </a:endParaRPr>
          </a:p>
        </p:txBody>
      </p:sp>
      <p:sp>
        <p:nvSpPr>
          <p:cNvPr id="519" name="Google Shape;519;p29"/>
          <p:cNvSpPr txBox="1"/>
          <p:nvPr/>
        </p:nvSpPr>
        <p:spPr>
          <a:xfrm>
            <a:off x="822600" y="1441650"/>
            <a:ext cx="16642800" cy="8558100"/>
          </a:xfrm>
          <a:prstGeom prst="rect">
            <a:avLst/>
          </a:prstGeom>
          <a:noFill/>
          <a:ln>
            <a:noFill/>
          </a:ln>
        </p:spPr>
        <p:txBody>
          <a:bodyPr spcFirstLastPara="1" wrap="square" lIns="91425" tIns="45700" rIns="91425" bIns="45700" anchor="t" anchorCtr="0">
            <a:spAutoFit/>
          </a:bodyPr>
          <a:lstStyle/>
          <a:p>
            <a:pPr marL="0" lvl="0" indent="0" algn="l" rtl="0">
              <a:lnSpc>
                <a:spcPct val="150000"/>
              </a:lnSpc>
              <a:spcBef>
                <a:spcPts val="0"/>
              </a:spcBef>
              <a:spcAft>
                <a:spcPts val="0"/>
              </a:spcAft>
              <a:buNone/>
            </a:pPr>
            <a:r>
              <a:rPr lang="en-US" sz="2500" b="1">
                <a:solidFill>
                  <a:schemeClr val="dk1"/>
                </a:solidFill>
                <a:latin typeface="Roboto"/>
                <a:ea typeface="Roboto"/>
                <a:cs typeface="Roboto"/>
                <a:sym typeface="Roboto"/>
              </a:rPr>
              <a:t>Opinion 1: 2. Woman</a:t>
            </a:r>
            <a:endParaRPr sz="2500" b="1">
              <a:solidFill>
                <a:schemeClr val="dk1"/>
              </a:solidFill>
              <a:latin typeface="Roboto"/>
              <a:ea typeface="Roboto"/>
              <a:cs typeface="Roboto"/>
              <a:sym typeface="Roboto"/>
            </a:endParaRPr>
          </a:p>
          <a:p>
            <a:pPr marL="457200" lvl="0" indent="0" algn="l" rtl="0">
              <a:lnSpc>
                <a:spcPct val="150000"/>
              </a:lnSpc>
              <a:spcBef>
                <a:spcPts val="0"/>
              </a:spcBef>
              <a:spcAft>
                <a:spcPts val="0"/>
              </a:spcAft>
              <a:buNone/>
            </a:pPr>
            <a:r>
              <a:rPr lang="en-US" sz="2500" b="1">
                <a:solidFill>
                  <a:schemeClr val="dk1"/>
                </a:solidFill>
                <a:latin typeface="Roboto"/>
                <a:ea typeface="Roboto"/>
                <a:cs typeface="Roboto"/>
                <a:sym typeface="Roboto"/>
              </a:rPr>
              <a:t>The woman:</a:t>
            </a:r>
            <a:r>
              <a:rPr lang="en-US" sz="2500">
                <a:solidFill>
                  <a:schemeClr val="dk1"/>
                </a:solidFill>
                <a:latin typeface="Roboto"/>
                <a:ea typeface="Roboto"/>
                <a:cs typeface="Roboto"/>
                <a:sym typeface="Roboto"/>
              </a:rPr>
              <a:t> “...</a:t>
            </a:r>
            <a:r>
              <a:rPr lang="en-US" sz="2500">
                <a:solidFill>
                  <a:srgbClr val="0A0A0A"/>
                </a:solidFill>
                <a:latin typeface="Roboto"/>
                <a:ea typeface="Roboto"/>
                <a:cs typeface="Roboto"/>
                <a:sym typeface="Roboto"/>
              </a:rPr>
              <a:t>Yes, but obviously there are </a:t>
            </a:r>
            <a:r>
              <a:rPr lang="en-US" sz="2500" b="1">
                <a:solidFill>
                  <a:srgbClr val="FF0000"/>
                </a:solidFill>
                <a:latin typeface="Roboto"/>
                <a:ea typeface="Roboto"/>
                <a:cs typeface="Roboto"/>
                <a:sym typeface="Roboto"/>
              </a:rPr>
              <a:t>fewer of those positions available</a:t>
            </a:r>
            <a:r>
              <a:rPr lang="en-US" sz="2500">
                <a:solidFill>
                  <a:srgbClr val="0A0A0A"/>
                </a:solidFill>
                <a:latin typeface="Roboto"/>
                <a:ea typeface="Roboto"/>
                <a:cs typeface="Roboto"/>
                <a:sym typeface="Roboto"/>
              </a:rPr>
              <a:t>. You have to wait a long time for something to open up…”</a:t>
            </a:r>
            <a:endParaRPr sz="2500">
              <a:solidFill>
                <a:schemeClr val="dk1"/>
              </a:solidFill>
              <a:latin typeface="Roboto"/>
              <a:ea typeface="Roboto"/>
              <a:cs typeface="Roboto"/>
              <a:sym typeface="Roboto"/>
            </a:endParaRPr>
          </a:p>
          <a:p>
            <a:pPr marL="0" lvl="0" indent="0" algn="l" rtl="0">
              <a:lnSpc>
                <a:spcPct val="150000"/>
              </a:lnSpc>
              <a:spcBef>
                <a:spcPts val="0"/>
              </a:spcBef>
              <a:spcAft>
                <a:spcPts val="0"/>
              </a:spcAft>
              <a:buNone/>
            </a:pPr>
            <a:r>
              <a:rPr lang="en-US" sz="2500" b="1">
                <a:solidFill>
                  <a:schemeClr val="dk1"/>
                </a:solidFill>
                <a:latin typeface="Roboto"/>
                <a:ea typeface="Roboto"/>
                <a:cs typeface="Roboto"/>
                <a:sym typeface="Roboto"/>
              </a:rPr>
              <a:t>Opinion 2: 2. Woman</a:t>
            </a:r>
            <a:endParaRPr sz="2500" b="1">
              <a:solidFill>
                <a:schemeClr val="dk1"/>
              </a:solidFill>
              <a:latin typeface="Roboto"/>
              <a:ea typeface="Roboto"/>
              <a:cs typeface="Roboto"/>
              <a:sym typeface="Roboto"/>
            </a:endParaRPr>
          </a:p>
          <a:p>
            <a:pPr marL="457200" lvl="0" indent="0" algn="l" rtl="0">
              <a:lnSpc>
                <a:spcPct val="150000"/>
              </a:lnSpc>
              <a:spcBef>
                <a:spcPts val="0"/>
              </a:spcBef>
              <a:spcAft>
                <a:spcPts val="0"/>
              </a:spcAft>
              <a:buClr>
                <a:schemeClr val="dk1"/>
              </a:buClr>
              <a:buSzPts val="1100"/>
              <a:buFont typeface="Arial"/>
              <a:buNone/>
            </a:pPr>
            <a:r>
              <a:rPr lang="en-US" sz="2500" b="1">
                <a:solidFill>
                  <a:schemeClr val="dk1"/>
                </a:solidFill>
                <a:latin typeface="Roboto"/>
                <a:ea typeface="Roboto"/>
                <a:cs typeface="Roboto"/>
                <a:sym typeface="Roboto"/>
              </a:rPr>
              <a:t>The woman: </a:t>
            </a:r>
            <a:r>
              <a:rPr lang="en-US" sz="2500">
                <a:solidFill>
                  <a:schemeClr val="dk1"/>
                </a:solidFill>
                <a:latin typeface="Roboto"/>
                <a:ea typeface="Roboto"/>
                <a:cs typeface="Roboto"/>
                <a:sym typeface="Roboto"/>
              </a:rPr>
              <a:t>“...You can start out in one department and move on to another, </a:t>
            </a:r>
            <a:r>
              <a:rPr lang="en-US" sz="2500" b="1">
                <a:solidFill>
                  <a:srgbClr val="FF0000"/>
                </a:solidFill>
                <a:latin typeface="Roboto"/>
                <a:ea typeface="Roboto"/>
                <a:cs typeface="Roboto"/>
                <a:sym typeface="Roboto"/>
              </a:rPr>
              <a:t>learn new things and develop new skills and expertise. All that is encouraged by the management</a:t>
            </a:r>
            <a:r>
              <a:rPr lang="en-US" sz="2500">
                <a:solidFill>
                  <a:schemeClr val="dk1"/>
                </a:solidFill>
                <a:latin typeface="Roboto"/>
                <a:ea typeface="Roboto"/>
                <a:cs typeface="Roboto"/>
                <a:sym typeface="Roboto"/>
              </a:rPr>
              <a:t>.</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marL="0" lvl="0" indent="0" algn="l" rtl="0">
              <a:lnSpc>
                <a:spcPct val="150000"/>
              </a:lnSpc>
              <a:spcBef>
                <a:spcPts val="0"/>
              </a:spcBef>
              <a:spcAft>
                <a:spcPts val="0"/>
              </a:spcAft>
              <a:buNone/>
            </a:pPr>
            <a:r>
              <a:rPr lang="en-US" sz="2500" b="1">
                <a:solidFill>
                  <a:schemeClr val="dk1"/>
                </a:solidFill>
                <a:latin typeface="Roboto"/>
                <a:ea typeface="Roboto"/>
                <a:cs typeface="Roboto"/>
                <a:sym typeface="Roboto"/>
              </a:rPr>
              <a:t>Opinion 3: 1. Man</a:t>
            </a:r>
            <a:endParaRPr sz="2500" b="1">
              <a:solidFill>
                <a:schemeClr val="dk1"/>
              </a:solidFill>
              <a:latin typeface="Roboto"/>
              <a:ea typeface="Roboto"/>
              <a:cs typeface="Roboto"/>
              <a:sym typeface="Roboto"/>
            </a:endParaRPr>
          </a:p>
          <a:p>
            <a:pPr marL="457200" lvl="0" indent="0" algn="l" rtl="0">
              <a:lnSpc>
                <a:spcPct val="150000"/>
              </a:lnSpc>
              <a:spcBef>
                <a:spcPts val="0"/>
              </a:spcBef>
              <a:spcAft>
                <a:spcPts val="0"/>
              </a:spcAft>
              <a:buNone/>
            </a:pPr>
            <a:r>
              <a:rPr lang="en-US" sz="2500" b="1">
                <a:solidFill>
                  <a:srgbClr val="0A0A0A"/>
                </a:solidFill>
                <a:latin typeface="Roboto"/>
                <a:ea typeface="Roboto"/>
                <a:cs typeface="Roboto"/>
                <a:sym typeface="Roboto"/>
              </a:rPr>
              <a:t>The man:</a:t>
            </a:r>
            <a:r>
              <a:rPr lang="en-US" sz="2500">
                <a:solidFill>
                  <a:srgbClr val="0A0A0A"/>
                </a:solidFill>
                <a:latin typeface="Roboto"/>
                <a:ea typeface="Roboto"/>
                <a:cs typeface="Roboto"/>
                <a:sym typeface="Roboto"/>
              </a:rPr>
              <a:t> “training budgets are usually the first thing to be cut in times of economic uncertainty. </a:t>
            </a:r>
            <a:r>
              <a:rPr lang="en-US" sz="2500" b="1">
                <a:solidFill>
                  <a:srgbClr val="FF0000"/>
                </a:solidFill>
                <a:latin typeface="Roboto"/>
                <a:ea typeface="Roboto"/>
                <a:cs typeface="Roboto"/>
                <a:sym typeface="Roboto"/>
              </a:rPr>
              <a:t>Ultimately, the company wants you to do the job they hired you for.</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marL="0" lvl="0" indent="0" algn="l" rtl="0">
              <a:lnSpc>
                <a:spcPct val="150000"/>
              </a:lnSpc>
              <a:spcBef>
                <a:spcPts val="0"/>
              </a:spcBef>
              <a:spcAft>
                <a:spcPts val="0"/>
              </a:spcAft>
              <a:buNone/>
            </a:pPr>
            <a:r>
              <a:rPr lang="en-US" sz="2500" b="1">
                <a:solidFill>
                  <a:schemeClr val="dk1"/>
                </a:solidFill>
                <a:latin typeface="Roboto"/>
                <a:ea typeface="Roboto"/>
                <a:cs typeface="Roboto"/>
                <a:sym typeface="Roboto"/>
              </a:rPr>
              <a:t>Opinion 4: 3. Both</a:t>
            </a:r>
            <a:endParaRPr sz="2500" b="1">
              <a:solidFill>
                <a:schemeClr val="dk1"/>
              </a:solidFill>
              <a:latin typeface="Roboto"/>
              <a:ea typeface="Roboto"/>
              <a:cs typeface="Roboto"/>
              <a:sym typeface="Roboto"/>
            </a:endParaRPr>
          </a:p>
          <a:p>
            <a:pPr marL="457200" lvl="0" indent="0" algn="l" rtl="0">
              <a:lnSpc>
                <a:spcPct val="150000"/>
              </a:lnSpc>
              <a:spcBef>
                <a:spcPts val="0"/>
              </a:spcBef>
              <a:spcAft>
                <a:spcPts val="0"/>
              </a:spcAft>
              <a:buNone/>
            </a:pPr>
            <a:r>
              <a:rPr lang="en-US" sz="2500" b="1">
                <a:solidFill>
                  <a:srgbClr val="0A0A0A"/>
                </a:solidFill>
                <a:latin typeface="Roboto"/>
                <a:ea typeface="Roboto"/>
                <a:cs typeface="Roboto"/>
                <a:sym typeface="Roboto"/>
              </a:rPr>
              <a:t>The woman:</a:t>
            </a:r>
            <a:r>
              <a:rPr lang="en-US" sz="2500">
                <a:solidFill>
                  <a:srgbClr val="0A0A0A"/>
                </a:solidFill>
                <a:latin typeface="Roboto"/>
                <a:ea typeface="Roboto"/>
                <a:cs typeface="Roboto"/>
                <a:sym typeface="Roboto"/>
              </a:rPr>
              <a:t> “I think name recognition is important. The leaders in every industry are always the big organisations, and </a:t>
            </a:r>
            <a:r>
              <a:rPr lang="en-US" sz="2500" b="1">
                <a:solidFill>
                  <a:srgbClr val="FF0000"/>
                </a:solidFill>
                <a:latin typeface="Roboto"/>
                <a:ea typeface="Roboto"/>
                <a:cs typeface="Roboto"/>
                <a:sym typeface="Roboto"/>
              </a:rPr>
              <a:t>those names have a certain status value.</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marL="457200" lvl="0" indent="0" algn="l" rtl="0">
              <a:lnSpc>
                <a:spcPct val="150000"/>
              </a:lnSpc>
              <a:spcBef>
                <a:spcPts val="0"/>
              </a:spcBef>
              <a:spcAft>
                <a:spcPts val="0"/>
              </a:spcAft>
              <a:buNone/>
            </a:pPr>
            <a:r>
              <a:rPr lang="en-US" sz="2500" b="1">
                <a:solidFill>
                  <a:srgbClr val="0A0A0A"/>
                </a:solidFill>
                <a:latin typeface="Roboto"/>
                <a:ea typeface="Roboto"/>
                <a:cs typeface="Roboto"/>
                <a:sym typeface="Roboto"/>
              </a:rPr>
              <a:t>The man: </a:t>
            </a:r>
            <a:r>
              <a:rPr lang="en-US" sz="2500">
                <a:solidFill>
                  <a:srgbClr val="0A0A0A"/>
                </a:solidFill>
                <a:latin typeface="Roboto"/>
                <a:ea typeface="Roboto"/>
                <a:cs typeface="Roboto"/>
                <a:sym typeface="Roboto"/>
              </a:rPr>
              <a:t>If nobody's heard of your organisation, it can be difficult to </a:t>
            </a:r>
            <a:r>
              <a:rPr lang="en-US" sz="2500" b="1">
                <a:solidFill>
                  <a:srgbClr val="FF0000"/>
                </a:solidFill>
                <a:latin typeface="Roboto"/>
                <a:ea typeface="Roboto"/>
                <a:cs typeface="Roboto"/>
                <a:sym typeface="Roboto"/>
              </a:rPr>
              <a:t>get the attention of new clients</a:t>
            </a:r>
            <a:r>
              <a:rPr lang="en-US" sz="2500">
                <a:solidFill>
                  <a:srgbClr val="0A0A0A"/>
                </a:solidFill>
                <a:latin typeface="Roboto"/>
                <a:ea typeface="Roboto"/>
                <a:cs typeface="Roboto"/>
                <a:sym typeface="Roboto"/>
              </a:rPr>
              <a:t>. Obviously, the big firms will always </a:t>
            </a:r>
            <a:r>
              <a:rPr lang="en-US" sz="2500" b="1">
                <a:solidFill>
                  <a:srgbClr val="FF0000"/>
                </a:solidFill>
                <a:latin typeface="Roboto"/>
                <a:ea typeface="Roboto"/>
                <a:cs typeface="Roboto"/>
                <a:sym typeface="Roboto"/>
              </a:rPr>
              <a:t>attract interest because of their name</a:t>
            </a:r>
            <a:r>
              <a:rPr lang="en-US" sz="2500">
                <a:solidFill>
                  <a:srgbClr val="0A0A0A"/>
                </a:solidFill>
                <a:latin typeface="Roboto"/>
                <a:ea typeface="Roboto"/>
                <a:cs typeface="Roboto"/>
                <a:sym typeface="Roboto"/>
              </a:rPr>
              <a:t>.</a:t>
            </a:r>
            <a:endParaRPr sz="2500">
              <a:solidFill>
                <a:srgbClr val="0A0A0A"/>
              </a:solidFill>
              <a:latin typeface="Roboto"/>
              <a:ea typeface="Roboto"/>
              <a:cs typeface="Roboto"/>
              <a:sym typeface="Roboto"/>
            </a:endParaRPr>
          </a:p>
          <a:p>
            <a:pPr marL="457200" lvl="0" indent="0" algn="l" rtl="0">
              <a:lnSpc>
                <a:spcPct val="150000"/>
              </a:lnSpc>
              <a:spcBef>
                <a:spcPts val="0"/>
              </a:spcBef>
              <a:spcAft>
                <a:spcPts val="0"/>
              </a:spcAft>
              <a:buNone/>
            </a:pPr>
            <a:endParaRPr sz="2500">
              <a:solidFill>
                <a:srgbClr val="0A0A0A"/>
              </a:solidFill>
              <a:latin typeface="Roboto"/>
              <a:ea typeface="Roboto"/>
              <a:cs typeface="Roboto"/>
              <a:sym typeface="Robo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8"/>
                                        </p:tgtEl>
                                        <p:attrNameLst>
                                          <p:attrName>style.visibility</p:attrName>
                                        </p:attrNameLst>
                                      </p:cBhvr>
                                      <p:to>
                                        <p:strVal val="visible"/>
                                      </p:to>
                                    </p:set>
                                    <p:animEffect transition="in" filter="fade">
                                      <p:cBhvr>
                                        <p:cTn id="7" dur="500"/>
                                        <p:tgtEl>
                                          <p:spTgt spid="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cxnSp>
        <p:nvCxnSpPr>
          <p:cNvPr id="525" name="Google Shape;525;p30"/>
          <p:cNvCxnSpPr/>
          <p:nvPr/>
        </p:nvCxnSpPr>
        <p:spPr>
          <a:xfrm rot="10800000" flipH="1">
            <a:off x="6209270" y="1619400"/>
            <a:ext cx="11243700" cy="18900"/>
          </a:xfrm>
          <a:prstGeom prst="straightConnector1">
            <a:avLst/>
          </a:prstGeom>
          <a:noFill/>
          <a:ln w="38100" cap="flat" cmpd="sng">
            <a:solidFill>
              <a:srgbClr val="018345"/>
            </a:solidFill>
            <a:prstDash val="solid"/>
            <a:round/>
            <a:headEnd type="none" w="sm" len="sm"/>
            <a:tailEnd type="none" w="sm" len="sm"/>
          </a:ln>
        </p:spPr>
      </p:cxnSp>
      <p:cxnSp>
        <p:nvCxnSpPr>
          <p:cNvPr id="526" name="Google Shape;526;p30"/>
          <p:cNvCxnSpPr/>
          <p:nvPr/>
        </p:nvCxnSpPr>
        <p:spPr>
          <a:xfrm>
            <a:off x="-249883" y="5124450"/>
            <a:ext cx="5303400" cy="0"/>
          </a:xfrm>
          <a:prstGeom prst="straightConnector1">
            <a:avLst/>
          </a:prstGeom>
          <a:noFill/>
          <a:ln w="38100" cap="flat" cmpd="sng">
            <a:solidFill>
              <a:srgbClr val="FFFFFF"/>
            </a:solidFill>
            <a:prstDash val="solid"/>
            <a:round/>
            <a:headEnd type="none" w="sm" len="sm"/>
            <a:tailEnd type="none" w="sm" len="sm"/>
          </a:ln>
        </p:spPr>
      </p:cxnSp>
      <p:grpSp>
        <p:nvGrpSpPr>
          <p:cNvPr id="527" name="Google Shape;527;p30"/>
          <p:cNvGrpSpPr/>
          <p:nvPr/>
        </p:nvGrpSpPr>
        <p:grpSpPr>
          <a:xfrm rot="10800000">
            <a:off x="15785084" y="-536938"/>
            <a:ext cx="7681773" cy="4260605"/>
            <a:chOff x="0" y="-38100"/>
            <a:chExt cx="406400" cy="225405"/>
          </a:xfrm>
        </p:grpSpPr>
        <p:sp>
          <p:nvSpPr>
            <p:cNvPr id="528" name="Google Shape;528;p30"/>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29" name="Google Shape;529;p30"/>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530" name="Google Shape;530;p30"/>
          <p:cNvSpPr/>
          <p:nvPr/>
        </p:nvSpPr>
        <p:spPr>
          <a:xfrm>
            <a:off x="18099269" y="1809027"/>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531" name="Google Shape;531;p30"/>
          <p:cNvSpPr txBox="1"/>
          <p:nvPr/>
        </p:nvSpPr>
        <p:spPr>
          <a:xfrm>
            <a:off x="5571910" y="401132"/>
            <a:ext cx="11880900" cy="923400"/>
          </a:xfrm>
          <a:prstGeom prst="rect">
            <a:avLst/>
          </a:prstGeom>
          <a:noFill/>
          <a:ln>
            <a:noFill/>
          </a:ln>
        </p:spPr>
        <p:txBody>
          <a:bodyPr spcFirstLastPara="1" wrap="square" lIns="0" tIns="0" rIns="0" bIns="0" anchor="t" anchorCtr="0">
            <a:spAutoFit/>
          </a:bodyPr>
          <a:lstStyle/>
          <a:p>
            <a:pPr marL="0" marR="0" lvl="0" indent="0" algn="ctr" rtl="0">
              <a:lnSpc>
                <a:spcPct val="123833"/>
              </a:lnSpc>
              <a:spcBef>
                <a:spcPts val="0"/>
              </a:spcBef>
              <a:spcAft>
                <a:spcPts val="0"/>
              </a:spcAft>
              <a:buNone/>
            </a:pPr>
            <a:r>
              <a:rPr lang="en-US" sz="6000" b="1">
                <a:solidFill>
                  <a:srgbClr val="018345"/>
                </a:solidFill>
                <a:latin typeface="Montserrat"/>
                <a:ea typeface="Montserrat"/>
                <a:cs typeface="Montserrat"/>
                <a:sym typeface="Montserrat"/>
              </a:rPr>
              <a:t>Từ vựng và cấu trúc</a:t>
            </a:r>
            <a:endParaRPr sz="6000" b="1">
              <a:solidFill>
                <a:srgbClr val="018345"/>
              </a:solidFill>
              <a:latin typeface="Montserrat"/>
              <a:ea typeface="Montserrat"/>
              <a:cs typeface="Montserrat"/>
              <a:sym typeface="Montserrat"/>
            </a:endParaRPr>
          </a:p>
        </p:txBody>
      </p:sp>
      <p:grpSp>
        <p:nvGrpSpPr>
          <p:cNvPr id="532" name="Google Shape;532;p30"/>
          <p:cNvGrpSpPr/>
          <p:nvPr/>
        </p:nvGrpSpPr>
        <p:grpSpPr>
          <a:xfrm>
            <a:off x="-2718010" y="9274530"/>
            <a:ext cx="7950378" cy="1707223"/>
            <a:chOff x="0" y="-384760"/>
            <a:chExt cx="10600504" cy="2276297"/>
          </a:xfrm>
        </p:grpSpPr>
        <p:grpSp>
          <p:nvGrpSpPr>
            <p:cNvPr id="533" name="Google Shape;533;p30"/>
            <p:cNvGrpSpPr/>
            <p:nvPr/>
          </p:nvGrpSpPr>
          <p:grpSpPr>
            <a:xfrm>
              <a:off x="0" y="-384760"/>
              <a:ext cx="10600504" cy="2276297"/>
              <a:chOff x="0" y="-38100"/>
              <a:chExt cx="1049690" cy="225405"/>
            </a:xfrm>
          </p:grpSpPr>
          <p:sp>
            <p:nvSpPr>
              <p:cNvPr id="534" name="Google Shape;534;p30"/>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535" name="Google Shape;535;p30"/>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536" name="Google Shape;536;p30"/>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
        <p:nvSpPr>
          <p:cNvPr id="537" name="Google Shape;537;p30"/>
          <p:cNvSpPr txBox="1"/>
          <p:nvPr/>
        </p:nvSpPr>
        <p:spPr>
          <a:xfrm>
            <a:off x="6671038" y="2132648"/>
            <a:ext cx="10990800" cy="6864900"/>
          </a:xfrm>
          <a:prstGeom prst="rect">
            <a:avLst/>
          </a:prstGeom>
          <a:noFill/>
          <a:ln>
            <a:noFill/>
          </a:ln>
        </p:spPr>
        <p:txBody>
          <a:bodyPr spcFirstLastPara="1" wrap="square" lIns="91425" tIns="45700" rIns="91425" bIns="45700" anchor="t" anchorCtr="0">
            <a:spAutoFit/>
          </a:bodyPr>
          <a:lstStyle/>
          <a:p>
            <a:pPr marL="571500" marR="0" lvl="0" indent="-571500" algn="l" rtl="0">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Promotion chances:  </a:t>
            </a:r>
            <a:r>
              <a:rPr lang="en-US" sz="4400">
                <a:latin typeface="Calibri"/>
                <a:ea typeface="Calibri"/>
                <a:cs typeface="Calibri"/>
                <a:sym typeface="Calibri"/>
              </a:rPr>
              <a:t>Cơ hội thăng tiến</a:t>
            </a:r>
            <a:endParaRPr sz="4400">
              <a:latin typeface="Calibri"/>
              <a:ea typeface="Calibri"/>
              <a:cs typeface="Calibri"/>
              <a:sym typeface="Calibri"/>
            </a:endParaRPr>
          </a:p>
          <a:p>
            <a:pPr marL="571500" marR="0" lvl="0" indent="-571500" algn="l" rtl="0">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Expertise: </a:t>
            </a:r>
            <a:r>
              <a:rPr lang="en-US" sz="4400">
                <a:solidFill>
                  <a:schemeClr val="dk1"/>
                </a:solidFill>
                <a:latin typeface="Calibri"/>
                <a:ea typeface="Calibri"/>
                <a:cs typeface="Calibri"/>
                <a:sym typeface="Calibri"/>
              </a:rPr>
              <a:t>Chuyên môn</a:t>
            </a:r>
            <a:endParaRPr sz="4400">
              <a:solidFill>
                <a:schemeClr val="dk1"/>
              </a:solidFill>
              <a:latin typeface="Calibri"/>
              <a:ea typeface="Calibri"/>
              <a:cs typeface="Calibri"/>
              <a:sym typeface="Calibri"/>
            </a:endParaRPr>
          </a:p>
          <a:p>
            <a:pPr marL="571500" marR="0" lvl="0" indent="-571500" algn="l" rtl="0">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Encourage: </a:t>
            </a:r>
            <a:r>
              <a:rPr lang="en-US" sz="4400">
                <a:solidFill>
                  <a:schemeClr val="dk1"/>
                </a:solidFill>
                <a:latin typeface="Calibri"/>
                <a:ea typeface="Calibri"/>
                <a:cs typeface="Calibri"/>
                <a:sym typeface="Calibri"/>
              </a:rPr>
              <a:t>Khuyến khích</a:t>
            </a:r>
            <a:endParaRPr sz="4400">
              <a:solidFill>
                <a:schemeClr val="dk1"/>
              </a:solidFill>
              <a:latin typeface="Calibri"/>
              <a:ea typeface="Calibri"/>
              <a:cs typeface="Calibri"/>
              <a:sym typeface="Calibri"/>
            </a:endParaRPr>
          </a:p>
          <a:p>
            <a:pPr marL="571500" marR="0" lvl="0" indent="-571500" algn="l" rtl="0">
              <a:lnSpc>
                <a:spcPct val="150000"/>
              </a:lnSpc>
              <a:spcBef>
                <a:spcPts val="0"/>
              </a:spcBef>
              <a:spcAft>
                <a:spcPts val="0"/>
              </a:spcAft>
              <a:buClr>
                <a:srgbClr val="018345"/>
              </a:buClr>
              <a:buSzPts val="4400"/>
              <a:buFont typeface="Arial"/>
              <a:buChar char="•"/>
            </a:pPr>
            <a:r>
              <a:rPr lang="en-US" sz="4400">
                <a:solidFill>
                  <a:srgbClr val="018345"/>
                </a:solidFill>
                <a:latin typeface="Calibri"/>
                <a:ea typeface="Calibri"/>
                <a:cs typeface="Calibri"/>
                <a:sym typeface="Calibri"/>
              </a:rPr>
              <a:t>Management: </a:t>
            </a:r>
            <a:r>
              <a:rPr lang="en-US" sz="4400">
                <a:solidFill>
                  <a:schemeClr val="dk1"/>
                </a:solidFill>
                <a:latin typeface="Calibri"/>
                <a:ea typeface="Calibri"/>
                <a:cs typeface="Calibri"/>
                <a:sym typeface="Calibri"/>
              </a:rPr>
              <a:t>Quản lý</a:t>
            </a:r>
            <a:endParaRPr sz="4400">
              <a:solidFill>
                <a:schemeClr val="dk1"/>
              </a:solidFill>
              <a:latin typeface="Calibri"/>
              <a:ea typeface="Calibri"/>
              <a:cs typeface="Calibri"/>
              <a:sym typeface="Calibri"/>
            </a:endParaRPr>
          </a:p>
          <a:p>
            <a:pPr marL="457200" lvl="0" indent="-508000" algn="l" rtl="0">
              <a:lnSpc>
                <a:spcPct val="150000"/>
              </a:lnSpc>
              <a:spcBef>
                <a:spcPts val="0"/>
              </a:spcBef>
              <a:spcAft>
                <a:spcPts val="0"/>
              </a:spcAft>
              <a:buClr>
                <a:srgbClr val="018345"/>
              </a:buClr>
              <a:buSzPts val="4400"/>
              <a:buChar char="•"/>
            </a:pPr>
            <a:r>
              <a:rPr lang="en-US" sz="4400">
                <a:solidFill>
                  <a:srgbClr val="018345"/>
                </a:solidFill>
                <a:latin typeface="Calibri"/>
                <a:ea typeface="Calibri"/>
                <a:cs typeface="Calibri"/>
                <a:sym typeface="Calibri"/>
              </a:rPr>
              <a:t> Hire: </a:t>
            </a:r>
            <a:r>
              <a:rPr lang="en-US" sz="4400">
                <a:solidFill>
                  <a:schemeClr val="dk1"/>
                </a:solidFill>
                <a:latin typeface="Calibri"/>
                <a:ea typeface="Calibri"/>
                <a:cs typeface="Calibri"/>
                <a:sym typeface="Calibri"/>
              </a:rPr>
              <a:t>Thuê</a:t>
            </a:r>
            <a:endParaRPr sz="4400">
              <a:solidFill>
                <a:schemeClr val="dk1"/>
              </a:solidFill>
              <a:latin typeface="Calibri"/>
              <a:ea typeface="Calibri"/>
              <a:cs typeface="Calibri"/>
              <a:sym typeface="Calibri"/>
            </a:endParaRPr>
          </a:p>
          <a:p>
            <a:pPr marL="457200" lvl="0" indent="-508000" algn="l" rtl="0">
              <a:lnSpc>
                <a:spcPct val="150000"/>
              </a:lnSpc>
              <a:spcBef>
                <a:spcPts val="0"/>
              </a:spcBef>
              <a:spcAft>
                <a:spcPts val="0"/>
              </a:spcAft>
              <a:buClr>
                <a:srgbClr val="018345"/>
              </a:buClr>
              <a:buSzPts val="4400"/>
              <a:buChar char="•"/>
            </a:pPr>
            <a:r>
              <a:rPr lang="en-US" sz="4400">
                <a:solidFill>
                  <a:srgbClr val="018345"/>
                </a:solidFill>
                <a:latin typeface="Calibri"/>
                <a:ea typeface="Calibri"/>
                <a:cs typeface="Calibri"/>
                <a:sym typeface="Calibri"/>
              </a:rPr>
              <a:t>Clients: </a:t>
            </a:r>
            <a:r>
              <a:rPr lang="en-US" sz="4400">
                <a:solidFill>
                  <a:schemeClr val="dk1"/>
                </a:solidFill>
                <a:latin typeface="Calibri"/>
                <a:ea typeface="Calibri"/>
                <a:cs typeface="Calibri"/>
                <a:sym typeface="Calibri"/>
              </a:rPr>
              <a:t>Khách hàng</a:t>
            </a:r>
            <a:endParaRPr sz="4400">
              <a:solidFill>
                <a:schemeClr val="dk1"/>
              </a:solidFill>
              <a:latin typeface="Calibri"/>
              <a:ea typeface="Calibri"/>
              <a:cs typeface="Calibri"/>
              <a:sym typeface="Calibri"/>
            </a:endParaRPr>
          </a:p>
          <a:p>
            <a:pPr marL="457200" lvl="0" indent="-508000" algn="l" rtl="0">
              <a:lnSpc>
                <a:spcPct val="150000"/>
              </a:lnSpc>
              <a:spcBef>
                <a:spcPts val="0"/>
              </a:spcBef>
              <a:spcAft>
                <a:spcPts val="0"/>
              </a:spcAft>
              <a:buClr>
                <a:srgbClr val="018345"/>
              </a:buClr>
              <a:buSzPts val="4400"/>
              <a:buChar char="•"/>
            </a:pPr>
            <a:r>
              <a:rPr lang="en-US" sz="4400">
                <a:solidFill>
                  <a:srgbClr val="018345"/>
                </a:solidFill>
                <a:latin typeface="Calibri"/>
                <a:ea typeface="Calibri"/>
                <a:cs typeface="Calibri"/>
                <a:sym typeface="Calibri"/>
              </a:rPr>
              <a:t>Attract: </a:t>
            </a:r>
            <a:r>
              <a:rPr lang="en-US" sz="4400">
                <a:solidFill>
                  <a:schemeClr val="dk1"/>
                </a:solidFill>
                <a:latin typeface="Calibri"/>
                <a:ea typeface="Calibri"/>
                <a:cs typeface="Calibri"/>
                <a:sym typeface="Calibri"/>
              </a:rPr>
              <a:t>Thu hút</a:t>
            </a:r>
            <a:endParaRPr sz="4400">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1"/>
                                        </p:tgtEl>
                                        <p:attrNameLst>
                                          <p:attrName>style.visibility</p:attrName>
                                        </p:attrNameLst>
                                      </p:cBhvr>
                                      <p:to>
                                        <p:strVal val="visible"/>
                                      </p:to>
                                    </p:set>
                                    <p:animEffect transition="in" filter="fade">
                                      <p:cBhvr>
                                        <p:cTn id="7" dur="500"/>
                                        <p:tgtEl>
                                          <p:spTgt spid="5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cxnSp>
        <p:nvCxnSpPr>
          <p:cNvPr id="543" name="Google Shape;543;p31"/>
          <p:cNvCxnSpPr/>
          <p:nvPr/>
        </p:nvCxnSpPr>
        <p:spPr>
          <a:xfrm rot="10800000" flipH="1">
            <a:off x="6209270" y="1619400"/>
            <a:ext cx="11243700" cy="18900"/>
          </a:xfrm>
          <a:prstGeom prst="straightConnector1">
            <a:avLst/>
          </a:prstGeom>
          <a:noFill/>
          <a:ln w="38100" cap="flat" cmpd="sng">
            <a:solidFill>
              <a:srgbClr val="018345"/>
            </a:solidFill>
            <a:prstDash val="solid"/>
            <a:round/>
            <a:headEnd type="none" w="sm" len="sm"/>
            <a:tailEnd type="none" w="sm" len="sm"/>
          </a:ln>
        </p:spPr>
      </p:cxnSp>
      <p:cxnSp>
        <p:nvCxnSpPr>
          <p:cNvPr id="544" name="Google Shape;544;p31"/>
          <p:cNvCxnSpPr/>
          <p:nvPr/>
        </p:nvCxnSpPr>
        <p:spPr>
          <a:xfrm>
            <a:off x="-249883" y="5124450"/>
            <a:ext cx="5303400" cy="0"/>
          </a:xfrm>
          <a:prstGeom prst="straightConnector1">
            <a:avLst/>
          </a:prstGeom>
          <a:noFill/>
          <a:ln w="38100" cap="flat" cmpd="sng">
            <a:solidFill>
              <a:srgbClr val="FFFFFF"/>
            </a:solidFill>
            <a:prstDash val="solid"/>
            <a:round/>
            <a:headEnd type="none" w="sm" len="sm"/>
            <a:tailEnd type="none" w="sm" len="sm"/>
          </a:ln>
        </p:spPr>
      </p:cxnSp>
      <p:grpSp>
        <p:nvGrpSpPr>
          <p:cNvPr id="545" name="Google Shape;545;p31"/>
          <p:cNvGrpSpPr/>
          <p:nvPr/>
        </p:nvGrpSpPr>
        <p:grpSpPr>
          <a:xfrm rot="10800000">
            <a:off x="15785084" y="-536938"/>
            <a:ext cx="7681773" cy="4260605"/>
            <a:chOff x="0" y="-38100"/>
            <a:chExt cx="406400" cy="225405"/>
          </a:xfrm>
        </p:grpSpPr>
        <p:sp>
          <p:nvSpPr>
            <p:cNvPr id="546" name="Google Shape;546;p31"/>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47" name="Google Shape;547;p31"/>
            <p:cNvSpPr txBox="1"/>
            <p:nvPr/>
          </p:nvSpPr>
          <p:spPr>
            <a:xfrm>
              <a:off x="127000" y="-38100"/>
              <a:ext cx="1524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548" name="Google Shape;548;p31"/>
          <p:cNvSpPr/>
          <p:nvPr/>
        </p:nvSpPr>
        <p:spPr>
          <a:xfrm>
            <a:off x="18099269" y="1809027"/>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3">
              <a:alphaModFix/>
            </a:blip>
            <a:stretch>
              <a:fillRect/>
            </a:stretch>
          </a:blipFill>
          <a:ln>
            <a:noFill/>
          </a:ln>
        </p:spPr>
      </p:sp>
      <p:sp>
        <p:nvSpPr>
          <p:cNvPr id="549" name="Google Shape;549;p31"/>
          <p:cNvSpPr txBox="1"/>
          <p:nvPr/>
        </p:nvSpPr>
        <p:spPr>
          <a:xfrm>
            <a:off x="5571910" y="401132"/>
            <a:ext cx="11880900" cy="923400"/>
          </a:xfrm>
          <a:prstGeom prst="rect">
            <a:avLst/>
          </a:prstGeom>
          <a:noFill/>
          <a:ln>
            <a:noFill/>
          </a:ln>
        </p:spPr>
        <p:txBody>
          <a:bodyPr spcFirstLastPara="1" wrap="square" lIns="0" tIns="0" rIns="0" bIns="0" anchor="t" anchorCtr="0">
            <a:spAutoFit/>
          </a:bodyPr>
          <a:lstStyle/>
          <a:p>
            <a:pPr marL="0" marR="0" lvl="0" indent="0" algn="ctr" rtl="0">
              <a:lnSpc>
                <a:spcPct val="123833"/>
              </a:lnSpc>
              <a:spcBef>
                <a:spcPts val="0"/>
              </a:spcBef>
              <a:spcAft>
                <a:spcPts val="0"/>
              </a:spcAft>
              <a:buNone/>
            </a:pPr>
            <a:r>
              <a:rPr lang="en-US" sz="6000" b="1">
                <a:solidFill>
                  <a:srgbClr val="018345"/>
                </a:solidFill>
                <a:latin typeface="Montserrat"/>
                <a:ea typeface="Montserrat"/>
                <a:cs typeface="Montserrat"/>
                <a:sym typeface="Montserrat"/>
              </a:rPr>
              <a:t>Từ vựng và cấu trúc</a:t>
            </a:r>
            <a:endParaRPr sz="6000" b="1">
              <a:solidFill>
                <a:srgbClr val="018345"/>
              </a:solidFill>
              <a:latin typeface="Montserrat"/>
              <a:ea typeface="Montserrat"/>
              <a:cs typeface="Montserrat"/>
              <a:sym typeface="Montserrat"/>
            </a:endParaRPr>
          </a:p>
        </p:txBody>
      </p:sp>
      <p:grpSp>
        <p:nvGrpSpPr>
          <p:cNvPr id="550" name="Google Shape;550;p31"/>
          <p:cNvGrpSpPr/>
          <p:nvPr/>
        </p:nvGrpSpPr>
        <p:grpSpPr>
          <a:xfrm>
            <a:off x="-2718010" y="9274530"/>
            <a:ext cx="7950378" cy="1707223"/>
            <a:chOff x="0" y="-384760"/>
            <a:chExt cx="10600504" cy="2276297"/>
          </a:xfrm>
        </p:grpSpPr>
        <p:grpSp>
          <p:nvGrpSpPr>
            <p:cNvPr id="551" name="Google Shape;551;p31"/>
            <p:cNvGrpSpPr/>
            <p:nvPr/>
          </p:nvGrpSpPr>
          <p:grpSpPr>
            <a:xfrm>
              <a:off x="0" y="-384760"/>
              <a:ext cx="10600504" cy="2276297"/>
              <a:chOff x="0" y="-38100"/>
              <a:chExt cx="1049690" cy="225405"/>
            </a:xfrm>
          </p:grpSpPr>
          <p:sp>
            <p:nvSpPr>
              <p:cNvPr id="552" name="Google Shape;552;p31"/>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553" name="Google Shape;553;p31"/>
              <p:cNvSpPr txBox="1"/>
              <p:nvPr/>
            </p:nvSpPr>
            <p:spPr>
              <a:xfrm>
                <a:off x="127000" y="-38100"/>
                <a:ext cx="795600" cy="225300"/>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554" name="Google Shape;554;p31"/>
            <p:cNvSpPr txBox="1"/>
            <p:nvPr/>
          </p:nvSpPr>
          <p:spPr>
            <a:xfrm>
              <a:off x="4182979" y="666743"/>
              <a:ext cx="3721200" cy="369300"/>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
        <p:nvSpPr>
          <p:cNvPr id="555" name="Google Shape;555;p31"/>
          <p:cNvSpPr txBox="1"/>
          <p:nvPr/>
        </p:nvSpPr>
        <p:spPr>
          <a:xfrm>
            <a:off x="6671038" y="2132648"/>
            <a:ext cx="10990800" cy="4833300"/>
          </a:xfrm>
          <a:prstGeom prst="rect">
            <a:avLst/>
          </a:prstGeom>
          <a:noFill/>
          <a:ln>
            <a:noFill/>
          </a:ln>
        </p:spPr>
        <p:txBody>
          <a:bodyPr spcFirstLastPara="1" wrap="square" lIns="91425" tIns="45700" rIns="91425" bIns="45700" anchor="t" anchorCtr="0">
            <a:spAutoFit/>
          </a:bodyPr>
          <a:lstStyle/>
          <a:p>
            <a:pPr marL="571500" marR="0" lvl="0" indent="-571500" algn="l" rtl="0">
              <a:lnSpc>
                <a:spcPct val="150000"/>
              </a:lnSpc>
              <a:spcBef>
                <a:spcPts val="0"/>
              </a:spcBef>
              <a:spcAft>
                <a:spcPts val="0"/>
              </a:spcAft>
              <a:buClr>
                <a:srgbClr val="018345"/>
              </a:buClr>
              <a:buSzPts val="4400"/>
              <a:buFont typeface="Arial"/>
              <a:buChar char="•"/>
            </a:pPr>
            <a:r>
              <a:rPr lang="en-US" sz="4400" dirty="0">
                <a:solidFill>
                  <a:srgbClr val="018345"/>
                </a:solidFill>
                <a:latin typeface="Calibri"/>
                <a:ea typeface="Calibri"/>
                <a:cs typeface="Calibri"/>
                <a:sym typeface="Calibri"/>
              </a:rPr>
              <a:t>Position:  </a:t>
            </a:r>
            <a:r>
              <a:rPr lang="en-US" sz="4400" dirty="0" err="1">
                <a:latin typeface="Calibri"/>
                <a:ea typeface="Calibri"/>
                <a:cs typeface="Calibri"/>
                <a:sym typeface="Calibri"/>
              </a:rPr>
              <a:t>Vị</a:t>
            </a:r>
            <a:r>
              <a:rPr lang="en-US" sz="4400" dirty="0">
                <a:latin typeface="Calibri"/>
                <a:ea typeface="Calibri"/>
                <a:cs typeface="Calibri"/>
                <a:sym typeface="Calibri"/>
              </a:rPr>
              <a:t> </a:t>
            </a:r>
            <a:r>
              <a:rPr lang="en-US" sz="4400" dirty="0" err="1">
                <a:latin typeface="Calibri"/>
                <a:ea typeface="Calibri"/>
                <a:cs typeface="Calibri"/>
                <a:sym typeface="Calibri"/>
              </a:rPr>
              <a:t>trí</a:t>
            </a:r>
            <a:endParaRPr sz="4400" dirty="0">
              <a:latin typeface="Calibri"/>
              <a:ea typeface="Calibri"/>
              <a:cs typeface="Calibri"/>
              <a:sym typeface="Calibri"/>
            </a:endParaRPr>
          </a:p>
          <a:p>
            <a:pPr marL="571500" marR="0" lvl="0" indent="-571500" algn="l" rtl="0">
              <a:lnSpc>
                <a:spcPct val="150000"/>
              </a:lnSpc>
              <a:spcBef>
                <a:spcPts val="0"/>
              </a:spcBef>
              <a:spcAft>
                <a:spcPts val="0"/>
              </a:spcAft>
              <a:buClr>
                <a:srgbClr val="018345"/>
              </a:buClr>
              <a:buSzPts val="4400"/>
              <a:buFont typeface="Arial"/>
              <a:buChar char="•"/>
            </a:pPr>
            <a:r>
              <a:rPr lang="en-US" sz="4400" dirty="0">
                <a:solidFill>
                  <a:srgbClr val="018345"/>
                </a:solidFill>
                <a:latin typeface="Calibri"/>
                <a:ea typeface="Calibri"/>
                <a:cs typeface="Calibri"/>
                <a:sym typeface="Calibri"/>
              </a:rPr>
              <a:t>Companies: </a:t>
            </a:r>
            <a:r>
              <a:rPr lang="en-US" sz="4400" dirty="0">
                <a:solidFill>
                  <a:schemeClr val="dk1"/>
                </a:solidFill>
                <a:latin typeface="Calibri"/>
                <a:ea typeface="Calibri"/>
                <a:cs typeface="Calibri"/>
                <a:sym typeface="Calibri"/>
              </a:rPr>
              <a:t>Công ty</a:t>
            </a:r>
            <a:endParaRPr sz="4400" dirty="0">
              <a:solidFill>
                <a:schemeClr val="dk1"/>
              </a:solidFill>
              <a:latin typeface="Calibri"/>
              <a:ea typeface="Calibri"/>
              <a:cs typeface="Calibri"/>
              <a:sym typeface="Calibri"/>
            </a:endParaRPr>
          </a:p>
          <a:p>
            <a:pPr marL="571500" marR="0" lvl="0" indent="-571500" algn="l" rtl="0">
              <a:lnSpc>
                <a:spcPct val="150000"/>
              </a:lnSpc>
              <a:spcBef>
                <a:spcPts val="0"/>
              </a:spcBef>
              <a:spcAft>
                <a:spcPts val="0"/>
              </a:spcAft>
              <a:buClr>
                <a:srgbClr val="018345"/>
              </a:buClr>
              <a:buSzPts val="4400"/>
              <a:buFont typeface="Arial"/>
              <a:buChar char="•"/>
            </a:pPr>
            <a:r>
              <a:rPr lang="en-US" sz="4400" dirty="0">
                <a:solidFill>
                  <a:srgbClr val="018345"/>
                </a:solidFill>
                <a:latin typeface="Calibri"/>
                <a:ea typeface="Calibri"/>
                <a:cs typeface="Calibri"/>
                <a:sym typeface="Calibri"/>
              </a:rPr>
              <a:t>Opportunity: </a:t>
            </a:r>
            <a:r>
              <a:rPr lang="en-US" sz="4400" dirty="0" err="1">
                <a:solidFill>
                  <a:schemeClr val="dk1"/>
                </a:solidFill>
                <a:latin typeface="Calibri"/>
                <a:ea typeface="Calibri"/>
                <a:cs typeface="Calibri"/>
                <a:sym typeface="Calibri"/>
              </a:rPr>
              <a:t>Cơ</a:t>
            </a:r>
            <a:r>
              <a:rPr lang="en-US" sz="4400" dirty="0">
                <a:solidFill>
                  <a:schemeClr val="dk1"/>
                </a:solidFill>
                <a:latin typeface="Calibri"/>
                <a:ea typeface="Calibri"/>
                <a:cs typeface="Calibri"/>
                <a:sym typeface="Calibri"/>
              </a:rPr>
              <a:t> </a:t>
            </a:r>
            <a:r>
              <a:rPr lang="en-US" sz="4400" dirty="0" err="1">
                <a:solidFill>
                  <a:schemeClr val="dk1"/>
                </a:solidFill>
                <a:latin typeface="Calibri"/>
                <a:ea typeface="Calibri"/>
                <a:cs typeface="Calibri"/>
                <a:sym typeface="Calibri"/>
              </a:rPr>
              <a:t>hội</a:t>
            </a:r>
            <a:endParaRPr sz="4400" dirty="0">
              <a:solidFill>
                <a:schemeClr val="dk1"/>
              </a:solidFill>
              <a:latin typeface="Calibri"/>
              <a:ea typeface="Calibri"/>
              <a:cs typeface="Calibri"/>
              <a:sym typeface="Calibri"/>
            </a:endParaRPr>
          </a:p>
          <a:p>
            <a:pPr marL="571500" marR="0" lvl="0" indent="-571500" algn="l" rtl="0">
              <a:lnSpc>
                <a:spcPct val="150000"/>
              </a:lnSpc>
              <a:spcBef>
                <a:spcPts val="0"/>
              </a:spcBef>
              <a:spcAft>
                <a:spcPts val="0"/>
              </a:spcAft>
              <a:buClr>
                <a:srgbClr val="018345"/>
              </a:buClr>
              <a:buSzPts val="4400"/>
              <a:buFont typeface="Arial"/>
              <a:buChar char="•"/>
            </a:pPr>
            <a:r>
              <a:rPr lang="en-US" sz="4400" dirty="0">
                <a:solidFill>
                  <a:srgbClr val="018345"/>
                </a:solidFill>
                <a:latin typeface="Calibri"/>
                <a:ea typeface="Calibri"/>
                <a:cs typeface="Calibri"/>
                <a:sym typeface="Calibri"/>
              </a:rPr>
              <a:t>Defined role: </a:t>
            </a:r>
            <a:r>
              <a:rPr lang="en-US" sz="4400" dirty="0">
                <a:solidFill>
                  <a:schemeClr val="dk1"/>
                </a:solidFill>
                <a:latin typeface="Calibri"/>
                <a:ea typeface="Calibri"/>
                <a:cs typeface="Calibri"/>
                <a:sym typeface="Calibri"/>
              </a:rPr>
              <a:t>Vai </a:t>
            </a:r>
            <a:r>
              <a:rPr lang="en-US" sz="4400" dirty="0" err="1">
                <a:solidFill>
                  <a:schemeClr val="dk1"/>
                </a:solidFill>
                <a:latin typeface="Calibri"/>
                <a:ea typeface="Calibri"/>
                <a:cs typeface="Calibri"/>
                <a:sym typeface="Calibri"/>
              </a:rPr>
              <a:t>trò</a:t>
            </a:r>
            <a:r>
              <a:rPr lang="en-US" sz="4400" dirty="0">
                <a:solidFill>
                  <a:schemeClr val="dk1"/>
                </a:solidFill>
                <a:latin typeface="Calibri"/>
                <a:ea typeface="Calibri"/>
                <a:cs typeface="Calibri"/>
                <a:sym typeface="Calibri"/>
              </a:rPr>
              <a:t> </a:t>
            </a:r>
            <a:r>
              <a:rPr lang="en-US" sz="4400" dirty="0" err="1">
                <a:solidFill>
                  <a:schemeClr val="dk1"/>
                </a:solidFill>
                <a:latin typeface="Calibri"/>
                <a:ea typeface="Calibri"/>
                <a:cs typeface="Calibri"/>
                <a:sym typeface="Calibri"/>
              </a:rPr>
              <a:t>cụ</a:t>
            </a:r>
            <a:r>
              <a:rPr lang="en-US" sz="4400" dirty="0">
                <a:solidFill>
                  <a:schemeClr val="dk1"/>
                </a:solidFill>
                <a:latin typeface="Calibri"/>
                <a:ea typeface="Calibri"/>
                <a:cs typeface="Calibri"/>
                <a:sym typeface="Calibri"/>
              </a:rPr>
              <a:t> </a:t>
            </a:r>
            <a:r>
              <a:rPr lang="en-US" sz="4400" dirty="0" err="1">
                <a:solidFill>
                  <a:schemeClr val="dk1"/>
                </a:solidFill>
                <a:latin typeface="Calibri"/>
                <a:ea typeface="Calibri"/>
                <a:cs typeface="Calibri"/>
                <a:sym typeface="Calibri"/>
              </a:rPr>
              <a:t>thể</a:t>
            </a:r>
            <a:endParaRPr sz="4400" dirty="0">
              <a:solidFill>
                <a:schemeClr val="dk1"/>
              </a:solidFill>
              <a:latin typeface="Calibri"/>
              <a:ea typeface="Calibri"/>
              <a:cs typeface="Calibri"/>
              <a:sym typeface="Calibri"/>
            </a:endParaRPr>
          </a:p>
          <a:p>
            <a:pPr marL="457200" lvl="0" indent="-508000" algn="l" rtl="0">
              <a:lnSpc>
                <a:spcPct val="150000"/>
              </a:lnSpc>
              <a:spcBef>
                <a:spcPts val="0"/>
              </a:spcBef>
              <a:spcAft>
                <a:spcPts val="0"/>
              </a:spcAft>
              <a:buClr>
                <a:srgbClr val="018345"/>
              </a:buClr>
              <a:buSzPts val="4400"/>
              <a:buChar char="•"/>
            </a:pPr>
            <a:r>
              <a:rPr lang="en-US" sz="4400" dirty="0">
                <a:solidFill>
                  <a:srgbClr val="018345"/>
                </a:solidFill>
                <a:latin typeface="Calibri"/>
                <a:ea typeface="Calibri"/>
                <a:cs typeface="Calibri"/>
                <a:sym typeface="Calibri"/>
              </a:rPr>
              <a:t> Impress: </a:t>
            </a:r>
            <a:r>
              <a:rPr lang="en-US" sz="4400" dirty="0" err="1">
                <a:solidFill>
                  <a:schemeClr val="dk1"/>
                </a:solidFill>
                <a:latin typeface="Calibri"/>
                <a:ea typeface="Calibri"/>
                <a:cs typeface="Calibri"/>
                <a:sym typeface="Calibri"/>
              </a:rPr>
              <a:t>Ấn</a:t>
            </a:r>
            <a:r>
              <a:rPr lang="en-US" sz="4400" dirty="0">
                <a:solidFill>
                  <a:schemeClr val="dk1"/>
                </a:solidFill>
                <a:latin typeface="Calibri"/>
                <a:ea typeface="Calibri"/>
                <a:cs typeface="Calibri"/>
                <a:sym typeface="Calibri"/>
              </a:rPr>
              <a:t> </a:t>
            </a:r>
            <a:r>
              <a:rPr lang="en-US" sz="4400" dirty="0" err="1">
                <a:solidFill>
                  <a:schemeClr val="dk1"/>
                </a:solidFill>
                <a:latin typeface="Calibri"/>
                <a:ea typeface="Calibri"/>
                <a:cs typeface="Calibri"/>
                <a:sym typeface="Calibri"/>
              </a:rPr>
              <a:t>tượng</a:t>
            </a:r>
            <a:endParaRPr sz="4400" dirty="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49"/>
                                        </p:tgtEl>
                                        <p:attrNameLst>
                                          <p:attrName>style.visibility</p:attrName>
                                        </p:attrNameLst>
                                      </p:cBhvr>
                                      <p:to>
                                        <p:strVal val="visible"/>
                                      </p:to>
                                    </p:set>
                                    <p:animEffect transition="in" filter="fade">
                                      <p:cBhvr>
                                        <p:cTn id="7" dur="500"/>
                                        <p:tgtEl>
                                          <p:spTgt spid="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cxnSp>
        <p:nvCxnSpPr>
          <p:cNvPr id="560" name="Google Shape;560;p32"/>
          <p:cNvCxnSpPr/>
          <p:nvPr/>
        </p:nvCxnSpPr>
        <p:spPr>
          <a:xfrm>
            <a:off x="5693855" y="2235185"/>
            <a:ext cx="11307428" cy="0"/>
          </a:xfrm>
          <a:prstGeom prst="straightConnector1">
            <a:avLst/>
          </a:prstGeom>
          <a:noFill/>
          <a:ln w="38100" cap="flat" cmpd="sng">
            <a:solidFill>
              <a:srgbClr val="018345"/>
            </a:solidFill>
            <a:prstDash val="solid"/>
            <a:round/>
            <a:headEnd type="none" w="sm" len="sm"/>
            <a:tailEnd type="none" w="sm" len="sm"/>
          </a:ln>
        </p:spPr>
      </p:cxnSp>
      <p:cxnSp>
        <p:nvCxnSpPr>
          <p:cNvPr id="561" name="Google Shape;561;p32"/>
          <p:cNvCxnSpPr/>
          <p:nvPr/>
        </p:nvCxnSpPr>
        <p:spPr>
          <a:xfrm>
            <a:off x="-249883" y="5124450"/>
            <a:ext cx="5303520" cy="0"/>
          </a:xfrm>
          <a:prstGeom prst="straightConnector1">
            <a:avLst/>
          </a:prstGeom>
          <a:noFill/>
          <a:ln w="38100" cap="flat" cmpd="sng">
            <a:solidFill>
              <a:srgbClr val="FFFFFF"/>
            </a:solidFill>
            <a:prstDash val="solid"/>
            <a:round/>
            <a:headEnd type="none" w="sm" len="sm"/>
            <a:tailEnd type="none" w="sm" len="sm"/>
          </a:ln>
        </p:spPr>
      </p:cxnSp>
      <p:grpSp>
        <p:nvGrpSpPr>
          <p:cNvPr id="562" name="Google Shape;562;p32"/>
          <p:cNvGrpSpPr/>
          <p:nvPr/>
        </p:nvGrpSpPr>
        <p:grpSpPr>
          <a:xfrm rot="10800000">
            <a:off x="15044552" y="-741521"/>
            <a:ext cx="7681766" cy="4260610"/>
            <a:chOff x="0" y="-38100"/>
            <a:chExt cx="406400" cy="225405"/>
          </a:xfrm>
        </p:grpSpPr>
        <p:sp>
          <p:nvSpPr>
            <p:cNvPr id="563" name="Google Shape;563;p32"/>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64" name="Google Shape;564;p32"/>
            <p:cNvSpPr txBox="1"/>
            <p:nvPr/>
          </p:nvSpPr>
          <p:spPr>
            <a:xfrm>
              <a:off x="127000" y="-38100"/>
              <a:ext cx="15240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565" name="Google Shape;565;p32" descr="Books with solid fill"/>
          <p:cNvSpPr/>
          <p:nvPr/>
        </p:nvSpPr>
        <p:spPr>
          <a:xfrm>
            <a:off x="3241317" y="6937835"/>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566" name="Google Shape;566;p32"/>
          <p:cNvSpPr/>
          <p:nvPr/>
        </p:nvSpPr>
        <p:spPr>
          <a:xfrm>
            <a:off x="18157088" y="2761190"/>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sp>
        <p:nvSpPr>
          <p:cNvPr id="567" name="Google Shape;567;p32"/>
          <p:cNvSpPr txBox="1"/>
          <p:nvPr/>
        </p:nvSpPr>
        <p:spPr>
          <a:xfrm>
            <a:off x="6705600" y="2324100"/>
            <a:ext cx="9930052" cy="1266885"/>
          </a:xfrm>
          <a:prstGeom prst="rect">
            <a:avLst/>
          </a:prstGeom>
          <a:noFill/>
          <a:ln>
            <a:noFill/>
          </a:ln>
        </p:spPr>
        <p:txBody>
          <a:bodyPr spcFirstLastPara="1" wrap="square" lIns="0" tIns="0" rIns="0" bIns="0" anchor="t" anchorCtr="0">
            <a:spAutoFit/>
          </a:bodyPr>
          <a:lstStyle/>
          <a:p>
            <a:pPr marL="0" marR="0" lvl="0" indent="0" algn="ctr" rtl="0">
              <a:lnSpc>
                <a:spcPct val="150069"/>
              </a:lnSpc>
              <a:spcBef>
                <a:spcPts val="0"/>
              </a:spcBef>
              <a:spcAft>
                <a:spcPts val="0"/>
              </a:spcAft>
              <a:buNone/>
            </a:pPr>
            <a:r>
              <a:rPr lang="en-US" sz="7200" b="1">
                <a:solidFill>
                  <a:srgbClr val="018345"/>
                </a:solidFill>
                <a:latin typeface="Montserrat"/>
                <a:ea typeface="Montserrat"/>
                <a:cs typeface="Montserrat"/>
                <a:sym typeface="Montserrat"/>
              </a:rPr>
              <a:t>Luyện tập</a:t>
            </a:r>
            <a:endParaRPr sz="7200" b="1">
              <a:solidFill>
                <a:srgbClr val="018345"/>
              </a:solidFill>
              <a:latin typeface="Montserrat"/>
              <a:ea typeface="Montserrat"/>
              <a:cs typeface="Montserrat"/>
              <a:sym typeface="Montserrat"/>
            </a:endParaRPr>
          </a:p>
        </p:txBody>
      </p:sp>
      <p:sp>
        <p:nvSpPr>
          <p:cNvPr id="568" name="Google Shape;568;p32"/>
          <p:cNvSpPr txBox="1"/>
          <p:nvPr/>
        </p:nvSpPr>
        <p:spPr>
          <a:xfrm>
            <a:off x="10182106" y="339710"/>
            <a:ext cx="2202732" cy="1895475"/>
          </a:xfrm>
          <a:prstGeom prst="rect">
            <a:avLst/>
          </a:prstGeom>
          <a:noFill/>
          <a:ln>
            <a:noFill/>
          </a:ln>
        </p:spPr>
        <p:txBody>
          <a:bodyPr spcFirstLastPara="1" wrap="square" lIns="0" tIns="0" rIns="0" bIns="0" anchor="t" anchorCtr="0">
            <a:spAutoFit/>
          </a:bodyPr>
          <a:lstStyle/>
          <a:p>
            <a:pPr marL="0" marR="0" lvl="0" indent="0" algn="ctr" rtl="0">
              <a:lnSpc>
                <a:spcPct val="119998"/>
              </a:lnSpc>
              <a:spcBef>
                <a:spcPts val="0"/>
              </a:spcBef>
              <a:spcAft>
                <a:spcPts val="0"/>
              </a:spcAft>
              <a:buNone/>
            </a:pPr>
            <a:r>
              <a:rPr lang="en-US" sz="12461" b="1">
                <a:solidFill>
                  <a:srgbClr val="018345"/>
                </a:solidFill>
                <a:latin typeface="Montserrat"/>
                <a:ea typeface="Montserrat"/>
                <a:cs typeface="Montserrat"/>
                <a:sym typeface="Montserrat"/>
              </a:rPr>
              <a:t>05</a:t>
            </a:r>
            <a:endParaRPr/>
          </a:p>
        </p:txBody>
      </p:sp>
      <p:grpSp>
        <p:nvGrpSpPr>
          <p:cNvPr id="569" name="Google Shape;569;p32"/>
          <p:cNvGrpSpPr/>
          <p:nvPr/>
        </p:nvGrpSpPr>
        <p:grpSpPr>
          <a:xfrm>
            <a:off x="-2718010" y="9274528"/>
            <a:ext cx="7950400" cy="1707231"/>
            <a:chOff x="0" y="-384762"/>
            <a:chExt cx="10600533" cy="2276307"/>
          </a:xfrm>
        </p:grpSpPr>
        <p:grpSp>
          <p:nvGrpSpPr>
            <p:cNvPr id="570" name="Google Shape;570;p32"/>
            <p:cNvGrpSpPr/>
            <p:nvPr/>
          </p:nvGrpSpPr>
          <p:grpSpPr>
            <a:xfrm>
              <a:off x="0" y="-384762"/>
              <a:ext cx="10600533" cy="2276307"/>
              <a:chOff x="0" y="-38100"/>
              <a:chExt cx="1049690" cy="225405"/>
            </a:xfrm>
          </p:grpSpPr>
          <p:sp>
            <p:nvSpPr>
              <p:cNvPr id="571" name="Google Shape;571;p32"/>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572" name="Google Shape;572;p32"/>
              <p:cNvSpPr txBox="1"/>
              <p:nvPr/>
            </p:nvSpPr>
            <p:spPr>
              <a:xfrm>
                <a:off x="127000" y="-38100"/>
                <a:ext cx="79569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573" name="Google Shape;573;p32"/>
            <p:cNvSpPr txBox="1"/>
            <p:nvPr/>
          </p:nvSpPr>
          <p:spPr>
            <a:xfrm>
              <a:off x="4182979" y="666743"/>
              <a:ext cx="3721150" cy="529484"/>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pic>
        <p:nvPicPr>
          <p:cNvPr id="574" name="Google Shape;574;p32"/>
          <p:cNvPicPr preferRelativeResize="0"/>
          <p:nvPr/>
        </p:nvPicPr>
        <p:blipFill rotWithShape="1">
          <a:blip r:embed="rId5">
            <a:alphaModFix/>
          </a:blip>
          <a:srcRect/>
          <a:stretch/>
        </p:blipFill>
        <p:spPr>
          <a:xfrm>
            <a:off x="8915400" y="3956510"/>
            <a:ext cx="5962650" cy="59626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568"/>
                                        </p:tgtEl>
                                        <p:attrNameLst>
                                          <p:attrName>style.visibility</p:attrName>
                                        </p:attrNameLst>
                                      </p:cBhvr>
                                      <p:to>
                                        <p:strVal val="visible"/>
                                      </p:to>
                                    </p:set>
                                    <p:anim calcmode="lin" valueType="num">
                                      <p:cBhvr additive="base">
                                        <p:cTn id="7" dur="500"/>
                                        <p:tgtEl>
                                          <p:spTgt spid="568"/>
                                        </p:tgtEl>
                                        <p:attrNameLst>
                                          <p:attrName>ppt_w</p:attrName>
                                        </p:attrNameLst>
                                      </p:cBhvr>
                                      <p:tavLst>
                                        <p:tav tm="0">
                                          <p:val>
                                            <p:strVal val="0"/>
                                          </p:val>
                                        </p:tav>
                                        <p:tav tm="100000">
                                          <p:val>
                                            <p:strVal val="#ppt_w"/>
                                          </p:val>
                                        </p:tav>
                                      </p:tavLst>
                                    </p:anim>
                                    <p:anim calcmode="lin" valueType="num">
                                      <p:cBhvr additive="base">
                                        <p:cTn id="8" dur="500"/>
                                        <p:tgtEl>
                                          <p:spTgt spid="568"/>
                                        </p:tgtEl>
                                        <p:attrNameLst>
                                          <p:attrName>ppt_h</p:attrName>
                                        </p:attrNameLst>
                                      </p:cBhvr>
                                      <p:tavLst>
                                        <p:tav tm="0">
                                          <p:val>
                                            <p:str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567"/>
                                        </p:tgtEl>
                                        <p:attrNameLst>
                                          <p:attrName>style.visibility</p:attrName>
                                        </p:attrNameLst>
                                      </p:cBhvr>
                                      <p:to>
                                        <p:strVal val="visible"/>
                                      </p:to>
                                    </p:set>
                                    <p:anim calcmode="lin" valueType="num">
                                      <p:cBhvr additive="base">
                                        <p:cTn id="11" dur="500"/>
                                        <p:tgtEl>
                                          <p:spTgt spid="567"/>
                                        </p:tgtEl>
                                        <p:attrNameLst>
                                          <p:attrName>ppt_w</p:attrName>
                                        </p:attrNameLst>
                                      </p:cBhvr>
                                      <p:tavLst>
                                        <p:tav tm="0">
                                          <p:val>
                                            <p:strVal val="0"/>
                                          </p:val>
                                        </p:tav>
                                        <p:tav tm="100000">
                                          <p:val>
                                            <p:strVal val="#ppt_w"/>
                                          </p:val>
                                        </p:tav>
                                      </p:tavLst>
                                    </p:anim>
                                    <p:anim calcmode="lin" valueType="num">
                                      <p:cBhvr additive="base">
                                        <p:cTn id="12" dur="500"/>
                                        <p:tgtEl>
                                          <p:spTgt spid="56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cxnSp>
        <p:nvCxnSpPr>
          <p:cNvPr id="580" name="Google Shape;580;p33"/>
          <p:cNvCxnSpPr/>
          <p:nvPr/>
        </p:nvCxnSpPr>
        <p:spPr>
          <a:xfrm>
            <a:off x="5693855" y="2057171"/>
            <a:ext cx="11307428" cy="0"/>
          </a:xfrm>
          <a:prstGeom prst="straightConnector1">
            <a:avLst/>
          </a:prstGeom>
          <a:noFill/>
          <a:ln w="38100" cap="flat" cmpd="sng">
            <a:solidFill>
              <a:srgbClr val="018345"/>
            </a:solidFill>
            <a:prstDash val="solid"/>
            <a:round/>
            <a:headEnd type="none" w="sm" len="sm"/>
            <a:tailEnd type="none" w="sm" len="sm"/>
          </a:ln>
        </p:spPr>
      </p:cxnSp>
      <p:cxnSp>
        <p:nvCxnSpPr>
          <p:cNvPr id="581" name="Google Shape;581;p33"/>
          <p:cNvCxnSpPr/>
          <p:nvPr/>
        </p:nvCxnSpPr>
        <p:spPr>
          <a:xfrm>
            <a:off x="-249883" y="5124450"/>
            <a:ext cx="5303520" cy="0"/>
          </a:xfrm>
          <a:prstGeom prst="straightConnector1">
            <a:avLst/>
          </a:prstGeom>
          <a:noFill/>
          <a:ln w="38100" cap="flat" cmpd="sng">
            <a:solidFill>
              <a:srgbClr val="FFFFFF"/>
            </a:solidFill>
            <a:prstDash val="solid"/>
            <a:round/>
            <a:headEnd type="none" w="sm" len="sm"/>
            <a:tailEnd type="none" w="sm" len="sm"/>
          </a:ln>
        </p:spPr>
      </p:cxnSp>
      <p:grpSp>
        <p:nvGrpSpPr>
          <p:cNvPr id="582" name="Google Shape;582;p33"/>
          <p:cNvGrpSpPr/>
          <p:nvPr/>
        </p:nvGrpSpPr>
        <p:grpSpPr>
          <a:xfrm rot="10800000">
            <a:off x="15044552" y="-741521"/>
            <a:ext cx="7681766" cy="4260610"/>
            <a:chOff x="0" y="-38100"/>
            <a:chExt cx="406400" cy="225405"/>
          </a:xfrm>
        </p:grpSpPr>
        <p:sp>
          <p:nvSpPr>
            <p:cNvPr id="583" name="Google Shape;583;p33"/>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84" name="Google Shape;584;p33"/>
            <p:cNvSpPr txBox="1"/>
            <p:nvPr/>
          </p:nvSpPr>
          <p:spPr>
            <a:xfrm>
              <a:off x="127000" y="-38100"/>
              <a:ext cx="15240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585" name="Google Shape;585;p33" descr="Books with solid fill"/>
          <p:cNvSpPr/>
          <p:nvPr/>
        </p:nvSpPr>
        <p:spPr>
          <a:xfrm>
            <a:off x="3241317" y="6937835"/>
            <a:ext cx="796998" cy="796998"/>
          </a:xfrm>
          <a:custGeom>
            <a:avLst/>
            <a:gdLst/>
            <a:ahLst/>
            <a:cxnLst/>
            <a:rect l="l" t="t" r="r" b="b"/>
            <a:pathLst>
              <a:path w="796998" h="796998" extrusionOk="0">
                <a:moveTo>
                  <a:pt x="0" y="0"/>
                </a:moveTo>
                <a:lnTo>
                  <a:pt x="796998" y="0"/>
                </a:lnTo>
                <a:lnTo>
                  <a:pt x="796998" y="796998"/>
                </a:lnTo>
                <a:lnTo>
                  <a:pt x="0" y="796998"/>
                </a:lnTo>
                <a:lnTo>
                  <a:pt x="0" y="0"/>
                </a:lnTo>
                <a:close/>
              </a:path>
            </a:pathLst>
          </a:custGeom>
          <a:blipFill rotWithShape="1">
            <a:blip r:embed="rId3">
              <a:alphaModFix/>
            </a:blip>
            <a:stretch>
              <a:fillRect/>
            </a:stretch>
          </a:blipFill>
          <a:ln>
            <a:noFill/>
          </a:ln>
        </p:spPr>
      </p:sp>
      <p:sp>
        <p:nvSpPr>
          <p:cNvPr id="586" name="Google Shape;586;p33"/>
          <p:cNvSpPr/>
          <p:nvPr/>
        </p:nvSpPr>
        <p:spPr>
          <a:xfrm>
            <a:off x="18157088" y="1714500"/>
            <a:ext cx="647242" cy="647242"/>
          </a:xfrm>
          <a:custGeom>
            <a:avLst/>
            <a:gdLst/>
            <a:ahLst/>
            <a:cxnLst/>
            <a:rect l="l" t="t" r="r" b="b"/>
            <a:pathLst>
              <a:path w="647242" h="647242" extrusionOk="0">
                <a:moveTo>
                  <a:pt x="0" y="0"/>
                </a:moveTo>
                <a:lnTo>
                  <a:pt x="647242" y="0"/>
                </a:lnTo>
                <a:lnTo>
                  <a:pt x="647242" y="647242"/>
                </a:lnTo>
                <a:lnTo>
                  <a:pt x="0" y="647242"/>
                </a:lnTo>
                <a:lnTo>
                  <a:pt x="0" y="0"/>
                </a:lnTo>
                <a:close/>
              </a:path>
            </a:pathLst>
          </a:custGeom>
          <a:blipFill rotWithShape="1">
            <a:blip r:embed="rId4">
              <a:alphaModFix/>
            </a:blip>
            <a:stretch>
              <a:fillRect/>
            </a:stretch>
          </a:blipFill>
          <a:ln>
            <a:noFill/>
          </a:ln>
        </p:spPr>
      </p:sp>
      <p:grpSp>
        <p:nvGrpSpPr>
          <p:cNvPr id="587" name="Google Shape;587;p33"/>
          <p:cNvGrpSpPr/>
          <p:nvPr/>
        </p:nvGrpSpPr>
        <p:grpSpPr>
          <a:xfrm rot="10800000">
            <a:off x="15828686" y="-13843"/>
            <a:ext cx="7681766" cy="4260610"/>
            <a:chOff x="0" y="-38100"/>
            <a:chExt cx="406400" cy="225405"/>
          </a:xfrm>
        </p:grpSpPr>
        <p:sp>
          <p:nvSpPr>
            <p:cNvPr id="588" name="Google Shape;588;p33"/>
            <p:cNvSpPr/>
            <p:nvPr/>
          </p:nvSpPr>
          <p:spPr>
            <a:xfrm>
              <a:off x="0" y="0"/>
              <a:ext cx="406400" cy="187305"/>
            </a:xfrm>
            <a:custGeom>
              <a:avLst/>
              <a:gdLst/>
              <a:ahLst/>
              <a:cxnLst/>
              <a:rect l="l" t="t" r="r" b="b"/>
              <a:pathLst>
                <a:path w="406400" h="187305" extrusionOk="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589" name="Google Shape;589;p33"/>
            <p:cNvSpPr txBox="1"/>
            <p:nvPr/>
          </p:nvSpPr>
          <p:spPr>
            <a:xfrm>
              <a:off x="127000" y="-38100"/>
              <a:ext cx="15240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590" name="Google Shape;590;p33"/>
          <p:cNvSpPr txBox="1"/>
          <p:nvPr/>
        </p:nvSpPr>
        <p:spPr>
          <a:xfrm>
            <a:off x="5696245" y="2603735"/>
            <a:ext cx="11565445" cy="5114861"/>
          </a:xfrm>
          <a:prstGeom prst="rect">
            <a:avLst/>
          </a:prstGeom>
          <a:noFill/>
          <a:ln>
            <a:noFill/>
          </a:ln>
        </p:spPr>
        <p:txBody>
          <a:bodyPr spcFirstLastPara="1" wrap="square" lIns="0" tIns="0" rIns="0" bIns="0" anchor="t" anchorCtr="0">
            <a:spAutoFit/>
          </a:bodyPr>
          <a:lstStyle/>
          <a:p>
            <a:pPr marL="0" marR="0" lvl="0" indent="0" algn="ctr" rtl="0">
              <a:lnSpc>
                <a:spcPct val="134999"/>
              </a:lnSpc>
              <a:spcBef>
                <a:spcPts val="0"/>
              </a:spcBef>
              <a:spcAft>
                <a:spcPts val="0"/>
              </a:spcAft>
              <a:buNone/>
            </a:pPr>
            <a:r>
              <a:rPr lang="en-US" sz="10003" b="1">
                <a:solidFill>
                  <a:srgbClr val="018345"/>
                </a:solidFill>
                <a:latin typeface="Roboto"/>
                <a:ea typeface="Roboto"/>
                <a:cs typeface="Roboto"/>
                <a:sym typeface="Roboto"/>
              </a:rPr>
              <a:t>Cảm ơn các bạn đã chú ý theo dõi!</a:t>
            </a:r>
            <a:endParaRPr/>
          </a:p>
          <a:p>
            <a:pPr marL="0" marR="0" lvl="0" indent="0" algn="ctr" rtl="0">
              <a:lnSpc>
                <a:spcPct val="134999"/>
              </a:lnSpc>
              <a:spcBef>
                <a:spcPts val="0"/>
              </a:spcBef>
              <a:spcAft>
                <a:spcPts val="0"/>
              </a:spcAft>
              <a:buNone/>
            </a:pPr>
            <a:endParaRPr sz="10003" b="1">
              <a:solidFill>
                <a:srgbClr val="018345"/>
              </a:solidFill>
              <a:latin typeface="Roboto"/>
              <a:ea typeface="Roboto"/>
              <a:cs typeface="Roboto"/>
              <a:sym typeface="Roboto"/>
            </a:endParaRPr>
          </a:p>
        </p:txBody>
      </p:sp>
      <p:grpSp>
        <p:nvGrpSpPr>
          <p:cNvPr id="591" name="Google Shape;591;p33"/>
          <p:cNvGrpSpPr/>
          <p:nvPr/>
        </p:nvGrpSpPr>
        <p:grpSpPr>
          <a:xfrm>
            <a:off x="5693855" y="6543482"/>
            <a:ext cx="11567835" cy="1261722"/>
            <a:chOff x="5693855" y="7590172"/>
            <a:chExt cx="11567835" cy="1261722"/>
          </a:xfrm>
        </p:grpSpPr>
        <p:grpSp>
          <p:nvGrpSpPr>
            <p:cNvPr id="592" name="Google Shape;592;p33"/>
            <p:cNvGrpSpPr/>
            <p:nvPr/>
          </p:nvGrpSpPr>
          <p:grpSpPr>
            <a:xfrm>
              <a:off x="5693855" y="7590172"/>
              <a:ext cx="11567834" cy="1261722"/>
              <a:chOff x="0" y="-38100"/>
              <a:chExt cx="3046672" cy="332305"/>
            </a:xfrm>
          </p:grpSpPr>
          <p:sp>
            <p:nvSpPr>
              <p:cNvPr id="593" name="Google Shape;593;p33"/>
              <p:cNvSpPr/>
              <p:nvPr/>
            </p:nvSpPr>
            <p:spPr>
              <a:xfrm>
                <a:off x="0" y="0"/>
                <a:ext cx="3046672" cy="294205"/>
              </a:xfrm>
              <a:custGeom>
                <a:avLst/>
                <a:gdLst/>
                <a:ahLst/>
                <a:cxnLst/>
                <a:rect l="l" t="t" r="r" b="b"/>
                <a:pathLst>
                  <a:path w="3046672" h="294205" extrusionOk="0">
                    <a:moveTo>
                      <a:pt x="0" y="0"/>
                    </a:moveTo>
                    <a:lnTo>
                      <a:pt x="3046672" y="0"/>
                    </a:lnTo>
                    <a:lnTo>
                      <a:pt x="3046672" y="294205"/>
                    </a:lnTo>
                    <a:lnTo>
                      <a:pt x="0" y="294205"/>
                    </a:lnTo>
                    <a:close/>
                  </a:path>
                </a:pathLst>
              </a:custGeom>
              <a:solidFill>
                <a:srgbClr val="006B37"/>
              </a:solidFill>
              <a:ln>
                <a:noFill/>
              </a:ln>
            </p:spPr>
          </p:sp>
          <p:sp>
            <p:nvSpPr>
              <p:cNvPr id="594" name="Google Shape;594;p33"/>
              <p:cNvSpPr txBox="1"/>
              <p:nvPr/>
            </p:nvSpPr>
            <p:spPr>
              <a:xfrm>
                <a:off x="0" y="-38100"/>
                <a:ext cx="3046672" cy="3323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595" name="Google Shape;595;p33"/>
            <p:cNvSpPr txBox="1"/>
            <p:nvPr/>
          </p:nvSpPr>
          <p:spPr>
            <a:xfrm>
              <a:off x="5696245" y="7961575"/>
              <a:ext cx="11565445" cy="596901"/>
            </a:xfrm>
            <a:prstGeom prst="rect">
              <a:avLst/>
            </a:prstGeom>
            <a:noFill/>
            <a:ln>
              <a:noFill/>
            </a:ln>
          </p:spPr>
          <p:txBody>
            <a:bodyPr spcFirstLastPara="1" wrap="square" lIns="0" tIns="0" rIns="0" bIns="0" anchor="t" anchorCtr="0">
              <a:spAutoFit/>
            </a:bodyPr>
            <a:lstStyle/>
            <a:p>
              <a:pPr marL="0" marR="0" lvl="0" indent="0" algn="ctr" rtl="0">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596" name="Google Shape;596;p33"/>
          <p:cNvGrpSpPr/>
          <p:nvPr/>
        </p:nvGrpSpPr>
        <p:grpSpPr>
          <a:xfrm>
            <a:off x="-2718010" y="9274528"/>
            <a:ext cx="7950400" cy="1707231"/>
            <a:chOff x="0" y="-384762"/>
            <a:chExt cx="10600533" cy="2276307"/>
          </a:xfrm>
        </p:grpSpPr>
        <p:grpSp>
          <p:nvGrpSpPr>
            <p:cNvPr id="597" name="Google Shape;597;p33"/>
            <p:cNvGrpSpPr/>
            <p:nvPr/>
          </p:nvGrpSpPr>
          <p:grpSpPr>
            <a:xfrm>
              <a:off x="0" y="-384762"/>
              <a:ext cx="10600533" cy="2276307"/>
              <a:chOff x="0" y="-38100"/>
              <a:chExt cx="1049690" cy="225405"/>
            </a:xfrm>
          </p:grpSpPr>
          <p:sp>
            <p:nvSpPr>
              <p:cNvPr id="598" name="Google Shape;598;p33"/>
              <p:cNvSpPr/>
              <p:nvPr/>
            </p:nvSpPr>
            <p:spPr>
              <a:xfrm>
                <a:off x="0" y="0"/>
                <a:ext cx="1049690" cy="187305"/>
              </a:xfrm>
              <a:custGeom>
                <a:avLst/>
                <a:gdLst/>
                <a:ahLst/>
                <a:cxnLst/>
                <a:rect l="l" t="t" r="r" b="b"/>
                <a:pathLst>
                  <a:path w="1049690" h="187305" extrusionOk="0">
                    <a:moveTo>
                      <a:pt x="203200" y="0"/>
                    </a:moveTo>
                    <a:lnTo>
                      <a:pt x="846490" y="0"/>
                    </a:lnTo>
                    <a:lnTo>
                      <a:pt x="1049690" y="187305"/>
                    </a:lnTo>
                    <a:lnTo>
                      <a:pt x="0" y="187305"/>
                    </a:lnTo>
                    <a:lnTo>
                      <a:pt x="203200" y="0"/>
                    </a:lnTo>
                    <a:close/>
                  </a:path>
                </a:pathLst>
              </a:custGeom>
              <a:solidFill>
                <a:srgbClr val="018345"/>
              </a:solidFill>
              <a:ln>
                <a:noFill/>
              </a:ln>
            </p:spPr>
          </p:sp>
          <p:sp>
            <p:nvSpPr>
              <p:cNvPr id="599" name="Google Shape;599;p33"/>
              <p:cNvSpPr txBox="1"/>
              <p:nvPr/>
            </p:nvSpPr>
            <p:spPr>
              <a:xfrm>
                <a:off x="127000" y="-38100"/>
                <a:ext cx="795690" cy="225405"/>
              </a:xfrm>
              <a:prstGeom prst="rect">
                <a:avLst/>
              </a:prstGeom>
              <a:noFill/>
              <a:ln>
                <a:noFill/>
              </a:ln>
            </p:spPr>
            <p:txBody>
              <a:bodyPr spcFirstLastPara="1" wrap="square" lIns="50800" tIns="50800" rIns="50800" bIns="50800" anchor="ctr" anchorCtr="0">
                <a:noAutofit/>
              </a:bodyPr>
              <a:lstStyle/>
              <a:p>
                <a:pPr marL="0" marR="0" lvl="0" indent="0" algn="ctr" rtl="0">
                  <a:lnSpc>
                    <a:spcPct val="11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600" name="Google Shape;600;p33"/>
            <p:cNvSpPr txBox="1"/>
            <p:nvPr/>
          </p:nvSpPr>
          <p:spPr>
            <a:xfrm>
              <a:off x="4182979" y="666743"/>
              <a:ext cx="3721150" cy="529484"/>
            </a:xfrm>
            <a:prstGeom prst="rect">
              <a:avLst/>
            </a:prstGeom>
            <a:noFill/>
            <a:ln>
              <a:noFill/>
            </a:ln>
          </p:spPr>
          <p:txBody>
            <a:bodyPr spcFirstLastPara="1" wrap="square" lIns="0" tIns="0" rIns="0" bIns="0" anchor="t" anchorCtr="0">
              <a:spAutoFit/>
            </a:bodyPr>
            <a:lstStyle/>
            <a:p>
              <a:pPr marL="0" marR="0" lvl="0" indent="0" algn="l" rtl="0">
                <a:lnSpc>
                  <a:spcPct val="179277"/>
                </a:lnSpc>
                <a:spcBef>
                  <a:spcPts val="0"/>
                </a:spcBef>
                <a:spcAft>
                  <a:spcPts val="0"/>
                </a:spcAft>
                <a:buNone/>
              </a:pPr>
              <a:endParaRPr sz="1800">
                <a:solidFill>
                  <a:schemeClr val="dk1"/>
                </a:solidFill>
                <a:latin typeface="Calibri"/>
                <a:ea typeface="Calibri"/>
                <a:cs typeface="Calibri"/>
                <a:sym typeface="Calibri"/>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90"/>
                                        </p:tgtEl>
                                        <p:attrNameLst>
                                          <p:attrName>style.visibility</p:attrName>
                                        </p:attrNameLst>
                                      </p:cBhvr>
                                      <p:to>
                                        <p:strVal val="visible"/>
                                      </p:to>
                                    </p:set>
                                  </p:childTnLst>
                                </p:cTn>
                              </p:par>
                              <p:par>
                                <p:cTn id="7" presetID="23" presetClass="entr" presetSubtype="16" fill="hold" nodeType="withEffect">
                                  <p:stCondLst>
                                    <p:cond delay="0"/>
                                  </p:stCondLst>
                                  <p:childTnLst>
                                    <p:set>
                                      <p:cBhvr>
                                        <p:cTn id="8" dur="1" fill="hold">
                                          <p:stCondLst>
                                            <p:cond delay="0"/>
                                          </p:stCondLst>
                                        </p:cTn>
                                        <p:tgtEl>
                                          <p:spTgt spid="590"/>
                                        </p:tgtEl>
                                        <p:attrNameLst>
                                          <p:attrName>style.visibility</p:attrName>
                                        </p:attrNameLst>
                                      </p:cBhvr>
                                      <p:to>
                                        <p:strVal val="visible"/>
                                      </p:to>
                                    </p:set>
                                    <p:anim calcmode="lin" valueType="num">
                                      <p:cBhvr additive="base">
                                        <p:cTn id="9" dur="500"/>
                                        <p:tgtEl>
                                          <p:spTgt spid="590"/>
                                        </p:tgtEl>
                                        <p:attrNameLst>
                                          <p:attrName>ppt_w</p:attrName>
                                        </p:attrNameLst>
                                      </p:cBhvr>
                                      <p:tavLst>
                                        <p:tav tm="0">
                                          <p:val>
                                            <p:strVal val="0"/>
                                          </p:val>
                                        </p:tav>
                                        <p:tav tm="100000">
                                          <p:val>
                                            <p:strVal val="#ppt_w"/>
                                          </p:val>
                                        </p:tav>
                                      </p:tavLst>
                                    </p:anim>
                                    <p:anim calcmode="lin" valueType="num">
                                      <p:cBhvr additive="base">
                                        <p:cTn id="10" dur="500"/>
                                        <p:tgtEl>
                                          <p:spTgt spid="590"/>
                                        </p:tgtEl>
                                        <p:attrNameLst>
                                          <p:attrName>ppt_h</p:attrName>
                                        </p:attrNameLst>
                                      </p:cBhvr>
                                      <p:tavLst>
                                        <p:tav tm="0">
                                          <p:val>
                                            <p:strVal val="0"/>
                                          </p:val>
                                        </p:tav>
                                        <p:tav tm="100000">
                                          <p:val>
                                            <p:strVal val="#ppt_h"/>
                                          </p:val>
                                        </p:tav>
                                      </p:tavLst>
                                    </p:anim>
                                  </p:childTnLst>
                                </p:cTn>
                              </p:par>
                              <p:par>
                                <p:cTn id="11" presetID="10" presetClass="entr" presetSubtype="0" fill="hold" nodeType="withEffect">
                                  <p:stCondLst>
                                    <p:cond delay="500"/>
                                  </p:stCondLst>
                                  <p:childTnLst>
                                    <p:set>
                                      <p:cBhvr>
                                        <p:cTn id="12" dur="1" fill="hold">
                                          <p:stCondLst>
                                            <p:cond delay="0"/>
                                          </p:stCondLst>
                                        </p:cTn>
                                        <p:tgtEl>
                                          <p:spTgt spid="591"/>
                                        </p:tgtEl>
                                        <p:attrNameLst>
                                          <p:attrName>style.visibility</p:attrName>
                                        </p:attrNameLst>
                                      </p:cBhvr>
                                      <p:to>
                                        <p:strVal val="visible"/>
                                      </p:to>
                                    </p:set>
                                    <p:animEffect transition="in" filter="fade">
                                      <p:cBhvr>
                                        <p:cTn id="13" dur="500"/>
                                        <p:tgtEl>
                                          <p:spTgt spid="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1519</Words>
  <Application>Microsoft Office PowerPoint</Application>
  <PresentationFormat>Custom</PresentationFormat>
  <Paragraphs>149</Paragraphs>
  <Slides>21</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Montserrat</vt:lpstr>
      <vt:lpstr>Roboto</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DELL</cp:lastModifiedBy>
  <cp:revision>2</cp:revision>
  <dcterms:modified xsi:type="dcterms:W3CDTF">2025-04-12T12:52:53Z</dcterms:modified>
</cp:coreProperties>
</file>