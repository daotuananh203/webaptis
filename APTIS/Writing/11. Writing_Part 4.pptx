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Montserra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PlayfairDisplay-bold.fntdata"/><Relationship Id="rId27" Type="http://schemas.openxmlformats.org/officeDocument/2006/relationships/font" Target="fonts/PlayfairDispl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fairDispl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PlayfairDisplay-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82550" lvl="0" marL="171450" rtl="0" algn="l">
              <a:lnSpc>
                <a:spcPct val="100000"/>
              </a:lnSpc>
              <a:spcBef>
                <a:spcPts val="0"/>
              </a:spcBef>
              <a:spcAft>
                <a:spcPts val="0"/>
              </a:spcAft>
              <a:buSzPts val="1400"/>
              <a:buFont typeface="Arial"/>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Calibri"/>
                <a:ea typeface="Calibri"/>
                <a:cs typeface="Calibri"/>
                <a:sym typeface="Calibri"/>
              </a:rPr>
              <a:t>‹#›</a:t>
            </a:fld>
            <a:endParaRPr>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795235"/>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10416"/>
              <a:buFont typeface="Arial"/>
              <a:buNone/>
            </a:pPr>
            <a:r>
              <a:rPr b="0" i="0" lang="en-US" sz="10416" u="none" cap="none" strike="noStrike">
                <a:solidFill>
                  <a:srgbClr val="FFFFFF"/>
                </a:solidFill>
                <a:latin typeface="Calibri"/>
                <a:ea typeface="Calibri"/>
                <a:cs typeface="Calibri"/>
                <a:sym typeface="Calibri"/>
              </a:rPr>
              <a:t>APTIS GENERAL</a:t>
            </a:r>
            <a:endParaRPr b="0" i="0" sz="1400" u="none" cap="none" strike="noStrike">
              <a:solidFill>
                <a:srgbClr val="000000"/>
              </a:solidFill>
              <a:latin typeface="Calibri"/>
              <a:ea typeface="Calibri"/>
              <a:cs typeface="Calibri"/>
              <a:sym typeface="Calibri"/>
            </a:endParaRPr>
          </a:p>
        </p:txBody>
      </p:sp>
      <p:grpSp>
        <p:nvGrpSpPr>
          <p:cNvPr id="89" name="Google Shape;89;p13"/>
          <p:cNvGrpSpPr/>
          <p:nvPr/>
        </p:nvGrpSpPr>
        <p:grpSpPr>
          <a:xfrm>
            <a:off x="7338936" y="4396612"/>
            <a:ext cx="8593708" cy="2361123"/>
            <a:chOff x="0" y="-192881"/>
            <a:chExt cx="11458277" cy="3148163"/>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10" cy="2863347"/>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Clr>
                  <a:srgbClr val="000000"/>
                </a:buClr>
                <a:buSzPts val="12460"/>
                <a:buFont typeface="Arial"/>
                <a:buNone/>
              </a:pPr>
              <a:r>
                <a:rPr b="0" i="0" lang="en-US" sz="12460" u="none" cap="none" strike="noStrike">
                  <a:solidFill>
                    <a:srgbClr val="018345"/>
                  </a:solidFill>
                  <a:latin typeface="Calibri"/>
                  <a:ea typeface="Calibri"/>
                  <a:cs typeface="Calibri"/>
                  <a:sym typeface="Calibri"/>
                </a:rPr>
                <a:t>WRITING</a:t>
              </a:r>
              <a:endParaRPr b="0" i="0" sz="1400" u="none" cap="none" strike="noStrike">
                <a:solidFill>
                  <a:srgbClr val="000000"/>
                </a:solidFill>
                <a:latin typeface="Calibri"/>
                <a:ea typeface="Calibri"/>
                <a:cs typeface="Calibri"/>
                <a:sym typeface="Calibri"/>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769074"/>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Clr>
                <a:srgbClr val="000000"/>
              </a:buClr>
              <a:buSzPts val="10264"/>
              <a:buFont typeface="Arial"/>
              <a:buNone/>
            </a:pPr>
            <a:r>
              <a:rPr b="0" i="0" lang="en-US" sz="10264" u="none" cap="none" strike="noStrike">
                <a:solidFill>
                  <a:srgbClr val="018345"/>
                </a:solidFill>
                <a:latin typeface="Calibri"/>
                <a:ea typeface="Calibri"/>
                <a:cs typeface="Calibri"/>
                <a:sym typeface="Calibri"/>
              </a:rPr>
              <a:t>Table of contents</a:t>
            </a:r>
            <a:endParaRPr b="0" i="0" sz="1400" u="none" cap="none" strike="noStrike">
              <a:solidFill>
                <a:srgbClr val="000000"/>
              </a:solidFill>
              <a:latin typeface="Calibri"/>
              <a:ea typeface="Calibri"/>
              <a:cs typeface="Calibri"/>
              <a:sym typeface="Calibri"/>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0" name="Google Shape;110;p14"/>
            <p:cNvSpPr txBox="1"/>
            <p:nvPr/>
          </p:nvSpPr>
          <p:spPr>
            <a:xfrm>
              <a:off x="7917301" y="6581020"/>
              <a:ext cx="8651214" cy="764836"/>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Bài viết APTIS part 4</a:t>
              </a:r>
              <a:endParaRPr b="0" i="0" sz="1400" u="none" cap="none" strike="noStrike">
                <a:solidFill>
                  <a:srgbClr val="000000"/>
                </a:solidFill>
                <a:latin typeface="Calibri"/>
                <a:ea typeface="Calibri"/>
                <a:cs typeface="Calibri"/>
                <a:sym typeface="Calibri"/>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201" y="3813781"/>
            <a:ext cx="10121389" cy="1634522"/>
            <a:chOff x="6934200" y="6685952"/>
            <a:chExt cx="9882630" cy="1521685"/>
          </a:xfrm>
        </p:grpSpPr>
        <p:grpSp>
          <p:nvGrpSpPr>
            <p:cNvPr id="120" name="Google Shape;120;p14"/>
            <p:cNvGrpSpPr/>
            <p:nvPr/>
          </p:nvGrpSpPr>
          <p:grpSpPr>
            <a:xfrm>
              <a:off x="6934200" y="6685952"/>
              <a:ext cx="9882630" cy="1521685"/>
              <a:chOff x="6487861" y="7547366"/>
              <a:chExt cx="10571780" cy="169243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23" name="Google Shape;123;p14"/>
              <p:cNvSpPr txBox="1"/>
              <p:nvPr/>
            </p:nvSpPr>
            <p:spPr>
              <a:xfrm>
                <a:off x="7983586" y="7547366"/>
                <a:ext cx="7896000" cy="1550053"/>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Clr>
                    <a:srgbClr val="000000"/>
                  </a:buClr>
                  <a:buSzPts val="3200"/>
                  <a:buFont typeface="Arial"/>
                  <a:buNone/>
                </a:pPr>
                <a:r>
                  <a:rPr b="1" i="0" lang="en-US" sz="3200" u="none" cap="none" strike="noStrike">
                    <a:solidFill>
                      <a:schemeClr val="lt1"/>
                    </a:solidFill>
                    <a:latin typeface="Montserrat"/>
                    <a:ea typeface="Montserrat"/>
                    <a:cs typeface="Montserrat"/>
                    <a:sym typeface="Montserrat"/>
                  </a:rPr>
                  <a:t>Những lưu ý khi làm bài</a:t>
                </a:r>
                <a:endParaRPr b="1" i="0" sz="3200" u="none" cap="none" strike="noStrike">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Đề mẫu</a:t>
              </a:r>
              <a:endParaRPr b="1" i="0" sz="3200" u="none" cap="none" strike="noStrike">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Hướng dẫn trả lời</a:t>
                </a:r>
                <a:endParaRPr b="1" i="0" sz="3200" u="none" cap="none" strike="noStrike">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Luyện tập</a:t>
                </a:r>
                <a:endParaRPr b="1" i="0" sz="3200" u="none" cap="none" strike="noStrike">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753" cy="3006336"/>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Clr>
                <a:srgbClr val="000000"/>
              </a:buClr>
              <a:buSzPts val="8800"/>
              <a:buFont typeface="Arial"/>
              <a:buNone/>
            </a:pPr>
            <a:r>
              <a:rPr b="1" i="0" lang="en-US" sz="8800" u="none" cap="none" strike="noStrike">
                <a:solidFill>
                  <a:srgbClr val="018345"/>
                </a:solidFill>
                <a:latin typeface="Montserrat"/>
                <a:ea typeface="Montserrat"/>
                <a:cs typeface="Montserrat"/>
                <a:sym typeface="Montserrat"/>
              </a:rPr>
              <a:t>Bài viết APTIS part 4</a:t>
            </a:r>
            <a:endParaRPr b="0" i="0" sz="1400" u="none" cap="none" strike="noStrike">
              <a:solidFill>
                <a:srgbClr val="000000"/>
              </a:solidFill>
              <a:latin typeface="Calibri"/>
              <a:ea typeface="Calibri"/>
              <a:cs typeface="Calibri"/>
              <a:sym typeface="Calibri"/>
            </a:endParaRPr>
          </a:p>
        </p:txBody>
      </p:sp>
      <p:sp>
        <p:nvSpPr>
          <p:cNvPr id="155" name="Google Shape;155;p15"/>
          <p:cNvSpPr txBox="1"/>
          <p:nvPr/>
        </p:nvSpPr>
        <p:spPr>
          <a:xfrm>
            <a:off x="10210111" y="339710"/>
            <a:ext cx="214672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01</a:t>
            </a:r>
            <a:endParaRPr b="0" i="0" sz="1400" u="none" cap="none" strike="noStrike">
              <a:solidFill>
                <a:srgbClr val="000000"/>
              </a:solidFill>
              <a:latin typeface="Calibri"/>
              <a:ea typeface="Calibri"/>
              <a:cs typeface="Calibri"/>
              <a:sym typeface="Calibri"/>
            </a:endParaRPr>
          </a:p>
        </p:txBody>
      </p:sp>
      <p:sp>
        <p:nvSpPr>
          <p:cNvPr id="156" name="Google Shape;156;p15"/>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16"/>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168" name="Google Shape;168;p16"/>
          <p:cNvGrpSpPr/>
          <p:nvPr/>
        </p:nvGrpSpPr>
        <p:grpSpPr>
          <a:xfrm rot="10800000">
            <a:off x="15785091" y="-536942"/>
            <a:ext cx="7681766" cy="4260610"/>
            <a:chOff x="0" y="-38100"/>
            <a:chExt cx="406400" cy="225405"/>
          </a:xfrm>
        </p:grpSpPr>
        <p:sp>
          <p:nvSpPr>
            <p:cNvPr id="169" name="Google Shape;169;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0" name="Google Shape;170;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2" name="Google Shape;172;p16"/>
          <p:cNvGrpSpPr/>
          <p:nvPr/>
        </p:nvGrpSpPr>
        <p:grpSpPr>
          <a:xfrm>
            <a:off x="-2718010" y="9274528"/>
            <a:ext cx="7950400" cy="1707231"/>
            <a:chOff x="0" y="-384762"/>
            <a:chExt cx="10600533" cy="2276307"/>
          </a:xfrm>
        </p:grpSpPr>
        <p:grpSp>
          <p:nvGrpSpPr>
            <p:cNvPr id="173" name="Google Shape;173;p16"/>
            <p:cNvGrpSpPr/>
            <p:nvPr/>
          </p:nvGrpSpPr>
          <p:grpSpPr>
            <a:xfrm>
              <a:off x="0" y="-384762"/>
              <a:ext cx="10600533" cy="2276307"/>
              <a:chOff x="0" y="-38100"/>
              <a:chExt cx="1049690" cy="225405"/>
            </a:xfrm>
          </p:grpSpPr>
          <p:sp>
            <p:nvSpPr>
              <p:cNvPr id="174" name="Google Shape;174;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5" name="Google Shape;175;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6"/>
          <p:cNvSpPr txBox="1"/>
          <p:nvPr/>
        </p:nvSpPr>
        <p:spPr>
          <a:xfrm>
            <a:off x="6293296" y="622074"/>
            <a:ext cx="11880998" cy="819904"/>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i="0" lang="en-US" sz="4800" u="none" cap="none" strike="noStrike">
                <a:solidFill>
                  <a:srgbClr val="018345"/>
                </a:solidFill>
                <a:latin typeface="Montserrat"/>
                <a:ea typeface="Montserrat"/>
                <a:cs typeface="Montserrat"/>
                <a:sym typeface="Montserrat"/>
              </a:rPr>
              <a:t>Bài viết APTIS part 4</a:t>
            </a:r>
            <a:endParaRPr b="0" i="0" sz="4800" u="none" cap="none" strike="noStrike">
              <a:solidFill>
                <a:srgbClr val="000000"/>
              </a:solidFill>
              <a:latin typeface="Calibri"/>
              <a:ea typeface="Calibri"/>
              <a:cs typeface="Calibri"/>
              <a:sym typeface="Calibri"/>
            </a:endParaRPr>
          </a:p>
        </p:txBody>
      </p:sp>
      <p:grpSp>
        <p:nvGrpSpPr>
          <p:cNvPr id="178" name="Google Shape;178;p16"/>
          <p:cNvGrpSpPr/>
          <p:nvPr/>
        </p:nvGrpSpPr>
        <p:grpSpPr>
          <a:xfrm>
            <a:off x="7208393" y="2894022"/>
            <a:ext cx="9868654" cy="1699733"/>
            <a:chOff x="7202147" y="2894022"/>
            <a:chExt cx="9561853" cy="1699733"/>
          </a:xfrm>
        </p:grpSpPr>
        <p:sp>
          <p:nvSpPr>
            <p:cNvPr id="179" name="Google Shape;179;p16"/>
            <p:cNvSpPr/>
            <p:nvPr/>
          </p:nvSpPr>
          <p:spPr>
            <a:xfrm>
              <a:off x="9677764" y="2894022"/>
              <a:ext cx="7086236" cy="1699733"/>
            </a:xfrm>
            <a:prstGeom prst="roundRect">
              <a:avLst>
                <a:gd fmla="val 16667" name="adj"/>
              </a:avLst>
            </a:prstGeom>
            <a:solidFill>
              <a:srgbClr val="4CB487"/>
            </a:solidFill>
            <a:ln cap="flat" cmpd="sng" w="25400">
              <a:solidFill>
                <a:srgbClr val="00BF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Playfair Display"/>
                  <a:ea typeface="Playfair Display"/>
                  <a:cs typeface="Playfair Display"/>
                  <a:sym typeface="Playfair Display"/>
                </a:rPr>
                <a:t>Viết thư văn phong thông thường và trang trọng</a:t>
              </a:r>
              <a:endParaRPr b="1" i="0" sz="3200" u="none" cap="none" strike="noStrike">
                <a:solidFill>
                  <a:schemeClr val="lt1"/>
                </a:solidFill>
                <a:latin typeface="Playfair Display"/>
                <a:ea typeface="Playfair Display"/>
                <a:cs typeface="Playfair Display"/>
                <a:sym typeface="Playfair Display"/>
              </a:endParaRPr>
            </a:p>
          </p:txBody>
        </p:sp>
        <p:pic>
          <p:nvPicPr>
            <p:cNvPr descr="List with solid fill" id="180" name="Google Shape;180;p16"/>
            <p:cNvPicPr preferRelativeResize="0"/>
            <p:nvPr/>
          </p:nvPicPr>
          <p:blipFill rotWithShape="1">
            <a:blip r:embed="rId4">
              <a:alphaModFix/>
            </a:blip>
            <a:srcRect b="0" l="0" r="0" t="0"/>
            <a:stretch/>
          </p:blipFill>
          <p:spPr>
            <a:xfrm>
              <a:off x="7202147" y="2894022"/>
              <a:ext cx="1611038" cy="1611038"/>
            </a:xfrm>
            <a:prstGeom prst="rect">
              <a:avLst/>
            </a:prstGeom>
            <a:noFill/>
            <a:ln>
              <a:noFill/>
            </a:ln>
          </p:spPr>
        </p:pic>
      </p:grpSp>
      <p:grpSp>
        <p:nvGrpSpPr>
          <p:cNvPr id="181" name="Google Shape;181;p16"/>
          <p:cNvGrpSpPr/>
          <p:nvPr/>
        </p:nvGrpSpPr>
        <p:grpSpPr>
          <a:xfrm>
            <a:off x="7337971" y="7562692"/>
            <a:ext cx="9739067" cy="1946156"/>
            <a:chOff x="7337971" y="7562692"/>
            <a:chExt cx="9739067" cy="1946156"/>
          </a:xfrm>
        </p:grpSpPr>
        <p:pic>
          <p:nvPicPr>
            <p:cNvPr descr="Clock with solid fill" id="182" name="Google Shape;182;p16"/>
            <p:cNvPicPr preferRelativeResize="0"/>
            <p:nvPr/>
          </p:nvPicPr>
          <p:blipFill rotWithShape="1">
            <a:blip r:embed="rId5">
              <a:alphaModFix/>
            </a:blip>
            <a:srcRect b="0" l="0" r="0" t="0"/>
            <a:stretch/>
          </p:blipFill>
          <p:spPr>
            <a:xfrm>
              <a:off x="7337971" y="7844982"/>
              <a:ext cx="1663866" cy="1663866"/>
            </a:xfrm>
            <a:prstGeom prst="rect">
              <a:avLst/>
            </a:prstGeom>
            <a:noFill/>
            <a:ln>
              <a:noFill/>
            </a:ln>
          </p:spPr>
        </p:pic>
        <p:sp>
          <p:nvSpPr>
            <p:cNvPr id="183" name="Google Shape;183;p16"/>
            <p:cNvSpPr/>
            <p:nvPr/>
          </p:nvSpPr>
          <p:spPr>
            <a:xfrm>
              <a:off x="9673125" y="7562692"/>
              <a:ext cx="7403913" cy="1771808"/>
            </a:xfrm>
            <a:prstGeom prst="roundRect">
              <a:avLst>
                <a:gd fmla="val 16667" name="adj"/>
              </a:avLst>
            </a:prstGeom>
            <a:solidFill>
              <a:srgbClr val="41774D"/>
            </a:solidFill>
            <a:ln cap="flat" cmpd="sng" w="25400">
              <a:solidFill>
                <a:srgbClr val="0183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Playfair Display"/>
                  <a:ea typeface="Playfair Display"/>
                  <a:cs typeface="Playfair Display"/>
                  <a:sym typeface="Playfair Display"/>
                </a:rPr>
                <a:t>Thư thông thường – 10 phút</a:t>
              </a:r>
              <a:endParaRPr b="1" i="0" sz="3200" u="none" cap="none" strike="noStrike">
                <a:solidFill>
                  <a:schemeClr val="lt1"/>
                </a:solidFill>
                <a:latin typeface="Playfair Display"/>
                <a:ea typeface="Playfair Display"/>
                <a:cs typeface="Playfair Display"/>
                <a:sym typeface="Playfair Display"/>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Playfair Display"/>
                  <a:ea typeface="Playfair Display"/>
                  <a:cs typeface="Playfair Display"/>
                  <a:sym typeface="Playfair Display"/>
                </a:rPr>
                <a:t>Thư trang trọng – 20 phút</a:t>
              </a:r>
              <a:endParaRPr b="1" i="0" sz="3200" u="none" cap="none" strike="noStrike">
                <a:solidFill>
                  <a:schemeClr val="lt1"/>
                </a:solidFill>
                <a:latin typeface="Playfair Display"/>
                <a:ea typeface="Playfair Display"/>
                <a:cs typeface="Playfair Display"/>
                <a:sym typeface="Playfair Display"/>
              </a:endParaRPr>
            </a:p>
          </p:txBody>
        </p:sp>
      </p:grpSp>
      <p:grpSp>
        <p:nvGrpSpPr>
          <p:cNvPr id="184" name="Google Shape;184;p16"/>
          <p:cNvGrpSpPr/>
          <p:nvPr/>
        </p:nvGrpSpPr>
        <p:grpSpPr>
          <a:xfrm>
            <a:off x="7337971" y="5237421"/>
            <a:ext cx="9739067" cy="1663867"/>
            <a:chOff x="7337971" y="5237421"/>
            <a:chExt cx="9739067" cy="1663867"/>
          </a:xfrm>
        </p:grpSpPr>
        <p:sp>
          <p:nvSpPr>
            <p:cNvPr id="185" name="Google Shape;185;p16"/>
            <p:cNvSpPr/>
            <p:nvPr/>
          </p:nvSpPr>
          <p:spPr>
            <a:xfrm>
              <a:off x="9673125" y="5237421"/>
              <a:ext cx="7403913" cy="1663867"/>
            </a:xfrm>
            <a:prstGeom prst="roundRect">
              <a:avLst>
                <a:gd fmla="val 16667" name="adj"/>
              </a:avLst>
            </a:prstGeom>
            <a:solidFill>
              <a:srgbClr val="02D06E"/>
            </a:solidFill>
            <a:ln cap="flat" cmpd="sng" w="25400">
              <a:solidFill>
                <a:srgbClr val="00BF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Playfair Display"/>
                  <a:ea typeface="Playfair Display"/>
                  <a:cs typeface="Playfair Display"/>
                  <a:sym typeface="Playfair Display"/>
                </a:rPr>
                <a:t>40-50 từ với thư thông thường</a:t>
              </a:r>
              <a:endParaRPr b="1" i="0" sz="3200" u="none" cap="none" strike="noStrike">
                <a:solidFill>
                  <a:schemeClr val="lt1"/>
                </a:solidFill>
                <a:latin typeface="Playfair Display"/>
                <a:ea typeface="Playfair Display"/>
                <a:cs typeface="Playfair Display"/>
                <a:sym typeface="Playfair Display"/>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Playfair Display"/>
                  <a:ea typeface="Playfair Display"/>
                  <a:cs typeface="Playfair Display"/>
                  <a:sym typeface="Playfair Display"/>
                </a:rPr>
                <a:t>120-150 từ với thư trang trọng</a:t>
              </a:r>
              <a:endParaRPr b="1" i="0" sz="3200" u="none" cap="none" strike="noStrike">
                <a:solidFill>
                  <a:schemeClr val="lt1"/>
                </a:solidFill>
                <a:latin typeface="Playfair Display"/>
                <a:ea typeface="Playfair Display"/>
                <a:cs typeface="Playfair Display"/>
                <a:sym typeface="Playfair Display"/>
              </a:endParaRPr>
            </a:p>
          </p:txBody>
        </p:sp>
        <p:pic>
          <p:nvPicPr>
            <p:cNvPr descr="Pencil with solid fill" id="186" name="Google Shape;186;p16"/>
            <p:cNvPicPr preferRelativeResize="0"/>
            <p:nvPr/>
          </p:nvPicPr>
          <p:blipFill rotWithShape="1">
            <a:blip r:embed="rId6">
              <a:alphaModFix/>
            </a:blip>
            <a:srcRect b="0" l="0" r="0" t="0"/>
            <a:stretch/>
          </p:blipFill>
          <p:spPr>
            <a:xfrm>
              <a:off x="7337971" y="5347592"/>
              <a:ext cx="1443524" cy="144352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4"/>
                                        </p:tgtEl>
                                        <p:attrNameLst>
                                          <p:attrName>style.visibility</p:attrName>
                                        </p:attrNameLst>
                                      </p:cBhvr>
                                      <p:to>
                                        <p:strVal val="visible"/>
                                      </p:to>
                                    </p:set>
                                    <p:anim calcmode="lin" valueType="num">
                                      <p:cBhvr additive="base">
                                        <p:cTn dur="500"/>
                                        <p:tgtEl>
                                          <p:spTgt spid="18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cxnSp>
        <p:nvCxnSpPr>
          <p:cNvPr id="191" name="Google Shape;191;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92" name="Google Shape;192;p17"/>
          <p:cNvGrpSpPr/>
          <p:nvPr/>
        </p:nvGrpSpPr>
        <p:grpSpPr>
          <a:xfrm rot="10800000">
            <a:off x="15785091" y="-536942"/>
            <a:ext cx="7681766" cy="4260610"/>
            <a:chOff x="0" y="-38100"/>
            <a:chExt cx="406400" cy="225405"/>
          </a:xfrm>
        </p:grpSpPr>
        <p:sp>
          <p:nvSpPr>
            <p:cNvPr id="193" name="Google Shape;193;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94" name="Google Shape;194;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195" name="Google Shape;195;p1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196" name="Google Shape;196;p17"/>
          <p:cNvSpPr txBox="1"/>
          <p:nvPr/>
        </p:nvSpPr>
        <p:spPr>
          <a:xfrm>
            <a:off x="5784324" y="465194"/>
            <a:ext cx="11880998" cy="874214"/>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i="0" lang="en-US" sz="4800" u="none" cap="none" strike="noStrike">
                <a:solidFill>
                  <a:srgbClr val="018345"/>
                </a:solidFill>
                <a:latin typeface="Calibri"/>
                <a:ea typeface="Calibri"/>
                <a:cs typeface="Calibri"/>
                <a:sym typeface="Calibri"/>
              </a:rPr>
              <a:t>Văn phong</a:t>
            </a:r>
            <a:endParaRPr b="1" i="0" sz="4800" u="none" cap="none" strike="noStrike">
              <a:solidFill>
                <a:srgbClr val="018345"/>
              </a:solidFill>
              <a:latin typeface="Calibri"/>
              <a:ea typeface="Calibri"/>
              <a:cs typeface="Calibri"/>
              <a:sym typeface="Calibri"/>
            </a:endParaRPr>
          </a:p>
        </p:txBody>
      </p:sp>
      <p:grpSp>
        <p:nvGrpSpPr>
          <p:cNvPr id="197" name="Google Shape;197;p17"/>
          <p:cNvGrpSpPr/>
          <p:nvPr/>
        </p:nvGrpSpPr>
        <p:grpSpPr>
          <a:xfrm>
            <a:off x="-2718010" y="9274528"/>
            <a:ext cx="7950400" cy="1707231"/>
            <a:chOff x="0" y="-384762"/>
            <a:chExt cx="10600533" cy="2276307"/>
          </a:xfrm>
        </p:grpSpPr>
        <p:grpSp>
          <p:nvGrpSpPr>
            <p:cNvPr id="198" name="Google Shape;198;p17"/>
            <p:cNvGrpSpPr/>
            <p:nvPr/>
          </p:nvGrpSpPr>
          <p:grpSpPr>
            <a:xfrm>
              <a:off x="0" y="-384762"/>
              <a:ext cx="10600533" cy="2276307"/>
              <a:chOff x="0" y="-38100"/>
              <a:chExt cx="1049690" cy="225405"/>
            </a:xfrm>
          </p:grpSpPr>
          <p:sp>
            <p:nvSpPr>
              <p:cNvPr id="199" name="Google Shape;199;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00" name="Google Shape;200;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01" name="Google Shape;201;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02" name="Google Shape;202;p17"/>
          <p:cNvSpPr/>
          <p:nvPr/>
        </p:nvSpPr>
        <p:spPr>
          <a:xfrm>
            <a:off x="9144000" y="502154"/>
            <a:ext cx="762000" cy="789907"/>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4">
              <a:alphaModFix/>
            </a:blip>
            <a:stretch>
              <a:fillRect b="0" l="0" r="0" t="0"/>
            </a:stretch>
          </a:blipFill>
          <a:ln>
            <a:noFill/>
          </a:ln>
        </p:spPr>
      </p:sp>
      <p:sp>
        <p:nvSpPr>
          <p:cNvPr id="203" name="Google Shape;203;p17"/>
          <p:cNvSpPr/>
          <p:nvPr/>
        </p:nvSpPr>
        <p:spPr>
          <a:xfrm>
            <a:off x="7848599" y="2672269"/>
            <a:ext cx="3365879" cy="112395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chemeClr val="lt1"/>
                </a:solidFill>
                <a:latin typeface="Roboto"/>
                <a:ea typeface="Roboto"/>
                <a:cs typeface="Roboto"/>
                <a:sym typeface="Roboto"/>
              </a:rPr>
              <a:t>Trang trọng</a:t>
            </a:r>
            <a:endParaRPr b="1" i="0" sz="3200" u="none" cap="none" strike="noStrike">
              <a:solidFill>
                <a:schemeClr val="lt1"/>
              </a:solidFill>
              <a:latin typeface="Roboto"/>
              <a:ea typeface="Roboto"/>
              <a:cs typeface="Roboto"/>
              <a:sym typeface="Roboto"/>
            </a:endParaRPr>
          </a:p>
        </p:txBody>
      </p:sp>
      <p:sp>
        <p:nvSpPr>
          <p:cNvPr id="204" name="Google Shape;204;p17"/>
          <p:cNvSpPr/>
          <p:nvPr/>
        </p:nvSpPr>
        <p:spPr>
          <a:xfrm>
            <a:off x="13093320" y="2672269"/>
            <a:ext cx="3365879" cy="112395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chemeClr val="lt1"/>
                </a:solidFill>
                <a:latin typeface="Roboto"/>
                <a:ea typeface="Roboto"/>
                <a:cs typeface="Roboto"/>
                <a:sym typeface="Roboto"/>
              </a:rPr>
              <a:t>Thông thường</a:t>
            </a:r>
            <a:endParaRPr b="1" i="0" sz="3200" u="none" cap="none" strike="noStrike">
              <a:solidFill>
                <a:schemeClr val="lt1"/>
              </a:solidFill>
              <a:latin typeface="Roboto"/>
              <a:ea typeface="Roboto"/>
              <a:cs typeface="Roboto"/>
              <a:sym typeface="Roboto"/>
            </a:endParaRPr>
          </a:p>
        </p:txBody>
      </p:sp>
      <p:sp>
        <p:nvSpPr>
          <p:cNvPr id="205" name="Google Shape;205;p17"/>
          <p:cNvSpPr txBox="1"/>
          <p:nvPr/>
        </p:nvSpPr>
        <p:spPr>
          <a:xfrm>
            <a:off x="7642248" y="4061658"/>
            <a:ext cx="4082575" cy="3413755"/>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Roboto"/>
                <a:ea typeface="Roboto"/>
                <a:cs typeface="Roboto"/>
                <a:sym typeface="Roboto"/>
              </a:rPr>
              <a:t>Ngôn ngữ trang trọng, lịch sự.</a:t>
            </a:r>
            <a:endParaRPr/>
          </a:p>
          <a:p>
            <a:pPr indent="-342900" lvl="0" marL="342900" marR="0" rtl="0" algn="just">
              <a:lnSpc>
                <a:spcPct val="2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Roboto"/>
                <a:ea typeface="Roboto"/>
                <a:cs typeface="Roboto"/>
                <a:sym typeface="Roboto"/>
              </a:rPr>
              <a:t>Không dùng từ lóng, viết tắt. </a:t>
            </a:r>
            <a:endParaRPr/>
          </a:p>
        </p:txBody>
      </p:sp>
      <p:sp>
        <p:nvSpPr>
          <p:cNvPr id="206" name="Google Shape;206;p17"/>
          <p:cNvSpPr txBox="1"/>
          <p:nvPr/>
        </p:nvSpPr>
        <p:spPr>
          <a:xfrm>
            <a:off x="12734971" y="4061658"/>
            <a:ext cx="4082700" cy="31092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Roboto"/>
                <a:ea typeface="Roboto"/>
                <a:cs typeface="Roboto"/>
                <a:sym typeface="Roboto"/>
              </a:rPr>
              <a:t>Ngôn ngữ cởi mở, thoải mái.</a:t>
            </a:r>
            <a:endParaRPr/>
          </a:p>
          <a:p>
            <a:pPr indent="-342900" lvl="0" marL="342900" marR="0" rtl="0" algn="just">
              <a:lnSpc>
                <a:spcPct val="2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Roboto"/>
                <a:ea typeface="Roboto"/>
                <a:cs typeface="Roboto"/>
                <a:sym typeface="Roboto"/>
              </a:rPr>
              <a:t>Có thể </a:t>
            </a:r>
            <a:r>
              <a:rPr lang="en-US" sz="2800">
                <a:latin typeface="Roboto"/>
                <a:ea typeface="Roboto"/>
                <a:cs typeface="Roboto"/>
                <a:sym typeface="Roboto"/>
              </a:rPr>
              <a:t>dùng</a:t>
            </a:r>
            <a:r>
              <a:rPr b="0" i="0" lang="en-US" sz="2800" u="none" cap="none" strike="noStrike">
                <a:solidFill>
                  <a:srgbClr val="000000"/>
                </a:solidFill>
                <a:latin typeface="Roboto"/>
                <a:ea typeface="Roboto"/>
                <a:cs typeface="Roboto"/>
                <a:sym typeface="Roboto"/>
              </a:rPr>
              <a:t> từ long, từ địa phương, viết tắt.</a:t>
            </a:r>
            <a:endParaRPr/>
          </a:p>
        </p:txBody>
      </p:sp>
      <p:cxnSp>
        <p:nvCxnSpPr>
          <p:cNvPr id="207" name="Google Shape;207;p17"/>
          <p:cNvCxnSpPr/>
          <p:nvPr/>
        </p:nvCxnSpPr>
        <p:spPr>
          <a:xfrm>
            <a:off x="7467601" y="1614114"/>
            <a:ext cx="9144000" cy="0"/>
          </a:xfrm>
          <a:prstGeom prst="straightConnector1">
            <a:avLst/>
          </a:prstGeom>
          <a:noFill/>
          <a:ln cap="flat" cmpd="sng" w="38100">
            <a:solidFill>
              <a:srgbClr val="018345"/>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5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5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5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500"/>
                                        <p:tgtEl>
                                          <p:spTgt spid="20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cxnSp>
        <p:nvCxnSpPr>
          <p:cNvPr id="212" name="Google Shape;212;p18"/>
          <p:cNvCxnSpPr/>
          <p:nvPr/>
        </p:nvCxnSpPr>
        <p:spPr>
          <a:xfrm>
            <a:off x="6807199" y="2573852"/>
            <a:ext cx="9982201" cy="0"/>
          </a:xfrm>
          <a:prstGeom prst="straightConnector1">
            <a:avLst/>
          </a:prstGeom>
          <a:noFill/>
          <a:ln cap="flat" cmpd="sng" w="38100">
            <a:solidFill>
              <a:srgbClr val="018345"/>
            </a:solidFill>
            <a:prstDash val="solid"/>
            <a:round/>
            <a:headEnd len="sm" w="sm" type="none"/>
            <a:tailEnd len="sm" w="sm" type="none"/>
          </a:ln>
        </p:spPr>
      </p:cxnSp>
      <p:cxnSp>
        <p:nvCxnSpPr>
          <p:cNvPr id="213" name="Google Shape;213;p1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14" name="Google Shape;214;p18"/>
          <p:cNvGrpSpPr/>
          <p:nvPr/>
        </p:nvGrpSpPr>
        <p:grpSpPr>
          <a:xfrm rot="10800000">
            <a:off x="15044552" y="-741521"/>
            <a:ext cx="7681766" cy="4260610"/>
            <a:chOff x="0" y="-38100"/>
            <a:chExt cx="406400" cy="225405"/>
          </a:xfrm>
        </p:grpSpPr>
        <p:sp>
          <p:nvSpPr>
            <p:cNvPr id="215" name="Google Shape;215;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6" name="Google Shape;216;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217" name="Google Shape;217;p1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18" name="Google Shape;218;p1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9" name="Google Shape;219;p18"/>
          <p:cNvSpPr txBox="1"/>
          <p:nvPr/>
        </p:nvSpPr>
        <p:spPr>
          <a:xfrm>
            <a:off x="6040887" y="2637624"/>
            <a:ext cx="11760209" cy="1493037"/>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00000"/>
              </a:buClr>
              <a:buSzPts val="6600"/>
              <a:buFont typeface="Arial"/>
              <a:buNone/>
            </a:pPr>
            <a:r>
              <a:rPr b="1" i="0" lang="en-US" sz="6600" u="none" cap="none" strike="noStrike">
                <a:solidFill>
                  <a:srgbClr val="018345"/>
                </a:solidFill>
                <a:latin typeface="Montserrat"/>
                <a:ea typeface="Montserrat"/>
                <a:cs typeface="Montserrat"/>
                <a:sym typeface="Montserrat"/>
              </a:rPr>
              <a:t>Những lưu ý khi làm bài</a:t>
            </a:r>
            <a:endParaRPr b="0" i="0" sz="1400" u="none" cap="none" strike="noStrike">
              <a:solidFill>
                <a:srgbClr val="000000"/>
              </a:solidFill>
              <a:latin typeface="Calibri"/>
              <a:ea typeface="Calibri"/>
              <a:cs typeface="Calibri"/>
              <a:sym typeface="Calibri"/>
            </a:endParaRPr>
          </a:p>
        </p:txBody>
      </p:sp>
      <p:sp>
        <p:nvSpPr>
          <p:cNvPr id="220" name="Google Shape;220;p18"/>
          <p:cNvSpPr txBox="1"/>
          <p:nvPr/>
        </p:nvSpPr>
        <p:spPr>
          <a:xfrm>
            <a:off x="10312399" y="339710"/>
            <a:ext cx="2755633"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02</a:t>
            </a:r>
            <a:endParaRPr b="0" i="0" sz="1400" u="none" cap="none" strike="noStrike">
              <a:solidFill>
                <a:srgbClr val="000000"/>
              </a:solidFill>
              <a:latin typeface="Calibri"/>
              <a:ea typeface="Calibri"/>
              <a:cs typeface="Calibri"/>
              <a:sym typeface="Calibri"/>
            </a:endParaRPr>
          </a:p>
        </p:txBody>
      </p:sp>
      <p:sp>
        <p:nvSpPr>
          <p:cNvPr id="221" name="Google Shape;221;p18"/>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222" name="Google Shape;222;p18"/>
          <p:cNvGrpSpPr/>
          <p:nvPr/>
        </p:nvGrpSpPr>
        <p:grpSpPr>
          <a:xfrm>
            <a:off x="-2718010" y="9274528"/>
            <a:ext cx="7950400" cy="1707231"/>
            <a:chOff x="0" y="-384762"/>
            <a:chExt cx="10600533" cy="2276307"/>
          </a:xfrm>
        </p:grpSpPr>
        <p:grpSp>
          <p:nvGrpSpPr>
            <p:cNvPr id="223" name="Google Shape;223;p18"/>
            <p:cNvGrpSpPr/>
            <p:nvPr/>
          </p:nvGrpSpPr>
          <p:grpSpPr>
            <a:xfrm>
              <a:off x="0" y="-384762"/>
              <a:ext cx="10600533" cy="2276307"/>
              <a:chOff x="0" y="-38100"/>
              <a:chExt cx="1049690" cy="225405"/>
            </a:xfrm>
          </p:grpSpPr>
          <p:sp>
            <p:nvSpPr>
              <p:cNvPr id="224" name="Google Shape;224;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5" name="Google Shape;225;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descr="Stressed Out Woman Cartoon Images – Browse 1,008 Stock Photos, Vectors, and  Video | Adobe Stock" id="227" name="Google Shape;227;p18"/>
          <p:cNvPicPr preferRelativeResize="0"/>
          <p:nvPr/>
        </p:nvPicPr>
        <p:blipFill rotWithShape="1">
          <a:blip r:embed="rId5">
            <a:alphaModFix/>
          </a:blip>
          <a:srcRect b="0" l="0" r="0" t="0"/>
          <a:stretch/>
        </p:blipFill>
        <p:spPr>
          <a:xfrm>
            <a:off x="8316584" y="4536263"/>
            <a:ext cx="7208814" cy="43537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500"/>
                                        <p:tgtEl>
                                          <p:spTgt spid="220"/>
                                        </p:tgtEl>
                                        <p:attrNameLst>
                                          <p:attrName>ppt_w</p:attrName>
                                        </p:attrNameLst>
                                      </p:cBhvr>
                                      <p:tavLst>
                                        <p:tav fmla="" tm="0">
                                          <p:val>
                                            <p:strVal val="0"/>
                                          </p:val>
                                        </p:tav>
                                        <p:tav fmla="" tm="100000">
                                          <p:val>
                                            <p:strVal val="#ppt_w"/>
                                          </p:val>
                                        </p:tav>
                                      </p:tavLst>
                                    </p:anim>
                                    <p:anim calcmode="lin" valueType="num">
                                      <p:cBhvr additive="base">
                                        <p:cTn dur="500"/>
                                        <p:tgtEl>
                                          <p:spTgt spid="22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500"/>
                                        <p:tgtEl>
                                          <p:spTgt spid="219"/>
                                        </p:tgtEl>
                                        <p:attrNameLst>
                                          <p:attrName>ppt_w</p:attrName>
                                        </p:attrNameLst>
                                      </p:cBhvr>
                                      <p:tavLst>
                                        <p:tav fmla="" tm="0">
                                          <p:val>
                                            <p:strVal val="0"/>
                                          </p:val>
                                        </p:tav>
                                        <p:tav fmla="" tm="100000">
                                          <p:val>
                                            <p:strVal val="#ppt_w"/>
                                          </p:val>
                                        </p:tav>
                                      </p:tavLst>
                                    </p:anim>
                                    <p:anim calcmode="lin" valueType="num">
                                      <p:cBhvr additive="base">
                                        <p:cTn dur="500"/>
                                        <p:tgtEl>
                                          <p:spTgt spid="21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cxnSp>
        <p:nvCxnSpPr>
          <p:cNvPr id="233" name="Google Shape;233;p19"/>
          <p:cNvCxnSpPr/>
          <p:nvPr/>
        </p:nvCxnSpPr>
        <p:spPr>
          <a:xfrm flipH="1" rot="10800000">
            <a:off x="3474410" y="1513839"/>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34" name="Google Shape;234;p19"/>
          <p:cNvGrpSpPr/>
          <p:nvPr/>
        </p:nvGrpSpPr>
        <p:grpSpPr>
          <a:xfrm rot="10800000">
            <a:off x="15785091" y="-536942"/>
            <a:ext cx="7681766" cy="4260610"/>
            <a:chOff x="0" y="-38100"/>
            <a:chExt cx="406400" cy="225405"/>
          </a:xfrm>
        </p:grpSpPr>
        <p:sp>
          <p:nvSpPr>
            <p:cNvPr id="235" name="Google Shape;235;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6" name="Google Shape;236;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19"/>
          <p:cNvSpPr/>
          <p:nvPr/>
        </p:nvSpPr>
        <p:spPr>
          <a:xfrm>
            <a:off x="15137849" y="1635959"/>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38" name="Google Shape;238;p19"/>
          <p:cNvSpPr txBox="1"/>
          <p:nvPr/>
        </p:nvSpPr>
        <p:spPr>
          <a:xfrm>
            <a:off x="2837050" y="295721"/>
            <a:ext cx="11880998" cy="1144929"/>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Clr>
                <a:srgbClr val="000000"/>
              </a:buClr>
              <a:buSzPts val="4800"/>
              <a:buFont typeface="Arial"/>
              <a:buNone/>
            </a:pPr>
            <a:r>
              <a:rPr b="1" i="0" lang="en-US" sz="4800" u="none" cap="none" strike="noStrike">
                <a:solidFill>
                  <a:srgbClr val="018345"/>
                </a:solidFill>
                <a:latin typeface="Montserrat"/>
                <a:ea typeface="Montserrat"/>
                <a:cs typeface="Montserrat"/>
                <a:sym typeface="Montserrat"/>
              </a:rPr>
              <a:t>Lưu ý khi làm bài</a:t>
            </a:r>
            <a:endParaRPr b="0" i="0" sz="1400" u="none" cap="none" strike="noStrike">
              <a:solidFill>
                <a:srgbClr val="000000"/>
              </a:solidFill>
              <a:latin typeface="Calibri"/>
              <a:ea typeface="Calibri"/>
              <a:cs typeface="Calibri"/>
              <a:sym typeface="Calibri"/>
            </a:endParaRPr>
          </a:p>
        </p:txBody>
      </p:sp>
      <p:grpSp>
        <p:nvGrpSpPr>
          <p:cNvPr id="239" name="Google Shape;239;p19"/>
          <p:cNvGrpSpPr/>
          <p:nvPr/>
        </p:nvGrpSpPr>
        <p:grpSpPr>
          <a:xfrm>
            <a:off x="-2718010" y="9274528"/>
            <a:ext cx="7950400" cy="1707231"/>
            <a:chOff x="0" y="-384762"/>
            <a:chExt cx="10600533" cy="2276307"/>
          </a:xfrm>
        </p:grpSpPr>
        <p:grpSp>
          <p:nvGrpSpPr>
            <p:cNvPr id="240" name="Google Shape;240;p19"/>
            <p:cNvGrpSpPr/>
            <p:nvPr/>
          </p:nvGrpSpPr>
          <p:grpSpPr>
            <a:xfrm>
              <a:off x="0" y="-384762"/>
              <a:ext cx="10600533" cy="2276307"/>
              <a:chOff x="0" y="-38100"/>
              <a:chExt cx="1049690" cy="225405"/>
            </a:xfrm>
          </p:grpSpPr>
          <p:sp>
            <p:nvSpPr>
              <p:cNvPr id="241" name="Google Shape;241;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42" name="Google Shape;242;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4" name="Google Shape;244;p19"/>
          <p:cNvGrpSpPr/>
          <p:nvPr/>
        </p:nvGrpSpPr>
        <p:grpSpPr>
          <a:xfrm>
            <a:off x="2163777" y="2068577"/>
            <a:ext cx="14295425" cy="7306200"/>
            <a:chOff x="0" y="80235"/>
            <a:chExt cx="14295425" cy="7306200"/>
          </a:xfrm>
        </p:grpSpPr>
        <p:sp>
          <p:nvSpPr>
            <p:cNvPr id="245" name="Google Shape;245;p19"/>
            <p:cNvSpPr/>
            <p:nvPr/>
          </p:nvSpPr>
          <p:spPr>
            <a:xfrm>
              <a:off x="0" y="567315"/>
              <a:ext cx="14295425" cy="831600"/>
            </a:xfrm>
            <a:prstGeom prst="rect">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714771" y="80235"/>
              <a:ext cx="10006797" cy="974160"/>
            </a:xfrm>
            <a:prstGeom prst="roundRect">
              <a:avLst>
                <a:gd fmla="val 16667" name="adj"/>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txBox="1"/>
            <p:nvPr/>
          </p:nvSpPr>
          <p:spPr>
            <a:xfrm>
              <a:off x="762326" y="127790"/>
              <a:ext cx="9911687" cy="879050"/>
            </a:xfrm>
            <a:prstGeom prst="rect">
              <a:avLst/>
            </a:prstGeom>
            <a:noFill/>
            <a:ln>
              <a:noFill/>
            </a:ln>
          </p:spPr>
          <p:txBody>
            <a:bodyPr anchorCtr="0" anchor="ctr" bIns="0" lIns="378225" spcFirstLastPara="1" rIns="378225" wrap="square" tIns="0">
              <a:noAutofit/>
            </a:bodyPr>
            <a:lstStyle/>
            <a:p>
              <a:pPr indent="0" lvl="0" marL="0" marR="0" rtl="0" algn="l">
                <a:lnSpc>
                  <a:spcPct val="90000"/>
                </a:lnSpc>
                <a:spcBef>
                  <a:spcPts val="0"/>
                </a:spcBef>
                <a:spcAft>
                  <a:spcPts val="0"/>
                </a:spcAft>
                <a:buClr>
                  <a:srgbClr val="000000"/>
                </a:buClr>
                <a:buSzPts val="4000"/>
                <a:buFont typeface="Arial"/>
                <a:buNone/>
              </a:pPr>
              <a:r>
                <a:rPr b="1" i="0" lang="en-US" sz="4000" u="none" cap="none" strike="noStrike">
                  <a:solidFill>
                    <a:schemeClr val="lt1"/>
                  </a:solidFill>
                  <a:latin typeface="Calibri"/>
                  <a:ea typeface="Calibri"/>
                  <a:cs typeface="Calibri"/>
                  <a:sym typeface="Calibri"/>
                </a:rPr>
                <a:t>Đọc và hiểu đúng câu hỏi</a:t>
              </a:r>
              <a:endParaRPr b="1" i="0" sz="4000" u="none" cap="none" strike="noStrike">
                <a:solidFill>
                  <a:schemeClr val="lt1"/>
                </a:solidFill>
                <a:latin typeface="Calibri"/>
                <a:ea typeface="Calibri"/>
                <a:cs typeface="Calibri"/>
                <a:sym typeface="Calibri"/>
              </a:endParaRPr>
            </a:p>
          </p:txBody>
        </p:sp>
        <p:sp>
          <p:nvSpPr>
            <p:cNvPr id="248" name="Google Shape;248;p19"/>
            <p:cNvSpPr/>
            <p:nvPr/>
          </p:nvSpPr>
          <p:spPr>
            <a:xfrm>
              <a:off x="0" y="2064195"/>
              <a:ext cx="14295425" cy="831600"/>
            </a:xfrm>
            <a:prstGeom prst="rect">
              <a:avLst/>
            </a:prstGeom>
            <a:solidFill>
              <a:schemeClr val="lt1">
                <a:alpha val="89803"/>
              </a:schemeClr>
            </a:solidFill>
            <a:ln cap="flat" cmpd="sng" w="25400">
              <a:solidFill>
                <a:srgbClr val="5AB4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714771" y="1577115"/>
              <a:ext cx="10006797" cy="974160"/>
            </a:xfrm>
            <a:prstGeom prst="roundRect">
              <a:avLst>
                <a:gd fmla="val 16667" name="adj"/>
              </a:avLst>
            </a:prstGeom>
            <a:solidFill>
              <a:srgbClr val="5AB46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txBox="1"/>
            <p:nvPr/>
          </p:nvSpPr>
          <p:spPr>
            <a:xfrm>
              <a:off x="762326" y="1624670"/>
              <a:ext cx="9911687" cy="879050"/>
            </a:xfrm>
            <a:prstGeom prst="rect">
              <a:avLst/>
            </a:prstGeom>
            <a:noFill/>
            <a:ln>
              <a:noFill/>
            </a:ln>
          </p:spPr>
          <p:txBody>
            <a:bodyPr anchorCtr="0" anchor="ctr" bIns="0" lIns="378225" spcFirstLastPara="1" rIns="378225" wrap="square" tIns="0">
              <a:noAutofit/>
            </a:bodyPr>
            <a:lstStyle/>
            <a:p>
              <a:pPr indent="0" lvl="0" marL="0" marR="0" rtl="0" algn="l">
                <a:lnSpc>
                  <a:spcPct val="90000"/>
                </a:lnSpc>
                <a:spcBef>
                  <a:spcPts val="0"/>
                </a:spcBef>
                <a:spcAft>
                  <a:spcPts val="0"/>
                </a:spcAft>
                <a:buClr>
                  <a:srgbClr val="000000"/>
                </a:buClr>
                <a:buSzPts val="4000"/>
                <a:buFont typeface="Arial"/>
                <a:buNone/>
              </a:pPr>
              <a:r>
                <a:rPr b="1" i="0" lang="en-US" sz="4000" u="none" cap="none" strike="noStrike">
                  <a:solidFill>
                    <a:schemeClr val="lt1"/>
                  </a:solidFill>
                  <a:latin typeface="Calibri"/>
                  <a:ea typeface="Calibri"/>
                  <a:cs typeface="Calibri"/>
                  <a:sym typeface="Calibri"/>
                </a:rPr>
                <a:t>Trả lời đúng trọng tâm, văn phong phù hợp</a:t>
              </a:r>
              <a:endParaRPr b="1" i="0" sz="4000" u="none" cap="none" strike="noStrike">
                <a:solidFill>
                  <a:schemeClr val="lt1"/>
                </a:solidFill>
                <a:latin typeface="Calibri"/>
                <a:ea typeface="Calibri"/>
                <a:cs typeface="Calibri"/>
                <a:sym typeface="Calibri"/>
              </a:endParaRPr>
            </a:p>
          </p:txBody>
        </p:sp>
        <p:sp>
          <p:nvSpPr>
            <p:cNvPr id="251" name="Google Shape;251;p19"/>
            <p:cNvSpPr/>
            <p:nvPr/>
          </p:nvSpPr>
          <p:spPr>
            <a:xfrm>
              <a:off x="0" y="3561075"/>
              <a:ext cx="14295425" cy="831600"/>
            </a:xfrm>
            <a:prstGeom prst="rect">
              <a:avLst/>
            </a:prstGeom>
            <a:solidFill>
              <a:schemeClr val="lt1">
                <a:alpha val="89803"/>
              </a:schemeClr>
            </a:solidFill>
            <a:ln cap="flat" cmpd="sng" w="25400">
              <a:solidFill>
                <a:srgbClr val="5DAE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714771" y="3073995"/>
              <a:ext cx="10006797" cy="974160"/>
            </a:xfrm>
            <a:prstGeom prst="roundRect">
              <a:avLst>
                <a:gd fmla="val 16667" name="adj"/>
              </a:avLst>
            </a:prstGeom>
            <a:solidFill>
              <a:srgbClr val="5DAEA5"/>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txBox="1"/>
            <p:nvPr/>
          </p:nvSpPr>
          <p:spPr>
            <a:xfrm>
              <a:off x="762326" y="3121550"/>
              <a:ext cx="9911687" cy="879050"/>
            </a:xfrm>
            <a:prstGeom prst="rect">
              <a:avLst/>
            </a:prstGeom>
            <a:noFill/>
            <a:ln>
              <a:noFill/>
            </a:ln>
          </p:spPr>
          <p:txBody>
            <a:bodyPr anchorCtr="0" anchor="ctr" bIns="0" lIns="378225" spcFirstLastPara="1" rIns="378225" wrap="square" tIns="0">
              <a:noAutofit/>
            </a:bodyPr>
            <a:lstStyle/>
            <a:p>
              <a:pPr indent="0" lvl="0" marL="0" marR="0" rtl="0" algn="l">
                <a:lnSpc>
                  <a:spcPct val="90000"/>
                </a:lnSpc>
                <a:spcBef>
                  <a:spcPts val="0"/>
                </a:spcBef>
                <a:spcAft>
                  <a:spcPts val="0"/>
                </a:spcAft>
                <a:buClr>
                  <a:srgbClr val="000000"/>
                </a:buClr>
                <a:buSzPts val="4000"/>
                <a:buFont typeface="Arial"/>
                <a:buNone/>
              </a:pPr>
              <a:r>
                <a:rPr b="1" i="0" lang="en-US" sz="4000" u="none" cap="none" strike="noStrike">
                  <a:solidFill>
                    <a:schemeClr val="lt1"/>
                  </a:solidFill>
                  <a:latin typeface="Calibri"/>
                  <a:ea typeface="Calibri"/>
                  <a:cs typeface="Calibri"/>
                  <a:sym typeface="Calibri"/>
                </a:rPr>
                <a:t>Ngữ pháp và từ vựng phong phú, chính xác</a:t>
              </a:r>
              <a:endParaRPr b="1" i="0" sz="4000" u="none" cap="none" strike="noStrike">
                <a:solidFill>
                  <a:schemeClr val="lt1"/>
                </a:solidFill>
                <a:latin typeface="Calibri"/>
                <a:ea typeface="Calibri"/>
                <a:cs typeface="Calibri"/>
                <a:sym typeface="Calibri"/>
              </a:endParaRPr>
            </a:p>
          </p:txBody>
        </p:sp>
        <p:sp>
          <p:nvSpPr>
            <p:cNvPr id="254" name="Google Shape;254;p19"/>
            <p:cNvSpPr/>
            <p:nvPr/>
          </p:nvSpPr>
          <p:spPr>
            <a:xfrm>
              <a:off x="0" y="5057955"/>
              <a:ext cx="14295425" cy="831600"/>
            </a:xfrm>
            <a:prstGeom prst="rect">
              <a:avLst/>
            </a:prstGeom>
            <a:solidFill>
              <a:schemeClr val="lt1">
                <a:alpha val="89803"/>
              </a:schemeClr>
            </a:solidFill>
            <a:ln cap="flat" cmpd="sng" w="25400">
              <a:solidFill>
                <a:srgbClr val="6078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714771" y="4570875"/>
              <a:ext cx="10006797" cy="974160"/>
            </a:xfrm>
            <a:prstGeom prst="roundRect">
              <a:avLst>
                <a:gd fmla="val 16667" name="adj"/>
              </a:avLst>
            </a:prstGeom>
            <a:solidFill>
              <a:srgbClr val="6078A8"/>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txBox="1"/>
            <p:nvPr/>
          </p:nvSpPr>
          <p:spPr>
            <a:xfrm>
              <a:off x="762326" y="4618430"/>
              <a:ext cx="9911687" cy="879050"/>
            </a:xfrm>
            <a:prstGeom prst="rect">
              <a:avLst/>
            </a:prstGeom>
            <a:noFill/>
            <a:ln>
              <a:noFill/>
            </a:ln>
          </p:spPr>
          <p:txBody>
            <a:bodyPr anchorCtr="0" anchor="ctr" bIns="0" lIns="378225" spcFirstLastPara="1" rIns="378225" wrap="square" tIns="0">
              <a:noAutofit/>
            </a:bodyPr>
            <a:lstStyle/>
            <a:p>
              <a:pPr indent="0" lvl="0" marL="0" marR="0" rtl="0" algn="l">
                <a:lnSpc>
                  <a:spcPct val="90000"/>
                </a:lnSpc>
                <a:spcBef>
                  <a:spcPts val="0"/>
                </a:spcBef>
                <a:spcAft>
                  <a:spcPts val="0"/>
                </a:spcAft>
                <a:buClr>
                  <a:srgbClr val="000000"/>
                </a:buClr>
                <a:buSzPts val="4000"/>
                <a:buFont typeface="Arial"/>
                <a:buNone/>
              </a:pPr>
              <a:r>
                <a:rPr b="1" i="0" lang="en-US" sz="4000" u="none" cap="none" strike="noStrike">
                  <a:solidFill>
                    <a:schemeClr val="lt1"/>
                  </a:solidFill>
                  <a:latin typeface="Calibri"/>
                  <a:ea typeface="Calibri"/>
                  <a:cs typeface="Calibri"/>
                  <a:sym typeface="Calibri"/>
                </a:rPr>
                <a:t>Đảm bảo tính mạch lạc, liên kết</a:t>
              </a:r>
              <a:endParaRPr b="1" i="0" sz="4000" u="none" cap="none" strike="noStrike">
                <a:solidFill>
                  <a:schemeClr val="lt1"/>
                </a:solidFill>
                <a:latin typeface="Calibri"/>
                <a:ea typeface="Calibri"/>
                <a:cs typeface="Calibri"/>
                <a:sym typeface="Calibri"/>
              </a:endParaRPr>
            </a:p>
          </p:txBody>
        </p:sp>
        <p:sp>
          <p:nvSpPr>
            <p:cNvPr id="257" name="Google Shape;257;p19"/>
            <p:cNvSpPr/>
            <p:nvPr/>
          </p:nvSpPr>
          <p:spPr>
            <a:xfrm>
              <a:off x="0" y="6554835"/>
              <a:ext cx="14295425" cy="831600"/>
            </a:xfrm>
            <a:prstGeom prst="rect">
              <a:avLst/>
            </a:prstGeom>
            <a:solidFill>
              <a:schemeClr val="lt1">
                <a:alpha val="89803"/>
              </a:schemeClr>
            </a:solidFill>
            <a:ln cap="flat" cmpd="sng" w="25400">
              <a:solidFill>
                <a:srgbClr val="7F63A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714771" y="6067755"/>
              <a:ext cx="10006797" cy="974160"/>
            </a:xfrm>
            <a:prstGeom prst="roundRect">
              <a:avLst>
                <a:gd fmla="val 16667" name="adj"/>
              </a:avLst>
            </a:prstGeom>
            <a:solidFill>
              <a:srgbClr val="7F63A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txBox="1"/>
            <p:nvPr/>
          </p:nvSpPr>
          <p:spPr>
            <a:xfrm>
              <a:off x="762326" y="6115310"/>
              <a:ext cx="9911687" cy="879050"/>
            </a:xfrm>
            <a:prstGeom prst="rect">
              <a:avLst/>
            </a:prstGeom>
            <a:noFill/>
            <a:ln>
              <a:noFill/>
            </a:ln>
          </p:spPr>
          <p:txBody>
            <a:bodyPr anchorCtr="0" anchor="ctr" bIns="0" lIns="378225" spcFirstLastPara="1" rIns="378225" wrap="square" tIns="0">
              <a:noAutofit/>
            </a:bodyPr>
            <a:lstStyle/>
            <a:p>
              <a:pPr indent="0" lvl="0" marL="0" marR="0" rtl="0" algn="l">
                <a:lnSpc>
                  <a:spcPct val="90000"/>
                </a:lnSpc>
                <a:spcBef>
                  <a:spcPts val="0"/>
                </a:spcBef>
                <a:spcAft>
                  <a:spcPts val="0"/>
                </a:spcAft>
                <a:buClr>
                  <a:srgbClr val="000000"/>
                </a:buClr>
                <a:buSzPts val="4000"/>
                <a:buFont typeface="Arial"/>
                <a:buNone/>
              </a:pPr>
              <a:r>
                <a:rPr b="1" i="0" lang="en-US" sz="4000" u="none" cap="none" strike="noStrike">
                  <a:solidFill>
                    <a:schemeClr val="lt1"/>
                  </a:solidFill>
                  <a:latin typeface="Calibri"/>
                  <a:ea typeface="Calibri"/>
                  <a:cs typeface="Calibri"/>
                  <a:sym typeface="Calibri"/>
                </a:rPr>
                <a:t>Kiểm soát số lượng từ</a:t>
              </a:r>
              <a:endParaRPr b="1" i="0" sz="4000" u="none" cap="none" strike="noStrike">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cxnSp>
        <p:nvCxnSpPr>
          <p:cNvPr id="264" name="Google Shape;264;p20"/>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65" name="Google Shape;265;p2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66" name="Google Shape;266;p20"/>
          <p:cNvGrpSpPr/>
          <p:nvPr/>
        </p:nvGrpSpPr>
        <p:grpSpPr>
          <a:xfrm rot="10800000">
            <a:off x="15044552" y="-741521"/>
            <a:ext cx="7681766" cy="4260610"/>
            <a:chOff x="0" y="-38100"/>
            <a:chExt cx="406400" cy="225405"/>
          </a:xfrm>
        </p:grpSpPr>
        <p:sp>
          <p:nvSpPr>
            <p:cNvPr id="267" name="Google Shape;267;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68" name="Google Shape;268;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269" name="Google Shape;269;p2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70" name="Google Shape;270;p2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71" name="Google Shape;271;p20"/>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Clr>
                <a:srgbClr val="000000"/>
              </a:buClr>
              <a:buSzPts val="6600"/>
              <a:buFont typeface="Arial"/>
              <a:buNone/>
            </a:pPr>
            <a:r>
              <a:rPr b="1" i="0" lang="en-US" sz="6600" u="none" cap="none" strike="noStrike">
                <a:solidFill>
                  <a:srgbClr val="018345"/>
                </a:solidFill>
                <a:latin typeface="Montserrat"/>
                <a:ea typeface="Montserrat"/>
                <a:cs typeface="Montserrat"/>
                <a:sym typeface="Montserrat"/>
              </a:rPr>
              <a:t>Đề mẫu</a:t>
            </a:r>
            <a:endParaRPr b="1" i="0" sz="6600" u="none" cap="none" strike="noStrike">
              <a:solidFill>
                <a:srgbClr val="018345"/>
              </a:solidFill>
              <a:latin typeface="Montserrat"/>
              <a:ea typeface="Montserrat"/>
              <a:cs typeface="Montserrat"/>
              <a:sym typeface="Montserrat"/>
            </a:endParaRPr>
          </a:p>
        </p:txBody>
      </p:sp>
      <p:sp>
        <p:nvSpPr>
          <p:cNvPr id="272" name="Google Shape;272;p20"/>
          <p:cNvSpPr txBox="1"/>
          <p:nvPr/>
        </p:nvSpPr>
        <p:spPr>
          <a:xfrm>
            <a:off x="9601200" y="339710"/>
            <a:ext cx="2755633"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03</a:t>
            </a:r>
            <a:endParaRPr b="0" i="0" sz="1400" u="none" cap="none" strike="noStrike">
              <a:solidFill>
                <a:srgbClr val="000000"/>
              </a:solidFill>
              <a:latin typeface="Calibri"/>
              <a:ea typeface="Calibri"/>
              <a:cs typeface="Calibri"/>
              <a:sym typeface="Calibri"/>
            </a:endParaRPr>
          </a:p>
        </p:txBody>
      </p:sp>
      <p:sp>
        <p:nvSpPr>
          <p:cNvPr id="273" name="Google Shape;273;p20"/>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274" name="Google Shape;274;p20"/>
          <p:cNvGrpSpPr/>
          <p:nvPr/>
        </p:nvGrpSpPr>
        <p:grpSpPr>
          <a:xfrm>
            <a:off x="-2718010" y="9274528"/>
            <a:ext cx="7950400" cy="1707231"/>
            <a:chOff x="0" y="-384762"/>
            <a:chExt cx="10600533" cy="2276307"/>
          </a:xfrm>
        </p:grpSpPr>
        <p:grpSp>
          <p:nvGrpSpPr>
            <p:cNvPr id="275" name="Google Shape;275;p20"/>
            <p:cNvGrpSpPr/>
            <p:nvPr/>
          </p:nvGrpSpPr>
          <p:grpSpPr>
            <a:xfrm>
              <a:off x="0" y="-384762"/>
              <a:ext cx="10600533" cy="2276307"/>
              <a:chOff x="0" y="-38100"/>
              <a:chExt cx="1049690" cy="225405"/>
            </a:xfrm>
          </p:grpSpPr>
          <p:sp>
            <p:nvSpPr>
              <p:cNvPr id="276" name="Google Shape;276;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7" name="Google Shape;277;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8" name="Google Shape;278;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79" name="Google Shape;279;p20"/>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ppt_w</p:attrName>
                                        </p:attrNameLst>
                                      </p:cBhvr>
                                      <p:tavLst>
                                        <p:tav fmla="" tm="0">
                                          <p:val>
                                            <p:strVal val="0"/>
                                          </p:val>
                                        </p:tav>
                                        <p:tav fmla="" tm="100000">
                                          <p:val>
                                            <p:strVal val="#ppt_w"/>
                                          </p:val>
                                        </p:tav>
                                      </p:tavLst>
                                    </p:anim>
                                    <p:anim calcmode="lin" valueType="num">
                                      <p:cBhvr additive="base">
                                        <p:cTn dur="500"/>
                                        <p:tgtEl>
                                          <p:spTgt spid="27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500"/>
                                        <p:tgtEl>
                                          <p:spTgt spid="271"/>
                                        </p:tgtEl>
                                        <p:attrNameLst>
                                          <p:attrName>ppt_w</p:attrName>
                                        </p:attrNameLst>
                                      </p:cBhvr>
                                      <p:tavLst>
                                        <p:tav fmla="" tm="0">
                                          <p:val>
                                            <p:strVal val="0"/>
                                          </p:val>
                                        </p:tav>
                                        <p:tav fmla="" tm="100000">
                                          <p:val>
                                            <p:strVal val="#ppt_w"/>
                                          </p:val>
                                        </p:tav>
                                      </p:tavLst>
                                    </p:anim>
                                    <p:anim calcmode="lin" valueType="num">
                                      <p:cBhvr additive="base">
                                        <p:cTn dur="500"/>
                                        <p:tgtEl>
                                          <p:spTgt spid="27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cxnSp>
        <p:nvCxnSpPr>
          <p:cNvPr id="285" name="Google Shape;285;p21"/>
          <p:cNvCxnSpPr/>
          <p:nvPr/>
        </p:nvCxnSpPr>
        <p:spPr>
          <a:xfrm flipH="1" rot="10800000">
            <a:off x="3801534" y="1311592"/>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286" name="Google Shape;286;p21"/>
          <p:cNvGrpSpPr/>
          <p:nvPr/>
        </p:nvGrpSpPr>
        <p:grpSpPr>
          <a:xfrm rot="10800000">
            <a:off x="15785091" y="-536942"/>
            <a:ext cx="7681766" cy="4260610"/>
            <a:chOff x="0" y="-38100"/>
            <a:chExt cx="406400" cy="225405"/>
          </a:xfrm>
        </p:grpSpPr>
        <p:sp>
          <p:nvSpPr>
            <p:cNvPr id="287" name="Google Shape;287;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8" name="Google Shape;288;p2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9" name="Google Shape;289;p21"/>
          <p:cNvGrpSpPr/>
          <p:nvPr/>
        </p:nvGrpSpPr>
        <p:grpSpPr>
          <a:xfrm>
            <a:off x="-2718010" y="9274528"/>
            <a:ext cx="7950400" cy="1707231"/>
            <a:chOff x="0" y="-384762"/>
            <a:chExt cx="10600533" cy="2276307"/>
          </a:xfrm>
        </p:grpSpPr>
        <p:grpSp>
          <p:nvGrpSpPr>
            <p:cNvPr id="290" name="Google Shape;290;p21"/>
            <p:cNvGrpSpPr/>
            <p:nvPr/>
          </p:nvGrpSpPr>
          <p:grpSpPr>
            <a:xfrm>
              <a:off x="0" y="-384762"/>
              <a:ext cx="10600533" cy="2276307"/>
              <a:chOff x="0" y="-38100"/>
              <a:chExt cx="1049690" cy="225405"/>
            </a:xfrm>
          </p:grpSpPr>
          <p:sp>
            <p:nvSpPr>
              <p:cNvPr id="291" name="Google Shape;291;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2" name="Google Shape;292;p2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3" name="Google Shape;293;p2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4" name="Google Shape;294;p21"/>
          <p:cNvSpPr txBox="1"/>
          <p:nvPr/>
        </p:nvSpPr>
        <p:spPr>
          <a:xfrm>
            <a:off x="2638646" y="163328"/>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00000"/>
              </a:buClr>
              <a:buSzPts val="6000"/>
              <a:buFont typeface="Arial"/>
              <a:buNone/>
            </a:pPr>
            <a:r>
              <a:rPr b="1" i="0" lang="en-US" sz="6000" u="none" cap="none" strike="noStrike">
                <a:solidFill>
                  <a:srgbClr val="018345"/>
                </a:solidFill>
                <a:latin typeface="Montserrat"/>
                <a:ea typeface="Montserrat"/>
                <a:cs typeface="Montserrat"/>
                <a:sym typeface="Montserrat"/>
              </a:rPr>
              <a:t>Đề mẫu</a:t>
            </a:r>
            <a:endParaRPr b="1" i="0" sz="6000" u="none" cap="none" strike="noStrike">
              <a:solidFill>
                <a:srgbClr val="018345"/>
              </a:solidFill>
              <a:latin typeface="Montserrat"/>
              <a:ea typeface="Montserrat"/>
              <a:cs typeface="Montserrat"/>
              <a:sym typeface="Montserrat"/>
            </a:endParaRPr>
          </a:p>
        </p:txBody>
      </p:sp>
      <p:sp>
        <p:nvSpPr>
          <p:cNvPr id="295" name="Google Shape;295;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96" name="Google Shape;296;p21"/>
          <p:cNvSpPr/>
          <p:nvPr/>
        </p:nvSpPr>
        <p:spPr>
          <a:xfrm>
            <a:off x="1248937" y="1615621"/>
            <a:ext cx="15887596" cy="7926048"/>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7" name="Google Shape;297;p21"/>
          <p:cNvSpPr txBox="1"/>
          <p:nvPr/>
        </p:nvSpPr>
        <p:spPr>
          <a:xfrm>
            <a:off x="2349921" y="2014555"/>
            <a:ext cx="13883314" cy="35394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You are a member of a music club. You received this email from the club.</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Calibri"/>
                <a:ea typeface="Calibri"/>
                <a:cs typeface="Calibri"/>
                <a:sym typeface="Calibri"/>
              </a:rPr>
              <a:t>Dear members,</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Calibri"/>
                <a:ea typeface="Calibri"/>
                <a:cs typeface="Calibri"/>
                <a:sym typeface="Calibri"/>
              </a:rPr>
              <a:t>Recently, our club has had some concerts and plays music at night. However, residents living near our club complain about the noise from our concerts. Please give me some suggestions to solve this problem.</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Write an email to your friends. Write about your feelings and ask for advice on how to deal with them. Write about 50 words. You have 10 minutes.</a:t>
            </a:r>
            <a:endParaRPr/>
          </a:p>
          <a:p>
            <a:pPr indent="0" lvl="0" marL="0" marR="0" rtl="0" algn="just">
              <a:lnSpc>
                <a:spcPct val="100000"/>
              </a:lnSpc>
              <a:spcBef>
                <a:spcPts val="0"/>
              </a:spcBef>
              <a:spcAft>
                <a:spcPts val="0"/>
              </a:spcAft>
              <a:buNone/>
            </a:pPr>
            <a:r>
              <a:t/>
            </a:r>
            <a:endParaRPr b="1" i="0" sz="2800" u="none" cap="none" strike="noStrike">
              <a:solidFill>
                <a:srgbClr val="000000"/>
              </a:solidFill>
              <a:latin typeface="Calibri"/>
              <a:ea typeface="Calibri"/>
              <a:cs typeface="Calibri"/>
              <a:sym typeface="Calibri"/>
            </a:endParaRPr>
          </a:p>
        </p:txBody>
      </p:sp>
      <p:sp>
        <p:nvSpPr>
          <p:cNvPr id="298" name="Google Shape;298;p21"/>
          <p:cNvSpPr/>
          <p:nvPr/>
        </p:nvSpPr>
        <p:spPr>
          <a:xfrm>
            <a:off x="2349920" y="5553986"/>
            <a:ext cx="13883314" cy="367006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cxnSp>
        <p:nvCxnSpPr>
          <p:cNvPr id="304" name="Google Shape;304;p22"/>
          <p:cNvCxnSpPr/>
          <p:nvPr/>
        </p:nvCxnSpPr>
        <p:spPr>
          <a:xfrm flipH="1" rot="10800000">
            <a:off x="3801534" y="1311592"/>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305" name="Google Shape;305;p22"/>
          <p:cNvGrpSpPr/>
          <p:nvPr/>
        </p:nvGrpSpPr>
        <p:grpSpPr>
          <a:xfrm rot="10800000">
            <a:off x="15785091" y="-536942"/>
            <a:ext cx="7681766" cy="4260610"/>
            <a:chOff x="0" y="-38100"/>
            <a:chExt cx="406400" cy="225405"/>
          </a:xfrm>
        </p:grpSpPr>
        <p:sp>
          <p:nvSpPr>
            <p:cNvPr id="306" name="Google Shape;306;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7" name="Google Shape;307;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p22"/>
          <p:cNvGrpSpPr/>
          <p:nvPr/>
        </p:nvGrpSpPr>
        <p:grpSpPr>
          <a:xfrm>
            <a:off x="-2718010" y="9274528"/>
            <a:ext cx="7950400" cy="1707231"/>
            <a:chOff x="0" y="-384762"/>
            <a:chExt cx="10600533" cy="2276307"/>
          </a:xfrm>
        </p:grpSpPr>
        <p:grpSp>
          <p:nvGrpSpPr>
            <p:cNvPr id="309" name="Google Shape;309;p22"/>
            <p:cNvGrpSpPr/>
            <p:nvPr/>
          </p:nvGrpSpPr>
          <p:grpSpPr>
            <a:xfrm>
              <a:off x="0" y="-384762"/>
              <a:ext cx="10600533" cy="2276307"/>
              <a:chOff x="0" y="-38100"/>
              <a:chExt cx="1049690" cy="225405"/>
            </a:xfrm>
          </p:grpSpPr>
          <p:sp>
            <p:nvSpPr>
              <p:cNvPr id="310" name="Google Shape;310;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11" name="Google Shape;311;p22"/>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22"/>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3" name="Google Shape;313;p22"/>
          <p:cNvSpPr txBox="1"/>
          <p:nvPr/>
        </p:nvSpPr>
        <p:spPr>
          <a:xfrm>
            <a:off x="2638646" y="163328"/>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00000"/>
              </a:buClr>
              <a:buSzPts val="6000"/>
              <a:buFont typeface="Arial"/>
              <a:buNone/>
            </a:pPr>
            <a:r>
              <a:rPr b="1" i="0" lang="en-US" sz="6000" u="none" cap="none" strike="noStrike">
                <a:solidFill>
                  <a:srgbClr val="018345"/>
                </a:solidFill>
                <a:latin typeface="Montserrat"/>
                <a:ea typeface="Montserrat"/>
                <a:cs typeface="Montserrat"/>
                <a:sym typeface="Montserrat"/>
              </a:rPr>
              <a:t>Đề mẫu</a:t>
            </a:r>
            <a:endParaRPr b="1" i="0" sz="6000" u="none" cap="none" strike="noStrike">
              <a:solidFill>
                <a:srgbClr val="018345"/>
              </a:solidFill>
              <a:latin typeface="Montserrat"/>
              <a:ea typeface="Montserrat"/>
              <a:cs typeface="Montserrat"/>
              <a:sym typeface="Montserrat"/>
            </a:endParaRPr>
          </a:p>
        </p:txBody>
      </p:sp>
      <p:sp>
        <p:nvSpPr>
          <p:cNvPr id="314" name="Google Shape;314;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15" name="Google Shape;315;p22"/>
          <p:cNvSpPr/>
          <p:nvPr/>
        </p:nvSpPr>
        <p:spPr>
          <a:xfrm>
            <a:off x="1248937" y="1615621"/>
            <a:ext cx="15887596" cy="7926048"/>
          </a:xfrm>
          <a:prstGeom prst="rect">
            <a:avLst/>
          </a:prstGeom>
          <a:solidFill>
            <a:srgbClr val="F2F2F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6" name="Google Shape;316;p22"/>
          <p:cNvSpPr txBox="1"/>
          <p:nvPr/>
        </p:nvSpPr>
        <p:spPr>
          <a:xfrm>
            <a:off x="2349921" y="2014555"/>
            <a:ext cx="13883400" cy="3109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You are a member of a music club. You received this email from the club.</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Calibri"/>
                <a:ea typeface="Calibri"/>
                <a:cs typeface="Calibri"/>
                <a:sym typeface="Calibri"/>
              </a:rPr>
              <a:t>Dear members,</a:t>
            </a:r>
            <a:endParaRPr/>
          </a:p>
          <a:p>
            <a:pPr indent="0" lvl="0" marL="0" marR="0" rtl="0" algn="just">
              <a:lnSpc>
                <a:spcPct val="100000"/>
              </a:lnSpc>
              <a:spcBef>
                <a:spcPts val="0"/>
              </a:spcBef>
              <a:spcAft>
                <a:spcPts val="0"/>
              </a:spcAft>
              <a:buNone/>
            </a:pPr>
            <a:r>
              <a:rPr b="1" i="0" lang="en-US" sz="2800" u="none" cap="none" strike="noStrike">
                <a:solidFill>
                  <a:srgbClr val="000000"/>
                </a:solidFill>
                <a:latin typeface="Calibri"/>
                <a:ea typeface="Calibri"/>
                <a:cs typeface="Calibri"/>
                <a:sym typeface="Calibri"/>
              </a:rPr>
              <a:t>Recently, our club has had some concerts and plays at night. However, residents living near our club complain about the noise from our concerts. Please give me some suggestions to solve this problem.</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Write an email to CLUB, write about your feelings and to find a solution. Write</a:t>
            </a:r>
            <a:endParaRPr/>
          </a:p>
          <a:p>
            <a:pPr indent="0" lvl="0" marL="0" marR="0" rtl="0" algn="just">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about 120-150 words. You have 20 minutes.</a:t>
            </a:r>
            <a:endParaRPr/>
          </a:p>
        </p:txBody>
      </p:sp>
      <p:sp>
        <p:nvSpPr>
          <p:cNvPr id="317" name="Google Shape;317;p22"/>
          <p:cNvSpPr/>
          <p:nvPr/>
        </p:nvSpPr>
        <p:spPr>
          <a:xfrm>
            <a:off x="2349920" y="5513406"/>
            <a:ext cx="13883314" cy="3710639"/>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cxnSp>
        <p:nvCxnSpPr>
          <p:cNvPr id="322" name="Google Shape;322;p23"/>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23" name="Google Shape;323;p2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24" name="Google Shape;324;p23"/>
          <p:cNvGrpSpPr/>
          <p:nvPr/>
        </p:nvGrpSpPr>
        <p:grpSpPr>
          <a:xfrm rot="10800000">
            <a:off x="15044552" y="-741521"/>
            <a:ext cx="7681766" cy="4260610"/>
            <a:chOff x="0" y="-38100"/>
            <a:chExt cx="406400" cy="225405"/>
          </a:xfrm>
        </p:grpSpPr>
        <p:sp>
          <p:nvSpPr>
            <p:cNvPr id="325" name="Google Shape;325;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26" name="Google Shape;326;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27" name="Google Shape;327;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28" name="Google Shape;328;p2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29" name="Google Shape;329;p23"/>
          <p:cNvSpPr txBox="1"/>
          <p:nvPr/>
        </p:nvSpPr>
        <p:spPr>
          <a:xfrm>
            <a:off x="5232390" y="2564021"/>
            <a:ext cx="11760209" cy="1495794"/>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Clr>
                <a:srgbClr val="000000"/>
              </a:buClr>
              <a:buSzPts val="5400"/>
              <a:buFont typeface="Arial"/>
              <a:buNone/>
            </a:pPr>
            <a:r>
              <a:rPr b="1" i="0" lang="en-US" sz="5400" u="none" cap="none" strike="noStrike">
                <a:solidFill>
                  <a:srgbClr val="018345"/>
                </a:solidFill>
                <a:latin typeface="Montserrat"/>
                <a:ea typeface="Montserrat"/>
                <a:cs typeface="Montserrat"/>
                <a:sym typeface="Montserrat"/>
              </a:rPr>
              <a:t>Hướng dẫn trả lời</a:t>
            </a:r>
            <a:endParaRPr b="0" i="0" sz="1400" u="none" cap="none" strike="noStrike">
              <a:solidFill>
                <a:srgbClr val="000000"/>
              </a:solidFill>
              <a:latin typeface="Calibri"/>
              <a:ea typeface="Calibri"/>
              <a:cs typeface="Calibri"/>
              <a:sym typeface="Calibri"/>
            </a:endParaRPr>
          </a:p>
        </p:txBody>
      </p:sp>
      <p:sp>
        <p:nvSpPr>
          <p:cNvPr id="330" name="Google Shape;330;p23"/>
          <p:cNvSpPr txBox="1"/>
          <p:nvPr/>
        </p:nvSpPr>
        <p:spPr>
          <a:xfrm>
            <a:off x="9601200" y="339710"/>
            <a:ext cx="2755633"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04</a:t>
            </a:r>
            <a:endParaRPr b="0" i="0" sz="1400" u="none" cap="none" strike="noStrike">
              <a:solidFill>
                <a:srgbClr val="000000"/>
              </a:solidFill>
              <a:latin typeface="Calibri"/>
              <a:ea typeface="Calibri"/>
              <a:cs typeface="Calibri"/>
              <a:sym typeface="Calibri"/>
            </a:endParaRPr>
          </a:p>
        </p:txBody>
      </p:sp>
      <p:sp>
        <p:nvSpPr>
          <p:cNvPr id="331" name="Google Shape;331;p23"/>
          <p:cNvSpPr txBox="1"/>
          <p:nvPr/>
        </p:nvSpPr>
        <p:spPr>
          <a:xfrm>
            <a:off x="-10653311" y="9715322"/>
            <a:ext cx="13923203" cy="323294"/>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Clr>
                <a:srgbClr val="000000"/>
              </a:buClr>
              <a:buSzPts val="1876"/>
              <a:buFont typeface="Arial"/>
              <a:buNone/>
            </a:pPr>
            <a:r>
              <a:rPr b="0" i="0" lang="en-US" sz="1876" u="none" cap="none" strike="noStrike">
                <a:solidFill>
                  <a:srgbClr val="FEFEFE"/>
                </a:solidFill>
                <a:latin typeface="Calibri"/>
                <a:ea typeface="Calibri"/>
                <a:cs typeface="Calibri"/>
                <a:sym typeface="Calibri"/>
              </a:rPr>
              <a:t>https://edulife.com.vn/</a:t>
            </a:r>
            <a:endParaRPr b="0" i="0" sz="1400" u="none" cap="none" strike="noStrike">
              <a:solidFill>
                <a:srgbClr val="000000"/>
              </a:solidFill>
              <a:latin typeface="Calibri"/>
              <a:ea typeface="Calibri"/>
              <a:cs typeface="Calibri"/>
              <a:sym typeface="Calibri"/>
            </a:endParaRPr>
          </a:p>
        </p:txBody>
      </p:sp>
      <p:grpSp>
        <p:nvGrpSpPr>
          <p:cNvPr id="332" name="Google Shape;332;p23"/>
          <p:cNvGrpSpPr/>
          <p:nvPr/>
        </p:nvGrpSpPr>
        <p:grpSpPr>
          <a:xfrm>
            <a:off x="-2718010" y="9274528"/>
            <a:ext cx="7950400" cy="1707231"/>
            <a:chOff x="0" y="-384762"/>
            <a:chExt cx="10600533" cy="2276307"/>
          </a:xfrm>
        </p:grpSpPr>
        <p:grpSp>
          <p:nvGrpSpPr>
            <p:cNvPr id="333" name="Google Shape;333;p23"/>
            <p:cNvGrpSpPr/>
            <p:nvPr/>
          </p:nvGrpSpPr>
          <p:grpSpPr>
            <a:xfrm>
              <a:off x="0" y="-384762"/>
              <a:ext cx="10600533" cy="2276307"/>
              <a:chOff x="0" y="-38100"/>
              <a:chExt cx="1049690" cy="225405"/>
            </a:xfrm>
          </p:grpSpPr>
          <p:sp>
            <p:nvSpPr>
              <p:cNvPr id="334" name="Google Shape;334;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35" name="Google Shape;335;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6" name="Google Shape;336;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7" name="Google Shape;337;p23"/>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30"/>
                                        </p:tgtEl>
                                        <p:attrNameLst>
                                          <p:attrName>style.visibility</p:attrName>
                                        </p:attrNameLst>
                                      </p:cBhvr>
                                      <p:to>
                                        <p:strVal val="visible"/>
                                      </p:to>
                                    </p:set>
                                    <p:anim calcmode="lin" valueType="num">
                                      <p:cBhvr additive="base">
                                        <p:cTn dur="500"/>
                                        <p:tgtEl>
                                          <p:spTgt spid="330"/>
                                        </p:tgtEl>
                                        <p:attrNameLst>
                                          <p:attrName>ppt_w</p:attrName>
                                        </p:attrNameLst>
                                      </p:cBhvr>
                                      <p:tavLst>
                                        <p:tav fmla="" tm="0">
                                          <p:val>
                                            <p:strVal val="0"/>
                                          </p:val>
                                        </p:tav>
                                        <p:tav fmla="" tm="100000">
                                          <p:val>
                                            <p:strVal val="#ppt_w"/>
                                          </p:val>
                                        </p:tav>
                                      </p:tavLst>
                                    </p:anim>
                                    <p:anim calcmode="lin" valueType="num">
                                      <p:cBhvr additive="base">
                                        <p:cTn dur="500"/>
                                        <p:tgtEl>
                                          <p:spTgt spid="33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ppt_w</p:attrName>
                                        </p:attrNameLst>
                                      </p:cBhvr>
                                      <p:tavLst>
                                        <p:tav fmla="" tm="0">
                                          <p:val>
                                            <p:strVal val="0"/>
                                          </p:val>
                                        </p:tav>
                                        <p:tav fmla="" tm="100000">
                                          <p:val>
                                            <p:strVal val="#ppt_w"/>
                                          </p:val>
                                        </p:tav>
                                      </p:tavLst>
                                    </p:anim>
                                    <p:anim calcmode="lin" valueType="num">
                                      <p:cBhvr additive="base">
                                        <p:cTn dur="500"/>
                                        <p:tgtEl>
                                          <p:spTgt spid="3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cxnSp>
        <p:nvCxnSpPr>
          <p:cNvPr id="342" name="Google Shape;342;p24"/>
          <p:cNvCxnSpPr/>
          <p:nvPr/>
        </p:nvCxnSpPr>
        <p:spPr>
          <a:xfrm flipH="1" rot="10800000">
            <a:off x="4173714" y="1587571"/>
            <a:ext cx="11243637" cy="19050"/>
          </a:xfrm>
          <a:prstGeom prst="straightConnector1">
            <a:avLst/>
          </a:prstGeom>
          <a:noFill/>
          <a:ln cap="flat" cmpd="sng" w="38100">
            <a:solidFill>
              <a:srgbClr val="018345"/>
            </a:solidFill>
            <a:prstDash val="solid"/>
            <a:round/>
            <a:headEnd len="sm" w="sm" type="none"/>
            <a:tailEnd len="sm" w="sm" type="none"/>
          </a:ln>
        </p:spPr>
      </p:cxnSp>
      <p:cxnSp>
        <p:nvCxnSpPr>
          <p:cNvPr id="343" name="Google Shape;343;p2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44" name="Google Shape;344;p24"/>
          <p:cNvGrpSpPr/>
          <p:nvPr/>
        </p:nvGrpSpPr>
        <p:grpSpPr>
          <a:xfrm rot="10800000">
            <a:off x="15785091" y="-536942"/>
            <a:ext cx="7681766" cy="4260610"/>
            <a:chOff x="0" y="-38100"/>
            <a:chExt cx="406400" cy="225405"/>
          </a:xfrm>
        </p:grpSpPr>
        <p:sp>
          <p:nvSpPr>
            <p:cNvPr id="345" name="Google Shape;345;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6" name="Google Shape;346;p2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47" name="Google Shape;347;p24"/>
          <p:cNvSpPr/>
          <p:nvPr/>
        </p:nvSpPr>
        <p:spPr>
          <a:xfrm>
            <a:off x="16063713" y="1701148"/>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48" name="Google Shape;348;p24"/>
          <p:cNvSpPr txBox="1"/>
          <p:nvPr/>
        </p:nvSpPr>
        <p:spPr>
          <a:xfrm>
            <a:off x="3536354" y="369453"/>
            <a:ext cx="11880998" cy="894540"/>
          </a:xfrm>
          <a:prstGeom prst="rect">
            <a:avLst/>
          </a:prstGeom>
          <a:noFill/>
          <a:ln>
            <a:noFill/>
          </a:ln>
        </p:spPr>
        <p:txBody>
          <a:bodyPr anchorCtr="0" anchor="t" bIns="0" lIns="0" spcFirstLastPara="1" rIns="0" wrap="square" tIns="0">
            <a:spAutoFit/>
          </a:bodyPr>
          <a:lstStyle/>
          <a:p>
            <a:pPr indent="0" lvl="0" marL="0" marR="0" rtl="0" algn="ctr">
              <a:lnSpc>
                <a:spcPct val="137592"/>
              </a:lnSpc>
              <a:spcBef>
                <a:spcPts val="0"/>
              </a:spcBef>
              <a:spcAft>
                <a:spcPts val="0"/>
              </a:spcAft>
              <a:buNone/>
            </a:pPr>
            <a:r>
              <a:rPr b="1" i="0" lang="en-US" sz="5400" u="none" cap="none" strike="noStrike">
                <a:solidFill>
                  <a:srgbClr val="018345"/>
                </a:solidFill>
                <a:latin typeface="Calibri"/>
                <a:ea typeface="Calibri"/>
                <a:cs typeface="Calibri"/>
                <a:sym typeface="Calibri"/>
              </a:rPr>
              <a:t>Bố cục bài viết thư thông thường</a:t>
            </a:r>
            <a:endParaRPr b="1" i="0" sz="5400" u="none" cap="none" strike="noStrike">
              <a:solidFill>
                <a:srgbClr val="018345"/>
              </a:solidFill>
              <a:latin typeface="Calibri"/>
              <a:ea typeface="Calibri"/>
              <a:cs typeface="Calibri"/>
              <a:sym typeface="Calibri"/>
            </a:endParaRPr>
          </a:p>
        </p:txBody>
      </p:sp>
      <p:grpSp>
        <p:nvGrpSpPr>
          <p:cNvPr id="349" name="Google Shape;349;p24"/>
          <p:cNvGrpSpPr/>
          <p:nvPr/>
        </p:nvGrpSpPr>
        <p:grpSpPr>
          <a:xfrm>
            <a:off x="-2718010" y="9274528"/>
            <a:ext cx="7950400" cy="1707231"/>
            <a:chOff x="0" y="-384762"/>
            <a:chExt cx="10600533" cy="2276307"/>
          </a:xfrm>
        </p:grpSpPr>
        <p:grpSp>
          <p:nvGrpSpPr>
            <p:cNvPr id="350" name="Google Shape;350;p24"/>
            <p:cNvGrpSpPr/>
            <p:nvPr/>
          </p:nvGrpSpPr>
          <p:grpSpPr>
            <a:xfrm>
              <a:off x="0" y="-384762"/>
              <a:ext cx="10600533" cy="2276307"/>
              <a:chOff x="0" y="-38100"/>
              <a:chExt cx="1049690" cy="225405"/>
            </a:xfrm>
          </p:grpSpPr>
          <p:sp>
            <p:nvSpPr>
              <p:cNvPr id="351" name="Google Shape;351;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52" name="Google Shape;352;p2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53" name="Google Shape;353;p2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54" name="Google Shape;354;p24"/>
          <p:cNvSpPr/>
          <p:nvPr/>
        </p:nvSpPr>
        <p:spPr>
          <a:xfrm>
            <a:off x="5418634" y="7922949"/>
            <a:ext cx="2210811" cy="1027911"/>
          </a:xfrm>
          <a:prstGeom prst="rect">
            <a:avLst/>
          </a:prstGeom>
          <a:solidFill>
            <a:srgbClr val="FFFFFF"/>
          </a:solidFill>
          <a:ln>
            <a:noFill/>
          </a:ln>
        </p:spPr>
        <p:txBody>
          <a:bodyPr anchorCtr="0" anchor="ctr" bIns="22825" lIns="45700" spcFirstLastPara="1" rIns="45700" wrap="square" tIns="228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Roboto"/>
              <a:ea typeface="Roboto"/>
              <a:cs typeface="Roboto"/>
              <a:sym typeface="Roboto"/>
            </a:endParaRPr>
          </a:p>
        </p:txBody>
      </p:sp>
      <p:sp>
        <p:nvSpPr>
          <p:cNvPr id="355" name="Google Shape;355;p24"/>
          <p:cNvSpPr txBox="1"/>
          <p:nvPr/>
        </p:nvSpPr>
        <p:spPr>
          <a:xfrm>
            <a:off x="1656746" y="1893080"/>
            <a:ext cx="16631400" cy="71727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Chào hỏi: </a:t>
            </a:r>
            <a:r>
              <a:rPr b="0" i="0" lang="en-US" sz="4000" u="none" cap="none" strike="noStrike">
                <a:solidFill>
                  <a:srgbClr val="00B050"/>
                </a:solidFill>
                <a:latin typeface="Calibri"/>
                <a:ea typeface="Calibri"/>
                <a:cs typeface="Calibri"/>
                <a:sym typeface="Calibri"/>
              </a:rPr>
              <a:t>Hi + tên</a:t>
            </a:r>
            <a:endParaRPr b="0" i="0" sz="4000" u="none" cap="none" strike="noStrike">
              <a:solidFill>
                <a:srgbClr val="00B050"/>
              </a:solidFill>
              <a:latin typeface="Calibri"/>
              <a:ea typeface="Calibri"/>
              <a:cs typeface="Calibri"/>
              <a:sym typeface="Calibri"/>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Câu đầu: </a:t>
            </a:r>
            <a:r>
              <a:rPr b="0" i="0" lang="en-US" sz="4000" u="none" cap="none" strike="noStrike">
                <a:solidFill>
                  <a:srgbClr val="00B050"/>
                </a:solidFill>
                <a:latin typeface="Calibri"/>
                <a:ea typeface="Calibri"/>
                <a:cs typeface="Calibri"/>
                <a:sym typeface="Calibri"/>
              </a:rPr>
              <a:t>How’s it going?</a:t>
            </a:r>
            <a:endParaRPr b="0" i="0" sz="4000" u="none" cap="none" strike="noStrike">
              <a:solidFill>
                <a:srgbClr val="00B050"/>
              </a:solidFill>
              <a:latin typeface="Calibri"/>
              <a:ea typeface="Calibri"/>
              <a:cs typeface="Calibri"/>
              <a:sym typeface="Calibri"/>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Mục đích viết thư: </a:t>
            </a:r>
            <a:r>
              <a:rPr b="0" i="0" lang="en-US" sz="4000" u="none" cap="none" strike="noStrike">
                <a:solidFill>
                  <a:srgbClr val="00B050"/>
                </a:solidFill>
                <a:latin typeface="Calibri"/>
                <a:ea typeface="Calibri"/>
                <a:cs typeface="Calibri"/>
                <a:sym typeface="Calibri"/>
              </a:rPr>
              <a:t>Have you heard about the news that…</a:t>
            </a:r>
            <a:endParaRPr b="0" i="0" sz="4000" u="none" cap="none" strike="noStrike">
              <a:solidFill>
                <a:srgbClr val="00B050"/>
              </a:solidFill>
              <a:latin typeface="Calibri"/>
              <a:ea typeface="Calibri"/>
              <a:cs typeface="Calibri"/>
              <a:sym typeface="Calibri"/>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Cảm xúc của bản thân: </a:t>
            </a:r>
            <a:r>
              <a:rPr b="0" i="0" lang="en-US" sz="4000" u="none" cap="none" strike="noStrike">
                <a:solidFill>
                  <a:srgbClr val="00B050"/>
                </a:solidFill>
                <a:latin typeface="Calibri"/>
                <a:ea typeface="Calibri"/>
                <a:cs typeface="Calibri"/>
                <a:sym typeface="Calibri"/>
              </a:rPr>
              <a:t>I’m so (annoyed/ disappointed) about … </a:t>
            </a:r>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Đưa ra gợi ý: </a:t>
            </a:r>
            <a:r>
              <a:rPr b="0" i="0" lang="en-US" sz="4000" u="none" cap="none" strike="noStrike">
                <a:solidFill>
                  <a:srgbClr val="00B050"/>
                </a:solidFill>
                <a:latin typeface="Calibri"/>
                <a:ea typeface="Calibri"/>
                <a:cs typeface="Calibri"/>
                <a:sym typeface="Calibri"/>
              </a:rPr>
              <a:t>Do you think we should …</a:t>
            </a:r>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Kết thư: </a:t>
            </a:r>
            <a:r>
              <a:rPr b="0" i="0" lang="en-US" sz="4000" u="none" cap="none" strike="noStrike">
                <a:solidFill>
                  <a:srgbClr val="00B050"/>
                </a:solidFill>
                <a:latin typeface="Calibri"/>
                <a:ea typeface="Calibri"/>
                <a:cs typeface="Calibri"/>
                <a:sym typeface="Calibri"/>
              </a:rPr>
              <a:t>Anyway, I should get going as I have a busy day.</a:t>
            </a:r>
            <a:endParaRPr b="0" i="0" sz="4000" u="none" cap="none" strike="noStrike">
              <a:solidFill>
                <a:srgbClr val="00B050"/>
              </a:solidFill>
              <a:latin typeface="Calibri"/>
              <a:ea typeface="Calibri"/>
              <a:cs typeface="Calibri"/>
              <a:sym typeface="Calibri"/>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Dòng cuối: </a:t>
            </a:r>
            <a:r>
              <a:rPr b="0" i="0" lang="en-US" sz="4000" u="none" cap="none" strike="noStrike">
                <a:solidFill>
                  <a:srgbClr val="00B050"/>
                </a:solidFill>
                <a:latin typeface="Calibri"/>
                <a:ea typeface="Calibri"/>
                <a:cs typeface="Calibri"/>
                <a:sym typeface="Calibri"/>
              </a:rPr>
              <a:t>Don't forget to drop me a line soon!</a:t>
            </a:r>
            <a:endParaRPr/>
          </a:p>
          <a:p>
            <a:pPr indent="-571500" lvl="0" marL="571500" marR="0" rtl="0" algn="l">
              <a:lnSpc>
                <a:spcPct val="150000"/>
              </a:lnSpc>
              <a:spcBef>
                <a:spcPts val="0"/>
              </a:spcBef>
              <a:spcAft>
                <a:spcPts val="0"/>
              </a:spcAft>
              <a:buClr>
                <a:srgbClr val="000000"/>
              </a:buClr>
              <a:buSzPts val="4000"/>
              <a:buFont typeface="Noto Sans Symbols"/>
              <a:buChar char="⮚"/>
            </a:pPr>
            <a:r>
              <a:rPr b="0" i="0" lang="en-US" sz="4000" u="none" cap="none" strike="noStrike">
                <a:solidFill>
                  <a:srgbClr val="000000"/>
                </a:solidFill>
                <a:latin typeface="Calibri"/>
                <a:ea typeface="Calibri"/>
                <a:cs typeface="Calibri"/>
                <a:sym typeface="Calibri"/>
              </a:rPr>
              <a:t>Tên của mình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25"/>
          <p:cNvCxnSpPr/>
          <p:nvPr/>
        </p:nvCxnSpPr>
        <p:spPr>
          <a:xfrm flipH="1" rot="10800000">
            <a:off x="3801534" y="1311592"/>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362" name="Google Shape;362;p25"/>
          <p:cNvGrpSpPr/>
          <p:nvPr/>
        </p:nvGrpSpPr>
        <p:grpSpPr>
          <a:xfrm rot="10800000">
            <a:off x="15785091" y="-536942"/>
            <a:ext cx="7681766" cy="4260610"/>
            <a:chOff x="0" y="-38100"/>
            <a:chExt cx="406400" cy="225405"/>
          </a:xfrm>
        </p:grpSpPr>
        <p:sp>
          <p:nvSpPr>
            <p:cNvPr id="363" name="Google Shape;363;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64" name="Google Shape;364;p2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5" name="Google Shape;365;p25"/>
          <p:cNvGrpSpPr/>
          <p:nvPr/>
        </p:nvGrpSpPr>
        <p:grpSpPr>
          <a:xfrm>
            <a:off x="-2718010" y="9274528"/>
            <a:ext cx="7950400" cy="1707231"/>
            <a:chOff x="0" y="-384762"/>
            <a:chExt cx="10600533" cy="2276307"/>
          </a:xfrm>
        </p:grpSpPr>
        <p:grpSp>
          <p:nvGrpSpPr>
            <p:cNvPr id="366" name="Google Shape;366;p25"/>
            <p:cNvGrpSpPr/>
            <p:nvPr/>
          </p:nvGrpSpPr>
          <p:grpSpPr>
            <a:xfrm>
              <a:off x="0" y="-384762"/>
              <a:ext cx="10600533" cy="2276307"/>
              <a:chOff x="0" y="-38100"/>
              <a:chExt cx="1049690" cy="225405"/>
            </a:xfrm>
          </p:grpSpPr>
          <p:sp>
            <p:nvSpPr>
              <p:cNvPr id="367" name="Google Shape;367;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68" name="Google Shape;368;p2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2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0" name="Google Shape;370;p25"/>
          <p:cNvSpPr txBox="1"/>
          <p:nvPr/>
        </p:nvSpPr>
        <p:spPr>
          <a:xfrm>
            <a:off x="2638646" y="163328"/>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00000"/>
              </a:buClr>
              <a:buSzPts val="6000"/>
              <a:buFont typeface="Arial"/>
              <a:buNone/>
            </a:pPr>
            <a:r>
              <a:rPr b="1" i="0" lang="en-US" sz="6000" u="none" cap="none" strike="noStrike">
                <a:solidFill>
                  <a:srgbClr val="018345"/>
                </a:solidFill>
                <a:latin typeface="Montserrat"/>
                <a:ea typeface="Montserrat"/>
                <a:cs typeface="Montserrat"/>
                <a:sym typeface="Montserrat"/>
              </a:rPr>
              <a:t>Đề mẫu</a:t>
            </a:r>
            <a:endParaRPr b="1" i="0" sz="6000" u="none" cap="none" strike="noStrike">
              <a:solidFill>
                <a:srgbClr val="018345"/>
              </a:solidFill>
              <a:latin typeface="Montserrat"/>
              <a:ea typeface="Montserrat"/>
              <a:cs typeface="Montserrat"/>
              <a:sym typeface="Montserrat"/>
            </a:endParaRPr>
          </a:p>
        </p:txBody>
      </p:sp>
      <p:sp>
        <p:nvSpPr>
          <p:cNvPr id="371" name="Google Shape;371;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2" name="Google Shape;372;p25"/>
          <p:cNvSpPr/>
          <p:nvPr/>
        </p:nvSpPr>
        <p:spPr>
          <a:xfrm>
            <a:off x="2202343" y="2253352"/>
            <a:ext cx="13883314" cy="641837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None/>
            </a:pPr>
            <a:r>
              <a:rPr b="0" i="0" lang="en-US" sz="3200" u="none" cap="none" strike="noStrike">
                <a:solidFill>
                  <a:schemeClr val="dk1"/>
                </a:solidFill>
                <a:latin typeface="Calibri"/>
                <a:ea typeface="Calibri"/>
                <a:cs typeface="Calibri"/>
                <a:sym typeface="Calibri"/>
              </a:rPr>
              <a:t>Hi Sam,</a:t>
            </a:r>
            <a:endParaRPr/>
          </a:p>
          <a:p>
            <a:pPr indent="0" lvl="0" marL="0" marR="0" rtl="0" algn="just">
              <a:lnSpc>
                <a:spcPct val="150000"/>
              </a:lnSpc>
              <a:spcBef>
                <a:spcPts val="0"/>
              </a:spcBef>
              <a:spcAft>
                <a:spcPts val="0"/>
              </a:spcAft>
              <a:buNone/>
            </a:pPr>
            <a:r>
              <a:rPr b="0" i="0" lang="en-US" sz="3200" u="none" cap="none" strike="noStrike">
                <a:solidFill>
                  <a:schemeClr val="dk1"/>
                </a:solidFill>
                <a:latin typeface="Calibri"/>
                <a:ea typeface="Calibri"/>
                <a:cs typeface="Calibri"/>
                <a:sym typeface="Calibri"/>
              </a:rPr>
              <a:t>It’s Mary. How’s it going? Have you got the email from our club that residents living near our club complain about the noise from our concerts? I feel so sad and worried about this. Do you think we should change the time and place for the concerts? Let’s discuss it over lunch. Anyway, I should get going as I have a busy day. Don't forget to drop me a line soon!</a:t>
            </a:r>
            <a:endParaRPr/>
          </a:p>
          <a:p>
            <a:pPr indent="0" lvl="0" marL="0" marR="0" rtl="0" algn="just">
              <a:lnSpc>
                <a:spcPct val="150000"/>
              </a:lnSpc>
              <a:spcBef>
                <a:spcPts val="0"/>
              </a:spcBef>
              <a:spcAft>
                <a:spcPts val="0"/>
              </a:spcAft>
              <a:buNone/>
            </a:pPr>
            <a:r>
              <a:rPr b="0" i="0" lang="en-US" sz="3200" u="none" cap="none" strike="noStrike">
                <a:solidFill>
                  <a:schemeClr val="dk1"/>
                </a:solidFill>
                <a:latin typeface="Calibri"/>
                <a:ea typeface="Calibri"/>
                <a:cs typeface="Calibri"/>
                <a:sym typeface="Calibri"/>
              </a:rPr>
              <a:t>Love,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cxnSp>
        <p:nvCxnSpPr>
          <p:cNvPr id="377" name="Google Shape;377;p26"/>
          <p:cNvCxnSpPr/>
          <p:nvPr/>
        </p:nvCxnSpPr>
        <p:spPr>
          <a:xfrm flipH="1" rot="10800000">
            <a:off x="4173714" y="1329153"/>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378" name="Google Shape;378;p26"/>
          <p:cNvGrpSpPr/>
          <p:nvPr/>
        </p:nvGrpSpPr>
        <p:grpSpPr>
          <a:xfrm rot="10800000">
            <a:off x="15785091" y="-536942"/>
            <a:ext cx="7681766" cy="4260610"/>
            <a:chOff x="0" y="-38100"/>
            <a:chExt cx="406400" cy="225405"/>
          </a:xfrm>
        </p:grpSpPr>
        <p:sp>
          <p:nvSpPr>
            <p:cNvPr id="379" name="Google Shape;379;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0" name="Google Shape;380;p2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81" name="Google Shape;381;p26"/>
          <p:cNvSpPr/>
          <p:nvPr/>
        </p:nvSpPr>
        <p:spPr>
          <a:xfrm>
            <a:off x="16063713" y="1701148"/>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82" name="Google Shape;382;p26"/>
          <p:cNvSpPr txBox="1"/>
          <p:nvPr/>
        </p:nvSpPr>
        <p:spPr>
          <a:xfrm>
            <a:off x="3536354" y="329697"/>
            <a:ext cx="11880998" cy="894540"/>
          </a:xfrm>
          <a:prstGeom prst="rect">
            <a:avLst/>
          </a:prstGeom>
          <a:noFill/>
          <a:ln>
            <a:noFill/>
          </a:ln>
        </p:spPr>
        <p:txBody>
          <a:bodyPr anchorCtr="0" anchor="t" bIns="0" lIns="0" spcFirstLastPara="1" rIns="0" wrap="square" tIns="0">
            <a:spAutoFit/>
          </a:bodyPr>
          <a:lstStyle/>
          <a:p>
            <a:pPr indent="0" lvl="0" marL="0" marR="0" rtl="0" algn="ctr">
              <a:lnSpc>
                <a:spcPct val="137592"/>
              </a:lnSpc>
              <a:spcBef>
                <a:spcPts val="0"/>
              </a:spcBef>
              <a:spcAft>
                <a:spcPts val="0"/>
              </a:spcAft>
              <a:buNone/>
            </a:pPr>
            <a:r>
              <a:rPr b="1" i="0" lang="en-US" sz="5400" u="none" cap="none" strike="noStrike">
                <a:solidFill>
                  <a:srgbClr val="018345"/>
                </a:solidFill>
                <a:latin typeface="Calibri"/>
                <a:ea typeface="Calibri"/>
                <a:cs typeface="Calibri"/>
                <a:sym typeface="Calibri"/>
              </a:rPr>
              <a:t>Bố cục bài viết thư trang trọng</a:t>
            </a:r>
            <a:endParaRPr b="1" i="0" sz="5400" u="none" cap="none" strike="noStrike">
              <a:solidFill>
                <a:srgbClr val="018345"/>
              </a:solidFill>
              <a:latin typeface="Calibri"/>
              <a:ea typeface="Calibri"/>
              <a:cs typeface="Calibri"/>
              <a:sym typeface="Calibri"/>
            </a:endParaRPr>
          </a:p>
        </p:txBody>
      </p:sp>
      <p:grpSp>
        <p:nvGrpSpPr>
          <p:cNvPr id="383" name="Google Shape;383;p26"/>
          <p:cNvGrpSpPr/>
          <p:nvPr/>
        </p:nvGrpSpPr>
        <p:grpSpPr>
          <a:xfrm>
            <a:off x="-2718010" y="9274528"/>
            <a:ext cx="7950400" cy="1707231"/>
            <a:chOff x="0" y="-384762"/>
            <a:chExt cx="10600533" cy="2276307"/>
          </a:xfrm>
        </p:grpSpPr>
        <p:grpSp>
          <p:nvGrpSpPr>
            <p:cNvPr id="384" name="Google Shape;384;p26"/>
            <p:cNvGrpSpPr/>
            <p:nvPr/>
          </p:nvGrpSpPr>
          <p:grpSpPr>
            <a:xfrm>
              <a:off x="0" y="-384762"/>
              <a:ext cx="10600533" cy="2276307"/>
              <a:chOff x="0" y="-38100"/>
              <a:chExt cx="1049690" cy="225405"/>
            </a:xfrm>
          </p:grpSpPr>
          <p:sp>
            <p:nvSpPr>
              <p:cNvPr id="385" name="Google Shape;385;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6" name="Google Shape;386;p2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5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87" name="Google Shape;387;p2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2305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88" name="Google Shape;388;p26"/>
          <p:cNvSpPr/>
          <p:nvPr/>
        </p:nvSpPr>
        <p:spPr>
          <a:xfrm>
            <a:off x="5418634" y="7922949"/>
            <a:ext cx="2210811" cy="1027911"/>
          </a:xfrm>
          <a:prstGeom prst="rect">
            <a:avLst/>
          </a:prstGeom>
          <a:solidFill>
            <a:srgbClr val="FFFFFF"/>
          </a:solidFill>
          <a:ln>
            <a:noFill/>
          </a:ln>
        </p:spPr>
        <p:txBody>
          <a:bodyPr anchorCtr="0" anchor="ctr" bIns="22825" lIns="45700" spcFirstLastPara="1" rIns="45700" wrap="square" tIns="22825">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FFFFF"/>
              </a:solidFill>
              <a:latin typeface="Roboto"/>
              <a:ea typeface="Roboto"/>
              <a:cs typeface="Roboto"/>
              <a:sym typeface="Roboto"/>
            </a:endParaRPr>
          </a:p>
        </p:txBody>
      </p:sp>
      <p:sp>
        <p:nvSpPr>
          <p:cNvPr id="389" name="Google Shape;389;p26"/>
          <p:cNvSpPr txBox="1"/>
          <p:nvPr/>
        </p:nvSpPr>
        <p:spPr>
          <a:xfrm>
            <a:off x="701749" y="1634662"/>
            <a:ext cx="17586300" cy="72960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Calibri"/>
                <a:ea typeface="Calibri"/>
                <a:cs typeface="Calibri"/>
                <a:sym typeface="Calibri"/>
              </a:rPr>
              <a:t>Chào hỏi: </a:t>
            </a:r>
            <a:r>
              <a:rPr b="0" i="0" lang="en-US" sz="3600" u="none" cap="none" strike="noStrike">
                <a:solidFill>
                  <a:srgbClr val="00B050"/>
                </a:solidFill>
                <a:latin typeface="Calibri"/>
                <a:ea typeface="Calibri"/>
                <a:cs typeface="Calibri"/>
                <a:sym typeface="Calibri"/>
              </a:rPr>
              <a:t>Dear Sir/ Madam/ Manager</a:t>
            </a:r>
            <a:endParaRPr/>
          </a:p>
          <a:p>
            <a:pPr indent="-571500" lvl="0" marL="571500" marR="0" rtl="0" algn="l">
              <a:lnSpc>
                <a:spcPct val="15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Calibri"/>
                <a:ea typeface="Calibri"/>
                <a:cs typeface="Calibri"/>
                <a:sym typeface="Calibri"/>
              </a:rPr>
              <a:t>Lí do viết thư: </a:t>
            </a:r>
            <a:r>
              <a:rPr b="0" i="0" lang="en-US" sz="3600" u="none" cap="none" strike="noStrike">
                <a:solidFill>
                  <a:srgbClr val="00B050"/>
                </a:solidFill>
                <a:latin typeface="Calibri"/>
                <a:ea typeface="Calibri"/>
                <a:cs typeface="Calibri"/>
                <a:sym typeface="Calibri"/>
              </a:rPr>
              <a:t>My name is Yen, a member of your music club. I am writing in response to the latest email from our club. </a:t>
            </a:r>
            <a:endParaRPr/>
          </a:p>
          <a:p>
            <a:pPr indent="-571500" lvl="0" marL="571500" marR="0" rtl="0" algn="l">
              <a:lnSpc>
                <a:spcPct val="15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Calibri"/>
                <a:ea typeface="Calibri"/>
                <a:cs typeface="Calibri"/>
                <a:sym typeface="Calibri"/>
              </a:rPr>
              <a:t>Cảm xúc của bản thân: </a:t>
            </a:r>
            <a:r>
              <a:rPr b="0" i="0" lang="en-US" sz="3600" u="none" cap="none" strike="noStrike">
                <a:solidFill>
                  <a:srgbClr val="00B050"/>
                </a:solidFill>
                <a:latin typeface="Calibri"/>
                <a:ea typeface="Calibri"/>
                <a:cs typeface="Calibri"/>
                <a:sym typeface="Calibri"/>
              </a:rPr>
              <a:t>To be honest, I feel/am  (worried about this). I think most of the members in our club will share my sentiments about … </a:t>
            </a:r>
            <a:endParaRPr/>
          </a:p>
          <a:p>
            <a:pPr indent="-571500" lvl="0" marL="571500" marR="0" rtl="0" algn="l">
              <a:lnSpc>
                <a:spcPct val="15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Calibri"/>
                <a:ea typeface="Calibri"/>
                <a:cs typeface="Calibri"/>
                <a:sym typeface="Calibri"/>
              </a:rPr>
              <a:t>Đưa ra gợi ý: </a:t>
            </a:r>
            <a:r>
              <a:rPr b="0" i="0" lang="en-US" sz="3600" u="none" cap="none" strike="noStrike">
                <a:solidFill>
                  <a:srgbClr val="00B050"/>
                </a:solidFill>
                <a:latin typeface="Calibri"/>
                <a:ea typeface="Calibri"/>
                <a:cs typeface="Calibri"/>
                <a:sym typeface="Calibri"/>
              </a:rPr>
              <a:t>There are several solutions we can consider. </a:t>
            </a:r>
            <a:endParaRPr/>
          </a:p>
          <a:p>
            <a:pPr indent="-571500" lvl="0" marL="571500" marR="0" rtl="0" algn="l">
              <a:lnSpc>
                <a:spcPct val="15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Calibri"/>
                <a:ea typeface="Calibri"/>
                <a:cs typeface="Calibri"/>
                <a:sym typeface="Calibri"/>
              </a:rPr>
              <a:t>Kết thư: </a:t>
            </a:r>
            <a:r>
              <a:rPr b="0" i="0" lang="en-US" sz="3600" u="none" cap="none" strike="noStrike">
                <a:solidFill>
                  <a:srgbClr val="00B050"/>
                </a:solidFill>
                <a:latin typeface="Calibri"/>
                <a:ea typeface="Calibri"/>
                <a:cs typeface="Calibri"/>
                <a:sym typeface="Calibri"/>
              </a:rPr>
              <a:t>Hopefully, my suggestions/solutions will be somewhat useful to our club</a:t>
            </a:r>
            <a:endParaRPr/>
          </a:p>
          <a:p>
            <a:pPr indent="-571500" lvl="0" marL="571500" marR="0" rtl="0" algn="l">
              <a:lnSpc>
                <a:spcPct val="150000"/>
              </a:lnSpc>
              <a:spcBef>
                <a:spcPts val="0"/>
              </a:spcBef>
              <a:spcAft>
                <a:spcPts val="0"/>
              </a:spcAft>
              <a:buClr>
                <a:srgbClr val="000000"/>
              </a:buClr>
              <a:buSzPts val="3600"/>
              <a:buFont typeface="Noto Sans Symbols"/>
              <a:buChar char="⮚"/>
            </a:pPr>
            <a:r>
              <a:rPr b="0" i="0" lang="en-US" sz="3600" u="none" cap="none" strike="noStrike">
                <a:solidFill>
                  <a:srgbClr val="000000"/>
                </a:solidFill>
                <a:latin typeface="Calibri"/>
                <a:ea typeface="Calibri"/>
                <a:cs typeface="Calibri"/>
                <a:sym typeface="Calibri"/>
              </a:rPr>
              <a:t>Dòng cuối: </a:t>
            </a:r>
            <a:r>
              <a:rPr b="0" i="0" lang="en-US" sz="3600" u="none" cap="none" strike="noStrike">
                <a:solidFill>
                  <a:srgbClr val="00B050"/>
                </a:solidFill>
                <a:latin typeface="Calibri"/>
                <a:ea typeface="Calibri"/>
                <a:cs typeface="Calibri"/>
                <a:sym typeface="Calibri"/>
              </a:rPr>
              <a:t>I would appreciate a prompt reply to this letter.</a:t>
            </a:r>
            <a:endParaRPr/>
          </a:p>
          <a:p>
            <a:pPr indent="-571500" lvl="0" marL="571500" marR="0" rtl="0" algn="l">
              <a:lnSpc>
                <a:spcPct val="150000"/>
              </a:lnSpc>
              <a:spcBef>
                <a:spcPts val="0"/>
              </a:spcBef>
              <a:spcAft>
                <a:spcPts val="0"/>
              </a:spcAft>
              <a:buClr>
                <a:srgbClr val="000000"/>
              </a:buClr>
              <a:buSzPts val="3600"/>
              <a:buFont typeface="Noto Sans Symbols"/>
              <a:buChar char="⮚"/>
            </a:pPr>
            <a:r>
              <a:rPr lang="en-US" sz="3600">
                <a:latin typeface="Calibri"/>
                <a:ea typeface="Calibri"/>
                <a:cs typeface="Calibri"/>
                <a:sym typeface="Calibri"/>
              </a:rPr>
              <a:t>Ký</a:t>
            </a:r>
            <a:r>
              <a:rPr b="0" i="0" lang="en-US" sz="3600" u="none" cap="none" strike="noStrike">
                <a:solidFill>
                  <a:srgbClr val="000000"/>
                </a:solidFill>
                <a:latin typeface="Calibri"/>
                <a:ea typeface="Calibri"/>
                <a:cs typeface="Calibri"/>
                <a:sym typeface="Calibri"/>
              </a:rPr>
              <a:t> tên: </a:t>
            </a:r>
            <a:r>
              <a:rPr b="0" i="0" lang="en-US" sz="3600" u="none" cap="none" strike="noStrike">
                <a:solidFill>
                  <a:srgbClr val="00B050"/>
                </a:solidFill>
                <a:latin typeface="Calibri"/>
                <a:ea typeface="Calibri"/>
                <a:cs typeface="Calibri"/>
                <a:sym typeface="Calibri"/>
              </a:rPr>
              <a:t>Yours faithfully/ Yours sincerely</a:t>
            </a:r>
            <a:endParaRPr b="0" i="0" sz="3600" u="none" cap="none" strike="noStrike">
              <a:solidFill>
                <a:srgbClr val="00B05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cxnSp>
        <p:nvCxnSpPr>
          <p:cNvPr id="395" name="Google Shape;395;p27"/>
          <p:cNvCxnSpPr/>
          <p:nvPr/>
        </p:nvCxnSpPr>
        <p:spPr>
          <a:xfrm flipH="1" rot="10800000">
            <a:off x="3801534" y="1311592"/>
            <a:ext cx="9909107" cy="50383"/>
          </a:xfrm>
          <a:prstGeom prst="straightConnector1">
            <a:avLst/>
          </a:prstGeom>
          <a:noFill/>
          <a:ln cap="flat" cmpd="sng" w="38100">
            <a:solidFill>
              <a:srgbClr val="018345"/>
            </a:solidFill>
            <a:prstDash val="solid"/>
            <a:round/>
            <a:headEnd len="sm" w="sm" type="none"/>
            <a:tailEnd len="sm" w="sm" type="none"/>
          </a:ln>
        </p:spPr>
      </p:cxnSp>
      <p:grpSp>
        <p:nvGrpSpPr>
          <p:cNvPr id="396" name="Google Shape;396;p27"/>
          <p:cNvGrpSpPr/>
          <p:nvPr/>
        </p:nvGrpSpPr>
        <p:grpSpPr>
          <a:xfrm rot="10800000">
            <a:off x="15785091" y="-536942"/>
            <a:ext cx="7681766" cy="4260610"/>
            <a:chOff x="0" y="-38100"/>
            <a:chExt cx="406400" cy="225405"/>
          </a:xfrm>
        </p:grpSpPr>
        <p:sp>
          <p:nvSpPr>
            <p:cNvPr id="397" name="Google Shape;397;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8" name="Google Shape;398;p2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9" name="Google Shape;399;p27"/>
          <p:cNvGrpSpPr/>
          <p:nvPr/>
        </p:nvGrpSpPr>
        <p:grpSpPr>
          <a:xfrm>
            <a:off x="-2718010" y="9274528"/>
            <a:ext cx="7950400" cy="1707231"/>
            <a:chOff x="0" y="-384762"/>
            <a:chExt cx="10600533" cy="2276307"/>
          </a:xfrm>
        </p:grpSpPr>
        <p:grpSp>
          <p:nvGrpSpPr>
            <p:cNvPr id="400" name="Google Shape;400;p27"/>
            <p:cNvGrpSpPr/>
            <p:nvPr/>
          </p:nvGrpSpPr>
          <p:grpSpPr>
            <a:xfrm>
              <a:off x="0" y="-384762"/>
              <a:ext cx="10600533" cy="2276307"/>
              <a:chOff x="0" y="-38100"/>
              <a:chExt cx="1049690" cy="225405"/>
            </a:xfrm>
          </p:grpSpPr>
          <p:sp>
            <p:nvSpPr>
              <p:cNvPr id="401" name="Google Shape;401;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2" name="Google Shape;402;p2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3" name="Google Shape;403;p2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4" name="Google Shape;404;p27"/>
          <p:cNvSpPr txBox="1"/>
          <p:nvPr/>
        </p:nvSpPr>
        <p:spPr>
          <a:xfrm>
            <a:off x="2638646" y="163328"/>
            <a:ext cx="11880998" cy="90185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Clr>
                <a:srgbClr val="000000"/>
              </a:buClr>
              <a:buSzPts val="6000"/>
              <a:buFont typeface="Arial"/>
              <a:buNone/>
            </a:pPr>
            <a:r>
              <a:rPr b="1" i="0" lang="en-US" sz="6000" u="none" cap="none" strike="noStrike">
                <a:solidFill>
                  <a:srgbClr val="018345"/>
                </a:solidFill>
                <a:latin typeface="Montserrat"/>
                <a:ea typeface="Montserrat"/>
                <a:cs typeface="Montserrat"/>
                <a:sym typeface="Montserrat"/>
              </a:rPr>
              <a:t>Đề mẫu</a:t>
            </a:r>
            <a:endParaRPr b="1" i="0" sz="6000" u="none" cap="none" strike="noStrike">
              <a:solidFill>
                <a:srgbClr val="018345"/>
              </a:solidFill>
              <a:latin typeface="Montserrat"/>
              <a:ea typeface="Montserrat"/>
              <a:cs typeface="Montserrat"/>
              <a:sym typeface="Montserrat"/>
            </a:endParaRPr>
          </a:p>
        </p:txBody>
      </p:sp>
      <p:sp>
        <p:nvSpPr>
          <p:cNvPr id="405" name="Google Shape;405;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06" name="Google Shape;406;p27"/>
          <p:cNvSpPr/>
          <p:nvPr/>
        </p:nvSpPr>
        <p:spPr>
          <a:xfrm>
            <a:off x="834887" y="1675984"/>
            <a:ext cx="16439321" cy="7895342"/>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Dear Sir/ Madam,</a:t>
            </a:r>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My name is Yen, a member of your music club. I am writing in response to the latest email from our club. </a:t>
            </a:r>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According to the news, residents living near our club have complained about the noise from our concerts. I feel sad and worried to hear that news because it negatively affects our club's image, and I believe that most of the members in our clubs will share my sentiments. Therefore, it is high time we did something to fix this problem or at least improve the situation. </a:t>
            </a:r>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There are several solutions we can consider. First, we can install some devices that can reduce the noise. It is better to get advice from those who are experts in this field because they have experience and expertise to tackle such problems. Second, we can offer free tickets or send invitations to the residents. Last, we can change the timing or the locations of the concerts.</a:t>
            </a:r>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I would appreciate a prompt reply to this letter.</a:t>
            </a:r>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Yours faithfully,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cxnSp>
        <p:nvCxnSpPr>
          <p:cNvPr id="411" name="Google Shape;411;p28"/>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412" name="Google Shape;412;p2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13" name="Google Shape;413;p28"/>
          <p:cNvGrpSpPr/>
          <p:nvPr/>
        </p:nvGrpSpPr>
        <p:grpSpPr>
          <a:xfrm rot="10800000">
            <a:off x="15044552" y="-741521"/>
            <a:ext cx="7681766" cy="4260610"/>
            <a:chOff x="0" y="-38100"/>
            <a:chExt cx="406400" cy="225405"/>
          </a:xfrm>
        </p:grpSpPr>
        <p:sp>
          <p:nvSpPr>
            <p:cNvPr id="414" name="Google Shape;414;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5" name="Google Shape;415;p2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416" name="Google Shape;416;p2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17" name="Google Shape;417;p2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18" name="Google Shape;418;p28"/>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Clr>
                <a:srgbClr val="000000"/>
              </a:buClr>
              <a:buSzPts val="7200"/>
              <a:buFont typeface="Arial"/>
              <a:buNone/>
            </a:pPr>
            <a:r>
              <a:rPr b="1" i="0" lang="en-US" sz="7200" u="none" cap="none" strike="noStrike">
                <a:solidFill>
                  <a:srgbClr val="018345"/>
                </a:solidFill>
                <a:latin typeface="Montserrat"/>
                <a:ea typeface="Montserrat"/>
                <a:cs typeface="Montserrat"/>
                <a:sym typeface="Montserrat"/>
              </a:rPr>
              <a:t>Luyện tập</a:t>
            </a:r>
            <a:endParaRPr b="1" i="0" sz="7200" u="none" cap="none" strike="noStrike">
              <a:solidFill>
                <a:srgbClr val="018345"/>
              </a:solidFill>
              <a:latin typeface="Montserrat"/>
              <a:ea typeface="Montserrat"/>
              <a:cs typeface="Montserrat"/>
              <a:sym typeface="Montserrat"/>
            </a:endParaRPr>
          </a:p>
        </p:txBody>
      </p:sp>
      <p:sp>
        <p:nvSpPr>
          <p:cNvPr id="419" name="Google Shape;419;p28"/>
          <p:cNvSpPr txBox="1"/>
          <p:nvPr/>
        </p:nvSpPr>
        <p:spPr>
          <a:xfrm>
            <a:off x="10182106" y="339710"/>
            <a:ext cx="2202732" cy="2301079"/>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2461"/>
              <a:buFont typeface="Arial"/>
              <a:buNone/>
            </a:pPr>
            <a:r>
              <a:rPr b="1" i="0" lang="en-US" sz="12461" u="none" cap="none" strike="noStrike">
                <a:solidFill>
                  <a:srgbClr val="018345"/>
                </a:solidFill>
                <a:latin typeface="Montserrat"/>
                <a:ea typeface="Montserrat"/>
                <a:cs typeface="Montserrat"/>
                <a:sym typeface="Montserrat"/>
              </a:rPr>
              <a:t>05</a:t>
            </a:r>
            <a:endParaRPr b="0" i="0" sz="1400" u="none" cap="none" strike="noStrike">
              <a:solidFill>
                <a:srgbClr val="000000"/>
              </a:solidFill>
              <a:latin typeface="Calibri"/>
              <a:ea typeface="Calibri"/>
              <a:cs typeface="Calibri"/>
              <a:sym typeface="Calibri"/>
            </a:endParaRPr>
          </a:p>
        </p:txBody>
      </p:sp>
      <p:grpSp>
        <p:nvGrpSpPr>
          <p:cNvPr id="420" name="Google Shape;420;p28"/>
          <p:cNvGrpSpPr/>
          <p:nvPr/>
        </p:nvGrpSpPr>
        <p:grpSpPr>
          <a:xfrm>
            <a:off x="-2718010" y="9274528"/>
            <a:ext cx="7950400" cy="1707231"/>
            <a:chOff x="0" y="-384762"/>
            <a:chExt cx="10600533" cy="2276307"/>
          </a:xfrm>
        </p:grpSpPr>
        <p:grpSp>
          <p:nvGrpSpPr>
            <p:cNvPr id="421" name="Google Shape;421;p28"/>
            <p:cNvGrpSpPr/>
            <p:nvPr/>
          </p:nvGrpSpPr>
          <p:grpSpPr>
            <a:xfrm>
              <a:off x="0" y="-384762"/>
              <a:ext cx="10600533" cy="2276307"/>
              <a:chOff x="0" y="-38100"/>
              <a:chExt cx="1049690" cy="225405"/>
            </a:xfrm>
          </p:grpSpPr>
          <p:sp>
            <p:nvSpPr>
              <p:cNvPr id="422" name="Google Shape;422;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23" name="Google Shape;423;p2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4" name="Google Shape;424;p2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425" name="Google Shape;425;p28"/>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500"/>
                                        <p:tgtEl>
                                          <p:spTgt spid="419"/>
                                        </p:tgtEl>
                                        <p:attrNameLst>
                                          <p:attrName>ppt_w</p:attrName>
                                        </p:attrNameLst>
                                      </p:cBhvr>
                                      <p:tavLst>
                                        <p:tav fmla="" tm="0">
                                          <p:val>
                                            <p:strVal val="0"/>
                                          </p:val>
                                        </p:tav>
                                        <p:tav fmla="" tm="100000">
                                          <p:val>
                                            <p:strVal val="#ppt_w"/>
                                          </p:val>
                                        </p:tav>
                                      </p:tavLst>
                                    </p:anim>
                                    <p:anim calcmode="lin" valueType="num">
                                      <p:cBhvr additive="base">
                                        <p:cTn dur="500"/>
                                        <p:tgtEl>
                                          <p:spTgt spid="41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18"/>
                                        </p:tgtEl>
                                        <p:attrNameLst>
                                          <p:attrName>style.visibility</p:attrName>
                                        </p:attrNameLst>
                                      </p:cBhvr>
                                      <p:to>
                                        <p:strVal val="visible"/>
                                      </p:to>
                                    </p:set>
                                    <p:anim calcmode="lin" valueType="num">
                                      <p:cBhvr additive="base">
                                        <p:cTn dur="500"/>
                                        <p:tgtEl>
                                          <p:spTgt spid="418"/>
                                        </p:tgtEl>
                                        <p:attrNameLst>
                                          <p:attrName>ppt_w</p:attrName>
                                        </p:attrNameLst>
                                      </p:cBhvr>
                                      <p:tavLst>
                                        <p:tav fmla="" tm="0">
                                          <p:val>
                                            <p:strVal val="0"/>
                                          </p:val>
                                        </p:tav>
                                        <p:tav fmla="" tm="100000">
                                          <p:val>
                                            <p:strVal val="#ppt_w"/>
                                          </p:val>
                                        </p:tav>
                                      </p:tavLst>
                                    </p:anim>
                                    <p:anim calcmode="lin" valueType="num">
                                      <p:cBhvr additive="base">
                                        <p:cTn dur="500"/>
                                        <p:tgtEl>
                                          <p:spTgt spid="41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cxnSp>
        <p:nvCxnSpPr>
          <p:cNvPr id="431" name="Google Shape;431;p29"/>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432" name="Google Shape;432;p29"/>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433" name="Google Shape;433;p29"/>
          <p:cNvGrpSpPr/>
          <p:nvPr/>
        </p:nvGrpSpPr>
        <p:grpSpPr>
          <a:xfrm rot="10800000">
            <a:off x="15044552" y="-741521"/>
            <a:ext cx="7681766" cy="4260610"/>
            <a:chOff x="0" y="-38100"/>
            <a:chExt cx="406400" cy="225405"/>
          </a:xfrm>
        </p:grpSpPr>
        <p:sp>
          <p:nvSpPr>
            <p:cNvPr id="434" name="Google Shape;434;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5" name="Google Shape;435;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436" name="Google Shape;436;p29"/>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37" name="Google Shape;437;p29"/>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438" name="Google Shape;438;p29"/>
          <p:cNvGrpSpPr/>
          <p:nvPr/>
        </p:nvGrpSpPr>
        <p:grpSpPr>
          <a:xfrm rot="10800000">
            <a:off x="15828686" y="-13843"/>
            <a:ext cx="7681766" cy="4260610"/>
            <a:chOff x="0" y="-38100"/>
            <a:chExt cx="406400" cy="225405"/>
          </a:xfrm>
        </p:grpSpPr>
        <p:sp>
          <p:nvSpPr>
            <p:cNvPr id="439" name="Google Shape;439;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440" name="Google Shape;440;p2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1" name="Google Shape;441;p29"/>
          <p:cNvSpPr txBox="1"/>
          <p:nvPr/>
        </p:nvSpPr>
        <p:spPr>
          <a:xfrm>
            <a:off x="5696245" y="2603735"/>
            <a:ext cx="11565445" cy="6234207"/>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Clr>
                <a:srgbClr val="000000"/>
              </a:buClr>
              <a:buSzPts val="10003"/>
              <a:buFont typeface="Arial"/>
              <a:buNone/>
            </a:pPr>
            <a:r>
              <a:rPr b="1" i="0" lang="en-US" sz="10003" u="none" cap="none" strike="noStrike">
                <a:solidFill>
                  <a:srgbClr val="018345"/>
                </a:solidFill>
                <a:latin typeface="Calibri"/>
                <a:ea typeface="Calibri"/>
                <a:cs typeface="Calibri"/>
                <a:sym typeface="Calibri"/>
              </a:rPr>
              <a:t>Cảm ơn các bạn đã chú ý theo dõi!</a:t>
            </a:r>
            <a:endParaRPr b="0" i="0" sz="1400" u="none" cap="none" strike="noStrike">
              <a:solidFill>
                <a:srgbClr val="000000"/>
              </a:solidFill>
              <a:latin typeface="Calibri"/>
              <a:ea typeface="Calibri"/>
              <a:cs typeface="Calibri"/>
              <a:sym typeface="Calibri"/>
            </a:endParaRPr>
          </a:p>
          <a:p>
            <a:pPr indent="0" lvl="0" marL="0" marR="0" rtl="0" algn="ctr">
              <a:lnSpc>
                <a:spcPct val="134999"/>
              </a:lnSpc>
              <a:spcBef>
                <a:spcPts val="0"/>
              </a:spcBef>
              <a:spcAft>
                <a:spcPts val="0"/>
              </a:spcAft>
              <a:buClr>
                <a:srgbClr val="000000"/>
              </a:buClr>
              <a:buSzPts val="10003"/>
              <a:buFont typeface="Arial"/>
              <a:buNone/>
            </a:pPr>
            <a:r>
              <a:t/>
            </a:r>
            <a:endParaRPr b="1" i="0" sz="10003" u="none" cap="none" strike="noStrike">
              <a:solidFill>
                <a:srgbClr val="018345"/>
              </a:solidFill>
              <a:latin typeface="Calibri"/>
              <a:ea typeface="Calibri"/>
              <a:cs typeface="Calibri"/>
              <a:sym typeface="Calibri"/>
            </a:endParaRPr>
          </a:p>
        </p:txBody>
      </p:sp>
      <p:grpSp>
        <p:nvGrpSpPr>
          <p:cNvPr id="442" name="Google Shape;442;p29"/>
          <p:cNvGrpSpPr/>
          <p:nvPr/>
        </p:nvGrpSpPr>
        <p:grpSpPr>
          <a:xfrm>
            <a:off x="5693855" y="6543482"/>
            <a:ext cx="11567835" cy="1261722"/>
            <a:chOff x="5693855" y="7590172"/>
            <a:chExt cx="11567835" cy="1261722"/>
          </a:xfrm>
        </p:grpSpPr>
        <p:grpSp>
          <p:nvGrpSpPr>
            <p:cNvPr id="443" name="Google Shape;443;p29"/>
            <p:cNvGrpSpPr/>
            <p:nvPr/>
          </p:nvGrpSpPr>
          <p:grpSpPr>
            <a:xfrm>
              <a:off x="5693855" y="7590172"/>
              <a:ext cx="11567834" cy="1261722"/>
              <a:chOff x="0" y="-38100"/>
              <a:chExt cx="3046672" cy="332305"/>
            </a:xfrm>
          </p:grpSpPr>
          <p:sp>
            <p:nvSpPr>
              <p:cNvPr id="444" name="Google Shape;444;p29"/>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445" name="Google Shape;445;p29"/>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6" name="Google Shape;446;p29"/>
            <p:cNvSpPr txBox="1"/>
            <p:nvPr/>
          </p:nvSpPr>
          <p:spPr>
            <a:xfrm>
              <a:off x="5696245" y="7961575"/>
              <a:ext cx="11565445" cy="75386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499"/>
                <a:buFont typeface="Arial"/>
                <a:buNone/>
              </a:pPr>
              <a:r>
                <a:rPr b="0" i="0" lang="en-US" sz="3499" u="none" cap="none" strike="noStrike">
                  <a:solidFill>
                    <a:srgbClr val="FFFFFF"/>
                  </a:solidFill>
                  <a:latin typeface="Calibri"/>
                  <a:ea typeface="Calibri"/>
                  <a:cs typeface="Calibri"/>
                  <a:sym typeface="Calibri"/>
                </a:rPr>
                <a:t>Hẹn gặp lại các bạn ở những bài học tiếp theo</a:t>
              </a:r>
              <a:endParaRPr b="0" i="0" sz="3499" u="none" cap="none" strike="noStrike">
                <a:solidFill>
                  <a:srgbClr val="FFFFFF"/>
                </a:solidFill>
                <a:latin typeface="Calibri"/>
                <a:ea typeface="Calibri"/>
                <a:cs typeface="Calibri"/>
                <a:sym typeface="Calibri"/>
              </a:endParaRPr>
            </a:p>
          </p:txBody>
        </p:sp>
      </p:grpSp>
      <p:grpSp>
        <p:nvGrpSpPr>
          <p:cNvPr id="447" name="Google Shape;447;p29"/>
          <p:cNvGrpSpPr/>
          <p:nvPr/>
        </p:nvGrpSpPr>
        <p:grpSpPr>
          <a:xfrm>
            <a:off x="-2718010" y="9274528"/>
            <a:ext cx="7950400" cy="1707231"/>
            <a:chOff x="0" y="-384762"/>
            <a:chExt cx="10600533" cy="2276307"/>
          </a:xfrm>
        </p:grpSpPr>
        <p:grpSp>
          <p:nvGrpSpPr>
            <p:cNvPr id="448" name="Google Shape;448;p29"/>
            <p:cNvGrpSpPr/>
            <p:nvPr/>
          </p:nvGrpSpPr>
          <p:grpSpPr>
            <a:xfrm>
              <a:off x="0" y="-384762"/>
              <a:ext cx="10600533" cy="2276307"/>
              <a:chOff x="0" y="-38100"/>
              <a:chExt cx="1049690" cy="225405"/>
            </a:xfrm>
          </p:grpSpPr>
          <p:sp>
            <p:nvSpPr>
              <p:cNvPr id="449" name="Google Shape;449;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50" name="Google Shape;450;p2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1" name="Google Shape;451;p2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500"/>
                                        <p:tgtEl>
                                          <p:spTgt spid="441"/>
                                        </p:tgtEl>
                                        <p:attrNameLst>
                                          <p:attrName>ppt_w</p:attrName>
                                        </p:attrNameLst>
                                      </p:cBhvr>
                                      <p:tavLst>
                                        <p:tav fmla="" tm="0">
                                          <p:val>
                                            <p:strVal val="0"/>
                                          </p:val>
                                        </p:tav>
                                        <p:tav fmla="" tm="100000">
                                          <p:val>
                                            <p:strVal val="#ppt_w"/>
                                          </p:val>
                                        </p:tav>
                                      </p:tavLst>
                                    </p:anim>
                                    <p:anim calcmode="lin" valueType="num">
                                      <p:cBhvr additive="base">
                                        <p:cTn dur="500"/>
                                        <p:tgtEl>
                                          <p:spTgt spid="44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