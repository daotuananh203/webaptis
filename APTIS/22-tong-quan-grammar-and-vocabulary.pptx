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Playfair Display"/>
      <p:regular r:id="rId29"/>
      <p:bold r:id="rId30"/>
      <p:italic r:id="rId31"/>
      <p:boldItalic r:id="rId32"/>
    </p:embeddedFont>
    <p:embeddedFont>
      <p:font typeface="Montserrat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11" Type="http://schemas.openxmlformats.org/officeDocument/2006/relationships/slide" Target="slides/slide6.xml"/><Relationship Id="rId33" Type="http://schemas.openxmlformats.org/officeDocument/2006/relationships/font" Target="fonts/Montserrat-bold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6" name="Google Shape;2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72" name="Google Shape;3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10" name="Google Shape;41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27" name="Google Shape;42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4" name="Google Shape;44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61" name="Google Shape;46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78" name="Google Shape;47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834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4788018" y="1722907"/>
            <a:ext cx="13410874" cy="14964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1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APTIS GENERAL</a:t>
            </a:r>
            <a:endParaRPr/>
          </a:p>
        </p:txBody>
      </p:sp>
      <p:grpSp>
        <p:nvGrpSpPr>
          <p:cNvPr id="89" name="Google Shape;89;p13"/>
          <p:cNvGrpSpPr/>
          <p:nvPr/>
        </p:nvGrpSpPr>
        <p:grpSpPr>
          <a:xfrm>
            <a:off x="6858000" y="4396612"/>
            <a:ext cx="10058400" cy="2222589"/>
            <a:chOff x="0" y="-192881"/>
            <a:chExt cx="11458277" cy="2963451"/>
          </a:xfrm>
        </p:grpSpPr>
        <p:grpSp>
          <p:nvGrpSpPr>
            <p:cNvPr id="90" name="Google Shape;90;p13"/>
            <p:cNvGrpSpPr/>
            <p:nvPr/>
          </p:nvGrpSpPr>
          <p:grpSpPr>
            <a:xfrm>
              <a:off x="0" y="-192881"/>
              <a:ext cx="11458277" cy="2963451"/>
              <a:chOff x="0" y="-38100"/>
              <a:chExt cx="2263363" cy="585373"/>
            </a:xfrm>
          </p:grpSpPr>
          <p:sp>
            <p:nvSpPr>
              <p:cNvPr id="91" name="Google Shape;91;p13"/>
              <p:cNvSpPr/>
              <p:nvPr/>
            </p:nvSpPr>
            <p:spPr>
              <a:xfrm>
                <a:off x="0" y="0"/>
                <a:ext cx="2263363" cy="547273"/>
              </a:xfrm>
              <a:custGeom>
                <a:rect b="b" l="l" r="r" t="t"/>
                <a:pathLst>
                  <a:path extrusionOk="0" h="547273" w="2263363">
                    <a:moveTo>
                      <a:pt x="45945" y="0"/>
                    </a:moveTo>
                    <a:lnTo>
                      <a:pt x="2217418" y="0"/>
                    </a:lnTo>
                    <a:cubicBezTo>
                      <a:pt x="2242793" y="0"/>
                      <a:pt x="2263363" y="20570"/>
                      <a:pt x="2263363" y="45945"/>
                    </a:cubicBezTo>
                    <a:lnTo>
                      <a:pt x="2263363" y="501328"/>
                    </a:lnTo>
                    <a:cubicBezTo>
                      <a:pt x="2263363" y="526703"/>
                      <a:pt x="2242793" y="547273"/>
                      <a:pt x="2217418" y="547273"/>
                    </a:cubicBezTo>
                    <a:lnTo>
                      <a:pt x="45945" y="547273"/>
                    </a:lnTo>
                    <a:cubicBezTo>
                      <a:pt x="20570" y="547273"/>
                      <a:pt x="0" y="526703"/>
                      <a:pt x="0" y="501328"/>
                    </a:cubicBezTo>
                    <a:lnTo>
                      <a:pt x="0" y="45945"/>
                    </a:lnTo>
                    <a:cubicBezTo>
                      <a:pt x="0" y="20570"/>
                      <a:pt x="20570" y="0"/>
                      <a:pt x="45945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13"/>
              <p:cNvSpPr txBox="1"/>
              <p:nvPr/>
            </p:nvSpPr>
            <p:spPr>
              <a:xfrm>
                <a:off x="0" y="-38100"/>
                <a:ext cx="2263363" cy="5853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3"/>
            <p:cNvSpPr txBox="1"/>
            <p:nvPr/>
          </p:nvSpPr>
          <p:spPr>
            <a:xfrm>
              <a:off x="0" y="894203"/>
              <a:ext cx="114582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907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800" u="none" cap="none" strike="noStrike">
                  <a:solidFill>
                    <a:srgbClr val="018345"/>
                  </a:solidFill>
                  <a:latin typeface="Arial"/>
                  <a:ea typeface="Arial"/>
                  <a:cs typeface="Arial"/>
                  <a:sym typeface="Arial"/>
                </a:rPr>
                <a:t>GRAMMAR AND VOCABULARY</a:t>
              </a:r>
              <a:endParaRPr/>
            </a:p>
          </p:txBody>
        </p:sp>
      </p:grpSp>
      <p:cxnSp>
        <p:nvCxnSpPr>
          <p:cNvPr id="94" name="Google Shape;94;p13"/>
          <p:cNvCxnSpPr/>
          <p:nvPr/>
        </p:nvCxnSpPr>
        <p:spPr>
          <a:xfrm>
            <a:off x="5559805" y="3724211"/>
            <a:ext cx="11699495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/>
        </p:nvSpPr>
        <p:spPr>
          <a:xfrm>
            <a:off x="4867241" y="698293"/>
            <a:ext cx="13215313" cy="147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64" u="none" cap="none" strike="noStrike">
                <a:solidFill>
                  <a:srgbClr val="018345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cxnSp>
        <p:nvCxnSpPr>
          <p:cNvPr id="101" name="Google Shape;101;p14"/>
          <p:cNvCxnSpPr/>
          <p:nvPr/>
        </p:nvCxnSpPr>
        <p:spPr>
          <a:xfrm>
            <a:off x="5878042" y="2247900"/>
            <a:ext cx="1157973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" name="Google Shape;102;p14"/>
          <p:cNvGrpSpPr/>
          <p:nvPr/>
        </p:nvGrpSpPr>
        <p:grpSpPr>
          <a:xfrm rot="10800000">
            <a:off x="14951203" y="-741521"/>
            <a:ext cx="7681766" cy="4260610"/>
            <a:chOff x="0" y="-38100"/>
            <a:chExt cx="406400" cy="225405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05" name="Google Shape;105;p14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 txBox="1"/>
          <p:nvPr/>
        </p:nvSpPr>
        <p:spPr>
          <a:xfrm>
            <a:off x="-10653311" y="9715322"/>
            <a:ext cx="13923203" cy="285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Roboto"/>
                <a:ea typeface="Roboto"/>
                <a:cs typeface="Roboto"/>
                <a:sym typeface="Roboto"/>
              </a:rPr>
              <a:t>https://edulife.com.vn/</a:t>
            </a:r>
            <a:endParaRPr/>
          </a:p>
        </p:txBody>
      </p:sp>
      <p:grpSp>
        <p:nvGrpSpPr>
          <p:cNvPr id="107" name="Google Shape;107;p1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08" name="Google Shape;108;p1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09" name="Google Shape;109;p1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10" name="Google Shape;110;p1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" name="Google Shape;111;p1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4"/>
          <p:cNvGrpSpPr/>
          <p:nvPr/>
        </p:nvGrpSpPr>
        <p:grpSpPr>
          <a:xfrm>
            <a:off x="6473635" y="3289585"/>
            <a:ext cx="10984141" cy="1473408"/>
            <a:chOff x="6375842" y="6278356"/>
            <a:chExt cx="10541964" cy="1306965"/>
          </a:xfrm>
        </p:grpSpPr>
        <p:sp>
          <p:nvSpPr>
            <p:cNvPr id="113" name="Google Shape;113;p14"/>
            <p:cNvSpPr/>
            <p:nvPr/>
          </p:nvSpPr>
          <p:spPr>
            <a:xfrm>
              <a:off x="6375842" y="6278356"/>
              <a:ext cx="10541964" cy="1289204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t/>
              </a:r>
              <a:endParaRPr b="1" i="0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4"/>
            <p:cNvSpPr txBox="1"/>
            <p:nvPr/>
          </p:nvSpPr>
          <p:spPr>
            <a:xfrm>
              <a:off x="6375842" y="6296116"/>
              <a:ext cx="10541964" cy="1289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386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t/>
              </a:r>
              <a:endPara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6375842" y="6296117"/>
              <a:ext cx="1253681" cy="1253680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t/>
              </a:r>
              <a:endPara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 txBox="1"/>
            <p:nvPr/>
          </p:nvSpPr>
          <p:spPr>
            <a:xfrm>
              <a:off x="7917301" y="6572473"/>
              <a:ext cx="8805000" cy="5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000"/>
                <a:buFont typeface="Calibri"/>
                <a:buNone/>
              </a:pPr>
              <a:r>
                <a:rPr b="1" i="0" lang="en-US" sz="4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Tổng quan phần thi Ngữ pháp và Từ vựng  </a:t>
              </a:r>
              <a:endPara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descr="Books with solid fill" id="117" name="Google Shape;117;p14"/>
            <p:cNvSpPr/>
            <p:nvPr/>
          </p:nvSpPr>
          <p:spPr>
            <a:xfrm>
              <a:off x="6604212" y="6517439"/>
              <a:ext cx="796998" cy="796998"/>
            </a:xfrm>
            <a:custGeom>
              <a:rect b="b" l="l" r="r" t="t"/>
              <a:pathLst>
                <a:path extrusionOk="0" h="1062664" w="1062664">
                  <a:moveTo>
                    <a:pt x="0" y="0"/>
                  </a:moveTo>
                  <a:lnTo>
                    <a:pt x="1062664" y="0"/>
                  </a:lnTo>
                  <a:lnTo>
                    <a:pt x="1062664" y="1062664"/>
                  </a:lnTo>
                  <a:lnTo>
                    <a:pt x="0" y="106266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8" name="Google Shape;118;p14"/>
          <p:cNvSpPr txBox="1"/>
          <p:nvPr/>
        </p:nvSpPr>
        <p:spPr>
          <a:xfrm>
            <a:off x="6276819" y="6710380"/>
            <a:ext cx="10614733" cy="1616469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738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4"/>
          <p:cNvGrpSpPr/>
          <p:nvPr/>
        </p:nvGrpSpPr>
        <p:grpSpPr>
          <a:xfrm>
            <a:off x="6552638" y="5161306"/>
            <a:ext cx="10925016" cy="1453386"/>
            <a:chOff x="6934199" y="7048500"/>
            <a:chExt cx="9882631" cy="1159137"/>
          </a:xfrm>
        </p:grpSpPr>
        <p:grpSp>
          <p:nvGrpSpPr>
            <p:cNvPr id="120" name="Google Shape;120;p14"/>
            <p:cNvGrpSpPr/>
            <p:nvPr/>
          </p:nvGrpSpPr>
          <p:grpSpPr>
            <a:xfrm>
              <a:off x="6934199" y="7048500"/>
              <a:ext cx="9882631" cy="1159137"/>
              <a:chOff x="6487860" y="7950596"/>
              <a:chExt cx="10571781" cy="1289204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6517678" y="7950596"/>
                <a:ext cx="10541963" cy="1289204"/>
              </a:xfrm>
              <a:prstGeom prst="roundRect">
                <a:avLst>
                  <a:gd fmla="val 50000" name="adj"/>
                </a:avLst>
              </a:prstGeom>
              <a:solidFill>
                <a:srgbClr val="0183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0"/>
                  <a:buFont typeface="Calibri"/>
                  <a:buNone/>
                </a:pPr>
                <a:r>
                  <a:t/>
                </a:r>
                <a:endParaRPr b="1" i="0" sz="4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6487860" y="7968363"/>
                <a:ext cx="1267473" cy="1253680"/>
              </a:xfrm>
              <a:custGeom>
                <a:rect b="b" l="l" r="r" t="t"/>
                <a:pathLst>
                  <a:path extrusionOk="0" h="1671574" w="1671574">
                    <a:moveTo>
                      <a:pt x="0" y="835787"/>
                    </a:moveTo>
                    <a:cubicBezTo>
                      <a:pt x="0" y="374269"/>
                      <a:pt x="374269" y="0"/>
                      <a:pt x="835787" y="0"/>
                    </a:cubicBezTo>
                    <a:cubicBezTo>
                      <a:pt x="1297305" y="0"/>
                      <a:pt x="1671574" y="374269"/>
                      <a:pt x="1671574" y="835787"/>
                    </a:cubicBezTo>
                    <a:cubicBezTo>
                      <a:pt x="1671574" y="1297305"/>
                      <a:pt x="1297305" y="1671574"/>
                      <a:pt x="835787" y="1671574"/>
                    </a:cubicBezTo>
                    <a:cubicBezTo>
                      <a:pt x="374269" y="1671574"/>
                      <a:pt x="0" y="1297432"/>
                      <a:pt x="0" y="835787"/>
                    </a:cubicBezTo>
                    <a:close/>
                  </a:path>
                </a:pathLst>
              </a:custGeom>
              <a:solidFill>
                <a:srgbClr val="00BF6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000"/>
                  <a:buFont typeface="Calibri"/>
                  <a:buNone/>
                </a:pPr>
                <a:r>
                  <a:t/>
                </a:r>
                <a:endParaRPr b="1" i="0" sz="4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4"/>
              <p:cNvSpPr txBox="1"/>
              <p:nvPr/>
            </p:nvSpPr>
            <p:spPr>
              <a:xfrm>
                <a:off x="8046287" y="8278975"/>
                <a:ext cx="7954200" cy="54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30390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000"/>
                  <a:buFont typeface="Calibri"/>
                  <a:buNone/>
                </a:pPr>
                <a:r>
                  <a:rPr b="1" i="0" lang="en-US" sz="40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Phần ngữ pháp</a:t>
                </a:r>
                <a:endParaRPr b="1" i="0" sz="4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Envelope with solid fill" id="124" name="Google Shape;12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167192" y="7214481"/>
              <a:ext cx="773941" cy="77394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4"/>
          <p:cNvGrpSpPr/>
          <p:nvPr/>
        </p:nvGrpSpPr>
        <p:grpSpPr>
          <a:xfrm>
            <a:off x="6538482" y="6986251"/>
            <a:ext cx="10984220" cy="1453386"/>
            <a:chOff x="6962073" y="8572500"/>
            <a:chExt cx="9910575" cy="1159136"/>
          </a:xfrm>
        </p:grpSpPr>
        <p:sp>
          <p:nvSpPr>
            <p:cNvPr id="126" name="Google Shape;126;p14"/>
            <p:cNvSpPr/>
            <p:nvPr/>
          </p:nvSpPr>
          <p:spPr>
            <a:xfrm>
              <a:off x="6989946" y="8572500"/>
              <a:ext cx="9854758" cy="1159136"/>
            </a:xfrm>
            <a:prstGeom prst="roundRect">
              <a:avLst>
                <a:gd fmla="val 50000" name="adj"/>
              </a:avLst>
            </a:prstGeom>
            <a:solidFill>
              <a:srgbClr val="01834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t/>
              </a:r>
              <a:endParaRPr b="1" i="0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962073" y="8588468"/>
              <a:ext cx="1171956" cy="1127196"/>
            </a:xfrm>
            <a:custGeom>
              <a:rect b="b" l="l" r="r" t="t"/>
              <a:pathLst>
                <a:path extrusionOk="0" h="1671574" w="1671574">
                  <a:moveTo>
                    <a:pt x="0" y="835787"/>
                  </a:moveTo>
                  <a:cubicBezTo>
                    <a:pt x="0" y="374269"/>
                    <a:pt x="374269" y="0"/>
                    <a:pt x="835787" y="0"/>
                  </a:cubicBezTo>
                  <a:cubicBezTo>
                    <a:pt x="1297305" y="0"/>
                    <a:pt x="1671574" y="374269"/>
                    <a:pt x="1671574" y="835787"/>
                  </a:cubicBezTo>
                  <a:cubicBezTo>
                    <a:pt x="1671574" y="1297305"/>
                    <a:pt x="1297305" y="1671574"/>
                    <a:pt x="835787" y="1671574"/>
                  </a:cubicBezTo>
                  <a:cubicBezTo>
                    <a:pt x="374269" y="1671574"/>
                    <a:pt x="0" y="1297432"/>
                    <a:pt x="0" y="835787"/>
                  </a:cubicBezTo>
                  <a:close/>
                </a:path>
              </a:pathLst>
            </a:custGeom>
            <a:solidFill>
              <a:srgbClr val="00BF6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000"/>
                <a:buFont typeface="Calibri"/>
                <a:buNone/>
              </a:pPr>
              <a:r>
                <a:t/>
              </a:r>
              <a:endPara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4"/>
            <p:cNvSpPr txBox="1"/>
            <p:nvPr/>
          </p:nvSpPr>
          <p:spPr>
            <a:xfrm>
              <a:off x="8403048" y="8775149"/>
              <a:ext cx="8469600" cy="49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Phần từ vựng</a:t>
              </a:r>
              <a:endParaRPr b="1" i="0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encil with solid fill" id="129" name="Google Shape;129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7974" y="8738481"/>
              <a:ext cx="797413" cy="7974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15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15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6" name="Google Shape;136;p15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37" name="Google Shape;137;p1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38" name="Google Shape;138;p1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39" name="Google Shape;139;p15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5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5"/>
          <p:cNvSpPr/>
          <p:nvPr/>
        </p:nvSpPr>
        <p:spPr>
          <a:xfrm>
            <a:off x="9121603" y="5737772"/>
            <a:ext cx="5199117" cy="4549228"/>
          </a:xfrm>
          <a:custGeom>
            <a:rect b="b" l="l" r="r" t="t"/>
            <a:pathLst>
              <a:path extrusionOk="0" h="4549228" w="5199117">
                <a:moveTo>
                  <a:pt x="0" y="0"/>
                </a:moveTo>
                <a:lnTo>
                  <a:pt x="5199117" y="0"/>
                </a:lnTo>
                <a:lnTo>
                  <a:pt x="5199117" y="4549228"/>
                </a:lnTo>
                <a:lnTo>
                  <a:pt x="0" y="4549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5"/>
          <p:cNvSpPr txBox="1"/>
          <p:nvPr/>
        </p:nvSpPr>
        <p:spPr>
          <a:xfrm>
            <a:off x="6400799" y="2564021"/>
            <a:ext cx="10234853" cy="2405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3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Tổng quan bài thi Ngữ pháp và từ vựng</a:t>
            </a:r>
            <a:endParaRPr b="1" i="0" sz="7203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10210111" y="339710"/>
            <a:ext cx="2146722" cy="1895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-10653311" y="9715322"/>
            <a:ext cx="13923203" cy="285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Roboto"/>
                <a:ea typeface="Roboto"/>
                <a:cs typeface="Roboto"/>
                <a:sym typeface="Roboto"/>
              </a:rPr>
              <a:t>https://edulife.com.vn/</a:t>
            </a:r>
            <a:endParaRPr/>
          </a:p>
        </p:txBody>
      </p:sp>
      <p:grpSp>
        <p:nvGrpSpPr>
          <p:cNvPr id="145" name="Google Shape;145;p1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46" name="Google Shape;146;p1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47" name="Google Shape;147;p1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48" name="Google Shape;148;p1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" name="Google Shape;149;p1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16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6" name="Google Shape;156;p16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157" name="Google Shape;157;p16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58" name="Google Shape;158;p16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16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0" name="Google Shape;160;p16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61" name="Google Shape;161;p16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62" name="Google Shape;162;p16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63" name="Google Shape;163;p16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4" name="Google Shape;164;p16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16"/>
          <p:cNvSpPr txBox="1"/>
          <p:nvPr/>
        </p:nvSpPr>
        <p:spPr>
          <a:xfrm>
            <a:off x="6293296" y="622074"/>
            <a:ext cx="11880998" cy="819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5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Thông tin chung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16"/>
          <p:cNvGrpSpPr/>
          <p:nvPr/>
        </p:nvGrpSpPr>
        <p:grpSpPr>
          <a:xfrm>
            <a:off x="7007666" y="2894022"/>
            <a:ext cx="9756334" cy="1699733"/>
            <a:chOff x="7007666" y="2894022"/>
            <a:chExt cx="9756334" cy="1699733"/>
          </a:xfrm>
        </p:grpSpPr>
        <p:sp>
          <p:nvSpPr>
            <p:cNvPr id="167" name="Google Shape;167;p16"/>
            <p:cNvSpPr/>
            <p:nvPr/>
          </p:nvSpPr>
          <p:spPr>
            <a:xfrm>
              <a:off x="9677764" y="2894022"/>
              <a:ext cx="7086236" cy="1699733"/>
            </a:xfrm>
            <a:prstGeom prst="roundRect">
              <a:avLst>
                <a:gd fmla="val 16667" name="adj"/>
              </a:avLst>
            </a:prstGeom>
            <a:solidFill>
              <a:srgbClr val="4CB487"/>
            </a:solidFill>
            <a:ln cap="flat" cmpd="sng" w="25400">
              <a:solidFill>
                <a:srgbClr val="00BF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 phần – ngữ pháp và từ vựng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descr="List with solid fill" id="168" name="Google Shape;168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07666" y="2894022"/>
              <a:ext cx="1611038" cy="161103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" name="Google Shape;169;p16"/>
          <p:cNvGrpSpPr/>
          <p:nvPr/>
        </p:nvGrpSpPr>
        <p:grpSpPr>
          <a:xfrm>
            <a:off x="7337971" y="5237421"/>
            <a:ext cx="9426029" cy="1663867"/>
            <a:chOff x="7337971" y="5237421"/>
            <a:chExt cx="9426029" cy="1663867"/>
          </a:xfrm>
        </p:grpSpPr>
        <p:sp>
          <p:nvSpPr>
            <p:cNvPr id="170" name="Google Shape;170;p16"/>
            <p:cNvSpPr/>
            <p:nvPr/>
          </p:nvSpPr>
          <p:spPr>
            <a:xfrm>
              <a:off x="9673125" y="5237421"/>
              <a:ext cx="7090875" cy="1663867"/>
            </a:xfrm>
            <a:prstGeom prst="roundRect">
              <a:avLst>
                <a:gd fmla="val 16667" name="adj"/>
              </a:avLst>
            </a:prstGeom>
            <a:solidFill>
              <a:srgbClr val="02D06E"/>
            </a:solidFill>
            <a:ln cap="flat" cmpd="sng" w="25400">
              <a:solidFill>
                <a:srgbClr val="00BF6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-US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25 câu/ phần</a:t>
              </a:r>
              <a:endParaRPr b="1" i="0" sz="3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pic>
          <p:nvPicPr>
            <p:cNvPr descr="Pencil with solid fill" id="171" name="Google Shape;171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7971" y="5347592"/>
              <a:ext cx="1443524" cy="14435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16"/>
          <p:cNvGrpSpPr/>
          <p:nvPr/>
        </p:nvGrpSpPr>
        <p:grpSpPr>
          <a:xfrm>
            <a:off x="7337971" y="7542778"/>
            <a:ext cx="12905107" cy="1812183"/>
            <a:chOff x="7337971" y="7522317"/>
            <a:chExt cx="12905107" cy="1812183"/>
          </a:xfrm>
        </p:grpSpPr>
        <p:grpSp>
          <p:nvGrpSpPr>
            <p:cNvPr id="173" name="Google Shape;173;p16"/>
            <p:cNvGrpSpPr/>
            <p:nvPr/>
          </p:nvGrpSpPr>
          <p:grpSpPr>
            <a:xfrm>
              <a:off x="9673125" y="7562692"/>
              <a:ext cx="10569953" cy="1771808"/>
              <a:chOff x="9673125" y="7562692"/>
              <a:chExt cx="10569953" cy="1771808"/>
            </a:xfrm>
          </p:grpSpPr>
          <p:cxnSp>
            <p:nvCxnSpPr>
              <p:cNvPr id="174" name="Google Shape;174;p16"/>
              <p:cNvCxnSpPr/>
              <p:nvPr/>
            </p:nvCxnSpPr>
            <p:spPr>
              <a:xfrm>
                <a:off x="14939558" y="9274528"/>
                <a:ext cx="530352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75" name="Google Shape;175;p16"/>
              <p:cNvSpPr/>
              <p:nvPr/>
            </p:nvSpPr>
            <p:spPr>
              <a:xfrm>
                <a:off x="9673125" y="7562692"/>
                <a:ext cx="7090875" cy="1771808"/>
              </a:xfrm>
              <a:prstGeom prst="roundRect">
                <a:avLst>
                  <a:gd fmla="val 16667" name="adj"/>
                </a:avLst>
              </a:prstGeom>
              <a:solidFill>
                <a:srgbClr val="41774D"/>
              </a:solidFill>
              <a:ln cap="flat" cmpd="sng" w="25400">
                <a:solidFill>
                  <a:srgbClr val="01834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600"/>
                  <a:buFont typeface="Arial"/>
                  <a:buNone/>
                </a:pPr>
                <a:r>
                  <a:rPr b="1" i="0" lang="en-US" sz="3600" u="none" cap="none" strike="noStrike">
                    <a:solidFill>
                      <a:schemeClr val="lt1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Thời gian – 25 phút</a:t>
                </a:r>
                <a:endParaRPr b="1" i="0" sz="3600" u="none" cap="none" strike="noStrike">
                  <a:solidFill>
                    <a:schemeClr val="lt1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</p:txBody>
          </p:sp>
        </p:grpSp>
        <p:pic>
          <p:nvPicPr>
            <p:cNvPr descr="Bullseye with solid fill" id="176" name="Google Shape;176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337971" y="7522317"/>
              <a:ext cx="1611037" cy="1611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1" name="Google Shape;181;p17"/>
          <p:cNvCxnSpPr/>
          <p:nvPr/>
        </p:nvCxnSpPr>
        <p:spPr>
          <a:xfrm>
            <a:off x="6400799" y="2235185"/>
            <a:ext cx="9982201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17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" name="Google Shape;183;p17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184" name="Google Shape;184;p17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185" name="Google Shape;185;p1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186" name="Google Shape;186;p17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17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7"/>
          <p:cNvSpPr txBox="1"/>
          <p:nvPr/>
        </p:nvSpPr>
        <p:spPr>
          <a:xfrm>
            <a:off x="5511794" y="2502271"/>
            <a:ext cx="11760209" cy="149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7348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6600"/>
              <a:buFont typeface="Montserrat"/>
              <a:buNone/>
            </a:pPr>
            <a:r>
              <a:rPr b="1" i="0" lang="en-US" sz="6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Phần thi ngữ pháp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9601200" y="339710"/>
            <a:ext cx="2755633" cy="1837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12461"/>
              <a:buFont typeface="Montserrat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-10653311" y="9715322"/>
            <a:ext cx="13923203" cy="285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1993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76"/>
              <a:buFont typeface="Roboto"/>
              <a:buNone/>
            </a:pPr>
            <a:r>
              <a:rPr b="0" i="0" lang="en-US" sz="1876" u="none" cap="none" strike="noStrike">
                <a:solidFill>
                  <a:srgbClr val="FEFEFE"/>
                </a:solidFill>
                <a:latin typeface="Roboto"/>
                <a:ea typeface="Roboto"/>
                <a:cs typeface="Roboto"/>
                <a:sym typeface="Roboto"/>
              </a:rPr>
              <a:t>https://edulife.com.vn/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" name="Google Shape;191;p17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192" name="Google Shape;192;p17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193" name="Google Shape;193;p17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194" name="Google Shape;194;p17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" name="Google Shape;195;p17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Stressed Out Woman Cartoon Images – Browse 1,008 Stock Photos, Vectors, and  Video | Adobe Stock" id="196" name="Google Shape;19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0" y="4796123"/>
            <a:ext cx="7620000" cy="428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18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18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4" name="Google Shape;204;p18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05" name="Google Shape;205;p18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06" name="Google Shape;206;p18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18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8" name="Google Shape;208;p18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09" name="Google Shape;209;p18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10" name="Google Shape;210;p18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11" name="Google Shape;211;p18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2" name="Google Shape;212;p18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18"/>
          <p:cNvSpPr txBox="1"/>
          <p:nvPr/>
        </p:nvSpPr>
        <p:spPr>
          <a:xfrm>
            <a:off x="6293296" y="622074"/>
            <a:ext cx="11880998" cy="863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Phần thi ngữ pháp</a:t>
            </a:r>
            <a:endParaRPr b="1" i="0" sz="48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14" name="Google Shape;214;p18"/>
          <p:cNvGrpSpPr/>
          <p:nvPr/>
        </p:nvGrpSpPr>
        <p:grpSpPr>
          <a:xfrm>
            <a:off x="7810502" y="2279932"/>
            <a:ext cx="7889348" cy="6330318"/>
            <a:chOff x="7810502" y="2279932"/>
            <a:chExt cx="7889348" cy="6330318"/>
          </a:xfrm>
        </p:grpSpPr>
        <p:grpSp>
          <p:nvGrpSpPr>
            <p:cNvPr id="215" name="Google Shape;215;p18"/>
            <p:cNvGrpSpPr/>
            <p:nvPr/>
          </p:nvGrpSpPr>
          <p:grpSpPr>
            <a:xfrm>
              <a:off x="7810502" y="2279932"/>
              <a:ext cx="7889348" cy="6330318"/>
              <a:chOff x="695515" y="76899"/>
              <a:chExt cx="7889348" cy="6330318"/>
            </a:xfrm>
          </p:grpSpPr>
          <p:sp>
            <p:nvSpPr>
              <p:cNvPr id="216" name="Google Shape;216;p18"/>
              <p:cNvSpPr/>
              <p:nvPr/>
            </p:nvSpPr>
            <p:spPr>
              <a:xfrm>
                <a:off x="2991522" y="3659524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8"/>
              <p:cNvSpPr/>
              <p:nvPr/>
            </p:nvSpPr>
            <p:spPr>
              <a:xfrm>
                <a:off x="2791890" y="3979444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8"/>
              <p:cNvSpPr/>
              <p:nvPr/>
            </p:nvSpPr>
            <p:spPr>
              <a:xfrm>
                <a:off x="2553972" y="4256426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2838380" y="439758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18"/>
              <p:cNvSpPr/>
              <p:nvPr/>
            </p:nvSpPr>
            <p:spPr>
              <a:xfrm>
                <a:off x="3142841" y="258329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8"/>
              <p:cNvSpPr/>
              <p:nvPr/>
            </p:nvSpPr>
            <p:spPr>
              <a:xfrm>
                <a:off x="3446391" y="76899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8"/>
              <p:cNvSpPr/>
              <p:nvPr/>
            </p:nvSpPr>
            <p:spPr>
              <a:xfrm>
                <a:off x="3749941" y="258329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8"/>
              <p:cNvSpPr/>
              <p:nvPr/>
            </p:nvSpPr>
            <p:spPr>
              <a:xfrm>
                <a:off x="4054402" y="439758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8"/>
              <p:cNvSpPr/>
              <p:nvPr/>
            </p:nvSpPr>
            <p:spPr>
              <a:xfrm>
                <a:off x="3446391" y="459715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>
                <a:off x="3446391" y="842531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8"/>
              <p:cNvSpPr/>
              <p:nvPr/>
            </p:nvSpPr>
            <p:spPr>
              <a:xfrm>
                <a:off x="1592275" y="5088831"/>
                <a:ext cx="4915139" cy="1318386"/>
              </a:xfrm>
              <a:prstGeom prst="roundRect">
                <a:avLst>
                  <a:gd fmla="val 16667" name="adj"/>
                </a:avLst>
              </a:prstGeom>
              <a:solidFill>
                <a:srgbClr val="4CB487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8"/>
              <p:cNvSpPr txBox="1"/>
              <p:nvPr/>
            </p:nvSpPr>
            <p:spPr>
              <a:xfrm>
                <a:off x="1656633" y="5153189"/>
                <a:ext cx="4786423" cy="1189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82875" lIns="1040350" spcFirstLastPara="1" rIns="182875" wrap="square" tIns="18287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800"/>
                  <a:buFont typeface="Roboto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25 câu hỏi</a:t>
                </a:r>
                <a:endParaRPr b="1" i="0" sz="4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28" name="Google Shape;228;p18"/>
              <p:cNvSpPr/>
              <p:nvPr/>
            </p:nvSpPr>
            <p:spPr>
              <a:xfrm>
                <a:off x="695515" y="4108036"/>
                <a:ext cx="1676384" cy="1630492"/>
              </a:xfrm>
              <a:prstGeom prst="ellipse">
                <a:avLst/>
              </a:prstGeom>
              <a:solidFill>
                <a:srgbClr val="CEEADA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8"/>
              <p:cNvSpPr/>
              <p:nvPr/>
            </p:nvSpPr>
            <p:spPr>
              <a:xfrm>
                <a:off x="3669724" y="2510116"/>
                <a:ext cx="4915139" cy="1318386"/>
              </a:xfrm>
              <a:prstGeom prst="roundRect">
                <a:avLst>
                  <a:gd fmla="val 16667" name="adj"/>
                </a:avLst>
              </a:prstGeom>
              <a:solidFill>
                <a:srgbClr val="4CB487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8"/>
              <p:cNvSpPr txBox="1"/>
              <p:nvPr/>
            </p:nvSpPr>
            <p:spPr>
              <a:xfrm>
                <a:off x="3734082" y="2574474"/>
                <a:ext cx="4786423" cy="1189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82875" lIns="1040350" spcFirstLastPara="1" rIns="182875" wrap="square" tIns="18287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800"/>
                  <a:buFont typeface="Roboto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3 lựa chọn</a:t>
                </a:r>
                <a:endParaRPr b="1" i="0" sz="4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2564182" y="1520638"/>
                <a:ext cx="1764418" cy="1674153"/>
              </a:xfrm>
              <a:prstGeom prst="ellipse">
                <a:avLst/>
              </a:prstGeom>
              <a:solidFill>
                <a:srgbClr val="CEEADA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Bullseye with solid fill" id="232" name="Google Shape;232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77200" y="6515100"/>
              <a:ext cx="1219200" cy="12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ightbulb and gear with solid fill" id="233" name="Google Shape;233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001250" y="3943350"/>
              <a:ext cx="1200150" cy="1200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" name="Google Shape;239;p19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19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1" name="Google Shape;241;p19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42" name="Google Shape;242;p19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43" name="Google Shape;243;p19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9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5" name="Google Shape;245;p19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46" name="Google Shape;246;p19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47" name="Google Shape;247;p19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48" name="Google Shape;248;p19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" name="Google Shape;249;p19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9"/>
          <p:cNvSpPr txBox="1"/>
          <p:nvPr/>
        </p:nvSpPr>
        <p:spPr>
          <a:xfrm>
            <a:off x="6293296" y="622074"/>
            <a:ext cx="11880998" cy="863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Phần thi ngữ pháp</a:t>
            </a:r>
            <a:endParaRPr b="1" i="0" sz="48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1" name="Google Shape;251;p19"/>
          <p:cNvGrpSpPr/>
          <p:nvPr/>
        </p:nvGrpSpPr>
        <p:grpSpPr>
          <a:xfrm>
            <a:off x="7910168" y="3467174"/>
            <a:ext cx="9909107" cy="3963642"/>
            <a:chOff x="0" y="316878"/>
            <a:chExt cx="9909107" cy="3963642"/>
          </a:xfrm>
        </p:grpSpPr>
        <p:sp>
          <p:nvSpPr>
            <p:cNvPr id="252" name="Google Shape;252;p19"/>
            <p:cNvSpPr/>
            <p:nvPr/>
          </p:nvSpPr>
          <p:spPr>
            <a:xfrm>
              <a:off x="0" y="316878"/>
              <a:ext cx="9909107" cy="3963642"/>
            </a:xfrm>
            <a:custGeom>
              <a:rect b="b" l="l" r="r" t="t"/>
              <a:pathLst>
                <a:path extrusionOk="0" h="120000" w="120000">
                  <a:moveTo>
                    <a:pt x="0" y="50000"/>
                  </a:moveTo>
                  <a:lnTo>
                    <a:pt x="24000" y="0"/>
                  </a:lnTo>
                  <a:lnTo>
                    <a:pt x="24000" y="20000"/>
                  </a:lnTo>
                  <a:lnTo>
                    <a:pt x="60000" y="20000"/>
                  </a:lnTo>
                  <a:cubicBezTo>
                    <a:pt x="62071" y="20000"/>
                    <a:pt x="63750" y="22238"/>
                    <a:pt x="63750" y="25000"/>
                  </a:cubicBezTo>
                  <a:cubicBezTo>
                    <a:pt x="63750" y="27761"/>
                    <a:pt x="62071" y="30000"/>
                    <a:pt x="60000" y="30000"/>
                  </a:cubicBezTo>
                  <a:cubicBezTo>
                    <a:pt x="57929" y="30000"/>
                    <a:pt x="56250" y="32239"/>
                    <a:pt x="56250" y="35000"/>
                  </a:cubicBezTo>
                  <a:cubicBezTo>
                    <a:pt x="56250" y="37762"/>
                    <a:pt x="57929" y="40000"/>
                    <a:pt x="60000" y="40000"/>
                  </a:cubicBezTo>
                  <a:lnTo>
                    <a:pt x="96000" y="40000"/>
                  </a:lnTo>
                  <a:lnTo>
                    <a:pt x="96000" y="20000"/>
                  </a:lnTo>
                  <a:lnTo>
                    <a:pt x="120000" y="70000"/>
                  </a:lnTo>
                  <a:lnTo>
                    <a:pt x="96000" y="120000"/>
                  </a:lnTo>
                  <a:lnTo>
                    <a:pt x="96000" y="100000"/>
                  </a:lnTo>
                  <a:lnTo>
                    <a:pt x="60000" y="100000"/>
                  </a:lnTo>
                  <a:cubicBezTo>
                    <a:pt x="57929" y="100000"/>
                    <a:pt x="56250" y="97762"/>
                    <a:pt x="56250" y="95000"/>
                  </a:cubicBezTo>
                  <a:lnTo>
                    <a:pt x="56250" y="80000"/>
                  </a:lnTo>
                  <a:lnTo>
                    <a:pt x="24000" y="80000"/>
                  </a:lnTo>
                  <a:lnTo>
                    <a:pt x="24000" y="100000"/>
                  </a:lnTo>
                  <a:close/>
                </a:path>
                <a:path extrusionOk="0" fill="darkenLess" h="120000" w="120000">
                  <a:moveTo>
                    <a:pt x="63750" y="25000"/>
                  </a:moveTo>
                  <a:cubicBezTo>
                    <a:pt x="63750" y="27761"/>
                    <a:pt x="62071" y="30000"/>
                    <a:pt x="60000" y="30000"/>
                  </a:cubicBezTo>
                  <a:cubicBezTo>
                    <a:pt x="57929" y="30000"/>
                    <a:pt x="56250" y="32239"/>
                    <a:pt x="56250" y="35000"/>
                  </a:cubicBezTo>
                  <a:cubicBezTo>
                    <a:pt x="56250" y="37762"/>
                    <a:pt x="57929" y="40000"/>
                    <a:pt x="60000" y="40000"/>
                  </a:cubicBezTo>
                  <a:lnTo>
                    <a:pt x="63750" y="40000"/>
                  </a:lnTo>
                  <a:close/>
                </a:path>
                <a:path extrusionOk="0" fill="none" h="120000" w="120000">
                  <a:moveTo>
                    <a:pt x="0" y="50000"/>
                  </a:moveTo>
                  <a:lnTo>
                    <a:pt x="24000" y="0"/>
                  </a:lnTo>
                  <a:lnTo>
                    <a:pt x="24000" y="20000"/>
                  </a:lnTo>
                  <a:lnTo>
                    <a:pt x="60000" y="20000"/>
                  </a:lnTo>
                  <a:cubicBezTo>
                    <a:pt x="62071" y="20000"/>
                    <a:pt x="63750" y="22238"/>
                    <a:pt x="63750" y="25000"/>
                  </a:cubicBezTo>
                  <a:cubicBezTo>
                    <a:pt x="63750" y="27761"/>
                    <a:pt x="62071" y="30000"/>
                    <a:pt x="60000" y="30000"/>
                  </a:cubicBezTo>
                  <a:cubicBezTo>
                    <a:pt x="57929" y="30000"/>
                    <a:pt x="56250" y="32239"/>
                    <a:pt x="56250" y="35000"/>
                  </a:cubicBezTo>
                  <a:cubicBezTo>
                    <a:pt x="56250" y="37762"/>
                    <a:pt x="57929" y="40000"/>
                    <a:pt x="60000" y="40000"/>
                  </a:cubicBezTo>
                  <a:lnTo>
                    <a:pt x="96000" y="40000"/>
                  </a:lnTo>
                  <a:lnTo>
                    <a:pt x="96000" y="20000"/>
                  </a:lnTo>
                  <a:lnTo>
                    <a:pt x="120000" y="70000"/>
                  </a:lnTo>
                  <a:lnTo>
                    <a:pt x="96000" y="120000"/>
                  </a:lnTo>
                  <a:lnTo>
                    <a:pt x="96000" y="100000"/>
                  </a:lnTo>
                  <a:lnTo>
                    <a:pt x="60000" y="100000"/>
                  </a:lnTo>
                  <a:cubicBezTo>
                    <a:pt x="57929" y="100000"/>
                    <a:pt x="56250" y="97762"/>
                    <a:pt x="56250" y="95000"/>
                  </a:cubicBezTo>
                  <a:lnTo>
                    <a:pt x="56250" y="80000"/>
                  </a:lnTo>
                  <a:lnTo>
                    <a:pt x="24000" y="80000"/>
                  </a:lnTo>
                  <a:lnTo>
                    <a:pt x="24000" y="100000"/>
                  </a:lnTo>
                  <a:close/>
                  <a:moveTo>
                    <a:pt x="63750" y="25000"/>
                  </a:moveTo>
                  <a:lnTo>
                    <a:pt x="63750" y="40000"/>
                  </a:lnTo>
                  <a:moveTo>
                    <a:pt x="56250" y="35000"/>
                  </a:moveTo>
                  <a:lnTo>
                    <a:pt x="56250" y="80000"/>
                  </a:lnTo>
                </a:path>
              </a:pathLst>
            </a:custGeom>
            <a:solidFill>
              <a:srgbClr val="4CB487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1189092" y="1010516"/>
              <a:ext cx="3270005" cy="194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 txBox="1"/>
            <p:nvPr/>
          </p:nvSpPr>
          <p:spPr>
            <a:xfrm>
              <a:off x="1189092" y="1010516"/>
              <a:ext cx="3270005" cy="194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0" spcFirstLastPara="1" rIns="0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b="1" i="0" lang="en-US" sz="4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Ngữ pháp viết</a:t>
              </a:r>
              <a:endParaRPr b="1" i="0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9"/>
            <p:cNvSpPr/>
            <p:nvPr/>
          </p:nvSpPr>
          <p:spPr>
            <a:xfrm>
              <a:off x="4954553" y="1644698"/>
              <a:ext cx="3864551" cy="194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9"/>
            <p:cNvSpPr txBox="1"/>
            <p:nvPr/>
          </p:nvSpPr>
          <p:spPr>
            <a:xfrm>
              <a:off x="4954553" y="1644698"/>
              <a:ext cx="3864551" cy="194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400" lIns="0" spcFirstLastPara="1" rIns="0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000"/>
                <a:buFont typeface="Calibri"/>
                <a:buNone/>
              </a:pPr>
              <a:r>
                <a:rPr b="1" i="0" lang="en-US" sz="4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Ngữ pháp nói</a:t>
              </a:r>
              <a:endParaRPr b="1" i="0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20"/>
          <p:cNvCxnSpPr/>
          <p:nvPr/>
        </p:nvCxnSpPr>
        <p:spPr>
          <a:xfrm flipH="1" rot="10800000">
            <a:off x="3547906" y="1732952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20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4" name="Google Shape;264;p20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65" name="Google Shape;265;p2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66" name="Google Shape;266;p2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20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20"/>
          <p:cNvSpPr txBox="1"/>
          <p:nvPr/>
        </p:nvSpPr>
        <p:spPr>
          <a:xfrm>
            <a:off x="2910546" y="514834"/>
            <a:ext cx="11880998" cy="863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48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69" name="Google Shape;269;p20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70" name="Google Shape;270;p20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71" name="Google Shape;271;p20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72" name="Google Shape;272;p20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3" name="Google Shape;273;p20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4" name="Google Shape;274;p20"/>
          <p:cNvPicPr preferRelativeResize="0"/>
          <p:nvPr/>
        </p:nvPicPr>
        <p:blipFill rotWithShape="1">
          <a:blip r:embed="rId4">
            <a:alphaModFix/>
          </a:blip>
          <a:srcRect b="24491" l="0" r="0" t="0"/>
          <a:stretch/>
        </p:blipFill>
        <p:spPr>
          <a:xfrm>
            <a:off x="3388122" y="1983893"/>
            <a:ext cx="10963113" cy="7299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" name="Google Shape;280;p21"/>
          <p:cNvCxnSpPr/>
          <p:nvPr/>
        </p:nvCxnSpPr>
        <p:spPr>
          <a:xfrm flipH="1" rot="10800000">
            <a:off x="3547906" y="1732952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21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82" name="Google Shape;282;p21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283" name="Google Shape;283;p21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284" name="Google Shape;284;p21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21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21"/>
          <p:cNvSpPr txBox="1"/>
          <p:nvPr/>
        </p:nvSpPr>
        <p:spPr>
          <a:xfrm>
            <a:off x="2910546" y="514834"/>
            <a:ext cx="11880998" cy="863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</a:t>
            </a:r>
            <a:endParaRPr b="1" i="0" sz="48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87" name="Google Shape;287;p21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288" name="Google Shape;288;p21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289" name="Google Shape;289;p21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290" name="Google Shape;290;p21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1" name="Google Shape;291;p21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2" name="Google Shape;2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2185762"/>
            <a:ext cx="11582400" cy="694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22"/>
          <p:cNvCxnSpPr/>
          <p:nvPr/>
        </p:nvCxnSpPr>
        <p:spPr>
          <a:xfrm flipH="1" rot="10800000">
            <a:off x="7543801" y="1816517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9" name="Google Shape;299;p22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00" name="Google Shape;300;p22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01" name="Google Shape;301;p22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22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3" name="Google Shape;303;p22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04" name="Google Shape;304;p22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05" name="Google Shape;305;p22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06" name="Google Shape;306;p22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7" name="Google Shape;307;p22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22"/>
          <p:cNvSpPr txBox="1"/>
          <p:nvPr/>
        </p:nvSpPr>
        <p:spPr>
          <a:xfrm>
            <a:off x="6592847" y="660250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6000"/>
              <a:buFont typeface="Montserrat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8305800" y="2519409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Giữ bình tĩnh và tự tin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8328498" y="6370680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Sử dụng phương pháp loại trừ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8305800" y="4408395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Đọc kĩ câu hỏi và các đáp án lựa chọn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8391251" y="8248602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Không bỏ qua câu nào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7" name="Google Shape;317;p23"/>
          <p:cNvCxnSpPr/>
          <p:nvPr/>
        </p:nvCxnSpPr>
        <p:spPr>
          <a:xfrm>
            <a:off x="6172200" y="2355781"/>
            <a:ext cx="11650614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23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9" name="Google Shape;319;p23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320" name="Google Shape;320;p23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21" name="Google Shape;321;p23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322" name="Google Shape;322;p23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23"/>
          <p:cNvSpPr/>
          <p:nvPr/>
        </p:nvSpPr>
        <p:spPr>
          <a:xfrm>
            <a:off x="18157088" y="276119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4" name="Google Shape;324;p23"/>
          <p:cNvSpPr txBox="1"/>
          <p:nvPr/>
        </p:nvSpPr>
        <p:spPr>
          <a:xfrm>
            <a:off x="6683660" y="2761190"/>
            <a:ext cx="10303922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5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3"/>
              <a:buFont typeface="Arial"/>
              <a:buNone/>
            </a:pPr>
            <a:r>
              <a:rPr b="1" i="0" lang="en-US" sz="56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Phần thi Từ vựng</a:t>
            </a:r>
            <a:endParaRPr b="0" i="0" sz="5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 txBox="1"/>
          <p:nvPr/>
        </p:nvSpPr>
        <p:spPr>
          <a:xfrm>
            <a:off x="10896141" y="257407"/>
            <a:ext cx="2202732" cy="2301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61"/>
              <a:buFont typeface="Arial"/>
              <a:buNone/>
            </a:pPr>
            <a:r>
              <a:rPr b="1" i="0" lang="en-US" sz="12461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6" name="Google Shape;326;p23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27" name="Google Shape;327;p23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28" name="Google Shape;328;p23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29" name="Google Shape;329;p23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0" name="Google Shape;330;p23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1" name="Google Shape;3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5143500"/>
            <a:ext cx="5383242" cy="384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7" name="Google Shape;337;p24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24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9" name="Google Shape;339;p24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40" name="Google Shape;340;p24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41" name="Google Shape;341;p24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24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3" name="Google Shape;343;p24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44" name="Google Shape;344;p24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45" name="Google Shape;345;p24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46" name="Google Shape;346;p24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7" name="Google Shape;347;p24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24"/>
          <p:cNvSpPr txBox="1"/>
          <p:nvPr/>
        </p:nvSpPr>
        <p:spPr>
          <a:xfrm>
            <a:off x="6293296" y="622074"/>
            <a:ext cx="11880998" cy="863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Phần thi từ vựng</a:t>
            </a:r>
            <a:endParaRPr b="1" i="0" sz="48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49" name="Google Shape;349;p24"/>
          <p:cNvGrpSpPr/>
          <p:nvPr/>
        </p:nvGrpSpPr>
        <p:grpSpPr>
          <a:xfrm>
            <a:off x="7810502" y="2279932"/>
            <a:ext cx="7889348" cy="6330318"/>
            <a:chOff x="7810502" y="2279932"/>
            <a:chExt cx="7889348" cy="6330318"/>
          </a:xfrm>
        </p:grpSpPr>
        <p:grpSp>
          <p:nvGrpSpPr>
            <p:cNvPr id="350" name="Google Shape;350;p24"/>
            <p:cNvGrpSpPr/>
            <p:nvPr/>
          </p:nvGrpSpPr>
          <p:grpSpPr>
            <a:xfrm>
              <a:off x="7810502" y="2279932"/>
              <a:ext cx="7889348" cy="6330318"/>
              <a:chOff x="695515" y="76899"/>
              <a:chExt cx="7889348" cy="6330318"/>
            </a:xfrm>
          </p:grpSpPr>
          <p:sp>
            <p:nvSpPr>
              <p:cNvPr id="351" name="Google Shape;351;p24"/>
              <p:cNvSpPr/>
              <p:nvPr/>
            </p:nvSpPr>
            <p:spPr>
              <a:xfrm>
                <a:off x="2991522" y="3659524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24"/>
              <p:cNvSpPr/>
              <p:nvPr/>
            </p:nvSpPr>
            <p:spPr>
              <a:xfrm>
                <a:off x="2791890" y="3979444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24"/>
              <p:cNvSpPr/>
              <p:nvPr/>
            </p:nvSpPr>
            <p:spPr>
              <a:xfrm>
                <a:off x="2553972" y="4256426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2838380" y="439758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3142841" y="258329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24"/>
              <p:cNvSpPr/>
              <p:nvPr/>
            </p:nvSpPr>
            <p:spPr>
              <a:xfrm>
                <a:off x="3446391" y="76899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24"/>
              <p:cNvSpPr/>
              <p:nvPr/>
            </p:nvSpPr>
            <p:spPr>
              <a:xfrm>
                <a:off x="3749941" y="258329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24"/>
              <p:cNvSpPr/>
              <p:nvPr/>
            </p:nvSpPr>
            <p:spPr>
              <a:xfrm>
                <a:off x="4054402" y="439758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24"/>
              <p:cNvSpPr/>
              <p:nvPr/>
            </p:nvSpPr>
            <p:spPr>
              <a:xfrm>
                <a:off x="3446391" y="459715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3446391" y="842531"/>
                <a:ext cx="227890" cy="227890"/>
              </a:xfrm>
              <a:prstGeom prst="ellipse">
                <a:avLst/>
              </a:prstGeom>
              <a:solidFill>
                <a:srgbClr val="4CB487"/>
              </a:solidFill>
              <a:ln cap="flat" cmpd="sng" w="254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1592275" y="5088831"/>
                <a:ext cx="4915139" cy="1318386"/>
              </a:xfrm>
              <a:prstGeom prst="roundRect">
                <a:avLst>
                  <a:gd fmla="val 16667" name="adj"/>
                </a:avLst>
              </a:prstGeom>
              <a:solidFill>
                <a:srgbClr val="4CB487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24"/>
              <p:cNvSpPr txBox="1"/>
              <p:nvPr/>
            </p:nvSpPr>
            <p:spPr>
              <a:xfrm>
                <a:off x="1656633" y="5153189"/>
                <a:ext cx="4786423" cy="1189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82875" lIns="1040350" spcFirstLastPara="1" rIns="182875" wrap="square" tIns="18287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800"/>
                  <a:buFont typeface="Roboto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25 câu hỏi</a:t>
                </a:r>
                <a:endParaRPr b="1" i="0" sz="4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63" name="Google Shape;363;p24"/>
              <p:cNvSpPr/>
              <p:nvPr/>
            </p:nvSpPr>
            <p:spPr>
              <a:xfrm>
                <a:off x="695515" y="4108036"/>
                <a:ext cx="1676384" cy="1630492"/>
              </a:xfrm>
              <a:prstGeom prst="ellipse">
                <a:avLst/>
              </a:prstGeom>
              <a:solidFill>
                <a:srgbClr val="CEEADA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4"/>
              <p:cNvSpPr/>
              <p:nvPr/>
            </p:nvSpPr>
            <p:spPr>
              <a:xfrm>
                <a:off x="3669724" y="2510116"/>
                <a:ext cx="4915139" cy="1318386"/>
              </a:xfrm>
              <a:prstGeom prst="roundRect">
                <a:avLst>
                  <a:gd fmla="val 16667" name="adj"/>
                </a:avLst>
              </a:prstGeom>
              <a:solidFill>
                <a:srgbClr val="4CB487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24"/>
              <p:cNvSpPr txBox="1"/>
              <p:nvPr/>
            </p:nvSpPr>
            <p:spPr>
              <a:xfrm>
                <a:off x="3734082" y="2574474"/>
                <a:ext cx="4786423" cy="1189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82875" lIns="1040350" spcFirstLastPara="1" rIns="182875" wrap="square" tIns="182875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4800"/>
                  <a:buFont typeface="Roboto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Roboto"/>
                    <a:ea typeface="Roboto"/>
                    <a:cs typeface="Roboto"/>
                    <a:sym typeface="Roboto"/>
                  </a:rPr>
                  <a:t>4 phần</a:t>
                </a:r>
                <a:endParaRPr b="1" i="0" sz="4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366" name="Google Shape;366;p24"/>
              <p:cNvSpPr/>
              <p:nvPr/>
            </p:nvSpPr>
            <p:spPr>
              <a:xfrm>
                <a:off x="2564182" y="1520638"/>
                <a:ext cx="1764418" cy="1674153"/>
              </a:xfrm>
              <a:prstGeom prst="ellipse">
                <a:avLst/>
              </a:prstGeom>
              <a:solidFill>
                <a:srgbClr val="CEEADA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7647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Bullseye with solid fill" id="367" name="Google Shape;36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77200" y="6515100"/>
              <a:ext cx="1219200" cy="12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ightbulb and gear with solid fill" id="368" name="Google Shape;36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001250" y="3943350"/>
              <a:ext cx="1200150" cy="12001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25"/>
          <p:cNvCxnSpPr/>
          <p:nvPr/>
        </p:nvCxnSpPr>
        <p:spPr>
          <a:xfrm flipH="1" rot="10800000">
            <a:off x="7543801" y="1599849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5" name="Google Shape;375;p25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376" name="Google Shape;376;p25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377" name="Google Shape;377;p25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" name="Google Shape;378;p25"/>
          <p:cNvSpPr/>
          <p:nvPr/>
        </p:nvSpPr>
        <p:spPr>
          <a:xfrm>
            <a:off x="18099269" y="1593879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9" name="Google Shape;379;p25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380" name="Google Shape;380;p25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381" name="Google Shape;381;p25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382" name="Google Shape;382;p25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3" name="Google Shape;383;p25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4" name="Google Shape;384;p25"/>
          <p:cNvSpPr txBox="1"/>
          <p:nvPr/>
        </p:nvSpPr>
        <p:spPr>
          <a:xfrm>
            <a:off x="6304645" y="24604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Thông tin chung</a:t>
            </a:r>
            <a:endParaRPr b="1" i="0" sz="48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676776" y="1918565"/>
            <a:ext cx="12192000" cy="812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25"/>
          <p:cNvGrpSpPr/>
          <p:nvPr/>
        </p:nvGrpSpPr>
        <p:grpSpPr>
          <a:xfrm>
            <a:off x="9746215" y="1922436"/>
            <a:ext cx="2070597" cy="3022664"/>
            <a:chOff x="9746215" y="1922436"/>
            <a:chExt cx="2070597" cy="3022664"/>
          </a:xfrm>
        </p:grpSpPr>
        <p:sp>
          <p:nvSpPr>
            <p:cNvPr id="387" name="Google Shape;387;p25"/>
            <p:cNvSpPr/>
            <p:nvPr/>
          </p:nvSpPr>
          <p:spPr>
            <a:xfrm rot="-3683489">
              <a:off x="9372293" y="4249861"/>
              <a:ext cx="1509380" cy="44208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88" name="Google Shape;388;p25"/>
            <p:cNvSpPr/>
            <p:nvPr/>
          </p:nvSpPr>
          <p:spPr>
            <a:xfrm>
              <a:off x="10020159" y="1922436"/>
              <a:ext cx="1796653" cy="1796653"/>
            </a:xfrm>
            <a:custGeom>
              <a:rect b="b" l="l" r="r" t="t"/>
              <a:pathLst>
                <a:path extrusionOk="0" h="1796653" w="1796653">
                  <a:moveTo>
                    <a:pt x="0" y="898327"/>
                  </a:moveTo>
                  <a:cubicBezTo>
                    <a:pt x="0" y="402195"/>
                    <a:pt x="402195" y="0"/>
                    <a:pt x="898327" y="0"/>
                  </a:cubicBezTo>
                  <a:cubicBezTo>
                    <a:pt x="1394459" y="0"/>
                    <a:pt x="1796654" y="402195"/>
                    <a:pt x="1796654" y="898327"/>
                  </a:cubicBezTo>
                  <a:cubicBezTo>
                    <a:pt x="1796654" y="1394459"/>
                    <a:pt x="1394459" y="1796654"/>
                    <a:pt x="898327" y="1796654"/>
                  </a:cubicBezTo>
                  <a:cubicBezTo>
                    <a:pt x="402195" y="1796654"/>
                    <a:pt x="0" y="1394459"/>
                    <a:pt x="0" y="898327"/>
                  </a:cubicBezTo>
                  <a:close/>
                </a:path>
              </a:pathLst>
            </a:cu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283425" lIns="283425" spcFirstLastPara="1" rIns="283425" wrap="square" tIns="283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Dạng 1</a:t>
              </a:r>
              <a:endParaRPr/>
            </a:p>
          </p:txBody>
        </p:sp>
      </p:grpSp>
      <p:sp>
        <p:nvSpPr>
          <p:cNvPr id="389" name="Google Shape;389;p25"/>
          <p:cNvSpPr/>
          <p:nvPr/>
        </p:nvSpPr>
        <p:spPr>
          <a:xfrm>
            <a:off x="11996477" y="1922436"/>
            <a:ext cx="2134513" cy="1796653"/>
          </a:xfrm>
          <a:custGeom>
            <a:rect b="b" l="l" r="r" t="t"/>
            <a:pathLst>
              <a:path extrusionOk="0" h="1796653" w="2694979">
                <a:moveTo>
                  <a:pt x="0" y="0"/>
                </a:moveTo>
                <a:lnTo>
                  <a:pt x="2694979" y="0"/>
                </a:lnTo>
                <a:lnTo>
                  <a:pt x="2694979" y="1796653"/>
                </a:lnTo>
                <a:lnTo>
                  <a:pt x="0" y="179665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Nối từ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25"/>
          <p:cNvGrpSpPr/>
          <p:nvPr/>
        </p:nvGrpSpPr>
        <p:grpSpPr>
          <a:xfrm>
            <a:off x="10233816" y="3926938"/>
            <a:ext cx="2740296" cy="1796653"/>
            <a:chOff x="10233816" y="3926938"/>
            <a:chExt cx="2740296" cy="1796653"/>
          </a:xfrm>
        </p:grpSpPr>
        <p:sp>
          <p:nvSpPr>
            <p:cNvPr id="391" name="Google Shape;391;p25"/>
            <p:cNvSpPr/>
            <p:nvPr/>
          </p:nvSpPr>
          <p:spPr>
            <a:xfrm rot="-1312800">
              <a:off x="10203236" y="5338753"/>
              <a:ext cx="1077749" cy="44208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92" name="Google Shape;392;p25"/>
            <p:cNvSpPr/>
            <p:nvPr/>
          </p:nvSpPr>
          <p:spPr>
            <a:xfrm>
              <a:off x="11177459" y="3926938"/>
              <a:ext cx="1796653" cy="1796653"/>
            </a:xfrm>
            <a:custGeom>
              <a:rect b="b" l="l" r="r" t="t"/>
              <a:pathLst>
                <a:path extrusionOk="0" h="1796653" w="1796653">
                  <a:moveTo>
                    <a:pt x="0" y="898327"/>
                  </a:moveTo>
                  <a:cubicBezTo>
                    <a:pt x="0" y="402195"/>
                    <a:pt x="402195" y="0"/>
                    <a:pt x="898327" y="0"/>
                  </a:cubicBezTo>
                  <a:cubicBezTo>
                    <a:pt x="1394459" y="0"/>
                    <a:pt x="1796654" y="402195"/>
                    <a:pt x="1796654" y="898327"/>
                  </a:cubicBezTo>
                  <a:cubicBezTo>
                    <a:pt x="1796654" y="1394459"/>
                    <a:pt x="1394459" y="1796654"/>
                    <a:pt x="898327" y="1796654"/>
                  </a:cubicBezTo>
                  <a:cubicBezTo>
                    <a:pt x="402195" y="1796654"/>
                    <a:pt x="0" y="1394459"/>
                    <a:pt x="0" y="898327"/>
                  </a:cubicBezTo>
                  <a:close/>
                </a:path>
              </a:pathLst>
            </a:cu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283425" lIns="283425" spcFirstLastPara="1" rIns="283425" wrap="square" tIns="283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Dạng 2</a:t>
              </a:r>
              <a:endParaRPr/>
            </a:p>
          </p:txBody>
        </p:sp>
      </p:grpSp>
      <p:sp>
        <p:nvSpPr>
          <p:cNvPr id="393" name="Google Shape;393;p25"/>
          <p:cNvSpPr/>
          <p:nvPr/>
        </p:nvSpPr>
        <p:spPr>
          <a:xfrm>
            <a:off x="13250633" y="3947371"/>
            <a:ext cx="2962399" cy="1796653"/>
          </a:xfrm>
          <a:custGeom>
            <a:rect b="b" l="l" r="r" t="t"/>
            <a:pathLst>
              <a:path extrusionOk="0" h="1796653" w="2694979">
                <a:moveTo>
                  <a:pt x="0" y="0"/>
                </a:moveTo>
                <a:lnTo>
                  <a:pt x="2694979" y="0"/>
                </a:lnTo>
                <a:lnTo>
                  <a:pt x="2694979" y="1796653"/>
                </a:lnTo>
                <a:lnTo>
                  <a:pt x="0" y="179665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Định nghĩa từ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4" name="Google Shape;394;p25"/>
          <p:cNvGrpSpPr/>
          <p:nvPr/>
        </p:nvGrpSpPr>
        <p:grpSpPr>
          <a:xfrm>
            <a:off x="10233816" y="6241538"/>
            <a:ext cx="2740296" cy="1796653"/>
            <a:chOff x="10233816" y="6241538"/>
            <a:chExt cx="2740296" cy="1796653"/>
          </a:xfrm>
        </p:grpSpPr>
        <p:sp>
          <p:nvSpPr>
            <p:cNvPr id="395" name="Google Shape;395;p25"/>
            <p:cNvSpPr/>
            <p:nvPr/>
          </p:nvSpPr>
          <p:spPr>
            <a:xfrm rot="1312800">
              <a:off x="10203236" y="6582167"/>
              <a:ext cx="1077749" cy="44208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396" name="Google Shape;396;p25"/>
            <p:cNvSpPr/>
            <p:nvPr/>
          </p:nvSpPr>
          <p:spPr>
            <a:xfrm>
              <a:off x="11177459" y="6241538"/>
              <a:ext cx="1796653" cy="1796653"/>
            </a:xfrm>
            <a:custGeom>
              <a:rect b="b" l="l" r="r" t="t"/>
              <a:pathLst>
                <a:path extrusionOk="0" h="1796653" w="1796653">
                  <a:moveTo>
                    <a:pt x="0" y="898327"/>
                  </a:moveTo>
                  <a:cubicBezTo>
                    <a:pt x="0" y="402195"/>
                    <a:pt x="402195" y="0"/>
                    <a:pt x="898327" y="0"/>
                  </a:cubicBezTo>
                  <a:cubicBezTo>
                    <a:pt x="1394459" y="0"/>
                    <a:pt x="1796654" y="402195"/>
                    <a:pt x="1796654" y="898327"/>
                  </a:cubicBezTo>
                  <a:cubicBezTo>
                    <a:pt x="1796654" y="1394459"/>
                    <a:pt x="1394459" y="1796654"/>
                    <a:pt x="898327" y="1796654"/>
                  </a:cubicBezTo>
                  <a:cubicBezTo>
                    <a:pt x="402195" y="1796654"/>
                    <a:pt x="0" y="1394459"/>
                    <a:pt x="0" y="898327"/>
                  </a:cubicBezTo>
                  <a:close/>
                </a:path>
              </a:pathLst>
            </a:cu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283425" lIns="283425" spcFirstLastPara="1" rIns="283425" wrap="square" tIns="283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Dạng 3</a:t>
              </a:r>
              <a:endParaRPr b="1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7" name="Google Shape;397;p25"/>
          <p:cNvSpPr/>
          <p:nvPr/>
        </p:nvSpPr>
        <p:spPr>
          <a:xfrm>
            <a:off x="13268201" y="6241538"/>
            <a:ext cx="2962399" cy="1796653"/>
          </a:xfrm>
          <a:custGeom>
            <a:rect b="b" l="l" r="r" t="t"/>
            <a:pathLst>
              <a:path extrusionOk="0" h="1796653" w="2694979">
                <a:moveTo>
                  <a:pt x="0" y="0"/>
                </a:moveTo>
                <a:lnTo>
                  <a:pt x="2694979" y="0"/>
                </a:lnTo>
                <a:lnTo>
                  <a:pt x="2694979" y="1796653"/>
                </a:lnTo>
                <a:lnTo>
                  <a:pt x="0" y="1796653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Sử dụng từ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8" name="Google Shape;398;p25"/>
          <p:cNvGrpSpPr/>
          <p:nvPr/>
        </p:nvGrpSpPr>
        <p:grpSpPr>
          <a:xfrm>
            <a:off x="9746215" y="7020028"/>
            <a:ext cx="2070597" cy="3022665"/>
            <a:chOff x="9746215" y="7020028"/>
            <a:chExt cx="2070597" cy="3022665"/>
          </a:xfrm>
        </p:grpSpPr>
        <p:sp>
          <p:nvSpPr>
            <p:cNvPr id="399" name="Google Shape;399;p25"/>
            <p:cNvSpPr/>
            <p:nvPr/>
          </p:nvSpPr>
          <p:spPr>
            <a:xfrm rot="3683489">
              <a:off x="9372293" y="7671059"/>
              <a:ext cx="1509380" cy="44208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400" name="Google Shape;400;p25"/>
            <p:cNvSpPr/>
            <p:nvPr/>
          </p:nvSpPr>
          <p:spPr>
            <a:xfrm>
              <a:off x="10020159" y="8246040"/>
              <a:ext cx="1796653" cy="1796653"/>
            </a:xfrm>
            <a:custGeom>
              <a:rect b="b" l="l" r="r" t="t"/>
              <a:pathLst>
                <a:path extrusionOk="0" h="1796653" w="1796653">
                  <a:moveTo>
                    <a:pt x="0" y="898327"/>
                  </a:moveTo>
                  <a:cubicBezTo>
                    <a:pt x="0" y="402195"/>
                    <a:pt x="402195" y="0"/>
                    <a:pt x="898327" y="0"/>
                  </a:cubicBezTo>
                  <a:cubicBezTo>
                    <a:pt x="1394459" y="0"/>
                    <a:pt x="1796654" y="402195"/>
                    <a:pt x="1796654" y="898327"/>
                  </a:cubicBezTo>
                  <a:cubicBezTo>
                    <a:pt x="1796654" y="1394459"/>
                    <a:pt x="1394459" y="1796654"/>
                    <a:pt x="898327" y="1796654"/>
                  </a:cubicBezTo>
                  <a:cubicBezTo>
                    <a:pt x="402195" y="1796654"/>
                    <a:pt x="0" y="1394459"/>
                    <a:pt x="0" y="898327"/>
                  </a:cubicBezTo>
                  <a:close/>
                </a:path>
              </a:pathLst>
            </a:cu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283425" lIns="283425" spcFirstLastPara="1" rIns="283425" wrap="square" tIns="283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0"/>
                <a:buFont typeface="Calibri"/>
                <a:buNone/>
              </a:pPr>
              <a:r>
                <a:rPr b="1" i="0" lang="en-US" sz="3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Dạng 4</a:t>
              </a:r>
              <a:endParaRPr b="1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p25"/>
          <p:cNvSpPr/>
          <p:nvPr/>
        </p:nvSpPr>
        <p:spPr>
          <a:xfrm>
            <a:off x="11996477" y="8246040"/>
            <a:ext cx="4839241" cy="1796653"/>
          </a:xfrm>
          <a:custGeom>
            <a:rect b="b" l="l" r="r" t="t"/>
            <a:pathLst>
              <a:path extrusionOk="0" h="1796653" w="2694979">
                <a:moveTo>
                  <a:pt x="0" y="0"/>
                </a:moveTo>
                <a:lnTo>
                  <a:pt x="2694979" y="0"/>
                </a:lnTo>
                <a:lnTo>
                  <a:pt x="2694979" y="1796653"/>
                </a:lnTo>
                <a:lnTo>
                  <a:pt x="0" y="179665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Tìm cặp từ hay tổ hợp từ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p25"/>
          <p:cNvGrpSpPr/>
          <p:nvPr/>
        </p:nvGrpSpPr>
        <p:grpSpPr>
          <a:xfrm>
            <a:off x="7341267" y="4401390"/>
            <a:ext cx="2994421" cy="2994421"/>
            <a:chOff x="7341267" y="4616538"/>
            <a:chExt cx="2994421" cy="2994421"/>
          </a:xfrm>
        </p:grpSpPr>
        <p:sp>
          <p:nvSpPr>
            <p:cNvPr id="403" name="Google Shape;403;p25"/>
            <p:cNvSpPr/>
            <p:nvPr/>
          </p:nvSpPr>
          <p:spPr>
            <a:xfrm>
              <a:off x="7341267" y="4616538"/>
              <a:ext cx="2994421" cy="2994421"/>
            </a:xfrm>
            <a:prstGeom prst="ellipse">
              <a:avLst/>
            </a:prstGeom>
            <a:solidFill>
              <a:srgbClr val="00A24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4" name="Google Shape;404;p25"/>
            <p:cNvGrpSpPr/>
            <p:nvPr/>
          </p:nvGrpSpPr>
          <p:grpSpPr>
            <a:xfrm>
              <a:off x="7746318" y="4938790"/>
              <a:ext cx="1999897" cy="1999897"/>
              <a:chOff x="8367600" y="3517596"/>
              <a:chExt cx="1999897" cy="1999897"/>
            </a:xfrm>
          </p:grpSpPr>
          <p:pic>
            <p:nvPicPr>
              <p:cNvPr descr="Clipboard with solid fill" id="405" name="Google Shape;405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8367600" y="3517596"/>
                <a:ext cx="1999897" cy="199989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encil with solid fill" id="406" name="Google Shape;406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9319010" y="4156090"/>
                <a:ext cx="1048487" cy="10484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26"/>
          <p:cNvCxnSpPr/>
          <p:nvPr/>
        </p:nvCxnSpPr>
        <p:spPr>
          <a:xfrm flipH="1" rot="10800000">
            <a:off x="3996362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3" name="Google Shape;413;p26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14" name="Google Shape;414;p26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15" name="Google Shape;415;p26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26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7" name="Google Shape;417;p26"/>
          <p:cNvSpPr txBox="1"/>
          <p:nvPr/>
        </p:nvSpPr>
        <p:spPr>
          <a:xfrm>
            <a:off x="3359002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 – Nối từ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8" name="Google Shape;418;p26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19" name="Google Shape;419;p26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20" name="Google Shape;420;p26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21" name="Google Shape;421;p26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22" name="Google Shape;422;p26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3" name="Google Shape;4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1981" y="2019301"/>
            <a:ext cx="12963525" cy="664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9" name="Google Shape;429;p27"/>
          <p:cNvCxnSpPr/>
          <p:nvPr/>
        </p:nvCxnSpPr>
        <p:spPr>
          <a:xfrm flipH="1" rot="10800000">
            <a:off x="3996362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0" name="Google Shape;430;p27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31" name="Google Shape;431;p27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32" name="Google Shape;432;p27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3" name="Google Shape;433;p27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4" name="Google Shape;434;p27"/>
          <p:cNvSpPr txBox="1"/>
          <p:nvPr/>
        </p:nvSpPr>
        <p:spPr>
          <a:xfrm>
            <a:off x="3359002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 – Định nghĩa từ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5" name="Google Shape;435;p27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36" name="Google Shape;436;p27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37" name="Google Shape;437;p27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38" name="Google Shape;438;p27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9" name="Google Shape;439;p27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40" name="Google Shape;44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0705" y="1926873"/>
            <a:ext cx="12934950" cy="67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6" name="Google Shape;446;p28"/>
          <p:cNvCxnSpPr/>
          <p:nvPr/>
        </p:nvCxnSpPr>
        <p:spPr>
          <a:xfrm flipH="1" rot="10800000">
            <a:off x="3996362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7" name="Google Shape;447;p28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48" name="Google Shape;448;p28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49" name="Google Shape;449;p28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0" name="Google Shape;450;p28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1" name="Google Shape;451;p28"/>
          <p:cNvSpPr txBox="1"/>
          <p:nvPr/>
        </p:nvSpPr>
        <p:spPr>
          <a:xfrm>
            <a:off x="3359002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 – Sử dụng từ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2" name="Google Shape;452;p28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53" name="Google Shape;453;p28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54" name="Google Shape;454;p28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55" name="Google Shape;455;p28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6" name="Google Shape;456;p28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57" name="Google Shape;45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0705" y="2144032"/>
            <a:ext cx="12934950" cy="66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3" name="Google Shape;463;p29"/>
          <p:cNvCxnSpPr/>
          <p:nvPr/>
        </p:nvCxnSpPr>
        <p:spPr>
          <a:xfrm flipH="1" rot="10800000">
            <a:off x="3996362" y="1619250"/>
            <a:ext cx="11243637" cy="1905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4" name="Google Shape;464;p29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65" name="Google Shape;465;p29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66" name="Google Shape;466;p29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p29"/>
          <p:cNvSpPr/>
          <p:nvPr/>
        </p:nvSpPr>
        <p:spPr>
          <a:xfrm>
            <a:off x="18978732" y="174137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29"/>
          <p:cNvSpPr txBox="1"/>
          <p:nvPr/>
        </p:nvSpPr>
        <p:spPr>
          <a:xfrm>
            <a:off x="3587602" y="401132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791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4800"/>
              <a:buFont typeface="Montserrat"/>
              <a:buNone/>
            </a:pPr>
            <a:r>
              <a:rPr b="1" i="0" lang="en-US" sz="48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Đề mẫu – Tìm cặp từ hay tổ hợp từ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9" name="Google Shape;469;p29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70" name="Google Shape;470;p29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71" name="Google Shape;471;p29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72" name="Google Shape;472;p29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3" name="Google Shape;473;p29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4" name="Google Shape;47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6338" y="1834633"/>
            <a:ext cx="12963525" cy="67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0" name="Google Shape;480;p30"/>
          <p:cNvCxnSpPr/>
          <p:nvPr/>
        </p:nvCxnSpPr>
        <p:spPr>
          <a:xfrm flipH="1" rot="10800000">
            <a:off x="7543801" y="1816517"/>
            <a:ext cx="9909107" cy="50383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1" name="Google Shape;481;p30"/>
          <p:cNvGrpSpPr/>
          <p:nvPr/>
        </p:nvGrpSpPr>
        <p:grpSpPr>
          <a:xfrm rot="10800000">
            <a:off x="15785091" y="-536942"/>
            <a:ext cx="7681766" cy="4260610"/>
            <a:chOff x="0" y="-38100"/>
            <a:chExt cx="406400" cy="225405"/>
          </a:xfrm>
        </p:grpSpPr>
        <p:sp>
          <p:nvSpPr>
            <p:cNvPr id="482" name="Google Shape;482;p30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483" name="Google Shape;483;p30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4" name="Google Shape;484;p30"/>
          <p:cNvSpPr/>
          <p:nvPr/>
        </p:nvSpPr>
        <p:spPr>
          <a:xfrm>
            <a:off x="18099269" y="1809027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5" name="Google Shape;485;p30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486" name="Google Shape;486;p30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487" name="Google Shape;487;p30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488" name="Google Shape;488;p30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9" name="Google Shape;489;p30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0" name="Google Shape;490;p30"/>
          <p:cNvSpPr txBox="1"/>
          <p:nvPr/>
        </p:nvSpPr>
        <p:spPr>
          <a:xfrm>
            <a:off x="6592847" y="660250"/>
            <a:ext cx="11880998" cy="1144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3833"/>
              </a:lnSpc>
              <a:spcBef>
                <a:spcPts val="0"/>
              </a:spcBef>
              <a:spcAft>
                <a:spcPts val="0"/>
              </a:spcAft>
              <a:buClr>
                <a:srgbClr val="018345"/>
              </a:buClr>
              <a:buSzPts val="6000"/>
              <a:buFont typeface="Montserrat"/>
              <a:buNone/>
            </a:pPr>
            <a:r>
              <a:rPr b="1" i="0" lang="en-US" sz="6000" u="none" cap="none" strike="noStrike">
                <a:solidFill>
                  <a:srgbClr val="018345"/>
                </a:solidFill>
                <a:latin typeface="Montserrat"/>
                <a:ea typeface="Montserrat"/>
                <a:cs typeface="Montserrat"/>
                <a:sym typeface="Montserrat"/>
              </a:rPr>
              <a:t>Lưu ý khi làm bài</a:t>
            </a:r>
            <a:endParaRPr b="1" i="0" sz="6000" u="none" cap="none" strike="noStrike">
              <a:solidFill>
                <a:srgbClr val="01834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30"/>
          <p:cNvSpPr/>
          <p:nvPr/>
        </p:nvSpPr>
        <p:spPr>
          <a:xfrm>
            <a:off x="8305800" y="2519409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Đọc kĩ đề bài, câu hỏi và các đáp án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0"/>
          <p:cNvSpPr/>
          <p:nvPr/>
        </p:nvSpPr>
        <p:spPr>
          <a:xfrm>
            <a:off x="8328498" y="6370680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Loại bỏ các đáp án đã chọn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0"/>
          <p:cNvSpPr/>
          <p:nvPr/>
        </p:nvSpPr>
        <p:spPr>
          <a:xfrm>
            <a:off x="8305800" y="4408395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Câu nào dễ làm trước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0"/>
          <p:cNvSpPr/>
          <p:nvPr/>
        </p:nvSpPr>
        <p:spPr>
          <a:xfrm>
            <a:off x="8391251" y="8248602"/>
            <a:ext cx="8915400" cy="1378148"/>
          </a:xfrm>
          <a:prstGeom prst="roundRect">
            <a:avLst>
              <a:gd fmla="val 16667" name="adj"/>
            </a:avLst>
          </a:prstGeom>
          <a:solidFill>
            <a:srgbClr val="CEEADA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4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Không bỏ qua câu nào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0" name="Google Shape;500;p31"/>
          <p:cNvCxnSpPr/>
          <p:nvPr/>
        </p:nvCxnSpPr>
        <p:spPr>
          <a:xfrm>
            <a:off x="5693855" y="2057171"/>
            <a:ext cx="11307428" cy="0"/>
          </a:xfrm>
          <a:prstGeom prst="straightConnector1">
            <a:avLst/>
          </a:prstGeom>
          <a:noFill/>
          <a:ln cap="flat" cmpd="sng" w="38100">
            <a:solidFill>
              <a:srgbClr val="0183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31"/>
          <p:cNvCxnSpPr/>
          <p:nvPr/>
        </p:nvCxnSpPr>
        <p:spPr>
          <a:xfrm>
            <a:off x="-249883" y="5124450"/>
            <a:ext cx="530352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2" name="Google Shape;502;p31"/>
          <p:cNvGrpSpPr/>
          <p:nvPr/>
        </p:nvGrpSpPr>
        <p:grpSpPr>
          <a:xfrm rot="10800000">
            <a:off x="15044552" y="-741521"/>
            <a:ext cx="7681766" cy="4260610"/>
            <a:chOff x="0" y="-38100"/>
            <a:chExt cx="406400" cy="225405"/>
          </a:xfrm>
        </p:grpSpPr>
        <p:sp>
          <p:nvSpPr>
            <p:cNvPr id="503" name="Google Shape;503;p31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345">
                <a:alpha val="80000"/>
              </a:srgbClr>
            </a:solidFill>
            <a:ln>
              <a:noFill/>
            </a:ln>
          </p:spPr>
        </p:sp>
        <p:sp>
          <p:nvSpPr>
            <p:cNvPr id="504" name="Google Shape;504;p31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Books with solid fill" id="505" name="Google Shape;505;p31"/>
          <p:cNvSpPr/>
          <p:nvPr/>
        </p:nvSpPr>
        <p:spPr>
          <a:xfrm>
            <a:off x="3241317" y="6937835"/>
            <a:ext cx="796998" cy="796998"/>
          </a:xfrm>
          <a:custGeom>
            <a:rect b="b" l="l" r="r" t="t"/>
            <a:pathLst>
              <a:path extrusionOk="0" h="796998" w="796998">
                <a:moveTo>
                  <a:pt x="0" y="0"/>
                </a:moveTo>
                <a:lnTo>
                  <a:pt x="796998" y="0"/>
                </a:lnTo>
                <a:lnTo>
                  <a:pt x="796998" y="796998"/>
                </a:lnTo>
                <a:lnTo>
                  <a:pt x="0" y="79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6" name="Google Shape;506;p31"/>
          <p:cNvSpPr/>
          <p:nvPr/>
        </p:nvSpPr>
        <p:spPr>
          <a:xfrm>
            <a:off x="18157088" y="1714500"/>
            <a:ext cx="647242" cy="647242"/>
          </a:xfrm>
          <a:custGeom>
            <a:rect b="b" l="l" r="r" t="t"/>
            <a:pathLst>
              <a:path extrusionOk="0" h="647242" w="647242">
                <a:moveTo>
                  <a:pt x="0" y="0"/>
                </a:moveTo>
                <a:lnTo>
                  <a:pt x="647242" y="0"/>
                </a:lnTo>
                <a:lnTo>
                  <a:pt x="647242" y="647242"/>
                </a:lnTo>
                <a:lnTo>
                  <a:pt x="0" y="647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7" name="Google Shape;507;p31"/>
          <p:cNvGrpSpPr/>
          <p:nvPr/>
        </p:nvGrpSpPr>
        <p:grpSpPr>
          <a:xfrm rot="10800000">
            <a:off x="15828686" y="-13843"/>
            <a:ext cx="7681766" cy="4260610"/>
            <a:chOff x="0" y="-38100"/>
            <a:chExt cx="406400" cy="225405"/>
          </a:xfrm>
        </p:grpSpPr>
        <p:sp>
          <p:nvSpPr>
            <p:cNvPr id="508" name="Google Shape;508;p31"/>
            <p:cNvSpPr/>
            <p:nvPr/>
          </p:nvSpPr>
          <p:spPr>
            <a:xfrm>
              <a:off x="0" y="0"/>
              <a:ext cx="406400" cy="187305"/>
            </a:xfrm>
            <a:custGeom>
              <a:rect b="b" l="l" r="r" t="t"/>
              <a:pathLst>
                <a:path extrusionOk="0" h="187305" w="40640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8146">
                <a:alpha val="80000"/>
              </a:srgbClr>
            </a:solidFill>
            <a:ln>
              <a:noFill/>
            </a:ln>
          </p:spPr>
        </p:sp>
        <p:sp>
          <p:nvSpPr>
            <p:cNvPr id="509" name="Google Shape;509;p31"/>
            <p:cNvSpPr txBox="1"/>
            <p:nvPr/>
          </p:nvSpPr>
          <p:spPr>
            <a:xfrm>
              <a:off x="127000" y="-38100"/>
              <a:ext cx="152400" cy="225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0" name="Google Shape;510;p31"/>
          <p:cNvSpPr txBox="1"/>
          <p:nvPr/>
        </p:nvSpPr>
        <p:spPr>
          <a:xfrm>
            <a:off x="5696245" y="2603735"/>
            <a:ext cx="11565445" cy="5114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3" u="none" cap="none" strike="noStrike">
                <a:solidFill>
                  <a:srgbClr val="018345"/>
                </a:solidFill>
                <a:latin typeface="Roboto"/>
                <a:ea typeface="Roboto"/>
                <a:cs typeface="Roboto"/>
                <a:sym typeface="Roboto"/>
              </a:rPr>
              <a:t>Cảm ơn các bạn đã chú ý theo dõi!</a:t>
            </a:r>
            <a:endParaRPr/>
          </a:p>
          <a:p>
            <a:pPr indent="0" lvl="0" marL="0" marR="0" rtl="0" algn="ctr">
              <a:lnSpc>
                <a:spcPct val="13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3" u="none" cap="none" strike="noStrike">
              <a:solidFill>
                <a:srgbClr val="01834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1" name="Google Shape;511;p31"/>
          <p:cNvGrpSpPr/>
          <p:nvPr/>
        </p:nvGrpSpPr>
        <p:grpSpPr>
          <a:xfrm>
            <a:off x="5693855" y="6543482"/>
            <a:ext cx="11567835" cy="1261722"/>
            <a:chOff x="5693855" y="7590172"/>
            <a:chExt cx="11567835" cy="1261722"/>
          </a:xfrm>
        </p:grpSpPr>
        <p:grpSp>
          <p:nvGrpSpPr>
            <p:cNvPr id="512" name="Google Shape;512;p31"/>
            <p:cNvGrpSpPr/>
            <p:nvPr/>
          </p:nvGrpSpPr>
          <p:grpSpPr>
            <a:xfrm>
              <a:off x="5693855" y="7590172"/>
              <a:ext cx="11567834" cy="1261722"/>
              <a:chOff x="0" y="-38100"/>
              <a:chExt cx="3046672" cy="332305"/>
            </a:xfrm>
          </p:grpSpPr>
          <p:sp>
            <p:nvSpPr>
              <p:cNvPr id="513" name="Google Shape;513;p31"/>
              <p:cNvSpPr/>
              <p:nvPr/>
            </p:nvSpPr>
            <p:spPr>
              <a:xfrm>
                <a:off x="0" y="0"/>
                <a:ext cx="3046672" cy="294205"/>
              </a:xfrm>
              <a:custGeom>
                <a:rect b="b" l="l" r="r" t="t"/>
                <a:pathLst>
                  <a:path extrusionOk="0" h="294205" w="3046672">
                    <a:moveTo>
                      <a:pt x="0" y="0"/>
                    </a:moveTo>
                    <a:lnTo>
                      <a:pt x="3046672" y="0"/>
                    </a:lnTo>
                    <a:lnTo>
                      <a:pt x="3046672" y="294205"/>
                    </a:lnTo>
                    <a:lnTo>
                      <a:pt x="0" y="294205"/>
                    </a:lnTo>
                    <a:close/>
                  </a:path>
                </a:pathLst>
              </a:custGeom>
              <a:solidFill>
                <a:srgbClr val="006B37"/>
              </a:solidFill>
              <a:ln>
                <a:noFill/>
              </a:ln>
            </p:spPr>
          </p:sp>
          <p:sp>
            <p:nvSpPr>
              <p:cNvPr id="514" name="Google Shape;514;p31"/>
              <p:cNvSpPr txBox="1"/>
              <p:nvPr/>
            </p:nvSpPr>
            <p:spPr>
              <a:xfrm>
                <a:off x="0" y="-38100"/>
                <a:ext cx="3046672" cy="3323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5" name="Google Shape;515;p31"/>
            <p:cNvSpPr txBox="1"/>
            <p:nvPr/>
          </p:nvSpPr>
          <p:spPr>
            <a:xfrm>
              <a:off x="5696245" y="7961575"/>
              <a:ext cx="11565445" cy="5969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499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Hẹn gặp lại các bạn ở những bài học tiếp theo</a:t>
              </a:r>
              <a:endParaRPr b="0" i="0" sz="3499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6" name="Google Shape;516;p31"/>
          <p:cNvGrpSpPr/>
          <p:nvPr/>
        </p:nvGrpSpPr>
        <p:grpSpPr>
          <a:xfrm>
            <a:off x="-2718010" y="9274528"/>
            <a:ext cx="7950400" cy="1707231"/>
            <a:chOff x="0" y="-384762"/>
            <a:chExt cx="10600533" cy="2276307"/>
          </a:xfrm>
        </p:grpSpPr>
        <p:grpSp>
          <p:nvGrpSpPr>
            <p:cNvPr id="517" name="Google Shape;517;p31"/>
            <p:cNvGrpSpPr/>
            <p:nvPr/>
          </p:nvGrpSpPr>
          <p:grpSpPr>
            <a:xfrm>
              <a:off x="0" y="-384762"/>
              <a:ext cx="10600533" cy="2276307"/>
              <a:chOff x="0" y="-38100"/>
              <a:chExt cx="1049690" cy="225405"/>
            </a:xfrm>
          </p:grpSpPr>
          <p:sp>
            <p:nvSpPr>
              <p:cNvPr id="518" name="Google Shape;518;p31"/>
              <p:cNvSpPr/>
              <p:nvPr/>
            </p:nvSpPr>
            <p:spPr>
              <a:xfrm>
                <a:off x="0" y="0"/>
                <a:ext cx="1049690" cy="187305"/>
              </a:xfrm>
              <a:custGeom>
                <a:rect b="b" l="l" r="r" t="t"/>
                <a:pathLst>
                  <a:path extrusionOk="0" h="187305" w="1049690">
                    <a:moveTo>
                      <a:pt x="203200" y="0"/>
                    </a:moveTo>
                    <a:lnTo>
                      <a:pt x="846490" y="0"/>
                    </a:lnTo>
                    <a:lnTo>
                      <a:pt x="1049690" y="187305"/>
                    </a:lnTo>
                    <a:lnTo>
                      <a:pt x="0" y="18730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18345"/>
              </a:solidFill>
              <a:ln>
                <a:noFill/>
              </a:ln>
            </p:spPr>
          </p:sp>
          <p:sp>
            <p:nvSpPr>
              <p:cNvPr id="519" name="Google Shape;519;p31"/>
              <p:cNvSpPr txBox="1"/>
              <p:nvPr/>
            </p:nvSpPr>
            <p:spPr>
              <a:xfrm>
                <a:off x="127000" y="-38100"/>
                <a:ext cx="795690" cy="2254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0" name="Google Shape;520;p31"/>
            <p:cNvSpPr txBox="1"/>
            <p:nvPr/>
          </p:nvSpPr>
          <p:spPr>
            <a:xfrm>
              <a:off x="4182979" y="666743"/>
              <a:ext cx="3721150" cy="5294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79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