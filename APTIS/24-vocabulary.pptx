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10287000" cx="18288000"/>
  <p:notesSz cx="6858000" cy="9144000"/>
  <p:embeddedFontLst>
    <p:embeddedFont>
      <p:font typeface="Roboto"/>
      <p:regular r:id="rId30"/>
      <p:bold r:id="rId31"/>
      <p:italic r:id="rId32"/>
      <p:boldItalic r:id="rId33"/>
    </p:embeddedFont>
    <p:embeddedFont>
      <p:font typeface="Montserra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schemas.openxmlformats.org/officeDocument/2006/relationships/font" Target="fonts/Montserrat-bold.fntdata"/><Relationship Id="rId12" Type="http://schemas.openxmlformats.org/officeDocument/2006/relationships/slide" Target="slides/slide7.xml"/><Relationship Id="rId34" Type="http://schemas.openxmlformats.org/officeDocument/2006/relationships/font" Target="fonts/Montserrat-regular.fntdata"/><Relationship Id="rId15" Type="http://schemas.openxmlformats.org/officeDocument/2006/relationships/slide" Target="slides/slide10.xml"/><Relationship Id="rId37" Type="http://schemas.openxmlformats.org/officeDocument/2006/relationships/font" Target="fonts/Montserrat-boldItalic.fntdata"/><Relationship Id="rId14" Type="http://schemas.openxmlformats.org/officeDocument/2006/relationships/slide" Target="slides/slide9.xml"/><Relationship Id="rId36" Type="http://schemas.openxmlformats.org/officeDocument/2006/relationships/font" Target="fonts/Montserrat-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74dacc94a7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274dacc94a7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e2e3165bc0_1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2e2e3165bc0_1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2e2e3165bc0_1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t>
            </a:r>
            <a:r>
              <a:rPr lang="en-US"/>
              <a:t>Trong phần Từ vựng, bạn sẽ trả lời 25 câu hỏi. Các câu hỏi này được chia theo nhóm gồm</a:t>
            </a:r>
            <a:endParaRPr/>
          </a:p>
          <a:p>
            <a:pPr indent="0" lvl="0" marL="0" rtl="0" algn="l">
              <a:spcBef>
                <a:spcPts val="0"/>
              </a:spcBef>
              <a:spcAft>
                <a:spcPts val="0"/>
              </a:spcAft>
              <a:buNone/>
            </a:pPr>
            <a:r>
              <a:rPr lang="en-US"/>
              <a:t>+ </a:t>
            </a:r>
            <a:r>
              <a:rPr lang="en-US"/>
              <a:t>Nối từ: tìm từ đồng nghĩa với từ đã cho.</a:t>
            </a:r>
            <a:endParaRPr/>
          </a:p>
          <a:p>
            <a:pPr indent="0" lvl="0" marL="0" rtl="0" algn="l">
              <a:spcBef>
                <a:spcPts val="0"/>
              </a:spcBef>
              <a:spcAft>
                <a:spcPts val="0"/>
              </a:spcAft>
              <a:buClr>
                <a:schemeClr val="dk1"/>
              </a:buClr>
              <a:buSzPts val="1100"/>
              <a:buFont typeface="Arial"/>
              <a:buNone/>
            </a:pPr>
            <a:r>
              <a:rPr lang="en-US"/>
              <a:t>+ Định nghĩa từ: ghép định nghĩa với từ đã cho. </a:t>
            </a:r>
            <a:endParaRPr/>
          </a:p>
          <a:p>
            <a:pPr indent="0" lvl="0" marL="0" rtl="0" algn="l">
              <a:spcBef>
                <a:spcPts val="0"/>
              </a:spcBef>
              <a:spcAft>
                <a:spcPts val="0"/>
              </a:spcAft>
              <a:buClr>
                <a:schemeClr val="dk1"/>
              </a:buClr>
              <a:buSzPts val="1100"/>
              <a:buFont typeface="Arial"/>
              <a:buNone/>
            </a:pPr>
            <a:r>
              <a:rPr lang="en-US"/>
              <a:t>+ Sử dụng từ: hoàn thành câu bằng cách chọn một từ đúng. </a:t>
            </a:r>
            <a:endParaRPr/>
          </a:p>
          <a:p>
            <a:pPr indent="0" lvl="0" marL="0" rtl="0" algn="l">
              <a:spcBef>
                <a:spcPts val="0"/>
              </a:spcBef>
              <a:spcAft>
                <a:spcPts val="0"/>
              </a:spcAft>
              <a:buClr>
                <a:schemeClr val="dk1"/>
              </a:buClr>
              <a:buSzPts val="1100"/>
              <a:buFont typeface="Arial"/>
              <a:buNone/>
            </a:pPr>
            <a:r>
              <a:rPr lang="en-US"/>
              <a:t>+ Tìm cặp từ hay tổ hợp từ: Đây thường là những câu hỏi khó nhất, bởi bạn cần biết từ nào (trong danh sách) thường đi với từ đã cho (ví dụ, birthday card (thiệp sinh nhật) là cặp từ thông dụng; còn blue card (thiệp xanh) không phải cặp thông dụng).</a:t>
            </a:r>
            <a:endParaRPr/>
          </a:p>
          <a:p>
            <a:pPr indent="0" lvl="0" marL="0" rtl="0" algn="l">
              <a:spcBef>
                <a:spcPts val="0"/>
              </a:spcBef>
              <a:spcAft>
                <a:spcPts val="0"/>
              </a:spcAft>
              <a:buNone/>
            </a:pPr>
            <a:r>
              <a:rPr lang="en-US"/>
              <a:t>- Cả phần từ vựng và ngữ pháp thí sinh có khoảng 25 phút trả lời. Như vậy phần từ vựng thí sinh nên làm trong khoảng 12 phút.</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211" name="Google Shape;21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e0aaba2e2a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2e0aaba2e2a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Trong loại câu hỏi đầu tiên, TS cần ghép các từ có nghĩa tương tự từ danh sách các lựa chọn. Để thực hiện việc này, hãy nhấp vào các mũi tên và chọn từ tương tự.</a:t>
            </a:r>
            <a:endParaRPr/>
          </a:p>
        </p:txBody>
      </p:sp>
      <p:sp>
        <p:nvSpPr>
          <p:cNvPr id="248" name="Google Shape;248;g2e0aaba2e2a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e2e3165bc0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2e2e3165bc0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Ở dạng thứ 2, TS cần chọn từ phù hợp với định nghĩa đã cho</a:t>
            </a:r>
            <a:endParaRPr/>
          </a:p>
        </p:txBody>
      </p:sp>
      <p:sp>
        <p:nvSpPr>
          <p:cNvPr id="265" name="Google Shape;265;g2e2e3165bc0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e2e3165bc0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2e2e3165bc0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Ở dạng thứ 3, TS cần chọn từ phù hợp để điền vào chỗ trống dựa theo nghĩa và ngữ cảnh</a:t>
            </a:r>
            <a:endParaRPr/>
          </a:p>
        </p:txBody>
      </p:sp>
      <p:sp>
        <p:nvSpPr>
          <p:cNvPr id="282" name="Google Shape;282;g2e2e3165bc0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e2e3165bc0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2e2e3165bc0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Ở dạng thứ 2, TS cần chọn từ phù hợp với định nghĩa đã cho</a:t>
            </a:r>
            <a:endParaRPr/>
          </a:p>
        </p:txBody>
      </p:sp>
      <p:sp>
        <p:nvSpPr>
          <p:cNvPr id="299" name="Google Shape;299;g2e2e3165bc0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câu hỏi hướng dẫn HV trả lời</a:t>
            </a:r>
            <a:endParaRPr/>
          </a:p>
        </p:txBody>
      </p:sp>
      <p:sp>
        <p:nvSpPr>
          <p:cNvPr id="336" name="Google Shape;33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e2e3165bc0_1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2e2e3165bc0_1_1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g2e2e3165bc0_1_1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e2e3165bc0_0_8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2e2e3165bc0_0_8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câu hỏi hướng dẫn HV trả lời</a:t>
            </a:r>
            <a:endParaRPr/>
          </a:p>
        </p:txBody>
      </p:sp>
      <p:sp>
        <p:nvSpPr>
          <p:cNvPr id="369" name="Google Shape;369;g2e2e3165bc0_0_8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e2e3165bc0_1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2e2e3165bc0_1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2e2e3165bc0_1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e2e3165bc0_0_9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g2e2e3165bc0_0_9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câu hỏi hướng dẫn HV trả lời</a:t>
            </a:r>
            <a:endParaRPr/>
          </a:p>
        </p:txBody>
      </p:sp>
      <p:sp>
        <p:nvSpPr>
          <p:cNvPr id="402" name="Google Shape;402;g2e2e3165bc0_0_9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e2e3165bc0_1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2e2e3165bc0_1_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g2e2e3165bc0_1_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e2e3165bc0_0_9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2e2e3165bc0_0_9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câu hỏi hướng dẫn HV trả lời</a:t>
            </a:r>
            <a:endParaRPr/>
          </a:p>
        </p:txBody>
      </p:sp>
      <p:sp>
        <p:nvSpPr>
          <p:cNvPr id="430" name="Google Shape;430;g2e2e3165bc0_0_9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e2e3165bc0_1_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2e2e3165bc0_1_2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g2e2e3165bc0_1_2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e2e3165bc0_0_8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2e2e3165bc0_0_8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câu hỏi hướng dẫn HV trả lời</a:t>
            </a:r>
            <a:endParaRPr/>
          </a:p>
        </p:txBody>
      </p:sp>
      <p:sp>
        <p:nvSpPr>
          <p:cNvPr id="463" name="Google Shape;463;g2e2e3165bc0_0_8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e2e3165bc0_1_2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g2e2e3165bc0_1_2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g2e2e3165bc0_1_2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900" cy="160320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4227" cy="2222588"/>
            <a:chOff x="0" y="-192881"/>
            <a:chExt cx="11458969" cy="2963451"/>
          </a:xfrm>
        </p:grpSpPr>
        <p:grpSp>
          <p:nvGrpSpPr>
            <p:cNvPr id="90" name="Google Shape;90;p13"/>
            <p:cNvGrpSpPr/>
            <p:nvPr/>
          </p:nvGrpSpPr>
          <p:grpSpPr>
            <a:xfrm>
              <a:off x="0" y="-192881"/>
              <a:ext cx="11458969" cy="2963451"/>
              <a:chOff x="0" y="-38100"/>
              <a:chExt cx="2263500"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500" cy="585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386817" y="91936"/>
              <a:ext cx="10823100" cy="2557200"/>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lang="en-US" sz="12460">
                  <a:solidFill>
                    <a:srgbClr val="018345"/>
                  </a:solidFill>
                </a:rPr>
                <a:t>Vocabulary</a:t>
              </a:r>
              <a:endParaRPr/>
            </a:p>
          </p:txBody>
        </p:sp>
      </p:grpSp>
      <p:cxnSp>
        <p:nvCxnSpPr>
          <p:cNvPr id="94" name="Google Shape;94;p13"/>
          <p:cNvCxnSpPr/>
          <p:nvPr/>
        </p:nvCxnSpPr>
        <p:spPr>
          <a:xfrm>
            <a:off x="5559805" y="3724211"/>
            <a:ext cx="116994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00" cy="1579800"/>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00"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196" y="-741517"/>
            <a:ext cx="7681773" cy="4260605"/>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34" y="2552819"/>
            <a:ext cx="10092911" cy="1384957"/>
            <a:chOff x="6375842" y="6151456"/>
            <a:chExt cx="10542000" cy="1434000"/>
          </a:xfrm>
        </p:grpSpPr>
        <p:sp>
          <p:nvSpPr>
            <p:cNvPr id="107" name="Google Shape;107;p14"/>
            <p:cNvSpPr/>
            <p:nvPr/>
          </p:nvSpPr>
          <p:spPr>
            <a:xfrm>
              <a:off x="6375842" y="627835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20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1"/>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Bài thi Vocabulary Aptis</a:t>
              </a:r>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900" cy="13848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30"/>
            <a:ext cx="7950378" cy="1707223"/>
            <a:chOff x="0" y="-384760"/>
            <a:chExt cx="10600504" cy="2276297"/>
          </a:xfrm>
        </p:grpSpPr>
        <p:grpSp>
          <p:nvGrpSpPr>
            <p:cNvPr id="115" name="Google Shape;115;p14"/>
            <p:cNvGrpSpPr/>
            <p:nvPr/>
          </p:nvGrpSpPr>
          <p:grpSpPr>
            <a:xfrm>
              <a:off x="0" y="-384760"/>
              <a:ext cx="10600504" cy="227629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400" y="4203458"/>
            <a:ext cx="10121692" cy="1245030"/>
            <a:chOff x="6934120" y="7048419"/>
            <a:chExt cx="9882535" cy="1159030"/>
          </a:xfrm>
        </p:grpSpPr>
        <p:grpSp>
          <p:nvGrpSpPr>
            <p:cNvPr id="120" name="Google Shape;120;p14"/>
            <p:cNvGrpSpPr/>
            <p:nvPr/>
          </p:nvGrpSpPr>
          <p:grpSpPr>
            <a:xfrm>
              <a:off x="6934120" y="7048419"/>
              <a:ext cx="9882535" cy="1159030"/>
              <a:chOff x="6487861" y="7950596"/>
              <a:chExt cx="10571817" cy="1289100"/>
            </a:xfrm>
          </p:grpSpPr>
          <p:sp>
            <p:nvSpPr>
              <p:cNvPr id="121" name="Google Shape;121;p14"/>
              <p:cNvSpPr/>
              <p:nvPr/>
            </p:nvSpPr>
            <p:spPr>
              <a:xfrm>
                <a:off x="6517678" y="795059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8010152" y="8239178"/>
                <a:ext cx="87024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Vocabulary</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357" y="5727617"/>
            <a:ext cx="10150411" cy="1245213"/>
            <a:chOff x="6962073" y="8572500"/>
            <a:chExt cx="9910575" cy="1159200"/>
          </a:xfrm>
        </p:grpSpPr>
        <p:sp>
          <p:nvSpPr>
            <p:cNvPr id="126" name="Google Shape;126;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600" cy="458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647" y="7174698"/>
            <a:ext cx="10121659" cy="1245114"/>
            <a:chOff x="6947521" y="8856561"/>
            <a:chExt cx="9366703" cy="1016502"/>
          </a:xfrm>
        </p:grpSpPr>
        <p:grpSp>
          <p:nvGrpSpPr>
            <p:cNvPr id="131" name="Google Shape;131;p14"/>
            <p:cNvGrpSpPr/>
            <p:nvPr/>
          </p:nvGrpSpPr>
          <p:grpSpPr>
            <a:xfrm>
              <a:off x="6947521" y="8856561"/>
              <a:ext cx="9366703" cy="1016502"/>
              <a:chOff x="6962073" y="8572500"/>
              <a:chExt cx="9882573" cy="1159200"/>
            </a:xfrm>
          </p:grpSpPr>
          <p:sp>
            <p:nvSpPr>
              <p:cNvPr id="132" name="Google Shape;132;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459833" y="8840948"/>
                <a:ext cx="8087400" cy="45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637" y="8669603"/>
            <a:ext cx="10121659" cy="1245114"/>
            <a:chOff x="6947521" y="8856561"/>
            <a:chExt cx="9366703" cy="1016502"/>
          </a:xfrm>
        </p:grpSpPr>
        <p:grpSp>
          <p:nvGrpSpPr>
            <p:cNvPr id="137" name="Google Shape;137;p14"/>
            <p:cNvGrpSpPr/>
            <p:nvPr/>
          </p:nvGrpSpPr>
          <p:grpSpPr>
            <a:xfrm>
              <a:off x="6947521" y="8856561"/>
              <a:ext cx="9366703" cy="1016502"/>
              <a:chOff x="6962073" y="8572500"/>
              <a:chExt cx="9882573" cy="1159200"/>
            </a:xfrm>
          </p:grpSpPr>
          <p:sp>
            <p:nvSpPr>
              <p:cNvPr id="138" name="Google Shape;138;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9" name="Google Shape;139;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40" name="Google Shape;140;p14"/>
              <p:cNvSpPr txBox="1"/>
              <p:nvPr/>
            </p:nvSpPr>
            <p:spPr>
              <a:xfrm>
                <a:off x="8459833" y="8840948"/>
                <a:ext cx="8087400" cy="45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45" y="-741517"/>
            <a:ext cx="7681773" cy="4260605"/>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900" cy="2430300"/>
          </a:xfrm>
          <a:prstGeom prst="rect">
            <a:avLst/>
          </a:prstGeom>
          <a:noFill/>
          <a:ln>
            <a:noFill/>
          </a:ln>
        </p:spPr>
        <p:txBody>
          <a:bodyPr anchorCtr="0" anchor="t" bIns="0" lIns="0" spcFirstLastPara="1" rIns="0" wrap="square" tIns="0">
            <a:spAutoFit/>
          </a:bodyPr>
          <a:lstStyle/>
          <a:p>
            <a:pPr indent="0" lvl="0" marL="0" rtl="0" algn="ctr">
              <a:lnSpc>
                <a:spcPct val="110511"/>
              </a:lnSpc>
              <a:spcBef>
                <a:spcPts val="0"/>
              </a:spcBef>
              <a:spcAft>
                <a:spcPts val="0"/>
              </a:spcAft>
              <a:buSzPts val="1100"/>
              <a:buNone/>
            </a:pPr>
            <a:r>
              <a:rPr b="1" lang="en-US" sz="7500">
                <a:solidFill>
                  <a:srgbClr val="018345"/>
                </a:solidFill>
                <a:latin typeface="Montserrat"/>
                <a:ea typeface="Montserrat"/>
                <a:cs typeface="Montserrat"/>
                <a:sym typeface="Montserrat"/>
              </a:rPr>
              <a:t>Bài thi Vocabulary Aptis</a:t>
            </a:r>
            <a:endParaRPr b="1" sz="7500">
              <a:solidFill>
                <a:srgbClr val="018345"/>
              </a:solidFill>
              <a:latin typeface="Montserrat"/>
              <a:ea typeface="Montserrat"/>
              <a:cs typeface="Montserrat"/>
              <a:sym typeface="Montserrat"/>
            </a:endParaRPr>
          </a:p>
        </p:txBody>
      </p:sp>
      <p:sp>
        <p:nvSpPr>
          <p:cNvPr id="155" name="Google Shape;155;p15"/>
          <p:cNvSpPr txBox="1"/>
          <p:nvPr/>
        </p:nvSpPr>
        <p:spPr>
          <a:xfrm>
            <a:off x="10210111" y="339710"/>
            <a:ext cx="2146800" cy="18954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300" cy="285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30"/>
            <a:ext cx="7950378" cy="1707223"/>
            <a:chOff x="0" y="-384760"/>
            <a:chExt cx="10600504" cy="2276297"/>
          </a:xfrm>
        </p:grpSpPr>
        <p:grpSp>
          <p:nvGrpSpPr>
            <p:cNvPr id="158" name="Google Shape;158;p15"/>
            <p:cNvGrpSpPr/>
            <p:nvPr/>
          </p:nvGrpSpPr>
          <p:grpSpPr>
            <a:xfrm>
              <a:off x="0" y="-384760"/>
              <a:ext cx="10600504" cy="227629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200" cy="5295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4189501" y="1446557"/>
            <a:ext cx="9909000" cy="50400"/>
          </a:xfrm>
          <a:prstGeom prst="straightConnector1">
            <a:avLst/>
          </a:prstGeom>
          <a:noFill/>
          <a:ln cap="flat" cmpd="sng" w="38100">
            <a:solidFill>
              <a:srgbClr val="018345"/>
            </a:solidFill>
            <a:prstDash val="solid"/>
            <a:round/>
            <a:headEnd len="sm" w="sm" type="none"/>
            <a:tailEnd len="sm" w="sm" type="none"/>
          </a:ln>
        </p:spPr>
      </p:cxnSp>
      <p:sp>
        <p:nvSpPr>
          <p:cNvPr id="168" name="Google Shape;168;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69" name="Google Shape;169;p16"/>
          <p:cNvGrpSpPr/>
          <p:nvPr/>
        </p:nvGrpSpPr>
        <p:grpSpPr>
          <a:xfrm>
            <a:off x="-2718010" y="9274528"/>
            <a:ext cx="7950400" cy="1707231"/>
            <a:chOff x="0" y="-384762"/>
            <a:chExt cx="10600533" cy="2276307"/>
          </a:xfrm>
        </p:grpSpPr>
        <p:grpSp>
          <p:nvGrpSpPr>
            <p:cNvPr id="170" name="Google Shape;170;p16"/>
            <p:cNvGrpSpPr/>
            <p:nvPr/>
          </p:nvGrpSpPr>
          <p:grpSpPr>
            <a:xfrm>
              <a:off x="0" y="-384762"/>
              <a:ext cx="10600533" cy="2276307"/>
              <a:chOff x="0" y="-38100"/>
              <a:chExt cx="1049690" cy="225405"/>
            </a:xfrm>
          </p:grpSpPr>
          <p:sp>
            <p:nvSpPr>
              <p:cNvPr id="171" name="Google Shape;171;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2" name="Google Shape;172;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3" name="Google Shape;173;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4" name="Google Shape;174;p16"/>
          <p:cNvSpPr txBox="1"/>
          <p:nvPr/>
        </p:nvSpPr>
        <p:spPr>
          <a:xfrm>
            <a:off x="3203546" y="507349"/>
            <a:ext cx="11880900" cy="738900"/>
          </a:xfrm>
          <a:prstGeom prst="rect">
            <a:avLst/>
          </a:prstGeom>
          <a:noFill/>
          <a:ln>
            <a:noFill/>
          </a:ln>
        </p:spPr>
        <p:txBody>
          <a:bodyPr anchorCtr="0" anchor="t" bIns="0" lIns="0" spcFirstLastPara="1" rIns="0" wrap="square" tIns="0">
            <a:spAutoFit/>
          </a:bodyPr>
          <a:lstStyle/>
          <a:p>
            <a:pPr indent="0" lvl="0" marL="0" rtl="0" algn="ctr">
              <a:lnSpc>
                <a:spcPct val="154791"/>
              </a:lnSpc>
              <a:spcBef>
                <a:spcPts val="0"/>
              </a:spcBef>
              <a:spcAft>
                <a:spcPts val="0"/>
              </a:spcAft>
              <a:buSzPts val="1100"/>
              <a:buNone/>
            </a:pPr>
            <a:r>
              <a:rPr b="1" lang="en-US" sz="4800">
                <a:solidFill>
                  <a:srgbClr val="018345"/>
                </a:solidFill>
                <a:latin typeface="Montserrat"/>
                <a:ea typeface="Montserrat"/>
                <a:cs typeface="Montserrat"/>
                <a:sym typeface="Montserrat"/>
              </a:rPr>
              <a:t>Bài thi Vocabulary Aptis</a:t>
            </a:r>
            <a:endParaRPr b="1" sz="4800">
              <a:solidFill>
                <a:srgbClr val="018345"/>
              </a:solidFill>
              <a:latin typeface="Montserrat"/>
              <a:ea typeface="Montserrat"/>
              <a:cs typeface="Montserrat"/>
              <a:sym typeface="Montserrat"/>
            </a:endParaRPr>
          </a:p>
        </p:txBody>
      </p:sp>
      <p:cxnSp>
        <p:nvCxnSpPr>
          <p:cNvPr id="175" name="Google Shape;175;p16"/>
          <p:cNvCxnSpPr>
            <a:stCxn id="176" idx="2"/>
            <a:endCxn id="177" idx="1"/>
          </p:cNvCxnSpPr>
          <p:nvPr/>
        </p:nvCxnSpPr>
        <p:spPr>
          <a:xfrm>
            <a:off x="4485300" y="5413638"/>
            <a:ext cx="1219200" cy="18474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178" name="Google Shape;178;p16"/>
          <p:cNvCxnSpPr>
            <a:stCxn id="176" idx="2"/>
            <a:endCxn id="179" idx="1"/>
          </p:cNvCxnSpPr>
          <p:nvPr/>
        </p:nvCxnSpPr>
        <p:spPr>
          <a:xfrm flipH="1" rot="10800000">
            <a:off x="4485300" y="3621738"/>
            <a:ext cx="1219200" cy="17919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176" name="Google Shape;176;p16"/>
          <p:cNvSpPr/>
          <p:nvPr/>
        </p:nvSpPr>
        <p:spPr>
          <a:xfrm rot="-5400000">
            <a:off x="718800" y="4888338"/>
            <a:ext cx="6482400" cy="1050600"/>
          </a:xfrm>
          <a:prstGeom prst="roundRect">
            <a:avLst>
              <a:gd fmla="val 16667" name="adj"/>
            </a:avLst>
          </a:prstGeom>
          <a:solidFill>
            <a:srgbClr val="085630"/>
          </a:solidFill>
          <a:ln cap="flat" cmpd="sng" w="9525">
            <a:solidFill>
              <a:srgbClr val="08563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Calibri"/>
                <a:ea typeface="Calibri"/>
                <a:cs typeface="Calibri"/>
                <a:sym typeface="Calibri"/>
              </a:rPr>
              <a:t>Vocabulary</a:t>
            </a:r>
            <a:endParaRPr b="1" sz="3300">
              <a:solidFill>
                <a:srgbClr val="FFFFFF"/>
              </a:solidFill>
              <a:latin typeface="Calibri"/>
              <a:ea typeface="Calibri"/>
              <a:cs typeface="Calibri"/>
              <a:sym typeface="Calibri"/>
            </a:endParaRPr>
          </a:p>
        </p:txBody>
      </p:sp>
      <p:sp>
        <p:nvSpPr>
          <p:cNvPr id="179" name="Google Shape;179;p16"/>
          <p:cNvSpPr/>
          <p:nvPr/>
        </p:nvSpPr>
        <p:spPr>
          <a:xfrm>
            <a:off x="5704500" y="3096485"/>
            <a:ext cx="4041000" cy="1050600"/>
          </a:xfrm>
          <a:prstGeom prst="roundRect">
            <a:avLst>
              <a:gd fmla="val 16667" name="adj"/>
            </a:avLst>
          </a:prstGeom>
          <a:solidFill>
            <a:srgbClr val="0B7743"/>
          </a:solidFill>
          <a:ln cap="flat" cmpd="sng" w="9525">
            <a:solidFill>
              <a:srgbClr val="0B774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Calibri"/>
                <a:ea typeface="Calibri"/>
                <a:cs typeface="Calibri"/>
                <a:sym typeface="Calibri"/>
              </a:rPr>
              <a:t>25 câu hỏi, 12 phút</a:t>
            </a:r>
            <a:endParaRPr b="1" sz="3300">
              <a:solidFill>
                <a:srgbClr val="FFFFFF"/>
              </a:solidFill>
              <a:latin typeface="Calibri"/>
              <a:ea typeface="Calibri"/>
              <a:cs typeface="Calibri"/>
              <a:sym typeface="Calibri"/>
            </a:endParaRPr>
          </a:p>
        </p:txBody>
      </p:sp>
      <p:sp>
        <p:nvSpPr>
          <p:cNvPr id="177" name="Google Shape;177;p16"/>
          <p:cNvSpPr/>
          <p:nvPr/>
        </p:nvSpPr>
        <p:spPr>
          <a:xfrm>
            <a:off x="5704500" y="6735685"/>
            <a:ext cx="4041000" cy="1050600"/>
          </a:xfrm>
          <a:prstGeom prst="roundRect">
            <a:avLst>
              <a:gd fmla="val 16667" name="adj"/>
            </a:avLst>
          </a:prstGeom>
          <a:solidFill>
            <a:srgbClr val="0B7743"/>
          </a:solidFill>
          <a:ln cap="flat" cmpd="sng" w="9525">
            <a:solidFill>
              <a:srgbClr val="0B774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Calibri"/>
                <a:ea typeface="Calibri"/>
                <a:cs typeface="Calibri"/>
                <a:sym typeface="Calibri"/>
              </a:rPr>
              <a:t>4 dạng câu hỏi</a:t>
            </a:r>
            <a:endParaRPr b="1" sz="3300">
              <a:solidFill>
                <a:srgbClr val="FFFFFF"/>
              </a:solidFill>
              <a:latin typeface="Calibri"/>
              <a:ea typeface="Calibri"/>
              <a:cs typeface="Calibri"/>
              <a:sym typeface="Calibri"/>
            </a:endParaRPr>
          </a:p>
        </p:txBody>
      </p:sp>
      <p:sp>
        <p:nvSpPr>
          <p:cNvPr id="180" name="Google Shape;180;p16"/>
          <p:cNvSpPr/>
          <p:nvPr/>
        </p:nvSpPr>
        <p:spPr>
          <a:xfrm>
            <a:off x="12517475" y="5220946"/>
            <a:ext cx="5037600" cy="1252800"/>
          </a:xfrm>
          <a:prstGeom prst="roundRect">
            <a:avLst>
              <a:gd fmla="val 16667" name="adj"/>
            </a:avLst>
          </a:prstGeom>
          <a:solidFill>
            <a:srgbClr val="0E9453"/>
          </a:solidFill>
          <a:ln cap="flat" cmpd="sng" w="9525">
            <a:solidFill>
              <a:srgbClr val="0E945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Calibri"/>
                <a:ea typeface="Calibri"/>
                <a:cs typeface="Calibri"/>
                <a:sym typeface="Calibri"/>
              </a:rPr>
              <a:t>Dạng tìm từ phù hợp với định nghĩa</a:t>
            </a:r>
            <a:endParaRPr b="1" sz="3300">
              <a:solidFill>
                <a:srgbClr val="FFFFFF"/>
              </a:solidFill>
              <a:latin typeface="Calibri"/>
              <a:ea typeface="Calibri"/>
              <a:cs typeface="Calibri"/>
              <a:sym typeface="Calibri"/>
            </a:endParaRPr>
          </a:p>
        </p:txBody>
      </p:sp>
      <p:sp>
        <p:nvSpPr>
          <p:cNvPr id="181" name="Google Shape;181;p16"/>
          <p:cNvSpPr/>
          <p:nvPr/>
        </p:nvSpPr>
        <p:spPr>
          <a:xfrm>
            <a:off x="12517475" y="6820126"/>
            <a:ext cx="5037600" cy="1252800"/>
          </a:xfrm>
          <a:prstGeom prst="roundRect">
            <a:avLst>
              <a:gd fmla="val 16667" name="adj"/>
            </a:avLst>
          </a:prstGeom>
          <a:solidFill>
            <a:srgbClr val="0E9453"/>
          </a:solidFill>
          <a:ln cap="flat" cmpd="sng" w="9525">
            <a:solidFill>
              <a:srgbClr val="0E945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Calibri"/>
                <a:ea typeface="Calibri"/>
                <a:cs typeface="Calibri"/>
                <a:sym typeface="Calibri"/>
              </a:rPr>
              <a:t>Hoàn thành câu sử dụng từ thích hợp</a:t>
            </a:r>
            <a:endParaRPr b="1" sz="3300">
              <a:solidFill>
                <a:srgbClr val="FFFFFF"/>
              </a:solidFill>
              <a:latin typeface="Calibri"/>
              <a:ea typeface="Calibri"/>
              <a:cs typeface="Calibri"/>
              <a:sym typeface="Calibri"/>
            </a:endParaRPr>
          </a:p>
        </p:txBody>
      </p:sp>
      <p:cxnSp>
        <p:nvCxnSpPr>
          <p:cNvPr id="182" name="Google Shape;182;p16"/>
          <p:cNvCxnSpPr>
            <a:stCxn id="180" idx="1"/>
            <a:endCxn id="177" idx="3"/>
          </p:cNvCxnSpPr>
          <p:nvPr/>
        </p:nvCxnSpPr>
        <p:spPr>
          <a:xfrm flipH="1">
            <a:off x="9745475" y="5847346"/>
            <a:ext cx="2772000" cy="14136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183" name="Google Shape;183;p16"/>
          <p:cNvCxnSpPr>
            <a:stCxn id="181" idx="1"/>
            <a:endCxn id="177" idx="3"/>
          </p:cNvCxnSpPr>
          <p:nvPr/>
        </p:nvCxnSpPr>
        <p:spPr>
          <a:xfrm rot="10800000">
            <a:off x="9745475" y="7261126"/>
            <a:ext cx="2772000" cy="1854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184" name="Google Shape;184;p16"/>
          <p:cNvSpPr/>
          <p:nvPr/>
        </p:nvSpPr>
        <p:spPr>
          <a:xfrm>
            <a:off x="12517475" y="3621750"/>
            <a:ext cx="5037600" cy="1252800"/>
          </a:xfrm>
          <a:prstGeom prst="roundRect">
            <a:avLst>
              <a:gd fmla="val 16667" name="adj"/>
            </a:avLst>
          </a:prstGeom>
          <a:solidFill>
            <a:srgbClr val="0E9453"/>
          </a:solidFill>
          <a:ln cap="flat" cmpd="sng" w="9525">
            <a:solidFill>
              <a:srgbClr val="0E945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Calibri"/>
                <a:ea typeface="Calibri"/>
                <a:cs typeface="Calibri"/>
                <a:sym typeface="Calibri"/>
              </a:rPr>
              <a:t>Dạng nối từ</a:t>
            </a:r>
            <a:endParaRPr b="1" sz="3300">
              <a:solidFill>
                <a:srgbClr val="FFFFFF"/>
              </a:solidFill>
              <a:latin typeface="Calibri"/>
              <a:ea typeface="Calibri"/>
              <a:cs typeface="Calibri"/>
              <a:sym typeface="Calibri"/>
            </a:endParaRPr>
          </a:p>
        </p:txBody>
      </p:sp>
      <p:cxnSp>
        <p:nvCxnSpPr>
          <p:cNvPr id="185" name="Google Shape;185;p16"/>
          <p:cNvCxnSpPr>
            <a:stCxn id="184" idx="1"/>
            <a:endCxn id="177" idx="3"/>
          </p:cNvCxnSpPr>
          <p:nvPr/>
        </p:nvCxnSpPr>
        <p:spPr>
          <a:xfrm flipH="1">
            <a:off x="9745475" y="4248150"/>
            <a:ext cx="2772000" cy="30129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186" name="Google Shape;186;p16"/>
          <p:cNvSpPr/>
          <p:nvPr/>
        </p:nvSpPr>
        <p:spPr>
          <a:xfrm>
            <a:off x="12517475" y="8419277"/>
            <a:ext cx="5037600" cy="1252800"/>
          </a:xfrm>
          <a:prstGeom prst="roundRect">
            <a:avLst>
              <a:gd fmla="val 16667" name="adj"/>
            </a:avLst>
          </a:prstGeom>
          <a:solidFill>
            <a:srgbClr val="0E9453"/>
          </a:solidFill>
          <a:ln cap="flat" cmpd="sng" w="9525">
            <a:solidFill>
              <a:srgbClr val="0E945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300">
                <a:solidFill>
                  <a:srgbClr val="FFFFFF"/>
                </a:solidFill>
                <a:latin typeface="Calibri"/>
                <a:ea typeface="Calibri"/>
                <a:cs typeface="Calibri"/>
                <a:sym typeface="Calibri"/>
              </a:rPr>
              <a:t>Ghép từ</a:t>
            </a:r>
            <a:endParaRPr b="1" sz="3300">
              <a:solidFill>
                <a:srgbClr val="FFFFFF"/>
              </a:solidFill>
              <a:latin typeface="Calibri"/>
              <a:ea typeface="Calibri"/>
              <a:cs typeface="Calibri"/>
              <a:sym typeface="Calibri"/>
            </a:endParaRPr>
          </a:p>
        </p:txBody>
      </p:sp>
      <p:cxnSp>
        <p:nvCxnSpPr>
          <p:cNvPr id="187" name="Google Shape;187;p16"/>
          <p:cNvCxnSpPr>
            <a:stCxn id="186" idx="1"/>
            <a:endCxn id="177" idx="3"/>
          </p:cNvCxnSpPr>
          <p:nvPr/>
        </p:nvCxnSpPr>
        <p:spPr>
          <a:xfrm rot="10800000">
            <a:off x="9745475" y="7260977"/>
            <a:ext cx="2772000" cy="1784700"/>
          </a:xfrm>
          <a:prstGeom prst="bentConnector3">
            <a:avLst>
              <a:gd fmla="val 50000" name="adj1"/>
            </a:avLst>
          </a:prstGeom>
          <a:noFill/>
          <a:ln cap="flat" cmpd="sng" w="9525">
            <a:solidFill>
              <a:srgbClr val="C2C2C2"/>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cxnSp>
        <p:nvCxnSpPr>
          <p:cNvPr id="192" name="Google Shape;192;p1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93" name="Google Shape;193;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94" name="Google Shape;194;p17"/>
          <p:cNvGrpSpPr/>
          <p:nvPr/>
        </p:nvGrpSpPr>
        <p:grpSpPr>
          <a:xfrm rot="10800000">
            <a:off x="15044552" y="-741521"/>
            <a:ext cx="7681766" cy="4260610"/>
            <a:chOff x="0" y="-38100"/>
            <a:chExt cx="406400" cy="225405"/>
          </a:xfrm>
        </p:grpSpPr>
        <p:sp>
          <p:nvSpPr>
            <p:cNvPr id="195" name="Google Shape;195;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96" name="Google Shape;196;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97" name="Google Shape;197;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98" name="Google Shape;198;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99" name="Google Shape;199;p17"/>
          <p:cNvSpPr txBox="1"/>
          <p:nvPr/>
        </p:nvSpPr>
        <p:spPr>
          <a:xfrm>
            <a:off x="5511794" y="2502271"/>
            <a:ext cx="11760300" cy="2512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Vocabulary APTIS</a:t>
            </a:r>
            <a:endParaRPr/>
          </a:p>
        </p:txBody>
      </p:sp>
      <p:sp>
        <p:nvSpPr>
          <p:cNvPr id="200" name="Google Shape;200;p1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01" name="Google Shape;201;p1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02" name="Google Shape;202;p17"/>
          <p:cNvGrpSpPr/>
          <p:nvPr/>
        </p:nvGrpSpPr>
        <p:grpSpPr>
          <a:xfrm>
            <a:off x="-2718010" y="9274528"/>
            <a:ext cx="7950400" cy="1707231"/>
            <a:chOff x="0" y="-384762"/>
            <a:chExt cx="10600533" cy="2276307"/>
          </a:xfrm>
        </p:grpSpPr>
        <p:grpSp>
          <p:nvGrpSpPr>
            <p:cNvPr id="203" name="Google Shape;203;p17"/>
            <p:cNvGrpSpPr/>
            <p:nvPr/>
          </p:nvGrpSpPr>
          <p:grpSpPr>
            <a:xfrm>
              <a:off x="0" y="-384762"/>
              <a:ext cx="10600533" cy="2276307"/>
              <a:chOff x="0" y="-38100"/>
              <a:chExt cx="1049690" cy="225405"/>
            </a:xfrm>
          </p:grpSpPr>
          <p:sp>
            <p:nvSpPr>
              <p:cNvPr id="204" name="Google Shape;204;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05" name="Google Shape;205;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6" name="Google Shape;206;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07" name="Google Shape;207;p17"/>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00"/>
                                        </p:tgtEl>
                                        <p:attrNameLst>
                                          <p:attrName>style.visibility</p:attrName>
                                        </p:attrNameLst>
                                      </p:cBhvr>
                                      <p:to>
                                        <p:strVal val="visible"/>
                                      </p:to>
                                    </p:set>
                                    <p:anim calcmode="lin" valueType="num">
                                      <p:cBhvr additive="base">
                                        <p:cTn dur="500"/>
                                        <p:tgtEl>
                                          <p:spTgt spid="200"/>
                                        </p:tgtEl>
                                        <p:attrNameLst>
                                          <p:attrName>ppt_w</p:attrName>
                                        </p:attrNameLst>
                                      </p:cBhvr>
                                      <p:tavLst>
                                        <p:tav fmla="" tm="0">
                                          <p:val>
                                            <p:strVal val="0"/>
                                          </p:val>
                                        </p:tav>
                                        <p:tav fmla="" tm="100000">
                                          <p:val>
                                            <p:strVal val="#ppt_w"/>
                                          </p:val>
                                        </p:tav>
                                      </p:tavLst>
                                    </p:anim>
                                    <p:anim calcmode="lin" valueType="num">
                                      <p:cBhvr additive="base">
                                        <p:cTn dur="500"/>
                                        <p:tgtEl>
                                          <p:spTgt spid="20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cxnSp>
        <p:nvCxnSpPr>
          <p:cNvPr id="213" name="Google Shape;213;p18"/>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14" name="Google Shape;214;p18"/>
          <p:cNvGrpSpPr/>
          <p:nvPr/>
        </p:nvGrpSpPr>
        <p:grpSpPr>
          <a:xfrm rot="10800000">
            <a:off x="15785091" y="-536942"/>
            <a:ext cx="7681766" cy="4260610"/>
            <a:chOff x="0" y="-38100"/>
            <a:chExt cx="406400" cy="225405"/>
          </a:xfrm>
        </p:grpSpPr>
        <p:sp>
          <p:nvSpPr>
            <p:cNvPr id="215" name="Google Shape;215;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16" name="Google Shape;216;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 name="Google Shape;217;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18" name="Google Shape;218;p18"/>
          <p:cNvSpPr txBox="1"/>
          <p:nvPr/>
        </p:nvSpPr>
        <p:spPr>
          <a:xfrm>
            <a:off x="3359002" y="401132"/>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Vocabulary APTIS</a:t>
            </a:r>
            <a:endParaRPr/>
          </a:p>
        </p:txBody>
      </p:sp>
      <p:grpSp>
        <p:nvGrpSpPr>
          <p:cNvPr id="219" name="Google Shape;219;p18"/>
          <p:cNvGrpSpPr/>
          <p:nvPr/>
        </p:nvGrpSpPr>
        <p:grpSpPr>
          <a:xfrm>
            <a:off x="-2718010" y="9274528"/>
            <a:ext cx="7950400" cy="1707231"/>
            <a:chOff x="0" y="-384762"/>
            <a:chExt cx="10600533" cy="2276307"/>
          </a:xfrm>
        </p:grpSpPr>
        <p:grpSp>
          <p:nvGrpSpPr>
            <p:cNvPr id="220" name="Google Shape;220;p18"/>
            <p:cNvGrpSpPr/>
            <p:nvPr/>
          </p:nvGrpSpPr>
          <p:grpSpPr>
            <a:xfrm>
              <a:off x="0" y="-384762"/>
              <a:ext cx="10600533" cy="2276307"/>
              <a:chOff x="0" y="-38100"/>
              <a:chExt cx="1049690" cy="225405"/>
            </a:xfrm>
          </p:grpSpPr>
          <p:sp>
            <p:nvSpPr>
              <p:cNvPr id="221" name="Google Shape;221;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22" name="Google Shape;222;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3" name="Google Shape;223;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4" name="Google Shape;224;p18"/>
          <p:cNvSpPr txBox="1"/>
          <p:nvPr/>
        </p:nvSpPr>
        <p:spPr>
          <a:xfrm>
            <a:off x="930043" y="2095500"/>
            <a:ext cx="17255700" cy="3309300"/>
          </a:xfrm>
          <a:prstGeom prst="rect">
            <a:avLst/>
          </a:prstGeom>
          <a:noFill/>
          <a:ln>
            <a:noFill/>
          </a:ln>
        </p:spPr>
        <p:txBody>
          <a:bodyPr anchorCtr="0" anchor="t" bIns="45700" lIns="91425" spcFirstLastPara="1" rIns="91425" wrap="square" tIns="45700">
            <a:spAutoFit/>
          </a:bodyPr>
          <a:lstStyle/>
          <a:p>
            <a:pPr indent="-558800" lvl="0" marL="571500" marR="0" rtl="0" algn="l">
              <a:lnSpc>
                <a:spcPct val="150000"/>
              </a:lnSpc>
              <a:spcBef>
                <a:spcPts val="0"/>
              </a:spcBef>
              <a:spcAft>
                <a:spcPts val="0"/>
              </a:spcAft>
              <a:buClr>
                <a:schemeClr val="dk1"/>
              </a:buClr>
              <a:buSzPts val="3800"/>
              <a:buFont typeface="Noto Sans Symbols"/>
              <a:buChar char="⮚"/>
            </a:pPr>
            <a:r>
              <a:rPr lang="en-US" sz="3800">
                <a:solidFill>
                  <a:schemeClr val="dk1"/>
                </a:solidFill>
                <a:latin typeface="Calibri"/>
                <a:ea typeface="Calibri"/>
                <a:cs typeface="Calibri"/>
                <a:sym typeface="Calibri"/>
              </a:rPr>
              <a:t>Đọc kỹ câu hỏi và các lựa chọn</a:t>
            </a:r>
            <a:r>
              <a:rPr lang="en-US" sz="3800">
                <a:solidFill>
                  <a:schemeClr val="dk1"/>
                </a:solidFill>
                <a:latin typeface="Calibri"/>
                <a:ea typeface="Calibri"/>
                <a:cs typeface="Calibri"/>
                <a:sym typeface="Calibri"/>
              </a:rPr>
              <a:t>.</a:t>
            </a:r>
            <a:endParaRPr sz="3800">
              <a:solidFill>
                <a:schemeClr val="dk1"/>
              </a:solidFill>
              <a:latin typeface="Calibri"/>
              <a:ea typeface="Calibri"/>
              <a:cs typeface="Calibri"/>
              <a:sym typeface="Calibri"/>
            </a:endParaRPr>
          </a:p>
          <a:p>
            <a:pPr indent="-558800" lvl="0" marL="571500" marR="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Cân nhắc các lựa chọn, loại bỏ các đáp án sai để chọn phương án chính xác nhất.</a:t>
            </a:r>
            <a:endParaRPr sz="3800">
              <a:solidFill>
                <a:schemeClr val="dk1"/>
              </a:solidFill>
              <a:latin typeface="Calibri"/>
              <a:ea typeface="Calibri"/>
              <a:cs typeface="Calibri"/>
              <a:sym typeface="Calibri"/>
            </a:endParaRPr>
          </a:p>
          <a:p>
            <a:pPr indent="-558800" lvl="0" marL="571500" marR="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Câu nào chưa chắc chắn hãy đánh dấu để sau đó làm lại.</a:t>
            </a:r>
            <a:endParaRPr sz="3800">
              <a:solidFill>
                <a:schemeClr val="dk1"/>
              </a:solidFill>
              <a:latin typeface="Calibri"/>
              <a:ea typeface="Calibri"/>
              <a:cs typeface="Calibri"/>
              <a:sym typeface="Calibri"/>
            </a:endParaRPr>
          </a:p>
          <a:p>
            <a:pPr indent="-558800" lvl="0" marL="571500" marR="0" rtl="0" algn="l">
              <a:lnSpc>
                <a:spcPct val="150000"/>
              </a:lnSpc>
              <a:spcBef>
                <a:spcPts val="0"/>
              </a:spcBef>
              <a:spcAft>
                <a:spcPts val="0"/>
              </a:spcAft>
              <a:buClr>
                <a:schemeClr val="dk1"/>
              </a:buClr>
              <a:buSzPts val="3800"/>
              <a:buFont typeface="Calibri"/>
              <a:buChar char="⮚"/>
            </a:pPr>
            <a:r>
              <a:rPr lang="en-US" sz="3800">
                <a:solidFill>
                  <a:schemeClr val="dk1"/>
                </a:solidFill>
                <a:latin typeface="Calibri"/>
                <a:ea typeface="Calibri"/>
                <a:cs typeface="Calibri"/>
                <a:sym typeface="Calibri"/>
              </a:rPr>
              <a:t>Câu dễ làm trước, câu khó làm sau.</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cxnSp>
        <p:nvCxnSpPr>
          <p:cNvPr id="229" name="Google Shape;229;p19"/>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30" name="Google Shape;230;p1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31" name="Google Shape;231;p19"/>
          <p:cNvGrpSpPr/>
          <p:nvPr/>
        </p:nvGrpSpPr>
        <p:grpSpPr>
          <a:xfrm rot="10800000">
            <a:off x="15044552" y="-741521"/>
            <a:ext cx="7681766" cy="4260610"/>
            <a:chOff x="0" y="-38100"/>
            <a:chExt cx="406400" cy="225405"/>
          </a:xfrm>
        </p:grpSpPr>
        <p:sp>
          <p:nvSpPr>
            <p:cNvPr id="232" name="Google Shape;232;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33" name="Google Shape;233;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34" name="Google Shape;234;p19"/>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35" name="Google Shape;235;p19"/>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36" name="Google Shape;236;p19"/>
          <p:cNvSpPr txBox="1"/>
          <p:nvPr/>
        </p:nvSpPr>
        <p:spPr>
          <a:xfrm>
            <a:off x="5511794" y="2502271"/>
            <a:ext cx="11760209" cy="114204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Đề mẫu</a:t>
            </a:r>
            <a:endParaRPr b="1" sz="6600">
              <a:solidFill>
                <a:srgbClr val="018345"/>
              </a:solidFill>
              <a:latin typeface="Montserrat"/>
              <a:ea typeface="Montserrat"/>
              <a:cs typeface="Montserrat"/>
              <a:sym typeface="Montserrat"/>
            </a:endParaRPr>
          </a:p>
        </p:txBody>
      </p:sp>
      <p:sp>
        <p:nvSpPr>
          <p:cNvPr id="237" name="Google Shape;237;p19"/>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238" name="Google Shape;238;p19"/>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39" name="Google Shape;239;p19"/>
          <p:cNvGrpSpPr/>
          <p:nvPr/>
        </p:nvGrpSpPr>
        <p:grpSpPr>
          <a:xfrm>
            <a:off x="-2718010" y="9274528"/>
            <a:ext cx="7950400" cy="1707231"/>
            <a:chOff x="0" y="-384762"/>
            <a:chExt cx="10600533" cy="2276307"/>
          </a:xfrm>
        </p:grpSpPr>
        <p:grpSp>
          <p:nvGrpSpPr>
            <p:cNvPr id="240" name="Google Shape;240;p19"/>
            <p:cNvGrpSpPr/>
            <p:nvPr/>
          </p:nvGrpSpPr>
          <p:grpSpPr>
            <a:xfrm>
              <a:off x="0" y="-384762"/>
              <a:ext cx="10600533" cy="2276307"/>
              <a:chOff x="0" y="-38100"/>
              <a:chExt cx="1049690" cy="225405"/>
            </a:xfrm>
          </p:grpSpPr>
          <p:sp>
            <p:nvSpPr>
              <p:cNvPr id="241" name="Google Shape;241;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42" name="Google Shape;242;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3" name="Google Shape;243;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244" name="Google Shape;244;p19"/>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ppt_w</p:attrName>
                                        </p:attrNameLst>
                                      </p:cBhvr>
                                      <p:tavLst>
                                        <p:tav fmla="" tm="0">
                                          <p:val>
                                            <p:strVal val="0"/>
                                          </p:val>
                                        </p:tav>
                                        <p:tav fmla="" tm="100000">
                                          <p:val>
                                            <p:strVal val="#ppt_w"/>
                                          </p:val>
                                        </p:tav>
                                      </p:tavLst>
                                    </p:anim>
                                    <p:anim calcmode="lin" valueType="num">
                                      <p:cBhvr additive="base">
                                        <p:cTn dur="500"/>
                                        <p:tgtEl>
                                          <p:spTgt spid="23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36"/>
                                        </p:tgtEl>
                                        <p:attrNameLst>
                                          <p:attrName>style.visibility</p:attrName>
                                        </p:attrNameLst>
                                      </p:cBhvr>
                                      <p:to>
                                        <p:strVal val="visible"/>
                                      </p:to>
                                    </p:set>
                                    <p:anim calcmode="lin" valueType="num">
                                      <p:cBhvr additive="base">
                                        <p:cTn dur="500"/>
                                        <p:tgtEl>
                                          <p:spTgt spid="236"/>
                                        </p:tgtEl>
                                        <p:attrNameLst>
                                          <p:attrName>ppt_w</p:attrName>
                                        </p:attrNameLst>
                                      </p:cBhvr>
                                      <p:tavLst>
                                        <p:tav fmla="" tm="0">
                                          <p:val>
                                            <p:strVal val="0"/>
                                          </p:val>
                                        </p:tav>
                                        <p:tav fmla="" tm="100000">
                                          <p:val>
                                            <p:strVal val="#ppt_w"/>
                                          </p:val>
                                        </p:tav>
                                      </p:tavLst>
                                    </p:anim>
                                    <p:anim calcmode="lin" valueType="num">
                                      <p:cBhvr additive="base">
                                        <p:cTn dur="500"/>
                                        <p:tgtEl>
                                          <p:spTgt spid="23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cxnSp>
        <p:nvCxnSpPr>
          <p:cNvPr id="250" name="Google Shape;250;p20"/>
          <p:cNvCxnSpPr/>
          <p:nvPr/>
        </p:nvCxnSpPr>
        <p:spPr>
          <a:xfrm flipH="1" rot="10800000">
            <a:off x="4154501" y="175862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51" name="Google Shape;251;p20"/>
          <p:cNvGrpSpPr/>
          <p:nvPr/>
        </p:nvGrpSpPr>
        <p:grpSpPr>
          <a:xfrm rot="10800000">
            <a:off x="15785084" y="-536938"/>
            <a:ext cx="7681773" cy="4260605"/>
            <a:chOff x="0" y="-38100"/>
            <a:chExt cx="406400" cy="225405"/>
          </a:xfrm>
        </p:grpSpPr>
        <p:sp>
          <p:nvSpPr>
            <p:cNvPr id="252" name="Google Shape;252;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53" name="Google Shape;253;p2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4" name="Google Shape;254;p2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255" name="Google Shape;255;p20"/>
          <p:cNvGrpSpPr/>
          <p:nvPr/>
        </p:nvGrpSpPr>
        <p:grpSpPr>
          <a:xfrm>
            <a:off x="-2718010" y="9274530"/>
            <a:ext cx="7950378" cy="1707223"/>
            <a:chOff x="0" y="-384760"/>
            <a:chExt cx="10600504" cy="2276297"/>
          </a:xfrm>
        </p:grpSpPr>
        <p:grpSp>
          <p:nvGrpSpPr>
            <p:cNvPr id="256" name="Google Shape;256;p20"/>
            <p:cNvGrpSpPr/>
            <p:nvPr/>
          </p:nvGrpSpPr>
          <p:grpSpPr>
            <a:xfrm>
              <a:off x="0" y="-384760"/>
              <a:ext cx="10600504" cy="2276297"/>
              <a:chOff x="0" y="-38100"/>
              <a:chExt cx="1049690" cy="225405"/>
            </a:xfrm>
          </p:grpSpPr>
          <p:sp>
            <p:nvSpPr>
              <p:cNvPr id="257" name="Google Shape;257;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8" name="Google Shape;258;p2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9" name="Google Shape;259;p2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0" name="Google Shape;260;p20"/>
          <p:cNvSpPr txBox="1"/>
          <p:nvPr/>
        </p:nvSpPr>
        <p:spPr>
          <a:xfrm>
            <a:off x="3203547" y="602375"/>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Dạng nối từ</a:t>
            </a:r>
            <a:endParaRPr b="1" sz="6000">
              <a:solidFill>
                <a:srgbClr val="018345"/>
              </a:solidFill>
              <a:latin typeface="Montserrat"/>
              <a:ea typeface="Montserrat"/>
              <a:cs typeface="Montserrat"/>
              <a:sym typeface="Montserrat"/>
            </a:endParaRPr>
          </a:p>
        </p:txBody>
      </p:sp>
      <p:pic>
        <p:nvPicPr>
          <p:cNvPr id="261" name="Google Shape;261;p20"/>
          <p:cNvPicPr preferRelativeResize="0"/>
          <p:nvPr/>
        </p:nvPicPr>
        <p:blipFill>
          <a:blip r:embed="rId4">
            <a:alphaModFix/>
          </a:blip>
          <a:stretch>
            <a:fillRect/>
          </a:stretch>
        </p:blipFill>
        <p:spPr>
          <a:xfrm>
            <a:off x="3339675" y="2169189"/>
            <a:ext cx="11880901" cy="624065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cxnSp>
        <p:nvCxnSpPr>
          <p:cNvPr id="267" name="Google Shape;267;p21"/>
          <p:cNvCxnSpPr/>
          <p:nvPr/>
        </p:nvCxnSpPr>
        <p:spPr>
          <a:xfrm flipH="1" rot="10800000">
            <a:off x="4154501" y="175862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68" name="Google Shape;268;p21"/>
          <p:cNvGrpSpPr/>
          <p:nvPr/>
        </p:nvGrpSpPr>
        <p:grpSpPr>
          <a:xfrm rot="10800000">
            <a:off x="15785084" y="-536938"/>
            <a:ext cx="7681773" cy="4260605"/>
            <a:chOff x="0" y="-38100"/>
            <a:chExt cx="406400" cy="225405"/>
          </a:xfrm>
        </p:grpSpPr>
        <p:sp>
          <p:nvSpPr>
            <p:cNvPr id="269" name="Google Shape;269;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70" name="Google Shape;270;p2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1" name="Google Shape;271;p2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272" name="Google Shape;272;p21"/>
          <p:cNvGrpSpPr/>
          <p:nvPr/>
        </p:nvGrpSpPr>
        <p:grpSpPr>
          <a:xfrm>
            <a:off x="-2718010" y="9274530"/>
            <a:ext cx="7950378" cy="1707223"/>
            <a:chOff x="0" y="-384760"/>
            <a:chExt cx="10600504" cy="2276297"/>
          </a:xfrm>
        </p:grpSpPr>
        <p:grpSp>
          <p:nvGrpSpPr>
            <p:cNvPr id="273" name="Google Shape;273;p21"/>
            <p:cNvGrpSpPr/>
            <p:nvPr/>
          </p:nvGrpSpPr>
          <p:grpSpPr>
            <a:xfrm>
              <a:off x="0" y="-384760"/>
              <a:ext cx="10600504" cy="2276297"/>
              <a:chOff x="0" y="-38100"/>
              <a:chExt cx="1049690" cy="225405"/>
            </a:xfrm>
          </p:grpSpPr>
          <p:sp>
            <p:nvSpPr>
              <p:cNvPr id="274" name="Google Shape;274;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75" name="Google Shape;275;p2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6" name="Google Shape;276;p2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7" name="Google Shape;277;p21"/>
          <p:cNvSpPr txBox="1"/>
          <p:nvPr/>
        </p:nvSpPr>
        <p:spPr>
          <a:xfrm>
            <a:off x="251575" y="602375"/>
            <a:ext cx="17219700" cy="7695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5000">
                <a:solidFill>
                  <a:srgbClr val="018345"/>
                </a:solidFill>
                <a:latin typeface="Montserrat"/>
                <a:ea typeface="Montserrat"/>
                <a:cs typeface="Montserrat"/>
                <a:sym typeface="Montserrat"/>
              </a:rPr>
              <a:t>Dạng tìm từ phù hợp với định nghĩa</a:t>
            </a:r>
            <a:endParaRPr b="1" sz="5000">
              <a:solidFill>
                <a:srgbClr val="018345"/>
              </a:solidFill>
              <a:latin typeface="Montserrat"/>
              <a:ea typeface="Montserrat"/>
              <a:cs typeface="Montserrat"/>
              <a:sym typeface="Montserrat"/>
            </a:endParaRPr>
          </a:p>
        </p:txBody>
      </p:sp>
      <p:pic>
        <p:nvPicPr>
          <p:cNvPr id="278" name="Google Shape;278;p21"/>
          <p:cNvPicPr preferRelativeResize="0"/>
          <p:nvPr/>
        </p:nvPicPr>
        <p:blipFill>
          <a:blip r:embed="rId4">
            <a:alphaModFix/>
          </a:blip>
          <a:stretch>
            <a:fillRect/>
          </a:stretch>
        </p:blipFill>
        <p:spPr>
          <a:xfrm>
            <a:off x="2850501" y="2291076"/>
            <a:ext cx="13055226" cy="678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cxnSp>
        <p:nvCxnSpPr>
          <p:cNvPr id="284" name="Google Shape;284;p22"/>
          <p:cNvCxnSpPr/>
          <p:nvPr/>
        </p:nvCxnSpPr>
        <p:spPr>
          <a:xfrm flipH="1" rot="10800000">
            <a:off x="4154501" y="175862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85" name="Google Shape;285;p22"/>
          <p:cNvGrpSpPr/>
          <p:nvPr/>
        </p:nvGrpSpPr>
        <p:grpSpPr>
          <a:xfrm rot="10800000">
            <a:off x="15785084" y="-536938"/>
            <a:ext cx="7681773" cy="4260605"/>
            <a:chOff x="0" y="-38100"/>
            <a:chExt cx="406400" cy="225405"/>
          </a:xfrm>
        </p:grpSpPr>
        <p:sp>
          <p:nvSpPr>
            <p:cNvPr id="286" name="Google Shape;286;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7" name="Google Shape;287;p2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8" name="Google Shape;288;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289" name="Google Shape;289;p22"/>
          <p:cNvGrpSpPr/>
          <p:nvPr/>
        </p:nvGrpSpPr>
        <p:grpSpPr>
          <a:xfrm>
            <a:off x="-2718010" y="9274530"/>
            <a:ext cx="7950378" cy="1707223"/>
            <a:chOff x="0" y="-384760"/>
            <a:chExt cx="10600504" cy="2276297"/>
          </a:xfrm>
        </p:grpSpPr>
        <p:grpSp>
          <p:nvGrpSpPr>
            <p:cNvPr id="290" name="Google Shape;290;p22"/>
            <p:cNvGrpSpPr/>
            <p:nvPr/>
          </p:nvGrpSpPr>
          <p:grpSpPr>
            <a:xfrm>
              <a:off x="0" y="-384760"/>
              <a:ext cx="10600504" cy="2276297"/>
              <a:chOff x="0" y="-38100"/>
              <a:chExt cx="1049690" cy="225405"/>
            </a:xfrm>
          </p:grpSpPr>
          <p:sp>
            <p:nvSpPr>
              <p:cNvPr id="291" name="Google Shape;291;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2" name="Google Shape;292;p2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3" name="Google Shape;293;p2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4" name="Google Shape;294;p22"/>
          <p:cNvSpPr txBox="1"/>
          <p:nvPr/>
        </p:nvSpPr>
        <p:spPr>
          <a:xfrm>
            <a:off x="754750" y="602375"/>
            <a:ext cx="17219700" cy="7695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5000">
                <a:solidFill>
                  <a:srgbClr val="018345"/>
                </a:solidFill>
                <a:latin typeface="Montserrat"/>
                <a:ea typeface="Montserrat"/>
                <a:cs typeface="Montserrat"/>
                <a:sym typeface="Montserrat"/>
              </a:rPr>
              <a:t>Hoàn thành câu sử dụng từ thích hợp</a:t>
            </a:r>
            <a:endParaRPr b="1" sz="5000">
              <a:solidFill>
                <a:srgbClr val="018345"/>
              </a:solidFill>
              <a:latin typeface="Montserrat"/>
              <a:ea typeface="Montserrat"/>
              <a:cs typeface="Montserrat"/>
              <a:sym typeface="Montserrat"/>
            </a:endParaRPr>
          </a:p>
        </p:txBody>
      </p:sp>
      <p:pic>
        <p:nvPicPr>
          <p:cNvPr id="295" name="Google Shape;295;p22"/>
          <p:cNvPicPr preferRelativeResize="0"/>
          <p:nvPr/>
        </p:nvPicPr>
        <p:blipFill>
          <a:blip r:embed="rId4">
            <a:alphaModFix/>
          </a:blip>
          <a:stretch>
            <a:fillRect/>
          </a:stretch>
        </p:blipFill>
        <p:spPr>
          <a:xfrm>
            <a:off x="2431738" y="2195785"/>
            <a:ext cx="14095366" cy="723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cxnSp>
        <p:nvCxnSpPr>
          <p:cNvPr id="301" name="Google Shape;301;p23"/>
          <p:cNvCxnSpPr/>
          <p:nvPr/>
        </p:nvCxnSpPr>
        <p:spPr>
          <a:xfrm flipH="1" rot="10800000">
            <a:off x="4154501" y="175862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302" name="Google Shape;302;p23"/>
          <p:cNvGrpSpPr/>
          <p:nvPr/>
        </p:nvGrpSpPr>
        <p:grpSpPr>
          <a:xfrm rot="10800000">
            <a:off x="15785084" y="-536938"/>
            <a:ext cx="7681773" cy="4260605"/>
            <a:chOff x="0" y="-38100"/>
            <a:chExt cx="406400" cy="225405"/>
          </a:xfrm>
        </p:grpSpPr>
        <p:sp>
          <p:nvSpPr>
            <p:cNvPr id="303" name="Google Shape;303;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4" name="Google Shape;304;p2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5" name="Google Shape;305;p2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06" name="Google Shape;306;p23"/>
          <p:cNvGrpSpPr/>
          <p:nvPr/>
        </p:nvGrpSpPr>
        <p:grpSpPr>
          <a:xfrm>
            <a:off x="-2718010" y="9274530"/>
            <a:ext cx="7950378" cy="1707223"/>
            <a:chOff x="0" y="-384760"/>
            <a:chExt cx="10600504" cy="2276297"/>
          </a:xfrm>
        </p:grpSpPr>
        <p:grpSp>
          <p:nvGrpSpPr>
            <p:cNvPr id="307" name="Google Shape;307;p23"/>
            <p:cNvGrpSpPr/>
            <p:nvPr/>
          </p:nvGrpSpPr>
          <p:grpSpPr>
            <a:xfrm>
              <a:off x="0" y="-384760"/>
              <a:ext cx="10600504" cy="2276297"/>
              <a:chOff x="0" y="-38100"/>
              <a:chExt cx="1049690" cy="225405"/>
            </a:xfrm>
          </p:grpSpPr>
          <p:sp>
            <p:nvSpPr>
              <p:cNvPr id="308" name="Google Shape;308;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09" name="Google Shape;309;p2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0" name="Google Shape;310;p2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1" name="Google Shape;311;p23"/>
          <p:cNvSpPr txBox="1"/>
          <p:nvPr/>
        </p:nvSpPr>
        <p:spPr>
          <a:xfrm>
            <a:off x="251575" y="602375"/>
            <a:ext cx="17219700" cy="7695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5000">
                <a:solidFill>
                  <a:srgbClr val="018345"/>
                </a:solidFill>
                <a:latin typeface="Montserrat"/>
                <a:ea typeface="Montserrat"/>
                <a:cs typeface="Montserrat"/>
                <a:sym typeface="Montserrat"/>
              </a:rPr>
              <a:t>Ghép từ</a:t>
            </a:r>
            <a:endParaRPr b="1" sz="5000">
              <a:solidFill>
                <a:srgbClr val="018345"/>
              </a:solidFill>
              <a:latin typeface="Montserrat"/>
              <a:ea typeface="Montserrat"/>
              <a:cs typeface="Montserrat"/>
              <a:sym typeface="Montserrat"/>
            </a:endParaRPr>
          </a:p>
        </p:txBody>
      </p:sp>
      <p:pic>
        <p:nvPicPr>
          <p:cNvPr id="312" name="Google Shape;312;p23"/>
          <p:cNvPicPr preferRelativeResize="0"/>
          <p:nvPr/>
        </p:nvPicPr>
        <p:blipFill>
          <a:blip r:embed="rId4">
            <a:alphaModFix/>
          </a:blip>
          <a:stretch>
            <a:fillRect/>
          </a:stretch>
        </p:blipFill>
        <p:spPr>
          <a:xfrm>
            <a:off x="2216113" y="2195786"/>
            <a:ext cx="13290613" cy="703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cxnSp>
        <p:nvCxnSpPr>
          <p:cNvPr id="317" name="Google Shape;317;p24"/>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18" name="Google Shape;318;p2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19" name="Google Shape;319;p24"/>
          <p:cNvGrpSpPr/>
          <p:nvPr/>
        </p:nvGrpSpPr>
        <p:grpSpPr>
          <a:xfrm rot="10800000">
            <a:off x="15044552" y="-741521"/>
            <a:ext cx="7681766" cy="4260610"/>
            <a:chOff x="0" y="-38100"/>
            <a:chExt cx="406400" cy="225405"/>
          </a:xfrm>
        </p:grpSpPr>
        <p:sp>
          <p:nvSpPr>
            <p:cNvPr id="320" name="Google Shape;320;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21" name="Google Shape;321;p2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22" name="Google Shape;322;p2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23" name="Google Shape;323;p24"/>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24" name="Google Shape;324;p24"/>
          <p:cNvSpPr txBox="1"/>
          <p:nvPr/>
        </p:nvSpPr>
        <p:spPr>
          <a:xfrm>
            <a:off x="5232390" y="2564021"/>
            <a:ext cx="11760209" cy="1104085"/>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endParaRPr/>
          </a:p>
        </p:txBody>
      </p:sp>
      <p:sp>
        <p:nvSpPr>
          <p:cNvPr id="325" name="Google Shape;325;p24"/>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326" name="Google Shape;326;p24"/>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27" name="Google Shape;327;p24"/>
          <p:cNvGrpSpPr/>
          <p:nvPr/>
        </p:nvGrpSpPr>
        <p:grpSpPr>
          <a:xfrm>
            <a:off x="-2718010" y="9274528"/>
            <a:ext cx="7950400" cy="1707231"/>
            <a:chOff x="0" y="-384762"/>
            <a:chExt cx="10600533" cy="2276307"/>
          </a:xfrm>
        </p:grpSpPr>
        <p:grpSp>
          <p:nvGrpSpPr>
            <p:cNvPr id="328" name="Google Shape;328;p24"/>
            <p:cNvGrpSpPr/>
            <p:nvPr/>
          </p:nvGrpSpPr>
          <p:grpSpPr>
            <a:xfrm>
              <a:off x="0" y="-384762"/>
              <a:ext cx="10600533" cy="2276307"/>
              <a:chOff x="0" y="-38100"/>
              <a:chExt cx="1049690" cy="225405"/>
            </a:xfrm>
          </p:grpSpPr>
          <p:sp>
            <p:nvSpPr>
              <p:cNvPr id="329" name="Google Shape;329;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30" name="Google Shape;330;p2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1" name="Google Shape;331;p2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2" name="Google Shape;332;p24"/>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ppt_w</p:attrName>
                                        </p:attrNameLst>
                                      </p:cBhvr>
                                      <p:tavLst>
                                        <p:tav fmla="" tm="0">
                                          <p:val>
                                            <p:strVal val="0"/>
                                          </p:val>
                                        </p:tav>
                                        <p:tav fmla="" tm="100000">
                                          <p:val>
                                            <p:strVal val="#ppt_w"/>
                                          </p:val>
                                        </p:tav>
                                      </p:tavLst>
                                    </p:anim>
                                    <p:anim calcmode="lin" valueType="num">
                                      <p:cBhvr additive="base">
                                        <p:cTn dur="500"/>
                                        <p:tgtEl>
                                          <p:spTgt spid="32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24"/>
                                        </p:tgtEl>
                                        <p:attrNameLst>
                                          <p:attrName>style.visibility</p:attrName>
                                        </p:attrNameLst>
                                      </p:cBhvr>
                                      <p:to>
                                        <p:strVal val="visible"/>
                                      </p:to>
                                    </p:set>
                                    <p:anim calcmode="lin" valueType="num">
                                      <p:cBhvr additive="base">
                                        <p:cTn dur="500"/>
                                        <p:tgtEl>
                                          <p:spTgt spid="324"/>
                                        </p:tgtEl>
                                        <p:attrNameLst>
                                          <p:attrName>ppt_w</p:attrName>
                                        </p:attrNameLst>
                                      </p:cBhvr>
                                      <p:tavLst>
                                        <p:tav fmla="" tm="0">
                                          <p:val>
                                            <p:strVal val="0"/>
                                          </p:val>
                                        </p:tav>
                                        <p:tav fmla="" tm="100000">
                                          <p:val>
                                            <p:strVal val="#ppt_w"/>
                                          </p:val>
                                        </p:tav>
                                      </p:tavLst>
                                    </p:anim>
                                    <p:anim calcmode="lin" valueType="num">
                                      <p:cBhvr additive="base">
                                        <p:cTn dur="500"/>
                                        <p:tgtEl>
                                          <p:spTgt spid="32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cxnSp>
        <p:nvCxnSpPr>
          <p:cNvPr id="338" name="Google Shape;338;p25"/>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339" name="Google Shape;339;p25"/>
          <p:cNvGrpSpPr/>
          <p:nvPr/>
        </p:nvGrpSpPr>
        <p:grpSpPr>
          <a:xfrm rot="10800000">
            <a:off x="15785091" y="-536942"/>
            <a:ext cx="7681766" cy="4260610"/>
            <a:chOff x="0" y="-38100"/>
            <a:chExt cx="406400" cy="225405"/>
          </a:xfrm>
        </p:grpSpPr>
        <p:sp>
          <p:nvSpPr>
            <p:cNvPr id="340" name="Google Shape;340;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41" name="Google Shape;341;p2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2" name="Google Shape;342;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43" name="Google Shape;343;p25"/>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Dạng nối từ</a:t>
            </a:r>
            <a:endParaRPr b="1" sz="6000">
              <a:solidFill>
                <a:srgbClr val="018345"/>
              </a:solidFill>
              <a:latin typeface="Montserrat"/>
              <a:ea typeface="Montserrat"/>
              <a:cs typeface="Montserrat"/>
              <a:sym typeface="Montserrat"/>
            </a:endParaRPr>
          </a:p>
        </p:txBody>
      </p:sp>
      <p:sp>
        <p:nvSpPr>
          <p:cNvPr id="344" name="Google Shape;344;p25"/>
          <p:cNvSpPr txBox="1"/>
          <p:nvPr/>
        </p:nvSpPr>
        <p:spPr>
          <a:xfrm>
            <a:off x="931150" y="2103900"/>
            <a:ext cx="15682200" cy="647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Select a word from the list that has the most similar meaning to the word on the left. (Chọn 1 từ trong danh sách có nghĩa gần nhất với cột bên trái)</a:t>
            </a:r>
            <a:endParaRPr b="1" sz="3200">
              <a:solidFill>
                <a:schemeClr val="dk1"/>
              </a:solidFill>
              <a:latin typeface="Calibri"/>
              <a:ea typeface="Calibri"/>
              <a:cs typeface="Calibri"/>
              <a:sym typeface="Calibri"/>
            </a:endParaRPr>
          </a:p>
        </p:txBody>
      </p:sp>
      <p:sp>
        <p:nvSpPr>
          <p:cNvPr id="345" name="Google Shape;345;p25"/>
          <p:cNvSpPr txBox="1"/>
          <p:nvPr/>
        </p:nvSpPr>
        <p:spPr>
          <a:xfrm>
            <a:off x="4195800" y="4102175"/>
            <a:ext cx="3690000" cy="382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argue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swap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collapse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own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occur</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
        <p:nvSpPr>
          <p:cNvPr id="346" name="Google Shape;346;p25"/>
          <p:cNvSpPr txBox="1"/>
          <p:nvPr/>
        </p:nvSpPr>
        <p:spPr>
          <a:xfrm>
            <a:off x="836350" y="8325875"/>
            <a:ext cx="17235600" cy="923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Danh sách</a:t>
            </a:r>
            <a:r>
              <a:rPr lang="en-US" sz="3200">
                <a:solidFill>
                  <a:schemeClr val="dk1"/>
                </a:solidFill>
                <a:latin typeface="Calibri"/>
                <a:ea typeface="Calibri"/>
                <a:cs typeface="Calibri"/>
                <a:sym typeface="Calibri"/>
              </a:rPr>
              <a:t>: exchange, disagree, remind, possess, fall, happen, construct, approach, finish, guess, share</a:t>
            </a:r>
            <a:endParaRPr sz="3200">
              <a:solidFill>
                <a:schemeClr val="dk1"/>
              </a:solidFill>
              <a:latin typeface="Calibri"/>
              <a:ea typeface="Calibri"/>
              <a:cs typeface="Calibri"/>
              <a:sym typeface="Calibri"/>
            </a:endParaRPr>
          </a:p>
        </p:txBody>
      </p:sp>
      <p:sp>
        <p:nvSpPr>
          <p:cNvPr id="347" name="Google Shape;347;p25"/>
          <p:cNvSpPr txBox="1"/>
          <p:nvPr/>
        </p:nvSpPr>
        <p:spPr>
          <a:xfrm>
            <a:off x="9355550" y="4102175"/>
            <a:ext cx="3690000" cy="382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disagree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exchange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fall</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possess</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happen</a:t>
            </a:r>
            <a:endParaRPr sz="3200">
              <a:solidFill>
                <a:schemeClr val="dk1"/>
              </a:solidFill>
              <a:latin typeface="Calibri"/>
              <a:ea typeface="Calibri"/>
              <a:cs typeface="Calibri"/>
              <a:sym typeface="Calibri"/>
            </a:endParaRPr>
          </a:p>
        </p:txBody>
      </p:sp>
      <p:sp>
        <p:nvSpPr>
          <p:cNvPr id="348" name="Google Shape;348;p25"/>
          <p:cNvSpPr/>
          <p:nvPr/>
        </p:nvSpPr>
        <p:spPr>
          <a:xfrm>
            <a:off x="6806900" y="4321075"/>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49" name="Google Shape;349;p25"/>
          <p:cNvSpPr/>
          <p:nvPr/>
        </p:nvSpPr>
        <p:spPr>
          <a:xfrm>
            <a:off x="6806900" y="5077500"/>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0" name="Google Shape;350;p25"/>
          <p:cNvSpPr/>
          <p:nvPr/>
        </p:nvSpPr>
        <p:spPr>
          <a:xfrm>
            <a:off x="6806900" y="5833925"/>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1" name="Google Shape;351;p25"/>
          <p:cNvSpPr/>
          <p:nvPr/>
        </p:nvSpPr>
        <p:spPr>
          <a:xfrm>
            <a:off x="6806900" y="6590350"/>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2" name="Google Shape;352;p25"/>
          <p:cNvSpPr/>
          <p:nvPr/>
        </p:nvSpPr>
        <p:spPr>
          <a:xfrm>
            <a:off x="6806900" y="7346775"/>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cxnSp>
        <p:nvCxnSpPr>
          <p:cNvPr id="358" name="Google Shape;358;p26"/>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359" name="Google Shape;359;p26"/>
          <p:cNvGrpSpPr/>
          <p:nvPr/>
        </p:nvGrpSpPr>
        <p:grpSpPr>
          <a:xfrm rot="10800000">
            <a:off x="15785084" y="-536938"/>
            <a:ext cx="7681773" cy="4260605"/>
            <a:chOff x="0" y="-38100"/>
            <a:chExt cx="406400" cy="225405"/>
          </a:xfrm>
        </p:grpSpPr>
        <p:sp>
          <p:nvSpPr>
            <p:cNvPr id="360" name="Google Shape;360;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61" name="Google Shape;361;p2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2" name="Google Shape;362;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63" name="Google Shape;363;p26"/>
          <p:cNvSpPr txBox="1"/>
          <p:nvPr/>
        </p:nvSpPr>
        <p:spPr>
          <a:xfrm>
            <a:off x="4977850" y="657400"/>
            <a:ext cx="15336900" cy="7695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5000">
                <a:solidFill>
                  <a:srgbClr val="018345"/>
                </a:solidFill>
                <a:latin typeface="Montserrat"/>
                <a:ea typeface="Montserrat"/>
                <a:cs typeface="Montserrat"/>
                <a:sym typeface="Montserrat"/>
              </a:rPr>
              <a:t>T</a:t>
            </a:r>
            <a:r>
              <a:rPr b="1" lang="en-US" sz="5000">
                <a:solidFill>
                  <a:srgbClr val="018345"/>
                </a:solidFill>
                <a:latin typeface="Montserrat"/>
                <a:ea typeface="Montserrat"/>
                <a:cs typeface="Montserrat"/>
                <a:sym typeface="Montserrat"/>
              </a:rPr>
              <a:t>ừ vựng hữu ích</a:t>
            </a:r>
            <a:endParaRPr b="1" sz="5000">
              <a:solidFill>
                <a:srgbClr val="018345"/>
              </a:solidFill>
              <a:latin typeface="Montserrat"/>
              <a:ea typeface="Montserrat"/>
              <a:cs typeface="Montserrat"/>
              <a:sym typeface="Montserrat"/>
            </a:endParaRPr>
          </a:p>
        </p:txBody>
      </p:sp>
      <p:sp>
        <p:nvSpPr>
          <p:cNvPr id="364" name="Google Shape;364;p26"/>
          <p:cNvSpPr txBox="1"/>
          <p:nvPr/>
        </p:nvSpPr>
        <p:spPr>
          <a:xfrm>
            <a:off x="7537500" y="2852175"/>
            <a:ext cx="4260900" cy="8816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argue - tranh cãi</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swap - hoán đổi</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collapse - sụp đổ, đổ</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own - sở hữu</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occur - xảy ra</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disagree - không đồng ý</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exchange - trao đổi</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fall - ngã, đổ</a:t>
            </a:r>
            <a:endParaRPr sz="3200">
              <a:solidFill>
                <a:schemeClr val="dk1"/>
              </a:solidFill>
              <a:latin typeface="Calibri"/>
              <a:ea typeface="Calibri"/>
              <a:cs typeface="Calibri"/>
              <a:sym typeface="Calibri"/>
            </a:endParaRPr>
          </a:p>
        </p:txBody>
      </p:sp>
      <p:sp>
        <p:nvSpPr>
          <p:cNvPr id="365" name="Google Shape;365;p26"/>
          <p:cNvSpPr txBox="1"/>
          <p:nvPr/>
        </p:nvSpPr>
        <p:spPr>
          <a:xfrm>
            <a:off x="13738595" y="2852175"/>
            <a:ext cx="4260900" cy="8816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possess - sở hữu</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happen - xảy ra</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remind - nhắc nhở</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construct - xây dựng</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approach - tiếp cận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finish - hoàn thành</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guess - đoán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share - chia sẻ</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cxnSp>
        <p:nvCxnSpPr>
          <p:cNvPr id="371" name="Google Shape;371;p27"/>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372" name="Google Shape;372;p27"/>
          <p:cNvGrpSpPr/>
          <p:nvPr/>
        </p:nvGrpSpPr>
        <p:grpSpPr>
          <a:xfrm rot="10800000">
            <a:off x="15785084" y="-536938"/>
            <a:ext cx="7681773" cy="4260605"/>
            <a:chOff x="0" y="-38100"/>
            <a:chExt cx="406400" cy="225405"/>
          </a:xfrm>
        </p:grpSpPr>
        <p:sp>
          <p:nvSpPr>
            <p:cNvPr id="373" name="Google Shape;373;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4" name="Google Shape;374;p2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5" name="Google Shape;375;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76" name="Google Shape;376;p27"/>
          <p:cNvSpPr txBox="1"/>
          <p:nvPr/>
        </p:nvSpPr>
        <p:spPr>
          <a:xfrm>
            <a:off x="3017799" y="571850"/>
            <a:ext cx="12872700" cy="7695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None/>
            </a:pPr>
            <a:r>
              <a:rPr b="1" lang="en-US" sz="5000">
                <a:solidFill>
                  <a:srgbClr val="018345"/>
                </a:solidFill>
                <a:latin typeface="Montserrat"/>
                <a:ea typeface="Montserrat"/>
                <a:cs typeface="Montserrat"/>
                <a:sym typeface="Montserrat"/>
              </a:rPr>
              <a:t>Dạng tìm từ phù hợp với định nghĩa</a:t>
            </a:r>
            <a:endParaRPr b="1" sz="6000">
              <a:solidFill>
                <a:srgbClr val="018345"/>
              </a:solidFill>
              <a:latin typeface="Montserrat"/>
              <a:ea typeface="Montserrat"/>
              <a:cs typeface="Montserrat"/>
              <a:sym typeface="Montserrat"/>
            </a:endParaRPr>
          </a:p>
        </p:txBody>
      </p:sp>
      <p:sp>
        <p:nvSpPr>
          <p:cNvPr id="377" name="Google Shape;377;p27"/>
          <p:cNvSpPr txBox="1"/>
          <p:nvPr/>
        </p:nvSpPr>
        <p:spPr>
          <a:xfrm>
            <a:off x="931150" y="2103900"/>
            <a:ext cx="15682200" cy="647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Complete each definition using a word from the list. Use each word once only</a:t>
            </a:r>
            <a:r>
              <a:rPr b="1" lang="en-US" sz="3200">
                <a:solidFill>
                  <a:schemeClr val="dk1"/>
                </a:solidFill>
                <a:latin typeface="Calibri"/>
                <a:ea typeface="Calibri"/>
                <a:cs typeface="Calibri"/>
                <a:sym typeface="Calibri"/>
              </a:rPr>
              <a:t>. (Hoàn thành mỗi định nghĩa sau bằng 1 từ trong danh sách. Mỗi từ chỉ dùng 1 lần).</a:t>
            </a:r>
            <a:endParaRPr b="1" sz="3200">
              <a:solidFill>
                <a:schemeClr val="dk1"/>
              </a:solidFill>
              <a:latin typeface="Calibri"/>
              <a:ea typeface="Calibri"/>
              <a:cs typeface="Calibri"/>
              <a:sym typeface="Calibri"/>
            </a:endParaRPr>
          </a:p>
        </p:txBody>
      </p:sp>
      <p:sp>
        <p:nvSpPr>
          <p:cNvPr id="378" name="Google Shape;378;p27"/>
          <p:cNvSpPr txBox="1"/>
          <p:nvPr/>
        </p:nvSpPr>
        <p:spPr>
          <a:xfrm>
            <a:off x="1137775" y="4334475"/>
            <a:ext cx="5329200" cy="382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To get better at something is to</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To choose something is to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To get money from work is to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To help someone is to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To give someone a job is to</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
        <p:nvSpPr>
          <p:cNvPr id="379" name="Google Shape;379;p27"/>
          <p:cNvSpPr txBox="1"/>
          <p:nvPr/>
        </p:nvSpPr>
        <p:spPr>
          <a:xfrm>
            <a:off x="844925" y="8558175"/>
            <a:ext cx="17235600" cy="923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Danh sách</a:t>
            </a:r>
            <a:r>
              <a:rPr lang="en-US" sz="3200">
                <a:solidFill>
                  <a:schemeClr val="dk1"/>
                </a:solidFill>
                <a:latin typeface="Calibri"/>
                <a:ea typeface="Calibri"/>
                <a:cs typeface="Calibri"/>
                <a:sym typeface="Calibri"/>
              </a:rPr>
              <a:t>: proceed, donate, employ, decide, receive, assist, fire, earn, hesitate, improve, depend</a:t>
            </a:r>
            <a:endParaRPr sz="3200">
              <a:solidFill>
                <a:schemeClr val="dk1"/>
              </a:solidFill>
              <a:latin typeface="Calibri"/>
              <a:ea typeface="Calibri"/>
              <a:cs typeface="Calibri"/>
              <a:sym typeface="Calibri"/>
            </a:endParaRPr>
          </a:p>
        </p:txBody>
      </p:sp>
      <p:sp>
        <p:nvSpPr>
          <p:cNvPr id="380" name="Google Shape;380;p27"/>
          <p:cNvSpPr txBox="1"/>
          <p:nvPr/>
        </p:nvSpPr>
        <p:spPr>
          <a:xfrm>
            <a:off x="9364125" y="4334475"/>
            <a:ext cx="3690000" cy="382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improve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decide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earn</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assist</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employ</a:t>
            </a:r>
            <a:endParaRPr sz="3200">
              <a:solidFill>
                <a:schemeClr val="dk1"/>
              </a:solidFill>
              <a:latin typeface="Calibri"/>
              <a:ea typeface="Calibri"/>
              <a:cs typeface="Calibri"/>
              <a:sym typeface="Calibri"/>
            </a:endParaRPr>
          </a:p>
        </p:txBody>
      </p:sp>
      <p:sp>
        <p:nvSpPr>
          <p:cNvPr id="381" name="Google Shape;381;p27"/>
          <p:cNvSpPr/>
          <p:nvPr/>
        </p:nvSpPr>
        <p:spPr>
          <a:xfrm>
            <a:off x="6815475" y="4553375"/>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2" name="Google Shape;382;p27"/>
          <p:cNvSpPr/>
          <p:nvPr/>
        </p:nvSpPr>
        <p:spPr>
          <a:xfrm>
            <a:off x="6815475" y="5309800"/>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3" name="Google Shape;383;p27"/>
          <p:cNvSpPr/>
          <p:nvPr/>
        </p:nvSpPr>
        <p:spPr>
          <a:xfrm>
            <a:off x="6815475" y="6066225"/>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4" name="Google Shape;384;p27"/>
          <p:cNvSpPr/>
          <p:nvPr/>
        </p:nvSpPr>
        <p:spPr>
          <a:xfrm>
            <a:off x="6815475" y="6822650"/>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5" name="Google Shape;385;p27"/>
          <p:cNvSpPr/>
          <p:nvPr/>
        </p:nvSpPr>
        <p:spPr>
          <a:xfrm>
            <a:off x="6815475" y="7579075"/>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cxnSp>
        <p:nvCxnSpPr>
          <p:cNvPr id="391" name="Google Shape;391;p28"/>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392" name="Google Shape;392;p28"/>
          <p:cNvGrpSpPr/>
          <p:nvPr/>
        </p:nvGrpSpPr>
        <p:grpSpPr>
          <a:xfrm rot="10800000">
            <a:off x="15785084" y="-536938"/>
            <a:ext cx="7681773" cy="4260605"/>
            <a:chOff x="0" y="-38100"/>
            <a:chExt cx="406400" cy="225405"/>
          </a:xfrm>
        </p:grpSpPr>
        <p:sp>
          <p:nvSpPr>
            <p:cNvPr id="393" name="Google Shape;393;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94" name="Google Shape;394;p2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5" name="Google Shape;395;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96" name="Google Shape;396;p28"/>
          <p:cNvSpPr txBox="1"/>
          <p:nvPr/>
        </p:nvSpPr>
        <p:spPr>
          <a:xfrm>
            <a:off x="4977850" y="657400"/>
            <a:ext cx="15336900" cy="7695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5000">
                <a:solidFill>
                  <a:srgbClr val="018345"/>
                </a:solidFill>
                <a:latin typeface="Montserrat"/>
                <a:ea typeface="Montserrat"/>
                <a:cs typeface="Montserrat"/>
                <a:sym typeface="Montserrat"/>
              </a:rPr>
              <a:t>Từ vựng hữu ích</a:t>
            </a:r>
            <a:endParaRPr b="1" sz="5000">
              <a:solidFill>
                <a:srgbClr val="018345"/>
              </a:solidFill>
              <a:latin typeface="Montserrat"/>
              <a:ea typeface="Montserrat"/>
              <a:cs typeface="Montserrat"/>
              <a:sym typeface="Montserrat"/>
            </a:endParaRPr>
          </a:p>
        </p:txBody>
      </p:sp>
      <p:sp>
        <p:nvSpPr>
          <p:cNvPr id="397" name="Google Shape;397;p28"/>
          <p:cNvSpPr txBox="1"/>
          <p:nvPr/>
        </p:nvSpPr>
        <p:spPr>
          <a:xfrm>
            <a:off x="7537500" y="2296550"/>
            <a:ext cx="5003700" cy="8816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get better - trở nên tốt hơn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choose - chọn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get money - kiếm tiền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help - giúp đỡ</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give - đưa cho</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job - công việc</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work - làm việc</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proceed - tiến hành</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donate - quyên góp</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
        <p:nvSpPr>
          <p:cNvPr id="398" name="Google Shape;398;p28"/>
          <p:cNvSpPr txBox="1"/>
          <p:nvPr/>
        </p:nvSpPr>
        <p:spPr>
          <a:xfrm>
            <a:off x="13738595" y="2296550"/>
            <a:ext cx="4260900" cy="8816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employ - thuê</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decide - quyết định</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receive - nhận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assist - hỗ trợ</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fire - sa thải</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earn - kiếm được</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hesitate - do dự</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improve - cải thiện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depend - phụ thuộc</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cxnSp>
        <p:nvCxnSpPr>
          <p:cNvPr id="404" name="Google Shape;404;p29"/>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05" name="Google Shape;405;p29"/>
          <p:cNvGrpSpPr/>
          <p:nvPr/>
        </p:nvGrpSpPr>
        <p:grpSpPr>
          <a:xfrm rot="10800000">
            <a:off x="15785084" y="-536938"/>
            <a:ext cx="7681773" cy="4260605"/>
            <a:chOff x="0" y="-38100"/>
            <a:chExt cx="406400" cy="225405"/>
          </a:xfrm>
        </p:grpSpPr>
        <p:sp>
          <p:nvSpPr>
            <p:cNvPr id="406" name="Google Shape;406;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07" name="Google Shape;407;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8" name="Google Shape;408;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09" name="Google Shape;409;p29"/>
          <p:cNvSpPr txBox="1"/>
          <p:nvPr/>
        </p:nvSpPr>
        <p:spPr>
          <a:xfrm>
            <a:off x="3017799" y="571850"/>
            <a:ext cx="12872700" cy="7695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None/>
            </a:pPr>
            <a:r>
              <a:rPr b="1" lang="en-US" sz="5000">
                <a:solidFill>
                  <a:srgbClr val="018345"/>
                </a:solidFill>
                <a:latin typeface="Montserrat"/>
                <a:ea typeface="Montserrat"/>
                <a:cs typeface="Montserrat"/>
                <a:sym typeface="Montserrat"/>
              </a:rPr>
              <a:t>Hoàn thành câu sử dụng từ thích hợp</a:t>
            </a:r>
            <a:endParaRPr b="1" sz="6000">
              <a:solidFill>
                <a:srgbClr val="018345"/>
              </a:solidFill>
              <a:latin typeface="Montserrat"/>
              <a:ea typeface="Montserrat"/>
              <a:cs typeface="Montserrat"/>
              <a:sym typeface="Montserrat"/>
            </a:endParaRPr>
          </a:p>
        </p:txBody>
      </p:sp>
      <p:sp>
        <p:nvSpPr>
          <p:cNvPr id="410" name="Google Shape;410;p29"/>
          <p:cNvSpPr txBox="1"/>
          <p:nvPr/>
        </p:nvSpPr>
        <p:spPr>
          <a:xfrm>
            <a:off x="931150" y="2103900"/>
            <a:ext cx="15682200" cy="647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Finish each sentence using a word from the list. Use each word once only</a:t>
            </a:r>
            <a:r>
              <a:rPr b="1" lang="en-US" sz="3200">
                <a:solidFill>
                  <a:schemeClr val="dk1"/>
                </a:solidFill>
                <a:latin typeface="Calibri"/>
                <a:ea typeface="Calibri"/>
                <a:cs typeface="Calibri"/>
                <a:sym typeface="Calibri"/>
              </a:rPr>
              <a:t>. (Hoàn thành câu sau sử dụng từ trong danh sách. Dùng mỗi từ 1 lần).</a:t>
            </a:r>
            <a:endParaRPr b="1" sz="3200">
              <a:solidFill>
                <a:schemeClr val="dk1"/>
              </a:solidFill>
              <a:latin typeface="Calibri"/>
              <a:ea typeface="Calibri"/>
              <a:cs typeface="Calibri"/>
              <a:sym typeface="Calibri"/>
            </a:endParaRPr>
          </a:p>
        </p:txBody>
      </p:sp>
      <p:sp>
        <p:nvSpPr>
          <p:cNvPr id="411" name="Google Shape;411;p29"/>
          <p:cNvSpPr txBox="1"/>
          <p:nvPr/>
        </p:nvSpPr>
        <p:spPr>
          <a:xfrm>
            <a:off x="931150" y="3846600"/>
            <a:ext cx="14153400" cy="382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After it rained, the path was all (1) ___ and my trainers got dirty.</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It is important to create an eye-catching </a:t>
            </a:r>
            <a:r>
              <a:rPr lang="en-US" sz="3200">
                <a:solidFill>
                  <a:schemeClr val="dk1"/>
                </a:solidFill>
                <a:latin typeface="Calibri"/>
                <a:ea typeface="Calibri"/>
                <a:cs typeface="Calibri"/>
                <a:sym typeface="Calibri"/>
              </a:rPr>
              <a:t>(2) ___ </a:t>
            </a:r>
            <a:r>
              <a:rPr lang="en-US" sz="3200">
                <a:solidFill>
                  <a:schemeClr val="dk1"/>
                </a:solidFill>
                <a:latin typeface="Calibri"/>
                <a:ea typeface="Calibri"/>
                <a:cs typeface="Calibri"/>
                <a:sym typeface="Calibri"/>
              </a:rPr>
              <a:t>when starting a business.</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My cousin spent a fortune on her wedding. It was incredibly </a:t>
            </a:r>
            <a:r>
              <a:rPr lang="en-US" sz="3200">
                <a:solidFill>
                  <a:schemeClr val="dk1"/>
                </a:solidFill>
                <a:latin typeface="Calibri"/>
                <a:ea typeface="Calibri"/>
                <a:cs typeface="Calibri"/>
                <a:sym typeface="Calibri"/>
              </a:rPr>
              <a:t>(3) ___</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Teachers should always give </a:t>
            </a:r>
            <a:r>
              <a:rPr lang="en-US" sz="3200">
                <a:solidFill>
                  <a:schemeClr val="dk1"/>
                </a:solidFill>
                <a:latin typeface="Calibri"/>
                <a:ea typeface="Calibri"/>
                <a:cs typeface="Calibri"/>
                <a:sym typeface="Calibri"/>
              </a:rPr>
              <a:t>(4) ___ </a:t>
            </a:r>
            <a:r>
              <a:rPr lang="en-US" sz="3200">
                <a:solidFill>
                  <a:schemeClr val="dk1"/>
                </a:solidFill>
                <a:latin typeface="Calibri"/>
                <a:ea typeface="Calibri"/>
                <a:cs typeface="Calibri"/>
                <a:sym typeface="Calibri"/>
              </a:rPr>
              <a:t>to their students so they know how to improve.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Doing voluntary work is really </a:t>
            </a:r>
            <a:r>
              <a:rPr lang="en-US" sz="3200">
                <a:solidFill>
                  <a:schemeClr val="dk1"/>
                </a:solidFill>
                <a:latin typeface="Calibri"/>
                <a:ea typeface="Calibri"/>
                <a:cs typeface="Calibri"/>
                <a:sym typeface="Calibri"/>
              </a:rPr>
              <a:t>(5) ___ </a:t>
            </a:r>
            <a:r>
              <a:rPr lang="en-US" sz="3200">
                <a:solidFill>
                  <a:schemeClr val="dk1"/>
                </a:solidFill>
                <a:latin typeface="Calibri"/>
                <a:ea typeface="Calibri"/>
                <a:cs typeface="Calibri"/>
                <a:sym typeface="Calibri"/>
              </a:rPr>
              <a:t>because it makes you feel like you are making a difference.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
        <p:nvSpPr>
          <p:cNvPr id="412" name="Google Shape;412;p29"/>
          <p:cNvSpPr txBox="1"/>
          <p:nvPr/>
        </p:nvSpPr>
        <p:spPr>
          <a:xfrm>
            <a:off x="931150" y="8558200"/>
            <a:ext cx="17235600" cy="923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Danh sách</a:t>
            </a:r>
            <a:r>
              <a:rPr lang="en-US" sz="3200">
                <a:solidFill>
                  <a:schemeClr val="dk1"/>
                </a:solidFill>
                <a:latin typeface="Calibri"/>
                <a:ea typeface="Calibri"/>
                <a:cs typeface="Calibri"/>
                <a:sym typeface="Calibri"/>
              </a:rPr>
              <a:t>: feedback, expensive, messy, logo, muddy, boring, luxurious, plan, gig, lame, rewarding</a:t>
            </a:r>
            <a:endParaRPr sz="3200">
              <a:solidFill>
                <a:schemeClr val="dk1"/>
              </a:solidFill>
              <a:latin typeface="Calibri"/>
              <a:ea typeface="Calibri"/>
              <a:cs typeface="Calibri"/>
              <a:sym typeface="Calibri"/>
            </a:endParaRPr>
          </a:p>
        </p:txBody>
      </p:sp>
      <p:sp>
        <p:nvSpPr>
          <p:cNvPr id="413" name="Google Shape;413;p29"/>
          <p:cNvSpPr txBox="1"/>
          <p:nvPr/>
        </p:nvSpPr>
        <p:spPr>
          <a:xfrm>
            <a:off x="15658175" y="3846600"/>
            <a:ext cx="3690000" cy="3823800"/>
          </a:xfrm>
          <a:prstGeom prst="rect">
            <a:avLst/>
          </a:prstGeom>
          <a:noFill/>
          <a:ln>
            <a:noFill/>
          </a:ln>
        </p:spPr>
        <p:txBody>
          <a:bodyPr anchorCtr="0" anchor="t" bIns="91425" lIns="91425" spcFirstLastPara="1" rIns="91425" wrap="square" tIns="91425">
            <a:noAutofit/>
          </a:bodyPr>
          <a:lstStyle/>
          <a:p>
            <a:pPr indent="-431800" lvl="0" marL="457200" rtl="0" algn="l">
              <a:lnSpc>
                <a:spcPct val="150000"/>
              </a:lnSpc>
              <a:spcBef>
                <a:spcPts val="0"/>
              </a:spcBef>
              <a:spcAft>
                <a:spcPts val="0"/>
              </a:spcAft>
              <a:buClr>
                <a:schemeClr val="dk1"/>
              </a:buClr>
              <a:buSzPts val="3200"/>
              <a:buFont typeface="Calibri"/>
              <a:buAutoNum type="arabicParenBoth"/>
            </a:pPr>
            <a:r>
              <a:rPr lang="en-US" sz="3200">
                <a:solidFill>
                  <a:schemeClr val="dk1"/>
                </a:solidFill>
                <a:latin typeface="Calibri"/>
                <a:ea typeface="Calibri"/>
                <a:cs typeface="Calibri"/>
                <a:sym typeface="Calibri"/>
              </a:rPr>
              <a:t>muddy</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rabicParenBoth"/>
            </a:pPr>
            <a:r>
              <a:rPr lang="en-US" sz="3200">
                <a:solidFill>
                  <a:schemeClr val="dk1"/>
                </a:solidFill>
                <a:latin typeface="Calibri"/>
                <a:ea typeface="Calibri"/>
                <a:cs typeface="Calibri"/>
                <a:sym typeface="Calibri"/>
              </a:rPr>
              <a:t>logo</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rabicParenBoth"/>
            </a:pPr>
            <a:r>
              <a:rPr lang="en-US" sz="3200">
                <a:solidFill>
                  <a:schemeClr val="dk1"/>
                </a:solidFill>
                <a:latin typeface="Calibri"/>
                <a:ea typeface="Calibri"/>
                <a:cs typeface="Calibri"/>
                <a:sym typeface="Calibri"/>
              </a:rPr>
              <a:t>luxurious</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rabicParenBoth"/>
            </a:pPr>
            <a:r>
              <a:rPr lang="en-US" sz="3200">
                <a:solidFill>
                  <a:schemeClr val="dk1"/>
                </a:solidFill>
                <a:latin typeface="Calibri"/>
                <a:ea typeface="Calibri"/>
                <a:cs typeface="Calibri"/>
                <a:sym typeface="Calibri"/>
              </a:rPr>
              <a:t>feedback</a:t>
            </a:r>
            <a:endParaRPr sz="3200">
              <a:solidFill>
                <a:schemeClr val="dk1"/>
              </a:solidFill>
              <a:latin typeface="Calibri"/>
              <a:ea typeface="Calibri"/>
              <a:cs typeface="Calibri"/>
              <a:sym typeface="Calibri"/>
            </a:endParaRPr>
          </a:p>
          <a:p>
            <a:pPr indent="-431800" lvl="0" marL="457200" rtl="0" algn="l">
              <a:lnSpc>
                <a:spcPct val="150000"/>
              </a:lnSpc>
              <a:spcBef>
                <a:spcPts val="0"/>
              </a:spcBef>
              <a:spcAft>
                <a:spcPts val="0"/>
              </a:spcAft>
              <a:buClr>
                <a:schemeClr val="dk1"/>
              </a:buClr>
              <a:buSzPts val="3200"/>
              <a:buFont typeface="Calibri"/>
              <a:buAutoNum type="arabicParenBoth"/>
            </a:pPr>
            <a:r>
              <a:rPr lang="en-US" sz="3200">
                <a:solidFill>
                  <a:schemeClr val="dk1"/>
                </a:solidFill>
                <a:latin typeface="Calibri"/>
                <a:ea typeface="Calibri"/>
                <a:cs typeface="Calibri"/>
                <a:sym typeface="Calibri"/>
              </a:rPr>
              <a:t>rewarding</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cxnSp>
        <p:nvCxnSpPr>
          <p:cNvPr id="419" name="Google Shape;419;p30"/>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420" name="Google Shape;420;p30"/>
          <p:cNvGrpSpPr/>
          <p:nvPr/>
        </p:nvGrpSpPr>
        <p:grpSpPr>
          <a:xfrm rot="10800000">
            <a:off x="15785084" y="-536938"/>
            <a:ext cx="7681773" cy="4260605"/>
            <a:chOff x="0" y="-38100"/>
            <a:chExt cx="406400" cy="225405"/>
          </a:xfrm>
        </p:grpSpPr>
        <p:sp>
          <p:nvSpPr>
            <p:cNvPr id="421" name="Google Shape;421;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22" name="Google Shape;422;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3" name="Google Shape;423;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24" name="Google Shape;424;p30"/>
          <p:cNvSpPr txBox="1"/>
          <p:nvPr/>
        </p:nvSpPr>
        <p:spPr>
          <a:xfrm>
            <a:off x="4977850" y="657400"/>
            <a:ext cx="15336900" cy="7695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5000">
                <a:solidFill>
                  <a:srgbClr val="018345"/>
                </a:solidFill>
                <a:latin typeface="Montserrat"/>
                <a:ea typeface="Montserrat"/>
                <a:cs typeface="Montserrat"/>
                <a:sym typeface="Montserrat"/>
              </a:rPr>
              <a:t>Từ vựng hữu ích</a:t>
            </a:r>
            <a:endParaRPr b="1" sz="5000">
              <a:solidFill>
                <a:srgbClr val="018345"/>
              </a:solidFill>
              <a:latin typeface="Montserrat"/>
              <a:ea typeface="Montserrat"/>
              <a:cs typeface="Montserrat"/>
              <a:sym typeface="Montserrat"/>
            </a:endParaRPr>
          </a:p>
        </p:txBody>
      </p:sp>
      <p:sp>
        <p:nvSpPr>
          <p:cNvPr id="425" name="Google Shape;425;p30"/>
          <p:cNvSpPr txBox="1"/>
          <p:nvPr/>
        </p:nvSpPr>
        <p:spPr>
          <a:xfrm>
            <a:off x="7193550" y="1740900"/>
            <a:ext cx="5003700" cy="8816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feedback - phản hồi</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expensive - đắt</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messy - lộn xộn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muddy - lầy lội</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boring - nhàm chán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luxurious - sang trọng</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plan - kế hoạch</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gig - buổi biểu diễn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lame - chán ngắt</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rewarding - đáng giá</a:t>
            </a:r>
            <a:endParaRPr sz="3200">
              <a:solidFill>
                <a:schemeClr val="dk1"/>
              </a:solidFill>
              <a:latin typeface="Calibri"/>
              <a:ea typeface="Calibri"/>
              <a:cs typeface="Calibri"/>
              <a:sym typeface="Calibri"/>
            </a:endParaRPr>
          </a:p>
        </p:txBody>
      </p:sp>
      <p:sp>
        <p:nvSpPr>
          <p:cNvPr id="426" name="Google Shape;426;p30"/>
          <p:cNvSpPr txBox="1"/>
          <p:nvPr/>
        </p:nvSpPr>
        <p:spPr>
          <a:xfrm>
            <a:off x="12197250" y="1740900"/>
            <a:ext cx="5003700" cy="8816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path - con đường</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trainers - giày thể thao</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dirty - bẩn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important - quan trọng</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eye-catching - bắt mắt</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spend a fortune - tiêu tốn nhiều tiền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wedding - đám cưới</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voluntary - tình nguyện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different - khác biệt</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cxnSp>
        <p:nvCxnSpPr>
          <p:cNvPr id="432" name="Google Shape;432;p31"/>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33" name="Google Shape;433;p31"/>
          <p:cNvGrpSpPr/>
          <p:nvPr/>
        </p:nvGrpSpPr>
        <p:grpSpPr>
          <a:xfrm rot="10800000">
            <a:off x="15785084" y="-536938"/>
            <a:ext cx="7681773" cy="4260605"/>
            <a:chOff x="0" y="-38100"/>
            <a:chExt cx="406400" cy="225405"/>
          </a:xfrm>
        </p:grpSpPr>
        <p:sp>
          <p:nvSpPr>
            <p:cNvPr id="434" name="Google Shape;434;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5" name="Google Shape;435;p3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6" name="Google Shape;436;p3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37" name="Google Shape;437;p31"/>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Dạng nối từ</a:t>
            </a:r>
            <a:endParaRPr b="1" sz="6000">
              <a:solidFill>
                <a:srgbClr val="018345"/>
              </a:solidFill>
              <a:latin typeface="Montserrat"/>
              <a:ea typeface="Montserrat"/>
              <a:cs typeface="Montserrat"/>
              <a:sym typeface="Montserrat"/>
            </a:endParaRPr>
          </a:p>
        </p:txBody>
      </p:sp>
      <p:sp>
        <p:nvSpPr>
          <p:cNvPr id="438" name="Google Shape;438;p31"/>
          <p:cNvSpPr txBox="1"/>
          <p:nvPr/>
        </p:nvSpPr>
        <p:spPr>
          <a:xfrm>
            <a:off x="931150" y="2103900"/>
            <a:ext cx="15682200" cy="647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Select a word from the list that has the most similar meaning to the word on the left. (Chọn 1 từ trong danh sách có nghĩa gần nhất với cột bên trái)</a:t>
            </a:r>
            <a:endParaRPr b="1" sz="3200">
              <a:solidFill>
                <a:schemeClr val="dk1"/>
              </a:solidFill>
              <a:latin typeface="Calibri"/>
              <a:ea typeface="Calibri"/>
              <a:cs typeface="Calibri"/>
              <a:sym typeface="Calibri"/>
            </a:endParaRPr>
          </a:p>
        </p:txBody>
      </p:sp>
      <p:sp>
        <p:nvSpPr>
          <p:cNvPr id="439" name="Google Shape;439;p31"/>
          <p:cNvSpPr txBox="1"/>
          <p:nvPr/>
        </p:nvSpPr>
        <p:spPr>
          <a:xfrm>
            <a:off x="4195800" y="4102175"/>
            <a:ext cx="3690000" cy="382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jog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inspire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notice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utilize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conceal</a:t>
            </a:r>
            <a:endParaRPr sz="3200">
              <a:solidFill>
                <a:schemeClr val="dk1"/>
              </a:solidFill>
              <a:latin typeface="Calibri"/>
              <a:ea typeface="Calibri"/>
              <a:cs typeface="Calibri"/>
              <a:sym typeface="Calibri"/>
            </a:endParaRPr>
          </a:p>
        </p:txBody>
      </p:sp>
      <p:sp>
        <p:nvSpPr>
          <p:cNvPr id="440" name="Google Shape;440;p31"/>
          <p:cNvSpPr txBox="1"/>
          <p:nvPr/>
        </p:nvSpPr>
        <p:spPr>
          <a:xfrm>
            <a:off x="836350" y="8325875"/>
            <a:ext cx="17235600" cy="923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Danh sách</a:t>
            </a:r>
            <a:r>
              <a:rPr lang="en-US" sz="3200">
                <a:solidFill>
                  <a:schemeClr val="dk1"/>
                </a:solidFill>
                <a:latin typeface="Calibri"/>
                <a:ea typeface="Calibri"/>
                <a:cs typeface="Calibri"/>
                <a:sym typeface="Calibri"/>
              </a:rPr>
              <a:t>: use, hide, lie, catch, see, make, influence, mix, cut, run</a:t>
            </a:r>
            <a:endParaRPr sz="3200">
              <a:solidFill>
                <a:schemeClr val="dk1"/>
              </a:solidFill>
              <a:latin typeface="Calibri"/>
              <a:ea typeface="Calibri"/>
              <a:cs typeface="Calibri"/>
              <a:sym typeface="Calibri"/>
            </a:endParaRPr>
          </a:p>
        </p:txBody>
      </p:sp>
      <p:sp>
        <p:nvSpPr>
          <p:cNvPr id="441" name="Google Shape;441;p31"/>
          <p:cNvSpPr txBox="1"/>
          <p:nvPr/>
        </p:nvSpPr>
        <p:spPr>
          <a:xfrm>
            <a:off x="9355550" y="4102175"/>
            <a:ext cx="3690000" cy="382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run</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influence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see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use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hide</a:t>
            </a:r>
            <a:endParaRPr sz="3200">
              <a:solidFill>
                <a:schemeClr val="dk1"/>
              </a:solidFill>
              <a:latin typeface="Calibri"/>
              <a:ea typeface="Calibri"/>
              <a:cs typeface="Calibri"/>
              <a:sym typeface="Calibri"/>
            </a:endParaRPr>
          </a:p>
        </p:txBody>
      </p:sp>
      <p:sp>
        <p:nvSpPr>
          <p:cNvPr id="442" name="Google Shape;442;p31"/>
          <p:cNvSpPr/>
          <p:nvPr/>
        </p:nvSpPr>
        <p:spPr>
          <a:xfrm>
            <a:off x="6806900" y="4321075"/>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3" name="Google Shape;443;p31"/>
          <p:cNvSpPr/>
          <p:nvPr/>
        </p:nvSpPr>
        <p:spPr>
          <a:xfrm>
            <a:off x="6806900" y="5077500"/>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4" name="Google Shape;444;p31"/>
          <p:cNvSpPr/>
          <p:nvPr/>
        </p:nvSpPr>
        <p:spPr>
          <a:xfrm>
            <a:off x="6806900" y="5833925"/>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5" name="Google Shape;445;p31"/>
          <p:cNvSpPr/>
          <p:nvPr/>
        </p:nvSpPr>
        <p:spPr>
          <a:xfrm>
            <a:off x="6806900" y="6590350"/>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6" name="Google Shape;446;p31"/>
          <p:cNvSpPr/>
          <p:nvPr/>
        </p:nvSpPr>
        <p:spPr>
          <a:xfrm>
            <a:off x="6806900" y="7346775"/>
            <a:ext cx="1765500" cy="325200"/>
          </a:xfrm>
          <a:prstGeom prst="leftRightArrow">
            <a:avLst>
              <a:gd fmla="val 50000" name="adj1"/>
              <a:gd fmla="val 50000" name="adj2"/>
            </a:avLst>
          </a:prstGeom>
          <a:solidFill>
            <a:srgbClr val="01834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cxnSp>
        <p:nvCxnSpPr>
          <p:cNvPr id="452" name="Google Shape;452;p32"/>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453" name="Google Shape;453;p32"/>
          <p:cNvGrpSpPr/>
          <p:nvPr/>
        </p:nvGrpSpPr>
        <p:grpSpPr>
          <a:xfrm rot="10800000">
            <a:off x="15785084" y="-536938"/>
            <a:ext cx="7681773" cy="4260605"/>
            <a:chOff x="0" y="-38100"/>
            <a:chExt cx="406400" cy="225405"/>
          </a:xfrm>
        </p:grpSpPr>
        <p:sp>
          <p:nvSpPr>
            <p:cNvPr id="454" name="Google Shape;454;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5" name="Google Shape;455;p3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6" name="Google Shape;456;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57" name="Google Shape;457;p32"/>
          <p:cNvSpPr txBox="1"/>
          <p:nvPr/>
        </p:nvSpPr>
        <p:spPr>
          <a:xfrm>
            <a:off x="4977850" y="657400"/>
            <a:ext cx="15336900" cy="7695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5000">
                <a:solidFill>
                  <a:srgbClr val="018345"/>
                </a:solidFill>
                <a:latin typeface="Montserrat"/>
                <a:ea typeface="Montserrat"/>
                <a:cs typeface="Montserrat"/>
                <a:sym typeface="Montserrat"/>
              </a:rPr>
              <a:t>Từ vựng hữu ích</a:t>
            </a:r>
            <a:endParaRPr b="1" sz="5000">
              <a:solidFill>
                <a:srgbClr val="018345"/>
              </a:solidFill>
              <a:latin typeface="Montserrat"/>
              <a:ea typeface="Montserrat"/>
              <a:cs typeface="Montserrat"/>
              <a:sym typeface="Montserrat"/>
            </a:endParaRPr>
          </a:p>
        </p:txBody>
      </p:sp>
      <p:sp>
        <p:nvSpPr>
          <p:cNvPr id="458" name="Google Shape;458;p32"/>
          <p:cNvSpPr txBox="1"/>
          <p:nvPr/>
        </p:nvSpPr>
        <p:spPr>
          <a:xfrm>
            <a:off x="7642600" y="2666950"/>
            <a:ext cx="5003700" cy="8816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jog - chạy bộ</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inspire - truyền cảm hứng</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notice - chú ý</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utilize - sử dụng</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conceal - che giấu</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use - sử dụng</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hide - ẩn giấu</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lie - nói dối</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
        <p:nvSpPr>
          <p:cNvPr id="459" name="Google Shape;459;p32"/>
          <p:cNvSpPr txBox="1"/>
          <p:nvPr/>
        </p:nvSpPr>
        <p:spPr>
          <a:xfrm>
            <a:off x="12646300" y="2666950"/>
            <a:ext cx="5003700" cy="8816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catch - bắt</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see - nhìn thấy</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make - làm</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influence - ảnh hưởng</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mix - trộn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cut - cắt</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run - chạy</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cxnSp>
        <p:nvCxnSpPr>
          <p:cNvPr id="465" name="Google Shape;465;p33"/>
          <p:cNvCxnSpPr/>
          <p:nvPr/>
        </p:nvCxnSpPr>
        <p:spPr>
          <a:xfrm flipH="1" rot="10800000">
            <a:off x="3840870" y="1790125"/>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66" name="Google Shape;466;p33"/>
          <p:cNvGrpSpPr/>
          <p:nvPr/>
        </p:nvGrpSpPr>
        <p:grpSpPr>
          <a:xfrm rot="10800000">
            <a:off x="15785084" y="-536938"/>
            <a:ext cx="7681773" cy="4260605"/>
            <a:chOff x="0" y="-38100"/>
            <a:chExt cx="406400" cy="225405"/>
          </a:xfrm>
        </p:grpSpPr>
        <p:sp>
          <p:nvSpPr>
            <p:cNvPr id="467" name="Google Shape;467;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68" name="Google Shape;468;p3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9" name="Google Shape;469;p3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70" name="Google Shape;470;p33"/>
          <p:cNvSpPr txBox="1"/>
          <p:nvPr/>
        </p:nvSpPr>
        <p:spPr>
          <a:xfrm>
            <a:off x="3203510" y="571857"/>
            <a:ext cx="11880900" cy="9234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6000">
                <a:solidFill>
                  <a:srgbClr val="018345"/>
                </a:solidFill>
                <a:latin typeface="Montserrat"/>
                <a:ea typeface="Montserrat"/>
                <a:cs typeface="Montserrat"/>
                <a:sym typeface="Montserrat"/>
              </a:rPr>
              <a:t>Ghép từ</a:t>
            </a:r>
            <a:endParaRPr b="1" sz="6000">
              <a:solidFill>
                <a:srgbClr val="018345"/>
              </a:solidFill>
              <a:latin typeface="Montserrat"/>
              <a:ea typeface="Montserrat"/>
              <a:cs typeface="Montserrat"/>
              <a:sym typeface="Montserrat"/>
            </a:endParaRPr>
          </a:p>
        </p:txBody>
      </p:sp>
      <p:sp>
        <p:nvSpPr>
          <p:cNvPr id="471" name="Google Shape;471;p33"/>
          <p:cNvSpPr txBox="1"/>
          <p:nvPr/>
        </p:nvSpPr>
        <p:spPr>
          <a:xfrm>
            <a:off x="1302850" y="2103900"/>
            <a:ext cx="15682200" cy="647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200">
                <a:solidFill>
                  <a:schemeClr val="dk1"/>
                </a:solidFill>
                <a:latin typeface="Calibri"/>
                <a:ea typeface="Calibri"/>
                <a:cs typeface="Calibri"/>
                <a:sym typeface="Calibri"/>
              </a:rPr>
              <a:t>Select a word from the list that is most often used with the word on the left. Use each word once only. (Chọn 1 từ trong danh sách thường đi kèm với các từ đã cho. Chọn 1 từ cho mỗi phương án).</a:t>
            </a:r>
            <a:endParaRPr b="1" sz="3200">
              <a:solidFill>
                <a:schemeClr val="dk1"/>
              </a:solidFill>
              <a:latin typeface="Calibri"/>
              <a:ea typeface="Calibri"/>
              <a:cs typeface="Calibri"/>
              <a:sym typeface="Calibri"/>
            </a:endParaRPr>
          </a:p>
        </p:txBody>
      </p:sp>
      <p:sp>
        <p:nvSpPr>
          <p:cNvPr id="472" name="Google Shape;472;p33"/>
          <p:cNvSpPr txBox="1"/>
          <p:nvPr/>
        </p:nvSpPr>
        <p:spPr>
          <a:xfrm>
            <a:off x="2662500" y="4577050"/>
            <a:ext cx="3690000" cy="382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reduced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sentimental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immediate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white-water	</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semi-precious</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
        <p:nvSpPr>
          <p:cNvPr id="473" name="Google Shape;473;p33"/>
          <p:cNvSpPr txBox="1"/>
          <p:nvPr/>
        </p:nvSpPr>
        <p:spPr>
          <a:xfrm>
            <a:off x="1302850" y="8953150"/>
            <a:ext cx="16769100" cy="9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Calibri"/>
                <a:ea typeface="Calibri"/>
                <a:cs typeface="Calibri"/>
                <a:sym typeface="Calibri"/>
              </a:rPr>
              <a:t>Danh sách</a:t>
            </a:r>
            <a:r>
              <a:rPr lang="en-US" sz="3200">
                <a:solidFill>
                  <a:schemeClr val="dk1"/>
                </a:solidFill>
                <a:latin typeface="Calibri"/>
                <a:ea typeface="Calibri"/>
                <a:cs typeface="Calibri"/>
                <a:sym typeface="Calibri"/>
              </a:rPr>
              <a:t>: goods, file, family, value, nostalgia, surfing, jewels, price, rafting, issue, argument</a:t>
            </a:r>
            <a:endParaRPr sz="3200">
              <a:solidFill>
                <a:schemeClr val="dk1"/>
              </a:solidFill>
              <a:latin typeface="Calibri"/>
              <a:ea typeface="Calibri"/>
              <a:cs typeface="Calibri"/>
              <a:sym typeface="Calibri"/>
            </a:endParaRPr>
          </a:p>
        </p:txBody>
      </p:sp>
      <p:sp>
        <p:nvSpPr>
          <p:cNvPr id="474" name="Google Shape;474;p33"/>
          <p:cNvSpPr txBox="1"/>
          <p:nvPr/>
        </p:nvSpPr>
        <p:spPr>
          <a:xfrm>
            <a:off x="8658600" y="4729450"/>
            <a:ext cx="3690000" cy="382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price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value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family</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rafting</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jewels</a:t>
            </a:r>
            <a:endParaRPr sz="3200">
              <a:solidFill>
                <a:schemeClr val="dk1"/>
              </a:solidFill>
              <a:latin typeface="Calibri"/>
              <a:ea typeface="Calibri"/>
              <a:cs typeface="Calibri"/>
              <a:sym typeface="Calibri"/>
            </a:endParaRPr>
          </a:p>
        </p:txBody>
      </p:sp>
      <p:cxnSp>
        <p:nvCxnSpPr>
          <p:cNvPr id="475" name="Google Shape;475;p33"/>
          <p:cNvCxnSpPr/>
          <p:nvPr/>
        </p:nvCxnSpPr>
        <p:spPr>
          <a:xfrm>
            <a:off x="5306850" y="5003838"/>
            <a:ext cx="3108900" cy="13200"/>
          </a:xfrm>
          <a:prstGeom prst="straightConnector1">
            <a:avLst/>
          </a:prstGeom>
          <a:noFill/>
          <a:ln cap="flat" cmpd="sng" w="28575">
            <a:solidFill>
              <a:srgbClr val="018345"/>
            </a:solidFill>
            <a:prstDash val="solid"/>
            <a:round/>
            <a:headEnd len="med" w="med" type="none"/>
            <a:tailEnd len="med" w="med" type="triangle"/>
          </a:ln>
        </p:spPr>
      </p:cxnSp>
      <p:cxnSp>
        <p:nvCxnSpPr>
          <p:cNvPr id="476" name="Google Shape;476;p33"/>
          <p:cNvCxnSpPr/>
          <p:nvPr/>
        </p:nvCxnSpPr>
        <p:spPr>
          <a:xfrm>
            <a:off x="5306850" y="5809138"/>
            <a:ext cx="3108900" cy="13200"/>
          </a:xfrm>
          <a:prstGeom prst="straightConnector1">
            <a:avLst/>
          </a:prstGeom>
          <a:noFill/>
          <a:ln cap="flat" cmpd="sng" w="28575">
            <a:solidFill>
              <a:srgbClr val="018345"/>
            </a:solidFill>
            <a:prstDash val="solid"/>
            <a:round/>
            <a:headEnd len="med" w="med" type="none"/>
            <a:tailEnd len="med" w="med" type="triangle"/>
          </a:ln>
        </p:spPr>
      </p:cxnSp>
      <p:cxnSp>
        <p:nvCxnSpPr>
          <p:cNvPr id="477" name="Google Shape;477;p33"/>
          <p:cNvCxnSpPr/>
          <p:nvPr/>
        </p:nvCxnSpPr>
        <p:spPr>
          <a:xfrm>
            <a:off x="5306850" y="6575063"/>
            <a:ext cx="3108900" cy="13200"/>
          </a:xfrm>
          <a:prstGeom prst="straightConnector1">
            <a:avLst/>
          </a:prstGeom>
          <a:noFill/>
          <a:ln cap="flat" cmpd="sng" w="28575">
            <a:solidFill>
              <a:srgbClr val="018345"/>
            </a:solidFill>
            <a:prstDash val="solid"/>
            <a:round/>
            <a:headEnd len="med" w="med" type="none"/>
            <a:tailEnd len="med" w="med" type="triangle"/>
          </a:ln>
        </p:spPr>
      </p:cxnSp>
      <p:cxnSp>
        <p:nvCxnSpPr>
          <p:cNvPr id="478" name="Google Shape;478;p33"/>
          <p:cNvCxnSpPr/>
          <p:nvPr/>
        </p:nvCxnSpPr>
        <p:spPr>
          <a:xfrm>
            <a:off x="5306850" y="7340988"/>
            <a:ext cx="3108900" cy="13200"/>
          </a:xfrm>
          <a:prstGeom prst="straightConnector1">
            <a:avLst/>
          </a:prstGeom>
          <a:noFill/>
          <a:ln cap="flat" cmpd="sng" w="28575">
            <a:solidFill>
              <a:srgbClr val="018345"/>
            </a:solidFill>
            <a:prstDash val="solid"/>
            <a:round/>
            <a:headEnd len="med" w="med" type="none"/>
            <a:tailEnd len="med" w="med" type="triangle"/>
          </a:ln>
        </p:spPr>
      </p:cxnSp>
      <p:cxnSp>
        <p:nvCxnSpPr>
          <p:cNvPr id="479" name="Google Shape;479;p33"/>
          <p:cNvCxnSpPr/>
          <p:nvPr/>
        </p:nvCxnSpPr>
        <p:spPr>
          <a:xfrm>
            <a:off x="5306850" y="8106913"/>
            <a:ext cx="3108900" cy="13200"/>
          </a:xfrm>
          <a:prstGeom prst="straightConnector1">
            <a:avLst/>
          </a:prstGeom>
          <a:noFill/>
          <a:ln cap="flat" cmpd="sng" w="28575">
            <a:solidFill>
              <a:srgbClr val="018345"/>
            </a:solidFill>
            <a:prstDash val="solid"/>
            <a:round/>
            <a:headEnd len="med" w="med" type="none"/>
            <a:tailEnd len="med" w="med" type="triangle"/>
          </a:ln>
        </p:spPr>
      </p:cxnSp>
      <p:sp>
        <p:nvSpPr>
          <p:cNvPr id="480" name="Google Shape;480;p33"/>
          <p:cNvSpPr txBox="1"/>
          <p:nvPr/>
        </p:nvSpPr>
        <p:spPr>
          <a:xfrm>
            <a:off x="11656600" y="4729450"/>
            <a:ext cx="3690000" cy="382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reduced	 price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sentimental value</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immediate	family</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white-water rafting</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semi-precious jewels</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cxnSp>
        <p:nvCxnSpPr>
          <p:cNvPr id="486" name="Google Shape;486;p34"/>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487" name="Google Shape;487;p34"/>
          <p:cNvGrpSpPr/>
          <p:nvPr/>
        </p:nvGrpSpPr>
        <p:grpSpPr>
          <a:xfrm rot="10800000">
            <a:off x="15785084" y="-536938"/>
            <a:ext cx="7681773" cy="4260605"/>
            <a:chOff x="0" y="-38100"/>
            <a:chExt cx="406400" cy="225405"/>
          </a:xfrm>
        </p:grpSpPr>
        <p:sp>
          <p:nvSpPr>
            <p:cNvPr id="488" name="Google Shape;488;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89" name="Google Shape;489;p3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0" name="Google Shape;490;p3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91" name="Google Shape;491;p34"/>
          <p:cNvSpPr txBox="1"/>
          <p:nvPr/>
        </p:nvSpPr>
        <p:spPr>
          <a:xfrm>
            <a:off x="4977850" y="657400"/>
            <a:ext cx="15336900" cy="7695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5000">
                <a:solidFill>
                  <a:srgbClr val="018345"/>
                </a:solidFill>
                <a:latin typeface="Montserrat"/>
                <a:ea typeface="Montserrat"/>
                <a:cs typeface="Montserrat"/>
                <a:sym typeface="Montserrat"/>
              </a:rPr>
              <a:t>Từ vựng hữu ích</a:t>
            </a:r>
            <a:endParaRPr b="1" sz="5000">
              <a:solidFill>
                <a:srgbClr val="018345"/>
              </a:solidFill>
              <a:latin typeface="Montserrat"/>
              <a:ea typeface="Montserrat"/>
              <a:cs typeface="Montserrat"/>
              <a:sym typeface="Montserrat"/>
            </a:endParaRPr>
          </a:p>
        </p:txBody>
      </p:sp>
      <p:sp>
        <p:nvSpPr>
          <p:cNvPr id="492" name="Google Shape;492;p34"/>
          <p:cNvSpPr txBox="1"/>
          <p:nvPr/>
        </p:nvSpPr>
        <p:spPr>
          <a:xfrm>
            <a:off x="7537500" y="1740900"/>
            <a:ext cx="9743700" cy="88161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reduced price - giá giảm</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sentimental value - giá trị tình cảm</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immediate family - gia đình ruột thịt</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white-water rafting - chèo thuyền vượt thác nước xiết</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semi-precious jewels - trang sức bán quý</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goods - hàng hóa</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file - tệp tin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surfing - lướt sóng</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price - giá cả</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issue - vấn đề</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200">
                <a:solidFill>
                  <a:schemeClr val="dk1"/>
                </a:solidFill>
                <a:latin typeface="Calibri"/>
                <a:ea typeface="Calibri"/>
                <a:cs typeface="Calibri"/>
                <a:sym typeface="Calibri"/>
              </a:rPr>
              <a:t>argument - tranh luận</a:t>
            </a:r>
            <a:endParaRPr sz="32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cxnSp>
        <p:nvCxnSpPr>
          <p:cNvPr id="497" name="Google Shape;497;p35"/>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498" name="Google Shape;498;p3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99" name="Google Shape;499;p35"/>
          <p:cNvGrpSpPr/>
          <p:nvPr/>
        </p:nvGrpSpPr>
        <p:grpSpPr>
          <a:xfrm rot="10800000">
            <a:off x="15044552" y="-741521"/>
            <a:ext cx="7681766" cy="4260610"/>
            <a:chOff x="0" y="-38100"/>
            <a:chExt cx="406400" cy="225405"/>
          </a:xfrm>
        </p:grpSpPr>
        <p:sp>
          <p:nvSpPr>
            <p:cNvPr id="500" name="Google Shape;500;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01" name="Google Shape;501;p3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02" name="Google Shape;502;p3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03" name="Google Shape;503;p3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504" name="Google Shape;504;p35"/>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505" name="Google Shape;505;p35"/>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506" name="Google Shape;506;p35"/>
          <p:cNvGrpSpPr/>
          <p:nvPr/>
        </p:nvGrpSpPr>
        <p:grpSpPr>
          <a:xfrm>
            <a:off x="-2718010" y="9274528"/>
            <a:ext cx="7950400" cy="1707231"/>
            <a:chOff x="0" y="-384762"/>
            <a:chExt cx="10600533" cy="2276307"/>
          </a:xfrm>
        </p:grpSpPr>
        <p:grpSp>
          <p:nvGrpSpPr>
            <p:cNvPr id="507" name="Google Shape;507;p35"/>
            <p:cNvGrpSpPr/>
            <p:nvPr/>
          </p:nvGrpSpPr>
          <p:grpSpPr>
            <a:xfrm>
              <a:off x="0" y="-384762"/>
              <a:ext cx="10600533" cy="2276307"/>
              <a:chOff x="0" y="-38100"/>
              <a:chExt cx="1049690" cy="225405"/>
            </a:xfrm>
          </p:grpSpPr>
          <p:sp>
            <p:nvSpPr>
              <p:cNvPr id="508" name="Google Shape;508;p3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09" name="Google Shape;509;p3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0" name="Google Shape;510;p3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511" name="Google Shape;511;p35"/>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05"/>
                                        </p:tgtEl>
                                        <p:attrNameLst>
                                          <p:attrName>style.visibility</p:attrName>
                                        </p:attrNameLst>
                                      </p:cBhvr>
                                      <p:to>
                                        <p:strVal val="visible"/>
                                      </p:to>
                                    </p:set>
                                    <p:anim calcmode="lin" valueType="num">
                                      <p:cBhvr additive="base">
                                        <p:cTn dur="500"/>
                                        <p:tgtEl>
                                          <p:spTgt spid="505"/>
                                        </p:tgtEl>
                                        <p:attrNameLst>
                                          <p:attrName>ppt_w</p:attrName>
                                        </p:attrNameLst>
                                      </p:cBhvr>
                                      <p:tavLst>
                                        <p:tav fmla="" tm="0">
                                          <p:val>
                                            <p:strVal val="0"/>
                                          </p:val>
                                        </p:tav>
                                        <p:tav fmla="" tm="100000">
                                          <p:val>
                                            <p:strVal val="#ppt_w"/>
                                          </p:val>
                                        </p:tav>
                                      </p:tavLst>
                                    </p:anim>
                                    <p:anim calcmode="lin" valueType="num">
                                      <p:cBhvr additive="base">
                                        <p:cTn dur="500"/>
                                        <p:tgtEl>
                                          <p:spTgt spid="50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04"/>
                                        </p:tgtEl>
                                        <p:attrNameLst>
                                          <p:attrName>style.visibility</p:attrName>
                                        </p:attrNameLst>
                                      </p:cBhvr>
                                      <p:to>
                                        <p:strVal val="visible"/>
                                      </p:to>
                                    </p:set>
                                    <p:anim calcmode="lin" valueType="num">
                                      <p:cBhvr additive="base">
                                        <p:cTn dur="500"/>
                                        <p:tgtEl>
                                          <p:spTgt spid="504"/>
                                        </p:tgtEl>
                                        <p:attrNameLst>
                                          <p:attrName>ppt_w</p:attrName>
                                        </p:attrNameLst>
                                      </p:cBhvr>
                                      <p:tavLst>
                                        <p:tav fmla="" tm="0">
                                          <p:val>
                                            <p:strVal val="0"/>
                                          </p:val>
                                        </p:tav>
                                        <p:tav fmla="" tm="100000">
                                          <p:val>
                                            <p:strVal val="#ppt_w"/>
                                          </p:val>
                                        </p:tav>
                                      </p:tavLst>
                                    </p:anim>
                                    <p:anim calcmode="lin" valueType="num">
                                      <p:cBhvr additive="base">
                                        <p:cTn dur="500"/>
                                        <p:tgtEl>
                                          <p:spTgt spid="50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cxnSp>
        <p:nvCxnSpPr>
          <p:cNvPr id="517" name="Google Shape;517;p36"/>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18" name="Google Shape;518;p3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19" name="Google Shape;519;p36"/>
          <p:cNvGrpSpPr/>
          <p:nvPr/>
        </p:nvGrpSpPr>
        <p:grpSpPr>
          <a:xfrm rot="10800000">
            <a:off x="15044552" y="-741521"/>
            <a:ext cx="7681766" cy="4260610"/>
            <a:chOff x="0" y="-38100"/>
            <a:chExt cx="406400" cy="225405"/>
          </a:xfrm>
        </p:grpSpPr>
        <p:sp>
          <p:nvSpPr>
            <p:cNvPr id="520" name="Google Shape;520;p3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21" name="Google Shape;521;p3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22" name="Google Shape;522;p36"/>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23" name="Google Shape;523;p36"/>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524" name="Google Shape;524;p36"/>
          <p:cNvGrpSpPr/>
          <p:nvPr/>
        </p:nvGrpSpPr>
        <p:grpSpPr>
          <a:xfrm rot="10800000">
            <a:off x="15828686" y="-13843"/>
            <a:ext cx="7681766" cy="4260610"/>
            <a:chOff x="0" y="-38100"/>
            <a:chExt cx="406400" cy="225405"/>
          </a:xfrm>
        </p:grpSpPr>
        <p:sp>
          <p:nvSpPr>
            <p:cNvPr id="525" name="Google Shape;525;p3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526" name="Google Shape;526;p3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7" name="Google Shape;527;p36"/>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528" name="Google Shape;528;p36"/>
          <p:cNvGrpSpPr/>
          <p:nvPr/>
        </p:nvGrpSpPr>
        <p:grpSpPr>
          <a:xfrm>
            <a:off x="5693855" y="6543482"/>
            <a:ext cx="11567835" cy="1261722"/>
            <a:chOff x="5693855" y="7590172"/>
            <a:chExt cx="11567835" cy="1261722"/>
          </a:xfrm>
        </p:grpSpPr>
        <p:grpSp>
          <p:nvGrpSpPr>
            <p:cNvPr id="529" name="Google Shape;529;p36"/>
            <p:cNvGrpSpPr/>
            <p:nvPr/>
          </p:nvGrpSpPr>
          <p:grpSpPr>
            <a:xfrm>
              <a:off x="5693855" y="7590172"/>
              <a:ext cx="11567834" cy="1261722"/>
              <a:chOff x="0" y="-38100"/>
              <a:chExt cx="3046672" cy="332305"/>
            </a:xfrm>
          </p:grpSpPr>
          <p:sp>
            <p:nvSpPr>
              <p:cNvPr id="530" name="Google Shape;530;p36"/>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531" name="Google Shape;531;p36"/>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2" name="Google Shape;532;p36"/>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533" name="Google Shape;533;p36"/>
          <p:cNvGrpSpPr/>
          <p:nvPr/>
        </p:nvGrpSpPr>
        <p:grpSpPr>
          <a:xfrm>
            <a:off x="-2718010" y="9274528"/>
            <a:ext cx="7950400" cy="1707231"/>
            <a:chOff x="0" y="-384762"/>
            <a:chExt cx="10600533" cy="2276307"/>
          </a:xfrm>
        </p:grpSpPr>
        <p:grpSp>
          <p:nvGrpSpPr>
            <p:cNvPr id="534" name="Google Shape;534;p36"/>
            <p:cNvGrpSpPr/>
            <p:nvPr/>
          </p:nvGrpSpPr>
          <p:grpSpPr>
            <a:xfrm>
              <a:off x="0" y="-384762"/>
              <a:ext cx="10600533" cy="2276307"/>
              <a:chOff x="0" y="-38100"/>
              <a:chExt cx="1049690" cy="225405"/>
            </a:xfrm>
          </p:grpSpPr>
          <p:sp>
            <p:nvSpPr>
              <p:cNvPr id="535" name="Google Shape;535;p3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36" name="Google Shape;536;p3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7" name="Google Shape;537;p3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527"/>
                                        </p:tgtEl>
                                        <p:attrNameLst>
                                          <p:attrName>style.visibility</p:attrName>
                                        </p:attrNameLst>
                                      </p:cBhvr>
                                      <p:to>
                                        <p:strVal val="visible"/>
                                      </p:to>
                                    </p:set>
                                    <p:anim calcmode="lin" valueType="num">
                                      <p:cBhvr additive="base">
                                        <p:cTn dur="500"/>
                                        <p:tgtEl>
                                          <p:spTgt spid="527"/>
                                        </p:tgtEl>
                                        <p:attrNameLst>
                                          <p:attrName>ppt_w</p:attrName>
                                        </p:attrNameLst>
                                      </p:cBhvr>
                                      <p:tavLst>
                                        <p:tav fmla="" tm="0">
                                          <p:val>
                                            <p:strVal val="0"/>
                                          </p:val>
                                        </p:tav>
                                        <p:tav fmla="" tm="100000">
                                          <p:val>
                                            <p:strVal val="#ppt_w"/>
                                          </p:val>
                                        </p:tav>
                                      </p:tavLst>
                                    </p:anim>
                                    <p:anim calcmode="lin" valueType="num">
                                      <p:cBhvr additive="base">
                                        <p:cTn dur="500"/>
                                        <p:tgtEl>
                                          <p:spTgt spid="52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528"/>
                                        </p:tgtEl>
                                        <p:attrNameLst>
                                          <p:attrName>style.visibility</p:attrName>
                                        </p:attrNameLst>
                                      </p:cBhvr>
                                      <p:to>
                                        <p:strVal val="visible"/>
                                      </p:to>
                                    </p:set>
                                    <p:animEffect filter="fade" transition="in">
                                      <p:cBhvr>
                                        <p:cTn dur="500"/>
                                        <p:tgtEl>
                                          <p:spTgt spid="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