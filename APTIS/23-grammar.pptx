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10287000" cx="18288000"/>
  <p:notesSz cx="6858000" cy="9144000"/>
  <p:embeddedFontLst>
    <p:embeddedFont>
      <p:font typeface="Roboto"/>
      <p:regular r:id="rId42"/>
      <p:bold r:id="rId43"/>
      <p:italic r:id="rId44"/>
      <p:boldItalic r:id="rId45"/>
    </p:embeddedFont>
    <p:embeddedFont>
      <p:font typeface="Montserrat"/>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regular.fntdata"/><Relationship Id="rId41" Type="http://schemas.openxmlformats.org/officeDocument/2006/relationships/slide" Target="slides/slide36.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Montserrat-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74dab11e53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74dab11e53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a:r>
            <a:r>
              <a:rPr lang="en-US"/>
              <a:t>Trong phần Ngữ pháp có 25 câu hỏi, mỗi câu hỏi tập trung vào một khía cạnh cụ thể của ngữ pháp tiếng Anh. Trong khi phần lớn các câu hỏi sẽ kiểm tra tiếng Anh viết chính thống, thì có một số ít câu hỏi lại tập trung vào các khía cạnh của tiếng Anh nói, ví dụ như biếu mẫu ngữ pháp thích hợp để sử dụng trong một hoàn cảnh đặc biệt (trang trọng hoặc không trang trọng). Toàn bộ 25 câu hỏi đều dưới dạng trắc nghiệm với 3 phương án trả lời.</a:t>
            </a:r>
            <a:endParaRPr/>
          </a:p>
          <a:p>
            <a:pPr indent="0" lvl="0" marL="0" rtl="0" algn="l">
              <a:spcBef>
                <a:spcPts val="0"/>
              </a:spcBef>
              <a:spcAft>
                <a:spcPts val="0"/>
              </a:spcAft>
              <a:buNone/>
            </a:pPr>
            <a:r>
              <a:rPr lang="en-US"/>
              <a:t>- Cả phần từ vựng và ngữ pháp thí sinh có khoảng 25 phút trả lời. Như vậy phần ngữ pháp thí sinh nên làm trong khoảng 12 phút.</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e0aaba2e2a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2e0aaba2e2a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260" name="Google Shape;260;g2e0aaba2e2a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297" name="Google Shape;2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72ea23bec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272ea23bec8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GV đọc câu hỏi hướng dẫn HV trả lời</a:t>
            </a:r>
            <a:endParaRPr/>
          </a:p>
          <a:p>
            <a:pPr indent="0" lvl="0" marL="0" rtl="0" algn="l">
              <a:spcBef>
                <a:spcPts val="0"/>
              </a:spcBef>
              <a:spcAft>
                <a:spcPts val="0"/>
              </a:spcAft>
              <a:buNone/>
            </a:pPr>
            <a:r>
              <a:t/>
            </a:r>
            <a:endParaRPr/>
          </a:p>
        </p:txBody>
      </p:sp>
      <p:sp>
        <p:nvSpPr>
          <p:cNvPr id="312" name="Google Shape;312;g272ea23bec8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72ea23bec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272ea23bec8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GV đọc câu hỏi hướng dẫn HV trả lời</a:t>
            </a:r>
            <a:endParaRPr/>
          </a:p>
          <a:p>
            <a:pPr indent="0" lvl="0" marL="0" rtl="0" algn="l">
              <a:spcBef>
                <a:spcPts val="0"/>
              </a:spcBef>
              <a:spcAft>
                <a:spcPts val="0"/>
              </a:spcAft>
              <a:buNone/>
            </a:pPr>
            <a:r>
              <a:t/>
            </a:r>
            <a:endParaRPr/>
          </a:p>
        </p:txBody>
      </p:sp>
      <p:sp>
        <p:nvSpPr>
          <p:cNvPr id="332" name="Google Shape;332;g272ea23bec8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72ea23bec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272ea23bec8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272ea23bec8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72ea23bec8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272ea23bec8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272ea23bec8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72ea23bec8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272ea23bec8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272ea23bec8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72ea23bec8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272ea23bec8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272ea23bec8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72ea23bec8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272ea23bec8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272ea23bec8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72ea23bec8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272ea23bec8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272ea23bec8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72ea23bec8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272ea23bec8_0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272ea23bec8_0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72ea23bec8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272ea23bec8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272ea23bec8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72ea23bec8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272ea23bec8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g272ea23bec8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72ea23bec8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272ea23bec8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272ea23bec8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72ea23bec8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g272ea23bec8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g272ea23bec8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72ea23bec8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g272ea23bec8_0_2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g272ea23bec8_0_2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72ea23bec8_0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g272ea23bec8_0_2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g272ea23bec8_0_2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72ea23bec8_0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272ea23bec8_0_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g272ea23bec8_0_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72ea23bec8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272ea23bec8_0_3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g272ea23bec8_0_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72ea23bec8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272ea23bec8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272ea23bec8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72ea23bec8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272ea23bec8_0_3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g272ea23bec8_0_3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72ea23bec8_0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272ea23bec8_0_3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g272ea23bec8_0_3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272ea23bec8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272ea23bec8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g272ea23bec8_0_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72ea23bec8_0_4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g272ea23bec8_0_4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g272ea23bec8_0_4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72ea23bec8_0_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g272ea23bec8_0_4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g272ea23bec8_0_4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72ea23bec8_0_4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g272ea23bec8_0_4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g272ea23bec8_0_4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9" name="Google Shape;76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Grammar</a:t>
              </a:r>
              <a:endParaRPr sz="12460">
                <a:solidFill>
                  <a:srgbClr val="018345"/>
                </a:solidFill>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Bài thi Grammar Aptis</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grammar</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657100"/>
          </a:xfrm>
          <a:prstGeom prst="rect">
            <a:avLst/>
          </a:prstGeom>
          <a:noFill/>
          <a:ln>
            <a:noFill/>
          </a:ln>
        </p:spPr>
        <p:txBody>
          <a:bodyPr anchorCtr="0" anchor="t" bIns="0" lIns="0" spcFirstLastPara="1" rIns="0" wrap="square" tIns="0">
            <a:spAutoFit/>
          </a:bodyPr>
          <a:lstStyle/>
          <a:p>
            <a:pPr indent="0" lvl="0" marL="0" rtl="0" algn="ctr">
              <a:lnSpc>
                <a:spcPct val="110511"/>
              </a:lnSpc>
              <a:spcBef>
                <a:spcPts val="0"/>
              </a:spcBef>
              <a:spcAft>
                <a:spcPts val="0"/>
              </a:spcAft>
              <a:buSzPts val="1100"/>
              <a:buNone/>
            </a:pPr>
            <a:r>
              <a:rPr b="1" lang="en-US" sz="8200">
                <a:solidFill>
                  <a:srgbClr val="018345"/>
                </a:solidFill>
                <a:latin typeface="Montserrat"/>
                <a:ea typeface="Montserrat"/>
                <a:cs typeface="Montserrat"/>
                <a:sym typeface="Montserrat"/>
              </a:rPr>
              <a:t>Bài thi Grammar Aptis</a:t>
            </a:r>
            <a:endParaRPr b="1" sz="8200">
              <a:solidFill>
                <a:srgbClr val="018345"/>
              </a:solidFill>
              <a:latin typeface="Montserrat"/>
              <a:ea typeface="Montserrat"/>
              <a:cs typeface="Montserrat"/>
              <a:sym typeface="Montserrat"/>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38900"/>
          </a:xfrm>
          <a:prstGeom prst="rect">
            <a:avLst/>
          </a:prstGeom>
          <a:noFill/>
          <a:ln>
            <a:noFill/>
          </a:ln>
        </p:spPr>
        <p:txBody>
          <a:bodyPr anchorCtr="0" anchor="t" bIns="0" lIns="0" spcFirstLastPara="1" rIns="0" wrap="square" tIns="0">
            <a:spAutoFit/>
          </a:bodyPr>
          <a:lstStyle/>
          <a:p>
            <a:pPr indent="0" lvl="0" marL="0" rtl="0" algn="ctr">
              <a:lnSpc>
                <a:spcPct val="154791"/>
              </a:lnSpc>
              <a:spcBef>
                <a:spcPts val="0"/>
              </a:spcBef>
              <a:spcAft>
                <a:spcPts val="0"/>
              </a:spcAft>
              <a:buSzPts val="1100"/>
              <a:buNone/>
            </a:pPr>
            <a:r>
              <a:rPr b="1" lang="en-US" sz="4800">
                <a:solidFill>
                  <a:srgbClr val="018345"/>
                </a:solidFill>
                <a:latin typeface="Montserrat"/>
                <a:ea typeface="Montserrat"/>
                <a:cs typeface="Montserrat"/>
                <a:sym typeface="Montserrat"/>
              </a:rPr>
              <a:t>Bài thi Grammar Aptis</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381" y="1809050"/>
            <a:ext cx="9412781" cy="6801294"/>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300">
                    <a:solidFill>
                      <a:schemeClr val="lt1"/>
                    </a:solidFill>
                    <a:latin typeface="Roboto"/>
                    <a:ea typeface="Roboto"/>
                    <a:cs typeface="Roboto"/>
                    <a:sym typeface="Roboto"/>
                  </a:rPr>
                  <a:t>Thí sinh nên làm trong 12 phút</a:t>
                </a:r>
                <a:endParaRPr b="1" sz="33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300">
                    <a:solidFill>
                      <a:schemeClr val="lt1"/>
                    </a:solidFill>
                    <a:latin typeface="Roboto"/>
                    <a:ea typeface="Roboto"/>
                    <a:cs typeface="Roboto"/>
                    <a:sym typeface="Roboto"/>
                  </a:rPr>
                  <a:t>25 câu hỏi trắc nghiệm với 3 lựa chọn mỗi câu</a:t>
                </a:r>
                <a:endParaRPr b="1" sz="33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grammar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9002" y="4011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grammar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930043" y="2095500"/>
            <a:ext cx="17255700" cy="3309300"/>
          </a:xfrm>
          <a:prstGeom prst="rect">
            <a:avLst/>
          </a:prstGeom>
          <a:noFill/>
          <a:ln>
            <a:noFill/>
          </a:ln>
        </p:spPr>
        <p:txBody>
          <a:bodyPr anchorCtr="0" anchor="t" bIns="45700" lIns="91425" spcFirstLastPara="1" rIns="91425" wrap="square" tIns="45700">
            <a:spAutoFit/>
          </a:bodyPr>
          <a:lstStyle/>
          <a:p>
            <a:pPr indent="-558800" lvl="0" marL="571500" marR="0" rtl="0" algn="l">
              <a:lnSpc>
                <a:spcPct val="150000"/>
              </a:lnSpc>
              <a:spcBef>
                <a:spcPts val="0"/>
              </a:spcBef>
              <a:spcAft>
                <a:spcPts val="0"/>
              </a:spcAft>
              <a:buClr>
                <a:schemeClr val="dk1"/>
              </a:buClr>
              <a:buSzPts val="3800"/>
              <a:buFont typeface="Noto Sans Symbols"/>
              <a:buChar char="⮚"/>
            </a:pPr>
            <a:r>
              <a:rPr lang="en-US" sz="3800">
                <a:solidFill>
                  <a:schemeClr val="dk1"/>
                </a:solidFill>
                <a:latin typeface="Calibri"/>
                <a:ea typeface="Calibri"/>
                <a:cs typeface="Calibri"/>
                <a:sym typeface="Calibri"/>
              </a:rPr>
              <a:t>Đọc kỹ câu hỏi và các lựa chọn</a:t>
            </a:r>
            <a:r>
              <a:rPr lang="en-US" sz="3800">
                <a:solidFill>
                  <a:schemeClr val="dk1"/>
                </a:solidFill>
                <a:latin typeface="Calibri"/>
                <a:ea typeface="Calibri"/>
                <a:cs typeface="Calibri"/>
                <a:sym typeface="Calibri"/>
              </a:rPr>
              <a:t>.</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Cân nhắc các lựa chọn, loại bỏ các đáp án sai để chọn phương án chính xác nhất.</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Câu nào chưa chắc chắn hãy đánh dấu để sau đó làm lại.</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Câu dễ làm trước, câu khó làm sau.</a:t>
            </a:r>
            <a:endParaRPr sz="3800">
              <a:solidFill>
                <a:schemeClr val="dk1"/>
              </a:solidFill>
              <a:latin typeface="Calibri"/>
              <a:ea typeface="Calibri"/>
              <a:cs typeface="Calibri"/>
              <a:sym typeface="Calibri"/>
            </a:endParaRPr>
          </a:p>
        </p:txBody>
      </p:sp>
      <p:pic>
        <p:nvPicPr>
          <p:cNvPr id="236" name="Google Shape;236;p18"/>
          <p:cNvPicPr preferRelativeResize="0"/>
          <p:nvPr/>
        </p:nvPicPr>
        <p:blipFill>
          <a:blip r:embed="rId4">
            <a:alphaModFix/>
          </a:blip>
          <a:stretch>
            <a:fillRect/>
          </a:stretch>
        </p:blipFill>
        <p:spPr>
          <a:xfrm>
            <a:off x="4184450" y="5584275"/>
            <a:ext cx="10159450" cy="4110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19"/>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42" name="Google Shape;242;p1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3" name="Google Shape;243;p19"/>
          <p:cNvGrpSpPr/>
          <p:nvPr/>
        </p:nvGrpSpPr>
        <p:grpSpPr>
          <a:xfrm rot="10800000">
            <a:off x="15044552" y="-741521"/>
            <a:ext cx="7681766" cy="4260610"/>
            <a:chOff x="0" y="-38100"/>
            <a:chExt cx="406400" cy="225405"/>
          </a:xfrm>
        </p:grpSpPr>
        <p:sp>
          <p:nvSpPr>
            <p:cNvPr id="244" name="Google Shape;244;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5" name="Google Shape;245;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46" name="Google Shape;246;p1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47" name="Google Shape;247;p1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48" name="Google Shape;248;p19"/>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49" name="Google Shape;249;p19"/>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50" name="Google Shape;250;p19"/>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51" name="Google Shape;251;p19"/>
          <p:cNvGrpSpPr/>
          <p:nvPr/>
        </p:nvGrpSpPr>
        <p:grpSpPr>
          <a:xfrm>
            <a:off x="-2718010" y="9274528"/>
            <a:ext cx="7950400" cy="1707231"/>
            <a:chOff x="0" y="-384762"/>
            <a:chExt cx="10600533" cy="2276307"/>
          </a:xfrm>
        </p:grpSpPr>
        <p:grpSp>
          <p:nvGrpSpPr>
            <p:cNvPr id="252" name="Google Shape;252;p19"/>
            <p:cNvGrpSpPr/>
            <p:nvPr/>
          </p:nvGrpSpPr>
          <p:grpSpPr>
            <a:xfrm>
              <a:off x="0" y="-384762"/>
              <a:ext cx="10600533" cy="2276307"/>
              <a:chOff x="0" y="-38100"/>
              <a:chExt cx="1049690" cy="225405"/>
            </a:xfrm>
          </p:grpSpPr>
          <p:sp>
            <p:nvSpPr>
              <p:cNvPr id="253" name="Google Shape;253;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4" name="Google Shape;254;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5" name="Google Shape;255;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56" name="Google Shape;256;p19"/>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cxnSp>
        <p:nvCxnSpPr>
          <p:cNvPr id="262" name="Google Shape;262;p20"/>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63" name="Google Shape;263;p20"/>
          <p:cNvGrpSpPr/>
          <p:nvPr/>
        </p:nvGrpSpPr>
        <p:grpSpPr>
          <a:xfrm rot="10800000">
            <a:off x="15785084" y="-536938"/>
            <a:ext cx="7681773" cy="4260605"/>
            <a:chOff x="0" y="-38100"/>
            <a:chExt cx="406400" cy="225405"/>
          </a:xfrm>
        </p:grpSpPr>
        <p:sp>
          <p:nvSpPr>
            <p:cNvPr id="264" name="Google Shape;264;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5" name="Google Shape;265;p2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6" name="Google Shape;266;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67" name="Google Shape;267;p20"/>
          <p:cNvGrpSpPr/>
          <p:nvPr/>
        </p:nvGrpSpPr>
        <p:grpSpPr>
          <a:xfrm>
            <a:off x="-2718010" y="9274530"/>
            <a:ext cx="7950378" cy="1707223"/>
            <a:chOff x="0" y="-384760"/>
            <a:chExt cx="10600504" cy="2276297"/>
          </a:xfrm>
        </p:grpSpPr>
        <p:grpSp>
          <p:nvGrpSpPr>
            <p:cNvPr id="268" name="Google Shape;268;p20"/>
            <p:cNvGrpSpPr/>
            <p:nvPr/>
          </p:nvGrpSpPr>
          <p:grpSpPr>
            <a:xfrm>
              <a:off x="0" y="-384760"/>
              <a:ext cx="10600504" cy="2276297"/>
              <a:chOff x="0" y="-38100"/>
              <a:chExt cx="1049690" cy="225405"/>
            </a:xfrm>
          </p:grpSpPr>
          <p:sp>
            <p:nvSpPr>
              <p:cNvPr id="269" name="Google Shape;269;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0" name="Google Shape;270;p2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 name="Google Shape;271;p2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2" name="Google Shape;272;p20"/>
          <p:cNvSpPr txBox="1"/>
          <p:nvPr/>
        </p:nvSpPr>
        <p:spPr>
          <a:xfrm>
            <a:off x="3203547" y="6023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pic>
        <p:nvPicPr>
          <p:cNvPr id="273" name="Google Shape;273;p20"/>
          <p:cNvPicPr preferRelativeResize="0"/>
          <p:nvPr/>
        </p:nvPicPr>
        <p:blipFill>
          <a:blip r:embed="rId4">
            <a:alphaModFix/>
          </a:blip>
          <a:stretch>
            <a:fillRect/>
          </a:stretch>
        </p:blipFill>
        <p:spPr>
          <a:xfrm>
            <a:off x="2955700" y="2548421"/>
            <a:ext cx="12829375" cy="519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79" name="Google Shape;279;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80" name="Google Shape;280;p21"/>
          <p:cNvGrpSpPr/>
          <p:nvPr/>
        </p:nvGrpSpPr>
        <p:grpSpPr>
          <a:xfrm rot="10800000">
            <a:off x="15044552" y="-741521"/>
            <a:ext cx="7681766" cy="4260610"/>
            <a:chOff x="0" y="-38100"/>
            <a:chExt cx="406400" cy="225405"/>
          </a:xfrm>
        </p:grpSpPr>
        <p:sp>
          <p:nvSpPr>
            <p:cNvPr id="281" name="Google Shape;281;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2" name="Google Shape;282;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83" name="Google Shape;283;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84" name="Google Shape;284;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85" name="Google Shape;285;p21"/>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286" name="Google Shape;286;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287" name="Google Shape;287;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8" name="Google Shape;288;p21"/>
          <p:cNvGrpSpPr/>
          <p:nvPr/>
        </p:nvGrpSpPr>
        <p:grpSpPr>
          <a:xfrm>
            <a:off x="-2718010" y="9274528"/>
            <a:ext cx="7950400" cy="1707231"/>
            <a:chOff x="0" y="-384762"/>
            <a:chExt cx="10600533" cy="2276307"/>
          </a:xfrm>
        </p:grpSpPr>
        <p:grpSp>
          <p:nvGrpSpPr>
            <p:cNvPr id="289" name="Google Shape;289;p21"/>
            <p:cNvGrpSpPr/>
            <p:nvPr/>
          </p:nvGrpSpPr>
          <p:grpSpPr>
            <a:xfrm>
              <a:off x="0" y="-384762"/>
              <a:ext cx="10600533" cy="2276307"/>
              <a:chOff x="0" y="-38100"/>
              <a:chExt cx="1049690" cy="225405"/>
            </a:xfrm>
          </p:grpSpPr>
          <p:sp>
            <p:nvSpPr>
              <p:cNvPr id="290" name="Google Shape;290;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1" name="Google Shape;291;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2" name="Google Shape;292;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3" name="Google Shape;293;p21"/>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ppt_w</p:attrName>
                                        </p:attrNameLst>
                                      </p:cBhvr>
                                      <p:tavLst>
                                        <p:tav fmla="" tm="0">
                                          <p:val>
                                            <p:strVal val="0"/>
                                          </p:val>
                                        </p:tav>
                                        <p:tav fmla="" tm="100000">
                                          <p:val>
                                            <p:strVal val="#ppt_w"/>
                                          </p:val>
                                        </p:tav>
                                      </p:tavLst>
                                    </p:anim>
                                    <p:anim calcmode="lin" valueType="num">
                                      <p:cBhvr additive="base">
                                        <p:cTn dur="500"/>
                                        <p:tgtEl>
                                          <p:spTgt spid="28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cxnSp>
        <p:nvCxnSpPr>
          <p:cNvPr id="299" name="Google Shape;299;p22"/>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00" name="Google Shape;300;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01" name="Google Shape;301;p22"/>
          <p:cNvGrpSpPr/>
          <p:nvPr/>
        </p:nvGrpSpPr>
        <p:grpSpPr>
          <a:xfrm rot="10800000">
            <a:off x="15785091" y="-536942"/>
            <a:ext cx="7681766" cy="4260610"/>
            <a:chOff x="0" y="-38100"/>
            <a:chExt cx="406400" cy="225405"/>
          </a:xfrm>
        </p:grpSpPr>
        <p:sp>
          <p:nvSpPr>
            <p:cNvPr id="302" name="Google Shape;302;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3" name="Google Shape;303;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4" name="Google Shape;304;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05" name="Google Shape;305;p22"/>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sp>
        <p:nvSpPr>
          <p:cNvPr id="306" name="Google Shape;306;p22"/>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 </a:t>
            </a:r>
            <a:r>
              <a:rPr lang="en-US" sz="3300">
                <a:solidFill>
                  <a:schemeClr val="dk1"/>
                </a:solidFill>
                <a:latin typeface="Calibri"/>
                <a:ea typeface="Calibri"/>
                <a:cs typeface="Calibri"/>
                <a:sym typeface="Calibri"/>
              </a:rPr>
              <a:t>My best friend, _______ is from Australia, is coming to visit me next week.</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who</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which</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that</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p:txBody>
      </p:sp>
      <p:sp>
        <p:nvSpPr>
          <p:cNvPr id="307" name="Google Shape;307;p22"/>
          <p:cNvSpPr txBox="1"/>
          <p:nvPr/>
        </p:nvSpPr>
        <p:spPr>
          <a:xfrm>
            <a:off x="1460075" y="498751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Mệnh đề quan hệ</a:t>
            </a:r>
            <a:endParaRPr b="1"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Char char="-"/>
            </a:pPr>
            <a:r>
              <a:rPr lang="en-US" sz="3300">
                <a:solidFill>
                  <a:schemeClr val="dk1"/>
                </a:solidFill>
                <a:latin typeface="Calibri"/>
                <a:ea typeface="Calibri"/>
                <a:cs typeface="Calibri"/>
                <a:sym typeface="Calibri"/>
              </a:rPr>
              <a:t>who: đại từ quan hệ đóng vai trò làm chủ ngữ và thay thế danh từ chỉ người.</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Char char="-"/>
            </a:pPr>
            <a:r>
              <a:rPr lang="en-US" sz="3300">
                <a:solidFill>
                  <a:schemeClr val="dk1"/>
                </a:solidFill>
                <a:latin typeface="Calibri"/>
                <a:ea typeface="Calibri"/>
                <a:cs typeface="Calibri"/>
                <a:sym typeface="Calibri"/>
              </a:rPr>
              <a:t>which: thay thế cho danh từ chỉ đồ vật hoặc động vật. </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Char char="-"/>
            </a:pPr>
            <a:r>
              <a:rPr lang="en-US" sz="3300">
                <a:solidFill>
                  <a:schemeClr val="dk1"/>
                </a:solidFill>
                <a:latin typeface="Calibri"/>
                <a:ea typeface="Calibri"/>
                <a:cs typeface="Calibri"/>
                <a:sym typeface="Calibri"/>
              </a:rPr>
              <a:t>that: thay thế cho danh từ chỉ người hoặc vật trong mệnh đề quan hệ xác định, nhưng trong trường hợp này, mệnh đề "who is from Australia" là một mệnh đề quan hệ không xác định.</a:t>
            </a:r>
            <a:endParaRPr sz="3300">
              <a:solidFill>
                <a:schemeClr val="dk1"/>
              </a:solidFill>
              <a:latin typeface="Calibri"/>
              <a:ea typeface="Calibri"/>
              <a:cs typeface="Calibri"/>
              <a:sym typeface="Calibri"/>
            </a:endParaRPr>
          </a:p>
        </p:txBody>
      </p:sp>
      <p:sp>
        <p:nvSpPr>
          <p:cNvPr id="308" name="Google Shape;308;p22"/>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cxnSp>
        <p:nvCxnSpPr>
          <p:cNvPr id="314" name="Google Shape;314;p23"/>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15" name="Google Shape;315;p2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16" name="Google Shape;316;p23"/>
          <p:cNvGrpSpPr/>
          <p:nvPr/>
        </p:nvGrpSpPr>
        <p:grpSpPr>
          <a:xfrm rot="10800000">
            <a:off x="15785084" y="-536938"/>
            <a:ext cx="7681773" cy="4260605"/>
            <a:chOff x="0" y="-38100"/>
            <a:chExt cx="406400" cy="225405"/>
          </a:xfrm>
        </p:grpSpPr>
        <p:sp>
          <p:nvSpPr>
            <p:cNvPr id="317" name="Google Shape;317;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8" name="Google Shape;318;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9" name="Google Shape;319;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20" name="Google Shape;320;p23"/>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321" name="Google Shape;321;p23"/>
          <p:cNvGrpSpPr/>
          <p:nvPr/>
        </p:nvGrpSpPr>
        <p:grpSpPr>
          <a:xfrm>
            <a:off x="-2718010" y="9274530"/>
            <a:ext cx="7950378" cy="1707223"/>
            <a:chOff x="0" y="-384760"/>
            <a:chExt cx="10600504" cy="2276297"/>
          </a:xfrm>
        </p:grpSpPr>
        <p:grpSp>
          <p:nvGrpSpPr>
            <p:cNvPr id="322" name="Google Shape;322;p23"/>
            <p:cNvGrpSpPr/>
            <p:nvPr/>
          </p:nvGrpSpPr>
          <p:grpSpPr>
            <a:xfrm>
              <a:off x="0" y="-384760"/>
              <a:ext cx="10600504" cy="2276297"/>
              <a:chOff x="0" y="-38100"/>
              <a:chExt cx="1049690" cy="225405"/>
            </a:xfrm>
          </p:grpSpPr>
          <p:sp>
            <p:nvSpPr>
              <p:cNvPr id="323" name="Google Shape;32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4" name="Google Shape;324;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5" name="Google Shape;325;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6" name="Google Shape;326;p23"/>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  We'll go to the beach _______ it rains tomorrow.</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but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if</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unless</a:t>
            </a:r>
            <a:endParaRPr sz="3300">
              <a:solidFill>
                <a:schemeClr val="dk1"/>
              </a:solidFill>
              <a:latin typeface="Calibri"/>
              <a:ea typeface="Calibri"/>
              <a:cs typeface="Calibri"/>
              <a:sym typeface="Calibri"/>
            </a:endParaRPr>
          </a:p>
        </p:txBody>
      </p:sp>
      <p:sp>
        <p:nvSpPr>
          <p:cNvPr id="327" name="Google Shape;327;p23"/>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từ nối</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 “but” - nhưng: dùng để nối 2 vế đối lập</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B. “if” - nếu: thể hiện điều kiện, vế 1 xảy ra nếu vế 2 thỏa mãn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C. “unless” - nếu không/ trừ khi: tương đương với “if not”</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=&gt; Vế 1: Chúng tôi sẽ đi biển. Vế 2: trời mưa vào ngày mai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Xét về nghĩa có thể loại A, B. Đáp án: C. unless</a:t>
            </a:r>
            <a:endParaRPr sz="3300">
              <a:solidFill>
                <a:schemeClr val="dk1"/>
              </a:solidFill>
              <a:latin typeface="Calibri"/>
              <a:ea typeface="Calibri"/>
              <a:cs typeface="Calibri"/>
              <a:sym typeface="Calibri"/>
            </a:endParaRPr>
          </a:p>
        </p:txBody>
      </p:sp>
      <p:sp>
        <p:nvSpPr>
          <p:cNvPr id="328" name="Google Shape;328;p23"/>
          <p:cNvSpPr/>
          <p:nvPr/>
        </p:nvSpPr>
        <p:spPr>
          <a:xfrm>
            <a:off x="1460075" y="43265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cxnSp>
        <p:nvCxnSpPr>
          <p:cNvPr id="334" name="Google Shape;334;p24"/>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35" name="Google Shape;335;p2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36" name="Google Shape;336;p24"/>
          <p:cNvGrpSpPr/>
          <p:nvPr/>
        </p:nvGrpSpPr>
        <p:grpSpPr>
          <a:xfrm rot="10800000">
            <a:off x="15785084" y="-536938"/>
            <a:ext cx="7681773" cy="4260605"/>
            <a:chOff x="0" y="-38100"/>
            <a:chExt cx="406400" cy="225405"/>
          </a:xfrm>
        </p:grpSpPr>
        <p:sp>
          <p:nvSpPr>
            <p:cNvPr id="337" name="Google Shape;337;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8" name="Google Shape;338;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9" name="Google Shape;339;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0" name="Google Shape;340;p24"/>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sp>
        <p:nvSpPr>
          <p:cNvPr id="341" name="Google Shape;341;p24"/>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3. When I was a teenager, I _______ have purple hair</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used to</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would</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was used to</a:t>
            </a:r>
            <a:endParaRPr sz="3200">
              <a:solidFill>
                <a:schemeClr val="dk1"/>
              </a:solidFill>
              <a:latin typeface="Calibri"/>
              <a:ea typeface="Calibri"/>
              <a:cs typeface="Calibri"/>
              <a:sym typeface="Calibri"/>
            </a:endParaRPr>
          </a:p>
        </p:txBody>
      </p:sp>
      <p:sp>
        <p:nvSpPr>
          <p:cNvPr id="342" name="Google Shape;342;p24"/>
          <p:cNvSpPr txBox="1"/>
          <p:nvPr/>
        </p:nvSpPr>
        <p:spPr>
          <a:xfrm>
            <a:off x="1460075" y="4928252"/>
            <a:ext cx="15699900" cy="5094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Chủ điểm ngữ pháp: used to/ would/ be was used to</a:t>
            </a:r>
            <a:endParaRPr b="1"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used to + V nguyên thể: nói về một thói quen, hành động, sự kiện hoặc trạng thái đã từng xảy ra trong quá khứ và không còn xảy ra trong hiện tại nữa.</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would + V nguyên thể: diễn tả những hành động hoặc thói quen thường xuyên xảy ra trong quá khứ, nhưng thường dùng với các động từ hành động, không dùng với các trạng thái kéo dài như "have" (có) trong câu này. =&gt;  Loại B</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was used to + V-ing: được sử dụng để diễn tả ai đó quen làm 1 việc gì =&gt; Loại C</a:t>
            </a:r>
            <a:endParaRPr sz="3200">
              <a:solidFill>
                <a:schemeClr val="dk1"/>
              </a:solidFill>
              <a:latin typeface="Calibri"/>
              <a:ea typeface="Calibri"/>
              <a:cs typeface="Calibri"/>
              <a:sym typeface="Calibri"/>
            </a:endParaRPr>
          </a:p>
        </p:txBody>
      </p:sp>
      <p:sp>
        <p:nvSpPr>
          <p:cNvPr id="343" name="Google Shape;343;p24"/>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cxnSp>
        <p:nvCxnSpPr>
          <p:cNvPr id="349" name="Google Shape;349;p25"/>
          <p:cNvCxnSpPr/>
          <p:nvPr/>
        </p:nvCxnSpPr>
        <p:spPr>
          <a:xfrm flipH="1" rot="10800000">
            <a:off x="3840695" y="14573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50" name="Google Shape;350;p25"/>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51" name="Google Shape;351;p25"/>
          <p:cNvGrpSpPr/>
          <p:nvPr/>
        </p:nvGrpSpPr>
        <p:grpSpPr>
          <a:xfrm rot="10800000">
            <a:off x="15785084" y="-536938"/>
            <a:ext cx="7681773" cy="4260605"/>
            <a:chOff x="0" y="-38100"/>
            <a:chExt cx="406400" cy="225405"/>
          </a:xfrm>
        </p:grpSpPr>
        <p:sp>
          <p:nvSpPr>
            <p:cNvPr id="352" name="Google Shape;352;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3" name="Google Shape;353;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4" name="Google Shape;354;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5" name="Google Shape;355;p25"/>
          <p:cNvSpPr txBox="1"/>
          <p:nvPr/>
        </p:nvSpPr>
        <p:spPr>
          <a:xfrm>
            <a:off x="3369585" y="571857"/>
            <a:ext cx="11880900" cy="7542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4900">
                <a:solidFill>
                  <a:srgbClr val="018345"/>
                </a:solidFill>
                <a:latin typeface="Montserrat"/>
                <a:ea typeface="Montserrat"/>
                <a:cs typeface="Montserrat"/>
                <a:sym typeface="Montserrat"/>
              </a:rPr>
              <a:t>Hướng dẫn trả lời</a:t>
            </a:r>
            <a:endParaRPr b="1" sz="4900">
              <a:solidFill>
                <a:srgbClr val="018345"/>
              </a:solidFill>
              <a:latin typeface="Montserrat"/>
              <a:ea typeface="Montserrat"/>
              <a:cs typeface="Montserrat"/>
              <a:sym typeface="Montserrat"/>
            </a:endParaRPr>
          </a:p>
        </p:txBody>
      </p:sp>
      <p:sp>
        <p:nvSpPr>
          <p:cNvPr id="356" name="Google Shape;356;p25"/>
          <p:cNvSpPr txBox="1"/>
          <p:nvPr/>
        </p:nvSpPr>
        <p:spPr>
          <a:xfrm>
            <a:off x="1629875" y="1607450"/>
            <a:ext cx="15360300" cy="3675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4.	Person A: I ate too many sweets.</a:t>
            </a:r>
            <a:endParaRPr sz="3000">
              <a:solidFill>
                <a:schemeClr val="dk1"/>
              </a:solidFill>
              <a:latin typeface="Calibri"/>
              <a:ea typeface="Calibri"/>
              <a:cs typeface="Calibri"/>
              <a:sym typeface="Calibri"/>
            </a:endParaRPr>
          </a:p>
          <a:p>
            <a:pPr indent="45720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Person B: You _______ have done that! Now, you'll have a stomach ache.</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couldn't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shouldn't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wouldn't</a:t>
            </a:r>
            <a:endParaRPr sz="3000">
              <a:solidFill>
                <a:schemeClr val="dk1"/>
              </a:solidFill>
              <a:latin typeface="Calibri"/>
              <a:ea typeface="Calibri"/>
              <a:cs typeface="Calibri"/>
              <a:sym typeface="Calibri"/>
            </a:endParaRPr>
          </a:p>
        </p:txBody>
      </p:sp>
      <p:sp>
        <p:nvSpPr>
          <p:cNvPr id="357" name="Google Shape;357;p25"/>
          <p:cNvSpPr txBox="1"/>
          <p:nvPr/>
        </p:nvSpPr>
        <p:spPr>
          <a:xfrm>
            <a:off x="1460075" y="51931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Chủ điểm ngữ pháp: Modal verb</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couldn’t: diễn tả khả năng không thể xảy ra hoặc khả năng bị ngăn cản.</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shouldn't: diễn tả một lời khuyên về một hành động không nên làm.</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wouldn't: diễn tả một hành động mà ai đó sẽ không làm trong một hoàn cảnh nhất định.</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Person A: Tôi ăn quá nhiều kẹo</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Person B: Bạn …… làm như vậy. Bây giờ bạn bị đau bụng đó.</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=&gt; Phù hợp trong hoàn cảnh là B nên khuyên A không nên ăn nhiều như vậy =&gt; B</a:t>
            </a:r>
            <a:endParaRPr sz="3000">
              <a:solidFill>
                <a:schemeClr val="dk1"/>
              </a:solidFill>
              <a:latin typeface="Calibri"/>
              <a:ea typeface="Calibri"/>
              <a:cs typeface="Calibri"/>
              <a:sym typeface="Calibri"/>
            </a:endParaRPr>
          </a:p>
        </p:txBody>
      </p:sp>
      <p:sp>
        <p:nvSpPr>
          <p:cNvPr id="358" name="Google Shape;358;p25"/>
          <p:cNvSpPr/>
          <p:nvPr/>
        </p:nvSpPr>
        <p:spPr>
          <a:xfrm>
            <a:off x="1460075" y="3723675"/>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cxnSp>
        <p:nvCxnSpPr>
          <p:cNvPr id="364" name="Google Shape;364;p26"/>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65" name="Google Shape;365;p26"/>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66" name="Google Shape;366;p26"/>
          <p:cNvGrpSpPr/>
          <p:nvPr/>
        </p:nvGrpSpPr>
        <p:grpSpPr>
          <a:xfrm rot="10800000">
            <a:off x="15785084" y="-536938"/>
            <a:ext cx="7681773" cy="4260605"/>
            <a:chOff x="0" y="-38100"/>
            <a:chExt cx="406400" cy="225405"/>
          </a:xfrm>
        </p:grpSpPr>
        <p:sp>
          <p:nvSpPr>
            <p:cNvPr id="367" name="Google Shape;367;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68" name="Google Shape;368;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9" name="Google Shape;369;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0" name="Google Shape;370;p26"/>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371" name="Google Shape;371;p26"/>
          <p:cNvGrpSpPr/>
          <p:nvPr/>
        </p:nvGrpSpPr>
        <p:grpSpPr>
          <a:xfrm>
            <a:off x="-2718010" y="9274530"/>
            <a:ext cx="7950378" cy="1707223"/>
            <a:chOff x="0" y="-384760"/>
            <a:chExt cx="10600504" cy="2276297"/>
          </a:xfrm>
        </p:grpSpPr>
        <p:grpSp>
          <p:nvGrpSpPr>
            <p:cNvPr id="372" name="Google Shape;372;p26"/>
            <p:cNvGrpSpPr/>
            <p:nvPr/>
          </p:nvGrpSpPr>
          <p:grpSpPr>
            <a:xfrm>
              <a:off x="0" y="-384760"/>
              <a:ext cx="10600504" cy="2276297"/>
              <a:chOff x="0" y="-38100"/>
              <a:chExt cx="1049690" cy="225405"/>
            </a:xfrm>
          </p:grpSpPr>
          <p:sp>
            <p:nvSpPr>
              <p:cNvPr id="373" name="Google Shape;373;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4" name="Google Shape;374;p2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5" name="Google Shape;375;p2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6" name="Google Shape;376;p26"/>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5</a:t>
            </a:r>
            <a:r>
              <a:rPr lang="en-US" sz="3200">
                <a:solidFill>
                  <a:schemeClr val="dk1"/>
                </a:solidFill>
                <a:latin typeface="Calibri"/>
                <a:ea typeface="Calibri"/>
                <a:cs typeface="Calibri"/>
                <a:sym typeface="Calibri"/>
              </a:rPr>
              <a:t>.	</a:t>
            </a:r>
            <a:r>
              <a:rPr lang="en-US" sz="3200">
                <a:solidFill>
                  <a:schemeClr val="dk1"/>
                </a:solidFill>
                <a:latin typeface="Calibri"/>
                <a:ea typeface="Calibri"/>
                <a:cs typeface="Calibri"/>
                <a:sym typeface="Calibri"/>
              </a:rPr>
              <a:t>My older sister always gives me _______ advice when I need help.</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an</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the</a:t>
            </a:r>
            <a:endParaRPr sz="3200">
              <a:solidFill>
                <a:schemeClr val="dk1"/>
              </a:solidFill>
              <a:latin typeface="Calibri"/>
              <a:ea typeface="Calibri"/>
              <a:cs typeface="Calibri"/>
              <a:sym typeface="Calibri"/>
            </a:endParaRPr>
          </a:p>
        </p:txBody>
      </p:sp>
      <p:sp>
        <p:nvSpPr>
          <p:cNvPr id="377" name="Google Shape;377;p26"/>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Chủ điểm ngữ pháp: mạo từ</a:t>
            </a:r>
            <a:endParaRPr b="1"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an: dùng trước danh từ đếm được số ít bắt đầu bằng một nguyên âm, ví dụ "an apple".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the: được dùng khi muốn chỉ đến một đối tượng cụ thể, đã được nhắc đến trước đó hoặc người nghe/người đọc đều biết.</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advice trong đề bài là một danh từ không đếm được =&gt; loại B. Trong ngữ cảnh này, chúng ta đang nói về "advice" một cách chung chung, không phải một lời khuyên cụ thể nào =&gt; loại C.</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378" name="Google Shape;378;p26"/>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cxnSp>
        <p:nvCxnSpPr>
          <p:cNvPr id="384" name="Google Shape;384;p27"/>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385" name="Google Shape;385;p27"/>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86" name="Google Shape;386;p27"/>
          <p:cNvGrpSpPr/>
          <p:nvPr/>
        </p:nvGrpSpPr>
        <p:grpSpPr>
          <a:xfrm rot="10800000">
            <a:off x="15785084" y="-536938"/>
            <a:ext cx="7681773" cy="4260605"/>
            <a:chOff x="0" y="-38100"/>
            <a:chExt cx="406400" cy="225405"/>
          </a:xfrm>
        </p:grpSpPr>
        <p:sp>
          <p:nvSpPr>
            <p:cNvPr id="387" name="Google Shape;387;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8" name="Google Shape;388;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0" name="Google Shape;390;p27"/>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391" name="Google Shape;391;p27"/>
          <p:cNvGrpSpPr/>
          <p:nvPr/>
        </p:nvGrpSpPr>
        <p:grpSpPr>
          <a:xfrm>
            <a:off x="-2718010" y="9274530"/>
            <a:ext cx="7950378" cy="1707223"/>
            <a:chOff x="0" y="-384760"/>
            <a:chExt cx="10600504" cy="2276297"/>
          </a:xfrm>
        </p:grpSpPr>
        <p:grpSp>
          <p:nvGrpSpPr>
            <p:cNvPr id="392" name="Google Shape;392;p27"/>
            <p:cNvGrpSpPr/>
            <p:nvPr/>
          </p:nvGrpSpPr>
          <p:grpSpPr>
            <a:xfrm>
              <a:off x="0" y="-384760"/>
              <a:ext cx="10600504" cy="2276297"/>
              <a:chOff x="0" y="-38100"/>
              <a:chExt cx="1049690" cy="225405"/>
            </a:xfrm>
          </p:grpSpPr>
          <p:sp>
            <p:nvSpPr>
              <p:cNvPr id="393" name="Google Shape;393;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94" name="Google Shape;394;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5" name="Google Shape;395;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6" name="Google Shape;396;p27"/>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6. I have a boat _______ is blue.</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who</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which</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whose</a:t>
            </a:r>
            <a:endParaRPr sz="3300">
              <a:solidFill>
                <a:schemeClr val="dk1"/>
              </a:solidFill>
              <a:latin typeface="Calibri"/>
              <a:ea typeface="Calibri"/>
              <a:cs typeface="Calibri"/>
              <a:sym typeface="Calibri"/>
            </a:endParaRPr>
          </a:p>
        </p:txBody>
      </p:sp>
      <p:sp>
        <p:nvSpPr>
          <p:cNvPr id="397" name="Google Shape;397;p27"/>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3300">
                <a:solidFill>
                  <a:schemeClr val="dk1"/>
                </a:solidFill>
                <a:latin typeface="Calibri"/>
                <a:ea typeface="Calibri"/>
                <a:cs typeface="Calibri"/>
                <a:sym typeface="Calibri"/>
              </a:rPr>
              <a:t>Chủ điểm ngữ pháp: Mệnh đề quan hệ</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who" được dùng để thay thế cho danh từ chỉ người.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which: thay thế cho danh từ chỉ đồ vật hoặc động vật. Trong câu này, "which" thay thế cho "a boat" và bổ sung thêm thông tin về chiếc thuyền này.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whose: được dùng để chỉ sự sở hữu và thường đi kèm với danh từ sau nó. Trong câu này, "whose" không phù hợp vì phía sau nó là động từ “is”.</a:t>
            </a:r>
            <a:endParaRPr b="1" sz="3300">
              <a:solidFill>
                <a:schemeClr val="dk1"/>
              </a:solidFill>
              <a:latin typeface="Calibri"/>
              <a:ea typeface="Calibri"/>
              <a:cs typeface="Calibri"/>
              <a:sym typeface="Calibri"/>
            </a:endParaRPr>
          </a:p>
        </p:txBody>
      </p:sp>
      <p:sp>
        <p:nvSpPr>
          <p:cNvPr id="398" name="Google Shape;398;p27"/>
          <p:cNvSpPr/>
          <p:nvPr/>
        </p:nvSpPr>
        <p:spPr>
          <a:xfrm>
            <a:off x="1460075" y="360745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cxnSp>
        <p:nvCxnSpPr>
          <p:cNvPr id="404" name="Google Shape;404;p28"/>
          <p:cNvCxnSpPr/>
          <p:nvPr/>
        </p:nvCxnSpPr>
        <p:spPr>
          <a:xfrm flipH="1" rot="10800000">
            <a:off x="3840695" y="132605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05" name="Google Shape;405;p28"/>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06" name="Google Shape;406;p28"/>
          <p:cNvGrpSpPr/>
          <p:nvPr/>
        </p:nvGrpSpPr>
        <p:grpSpPr>
          <a:xfrm rot="10800000">
            <a:off x="15785084" y="-536938"/>
            <a:ext cx="7681773" cy="4260605"/>
            <a:chOff x="0" y="-38100"/>
            <a:chExt cx="406400" cy="225405"/>
          </a:xfrm>
        </p:grpSpPr>
        <p:sp>
          <p:nvSpPr>
            <p:cNvPr id="407" name="Google Shape;407;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8" name="Google Shape;408;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9" name="Google Shape;409;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0" name="Google Shape;410;p28"/>
          <p:cNvSpPr txBox="1"/>
          <p:nvPr/>
        </p:nvSpPr>
        <p:spPr>
          <a:xfrm>
            <a:off x="3203510" y="571857"/>
            <a:ext cx="11880900" cy="7542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4900">
                <a:solidFill>
                  <a:srgbClr val="018345"/>
                </a:solidFill>
                <a:latin typeface="Montserrat"/>
                <a:ea typeface="Montserrat"/>
                <a:cs typeface="Montserrat"/>
                <a:sym typeface="Montserrat"/>
              </a:rPr>
              <a:t>Hướng dẫn trả lời</a:t>
            </a:r>
            <a:endParaRPr b="1" sz="4900">
              <a:solidFill>
                <a:srgbClr val="018345"/>
              </a:solidFill>
              <a:latin typeface="Montserrat"/>
              <a:ea typeface="Montserrat"/>
              <a:cs typeface="Montserrat"/>
              <a:sym typeface="Montserrat"/>
            </a:endParaRPr>
          </a:p>
        </p:txBody>
      </p:sp>
      <p:sp>
        <p:nvSpPr>
          <p:cNvPr id="411" name="Google Shape;411;p28"/>
          <p:cNvSpPr txBox="1"/>
          <p:nvPr/>
        </p:nvSpPr>
        <p:spPr>
          <a:xfrm>
            <a:off x="1629875" y="147210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2800">
                <a:solidFill>
                  <a:schemeClr val="dk1"/>
                </a:solidFill>
                <a:latin typeface="Calibri"/>
                <a:ea typeface="Calibri"/>
                <a:cs typeface="Calibri"/>
                <a:sym typeface="Calibri"/>
              </a:rPr>
              <a:t>7. He _______ the message before he found out the truth.</a:t>
            </a:r>
            <a:endParaRPr sz="2800">
              <a:solidFill>
                <a:schemeClr val="dk1"/>
              </a:solidFill>
              <a:latin typeface="Calibri"/>
              <a:ea typeface="Calibri"/>
              <a:cs typeface="Calibri"/>
              <a:sym typeface="Calibri"/>
            </a:endParaRPr>
          </a:p>
          <a:p>
            <a:pPr indent="-406400" lvl="0" marL="457200" rtl="0" algn="l">
              <a:lnSpc>
                <a:spcPct val="150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sent</a:t>
            </a:r>
            <a:endParaRPr sz="2800">
              <a:solidFill>
                <a:schemeClr val="dk1"/>
              </a:solidFill>
              <a:latin typeface="Calibri"/>
              <a:ea typeface="Calibri"/>
              <a:cs typeface="Calibri"/>
              <a:sym typeface="Calibri"/>
            </a:endParaRPr>
          </a:p>
          <a:p>
            <a:pPr indent="-406400" lvl="0" marL="457200" rtl="0" algn="l">
              <a:lnSpc>
                <a:spcPct val="150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had sent</a:t>
            </a:r>
            <a:endParaRPr sz="2800">
              <a:solidFill>
                <a:schemeClr val="dk1"/>
              </a:solidFill>
              <a:latin typeface="Calibri"/>
              <a:ea typeface="Calibri"/>
              <a:cs typeface="Calibri"/>
              <a:sym typeface="Calibri"/>
            </a:endParaRPr>
          </a:p>
          <a:p>
            <a:pPr indent="-406400" lvl="0" marL="457200" rtl="0" algn="l">
              <a:lnSpc>
                <a:spcPct val="150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was sending</a:t>
            </a:r>
            <a:endParaRPr sz="2800">
              <a:solidFill>
                <a:schemeClr val="dk1"/>
              </a:solidFill>
              <a:latin typeface="Calibri"/>
              <a:ea typeface="Calibri"/>
              <a:cs typeface="Calibri"/>
              <a:sym typeface="Calibri"/>
            </a:endParaRPr>
          </a:p>
        </p:txBody>
      </p:sp>
      <p:sp>
        <p:nvSpPr>
          <p:cNvPr id="412" name="Google Shape;412;p28"/>
          <p:cNvSpPr txBox="1"/>
          <p:nvPr/>
        </p:nvSpPr>
        <p:spPr>
          <a:xfrm>
            <a:off x="1460075" y="408928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2800">
                <a:solidFill>
                  <a:schemeClr val="dk1"/>
                </a:solidFill>
                <a:latin typeface="Calibri"/>
                <a:ea typeface="Calibri"/>
                <a:cs typeface="Calibri"/>
                <a:sym typeface="Calibri"/>
              </a:rPr>
              <a:t>Chủ điểm ngữ pháp: các thì trong Tiếng Anh</a:t>
            </a:r>
            <a:endParaRPr b="1"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2800">
                <a:solidFill>
                  <a:schemeClr val="dk1"/>
                </a:solidFill>
                <a:latin typeface="Calibri"/>
                <a:ea typeface="Calibri"/>
                <a:cs typeface="Calibri"/>
                <a:sym typeface="Calibri"/>
              </a:rPr>
              <a:t>- sent: là thì quá khứ đơn, thường dùng để diễn tả một hành động đã hoàn thành trong quá khứ, nhưng không rõ thứ tự so với hành động khác trong quá khứ.</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2800">
                <a:solidFill>
                  <a:schemeClr val="dk1"/>
                </a:solidFill>
                <a:latin typeface="Calibri"/>
                <a:ea typeface="Calibri"/>
                <a:cs typeface="Calibri"/>
                <a:sym typeface="Calibri"/>
              </a:rPr>
              <a:t>- had sent: thì quá khứ hoàn thành, được dùng để diễn tả một hành động đã hoàn thành trước một hành động khác trong quá khứ.</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2800">
                <a:solidFill>
                  <a:schemeClr val="dk1"/>
                </a:solidFill>
                <a:latin typeface="Calibri"/>
                <a:ea typeface="Calibri"/>
                <a:cs typeface="Calibri"/>
                <a:sym typeface="Calibri"/>
              </a:rPr>
              <a:t>- was sending: là thì quá khứ tiếp diễn, dùng để diễn tả một hành động đang diễn ra tại một thời điểm xác định trong quá khứ.</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2800">
                <a:solidFill>
                  <a:schemeClr val="dk1"/>
                </a:solidFill>
                <a:latin typeface="Calibri"/>
                <a:ea typeface="Calibri"/>
                <a:cs typeface="Calibri"/>
                <a:sym typeface="Calibri"/>
              </a:rPr>
              <a:t> Trong câu này, hành động "sent the message" xảy ra trước hành động "found out the truth". Do đó, cần dùng thì quá khứ hoàn thành để thể hiện thứ tự thời gian.</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2800">
              <a:solidFill>
                <a:schemeClr val="dk1"/>
              </a:solidFill>
              <a:latin typeface="Calibri"/>
              <a:ea typeface="Calibri"/>
              <a:cs typeface="Calibri"/>
              <a:sym typeface="Calibri"/>
            </a:endParaRPr>
          </a:p>
        </p:txBody>
      </p:sp>
      <p:sp>
        <p:nvSpPr>
          <p:cNvPr id="413" name="Google Shape;413;p28"/>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cxnSp>
        <p:nvCxnSpPr>
          <p:cNvPr id="419" name="Google Shape;419;p29"/>
          <p:cNvCxnSpPr/>
          <p:nvPr/>
        </p:nvCxnSpPr>
        <p:spPr>
          <a:xfrm flipH="1" rot="10800000">
            <a:off x="3839370" y="13413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20" name="Google Shape;420;p29"/>
          <p:cNvGrpSpPr/>
          <p:nvPr/>
        </p:nvGrpSpPr>
        <p:grpSpPr>
          <a:xfrm rot="10800000">
            <a:off x="15785084" y="-536938"/>
            <a:ext cx="7681773" cy="4260605"/>
            <a:chOff x="0" y="-38100"/>
            <a:chExt cx="406400" cy="225405"/>
          </a:xfrm>
        </p:grpSpPr>
        <p:sp>
          <p:nvSpPr>
            <p:cNvPr id="421" name="Google Shape;421;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2" name="Google Shape;422;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3" name="Google Shape;423;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24" name="Google Shape;424;p29"/>
          <p:cNvSpPr txBox="1"/>
          <p:nvPr/>
        </p:nvSpPr>
        <p:spPr>
          <a:xfrm>
            <a:off x="3203510" y="571857"/>
            <a:ext cx="11880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Hướng dẫn trả lời</a:t>
            </a:r>
            <a:endParaRPr b="1" sz="5000">
              <a:solidFill>
                <a:srgbClr val="018345"/>
              </a:solidFill>
              <a:latin typeface="Montserrat"/>
              <a:ea typeface="Montserrat"/>
              <a:cs typeface="Montserrat"/>
              <a:sym typeface="Montserrat"/>
            </a:endParaRPr>
          </a:p>
        </p:txBody>
      </p:sp>
      <p:sp>
        <p:nvSpPr>
          <p:cNvPr id="425" name="Google Shape;425;p29"/>
          <p:cNvSpPr txBox="1"/>
          <p:nvPr/>
        </p:nvSpPr>
        <p:spPr>
          <a:xfrm>
            <a:off x="1629875" y="1551475"/>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8. Look at the dark clouds! It _________ rain tomorrow.</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will</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will be</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lphaUcPeriod"/>
            </a:pPr>
            <a:r>
              <a:rPr lang="en-US" sz="3200">
                <a:solidFill>
                  <a:schemeClr val="dk1"/>
                </a:solidFill>
                <a:latin typeface="Calibri"/>
                <a:ea typeface="Calibri"/>
                <a:cs typeface="Calibri"/>
                <a:sym typeface="Calibri"/>
              </a:rPr>
              <a:t>is going to</a:t>
            </a:r>
            <a:endParaRPr sz="3200">
              <a:solidFill>
                <a:schemeClr val="dk1"/>
              </a:solidFill>
              <a:latin typeface="Calibri"/>
              <a:ea typeface="Calibri"/>
              <a:cs typeface="Calibri"/>
              <a:sym typeface="Calibri"/>
            </a:endParaRPr>
          </a:p>
        </p:txBody>
      </p:sp>
      <p:sp>
        <p:nvSpPr>
          <p:cNvPr id="426" name="Google Shape;426;p29"/>
          <p:cNvSpPr txBox="1"/>
          <p:nvPr/>
        </p:nvSpPr>
        <p:spPr>
          <a:xfrm>
            <a:off x="1460075" y="4515925"/>
            <a:ext cx="160023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Chủ điểm ngữ pháp: </a:t>
            </a:r>
            <a:r>
              <a:rPr b="1" lang="en-US" sz="3200">
                <a:solidFill>
                  <a:schemeClr val="dk1"/>
                </a:solidFill>
                <a:latin typeface="Calibri"/>
                <a:ea typeface="Calibri"/>
                <a:cs typeface="Calibri"/>
                <a:sym typeface="Calibri"/>
              </a:rPr>
              <a:t>các thì trong Tiếng Anh</a:t>
            </a:r>
            <a:endParaRPr b="1"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will: diễn tả một quyết định hoặc dự đoán về tương lai mà không dựa trên bằng chứng hiện tại.</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will be + adj/N: diễn tả được sự dự đoán dựa trên bằng chứng hiện tại.</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 is going to: diễn tả một dự đoán về tương lai dựa trên bằng chứng hiện tại.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Trong câu này, nhìn thấy các đám mây đen là một bằng chứng hiện tại cho thấy khả năng sẽ có mưa vào ngày mai và rain là động từ.</a:t>
            </a:r>
            <a:endParaRPr sz="3200">
              <a:solidFill>
                <a:schemeClr val="dk1"/>
              </a:solidFill>
              <a:latin typeface="Calibri"/>
              <a:ea typeface="Calibri"/>
              <a:cs typeface="Calibri"/>
              <a:sym typeface="Calibri"/>
            </a:endParaRPr>
          </a:p>
        </p:txBody>
      </p:sp>
      <p:sp>
        <p:nvSpPr>
          <p:cNvPr id="427" name="Google Shape;427;p29"/>
          <p:cNvSpPr/>
          <p:nvPr/>
        </p:nvSpPr>
        <p:spPr>
          <a:xfrm>
            <a:off x="1460075" y="3810275"/>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cxnSp>
        <p:nvCxnSpPr>
          <p:cNvPr id="433" name="Google Shape;433;p30"/>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34" name="Google Shape;434;p3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35" name="Google Shape;435;p30"/>
          <p:cNvGrpSpPr/>
          <p:nvPr/>
        </p:nvGrpSpPr>
        <p:grpSpPr>
          <a:xfrm rot="10800000">
            <a:off x="15785084" y="-536938"/>
            <a:ext cx="7681773" cy="4260605"/>
            <a:chOff x="0" y="-38100"/>
            <a:chExt cx="406400" cy="225405"/>
          </a:xfrm>
        </p:grpSpPr>
        <p:sp>
          <p:nvSpPr>
            <p:cNvPr id="436" name="Google Shape;436;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7" name="Google Shape;437;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8" name="Google Shape;438;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9" name="Google Shape;439;p30"/>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sp>
        <p:nvSpPr>
          <p:cNvPr id="440" name="Google Shape;440;p30"/>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9</a:t>
            </a:r>
            <a:r>
              <a:rPr lang="en-US" sz="3000">
                <a:solidFill>
                  <a:schemeClr val="dk1"/>
                </a:solidFill>
                <a:latin typeface="Calibri"/>
                <a:ea typeface="Calibri"/>
                <a:cs typeface="Calibri"/>
                <a:sym typeface="Calibri"/>
              </a:rPr>
              <a:t>. </a:t>
            </a:r>
            <a:r>
              <a:rPr lang="en-US" sz="3000">
                <a:solidFill>
                  <a:schemeClr val="dk1"/>
                </a:solidFill>
                <a:latin typeface="Calibri"/>
                <a:ea typeface="Calibri"/>
                <a:cs typeface="Calibri"/>
                <a:sym typeface="Calibri"/>
              </a:rPr>
              <a:t>I am so thirsty! I don't have _______ water in my bottle.</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any</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some</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the</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000">
              <a:solidFill>
                <a:schemeClr val="dk1"/>
              </a:solidFill>
              <a:latin typeface="Calibri"/>
              <a:ea typeface="Calibri"/>
              <a:cs typeface="Calibri"/>
              <a:sym typeface="Calibri"/>
            </a:endParaRPr>
          </a:p>
        </p:txBody>
      </p:sp>
      <p:sp>
        <p:nvSpPr>
          <p:cNvPr id="441" name="Google Shape;441;p30"/>
          <p:cNvSpPr txBox="1"/>
          <p:nvPr/>
        </p:nvSpPr>
        <p:spPr>
          <a:xfrm>
            <a:off x="1460075" y="497971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Chủ điểm ngữ pháp: any/ some/ mạo từ</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any: được dùng trong câu phủ định và câu hỏi để chỉ số lượng không xác định hoặc không có.</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 some: thường được dùng trong câu khẳng định để chỉ số lượng không xác định và đôi khi dùng trong câu hỏi, nhưng không phù hợp với câu phủ định.</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the: là mạo từ xác định, dùng để chỉ một đối tượng cụ thể đã được nhắc đến trước đó hoặc người nghe/người đọc đều biết.</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Đề bài là câu phủ định (I don't have)=&gt; loại B, không chỉ một lượng nước cụ thể nào =&gt; loại C</a:t>
            </a:r>
            <a:endParaRPr sz="3000">
              <a:solidFill>
                <a:schemeClr val="dk1"/>
              </a:solidFill>
              <a:latin typeface="Calibri"/>
              <a:ea typeface="Calibri"/>
              <a:cs typeface="Calibri"/>
              <a:sym typeface="Calibri"/>
            </a:endParaRPr>
          </a:p>
        </p:txBody>
      </p:sp>
      <p:sp>
        <p:nvSpPr>
          <p:cNvPr id="442" name="Google Shape;442;p30"/>
          <p:cNvSpPr/>
          <p:nvPr/>
        </p:nvSpPr>
        <p:spPr>
          <a:xfrm>
            <a:off x="1460075" y="2698725"/>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cxnSp>
        <p:nvCxnSpPr>
          <p:cNvPr id="448" name="Google Shape;448;p31"/>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49" name="Google Shape;449;p31"/>
          <p:cNvGrpSpPr/>
          <p:nvPr/>
        </p:nvGrpSpPr>
        <p:grpSpPr>
          <a:xfrm rot="10800000">
            <a:off x="15785084" y="-536938"/>
            <a:ext cx="7681773" cy="4260605"/>
            <a:chOff x="0" y="-38100"/>
            <a:chExt cx="406400" cy="225405"/>
          </a:xfrm>
        </p:grpSpPr>
        <p:sp>
          <p:nvSpPr>
            <p:cNvPr id="450" name="Google Shape;450;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1" name="Google Shape;451;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2" name="Google Shape;452;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3" name="Google Shape;453;p31"/>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454" name="Google Shape;454;p31"/>
          <p:cNvGrpSpPr/>
          <p:nvPr/>
        </p:nvGrpSpPr>
        <p:grpSpPr>
          <a:xfrm>
            <a:off x="-2718010" y="9274530"/>
            <a:ext cx="7950378" cy="1707223"/>
            <a:chOff x="0" y="-384760"/>
            <a:chExt cx="10600504" cy="2276297"/>
          </a:xfrm>
        </p:grpSpPr>
        <p:grpSp>
          <p:nvGrpSpPr>
            <p:cNvPr id="455" name="Google Shape;455;p31"/>
            <p:cNvGrpSpPr/>
            <p:nvPr/>
          </p:nvGrpSpPr>
          <p:grpSpPr>
            <a:xfrm>
              <a:off x="0" y="-384760"/>
              <a:ext cx="10600504" cy="2276297"/>
              <a:chOff x="0" y="-38100"/>
              <a:chExt cx="1049690" cy="225405"/>
            </a:xfrm>
          </p:grpSpPr>
          <p:sp>
            <p:nvSpPr>
              <p:cNvPr id="456" name="Google Shape;456;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7" name="Google Shape;457;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8" name="Google Shape;458;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9" name="Google Shape;459;p31"/>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10. The stranger _______ me that he liked my jacket.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said</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told</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asked</a:t>
            </a:r>
            <a:endParaRPr sz="3300">
              <a:solidFill>
                <a:schemeClr val="dk1"/>
              </a:solidFill>
              <a:latin typeface="Calibri"/>
              <a:ea typeface="Calibri"/>
              <a:cs typeface="Calibri"/>
              <a:sym typeface="Calibri"/>
            </a:endParaRPr>
          </a:p>
        </p:txBody>
      </p:sp>
      <p:sp>
        <p:nvSpPr>
          <p:cNvPr id="460" name="Google Shape;460;p31"/>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câu tường thuật</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said trần thuật lại lời nói thì phía sau cần “to”. The stranger </a:t>
            </a:r>
            <a:r>
              <a:rPr lang="en-US" sz="3300" u="sng">
                <a:solidFill>
                  <a:schemeClr val="dk1"/>
                </a:solidFill>
                <a:latin typeface="Calibri"/>
                <a:ea typeface="Calibri"/>
                <a:cs typeface="Calibri"/>
                <a:sym typeface="Calibri"/>
              </a:rPr>
              <a:t>said to me</a:t>
            </a:r>
            <a:r>
              <a:rPr lang="en-US" sz="3300">
                <a:solidFill>
                  <a:schemeClr val="dk1"/>
                </a:solidFill>
                <a:latin typeface="Calibri"/>
                <a:ea typeface="Calibri"/>
                <a:cs typeface="Calibri"/>
                <a:sym typeface="Calibri"/>
              </a:rPr>
              <a:t> that … =&gt; loại A</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told: truyền đạt thông tin hoặc ý kiến, phía sau là người nhận thông tin.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asked: được sử dụng khi chúng ta nói về việc một người hỏi một câu hỏi hoặc yêu cầu thông tin nào đó. =&gt; loại 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b="1" sz="3300">
              <a:solidFill>
                <a:schemeClr val="dk1"/>
              </a:solidFill>
              <a:latin typeface="Calibri"/>
              <a:ea typeface="Calibri"/>
              <a:cs typeface="Calibri"/>
              <a:sym typeface="Calibri"/>
            </a:endParaRPr>
          </a:p>
        </p:txBody>
      </p:sp>
      <p:sp>
        <p:nvSpPr>
          <p:cNvPr id="461" name="Google Shape;461;p31"/>
          <p:cNvSpPr/>
          <p:nvPr/>
        </p:nvSpPr>
        <p:spPr>
          <a:xfrm>
            <a:off x="1460075" y="35454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cxnSp>
        <p:nvCxnSpPr>
          <p:cNvPr id="467" name="Google Shape;467;p32"/>
          <p:cNvCxnSpPr/>
          <p:nvPr/>
        </p:nvCxnSpPr>
        <p:spPr>
          <a:xfrm flipH="1" rot="10800000">
            <a:off x="3840695" y="134135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68" name="Google Shape;468;p32"/>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69" name="Google Shape;469;p32"/>
          <p:cNvGrpSpPr/>
          <p:nvPr/>
        </p:nvGrpSpPr>
        <p:grpSpPr>
          <a:xfrm rot="10800000">
            <a:off x="15785084" y="-536938"/>
            <a:ext cx="7681773" cy="4260605"/>
            <a:chOff x="0" y="-38100"/>
            <a:chExt cx="406400" cy="225405"/>
          </a:xfrm>
        </p:grpSpPr>
        <p:sp>
          <p:nvSpPr>
            <p:cNvPr id="470" name="Google Shape;470;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1" name="Google Shape;471;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2" name="Google Shape;472;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3" name="Google Shape;473;p32"/>
          <p:cNvSpPr txBox="1"/>
          <p:nvPr/>
        </p:nvSpPr>
        <p:spPr>
          <a:xfrm>
            <a:off x="3203510" y="571857"/>
            <a:ext cx="11880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Hướng dẫn trả lời</a:t>
            </a:r>
            <a:endParaRPr b="1" sz="5000">
              <a:solidFill>
                <a:srgbClr val="018345"/>
              </a:solidFill>
              <a:latin typeface="Montserrat"/>
              <a:ea typeface="Montserrat"/>
              <a:cs typeface="Montserrat"/>
              <a:sym typeface="Montserrat"/>
            </a:endParaRPr>
          </a:p>
        </p:txBody>
      </p:sp>
      <p:sp>
        <p:nvSpPr>
          <p:cNvPr id="474" name="Google Shape;474;p32"/>
          <p:cNvSpPr txBox="1"/>
          <p:nvPr/>
        </p:nvSpPr>
        <p:spPr>
          <a:xfrm>
            <a:off x="1651050" y="1515488"/>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11. My city is _______ than New York.</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smaller</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smallest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small</a:t>
            </a:r>
            <a:endParaRPr sz="3000">
              <a:solidFill>
                <a:schemeClr val="dk1"/>
              </a:solidFill>
              <a:latin typeface="Calibri"/>
              <a:ea typeface="Calibri"/>
              <a:cs typeface="Calibri"/>
              <a:sym typeface="Calibri"/>
            </a:endParaRPr>
          </a:p>
        </p:txBody>
      </p:sp>
      <p:sp>
        <p:nvSpPr>
          <p:cNvPr id="475" name="Google Shape;475;p32"/>
          <p:cNvSpPr txBox="1"/>
          <p:nvPr/>
        </p:nvSpPr>
        <p:spPr>
          <a:xfrm>
            <a:off x="1481250" y="4324900"/>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Chủ điểm ngữ pháp: so sánh với tính từ</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smaller: dạng so sánh hơn của tính từ "small", được sử dụng khi so sánh hai đối tượng hoặc nhóm đối tượng.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smallest: dạng so sánh nhất của tính từ "small", được sử dụng khi so sánh ba hoặc nhiều hơn ba đối tượng hoặc nhóm đối tượng.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small: dạng cơ bản của tính từ, không được sử dụng trong trường hợp so sánh.</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Trong trường hợp này, chúng ta đang so sánh kích thước của "My city" với "New York", vì vậy cần sử dụng dạng so sánh hơn.</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000">
              <a:solidFill>
                <a:schemeClr val="dk1"/>
              </a:solidFill>
              <a:latin typeface="Calibri"/>
              <a:ea typeface="Calibri"/>
              <a:cs typeface="Calibri"/>
              <a:sym typeface="Calibri"/>
            </a:endParaRPr>
          </a:p>
        </p:txBody>
      </p:sp>
      <p:sp>
        <p:nvSpPr>
          <p:cNvPr id="476" name="Google Shape;476;p32"/>
          <p:cNvSpPr/>
          <p:nvPr/>
        </p:nvSpPr>
        <p:spPr>
          <a:xfrm>
            <a:off x="1481250" y="22754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cxnSp>
        <p:nvCxnSpPr>
          <p:cNvPr id="482" name="Google Shape;482;p33"/>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83" name="Google Shape;483;p3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84" name="Google Shape;484;p33"/>
          <p:cNvGrpSpPr/>
          <p:nvPr/>
        </p:nvGrpSpPr>
        <p:grpSpPr>
          <a:xfrm rot="10800000">
            <a:off x="15785084" y="-536938"/>
            <a:ext cx="7681773" cy="4260605"/>
            <a:chOff x="0" y="-38100"/>
            <a:chExt cx="406400" cy="225405"/>
          </a:xfrm>
        </p:grpSpPr>
        <p:sp>
          <p:nvSpPr>
            <p:cNvPr id="485" name="Google Shape;485;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6" name="Google Shape;486;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7" name="Google Shape;487;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88" name="Google Shape;488;p33"/>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489" name="Google Shape;489;p33"/>
          <p:cNvGrpSpPr/>
          <p:nvPr/>
        </p:nvGrpSpPr>
        <p:grpSpPr>
          <a:xfrm>
            <a:off x="-2718010" y="9274530"/>
            <a:ext cx="7950378" cy="1707223"/>
            <a:chOff x="0" y="-384760"/>
            <a:chExt cx="10600504" cy="2276297"/>
          </a:xfrm>
        </p:grpSpPr>
        <p:grpSp>
          <p:nvGrpSpPr>
            <p:cNvPr id="490" name="Google Shape;490;p33"/>
            <p:cNvGrpSpPr/>
            <p:nvPr/>
          </p:nvGrpSpPr>
          <p:grpSpPr>
            <a:xfrm>
              <a:off x="0" y="-384760"/>
              <a:ext cx="10600504" cy="2276297"/>
              <a:chOff x="0" y="-38100"/>
              <a:chExt cx="1049690" cy="225405"/>
            </a:xfrm>
          </p:grpSpPr>
          <p:sp>
            <p:nvSpPr>
              <p:cNvPr id="491" name="Google Shape;491;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92" name="Google Shape;492;p3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3" name="Google Shape;493;p3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4" name="Google Shape;494;p33"/>
          <p:cNvSpPr txBox="1"/>
          <p:nvPr/>
        </p:nvSpPr>
        <p:spPr>
          <a:xfrm>
            <a:off x="1629875" y="20774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12. I would love _______ dinner with you.</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having</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to have</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have</a:t>
            </a:r>
            <a:endParaRPr sz="3300">
              <a:solidFill>
                <a:schemeClr val="dk1"/>
              </a:solidFill>
              <a:latin typeface="Calibri"/>
              <a:ea typeface="Calibri"/>
              <a:cs typeface="Calibri"/>
              <a:sym typeface="Calibri"/>
            </a:endParaRPr>
          </a:p>
        </p:txBody>
      </p:sp>
      <p:sp>
        <p:nvSpPr>
          <p:cNvPr id="495" name="Google Shape;495;p33"/>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chia dạng động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I would love (I’d love) + to V: thể hiện mong muốn làm gì</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Trong 3 lựa chọn =&gt; Đáp án B. to have thỏa mãn điều kiện ngữ pháp</a:t>
            </a:r>
            <a:endParaRPr sz="3300">
              <a:solidFill>
                <a:schemeClr val="dk1"/>
              </a:solidFill>
              <a:latin typeface="Calibri"/>
              <a:ea typeface="Calibri"/>
              <a:cs typeface="Calibri"/>
              <a:sym typeface="Calibri"/>
            </a:endParaRPr>
          </a:p>
        </p:txBody>
      </p:sp>
      <p:sp>
        <p:nvSpPr>
          <p:cNvPr id="496" name="Google Shape;496;p33"/>
          <p:cNvSpPr/>
          <p:nvPr/>
        </p:nvSpPr>
        <p:spPr>
          <a:xfrm>
            <a:off x="1460075" y="35454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cxnSp>
        <p:nvCxnSpPr>
          <p:cNvPr id="502" name="Google Shape;502;p34"/>
          <p:cNvCxnSpPr/>
          <p:nvPr/>
        </p:nvCxnSpPr>
        <p:spPr>
          <a:xfrm flipH="1" rot="10800000">
            <a:off x="3840695" y="147635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03" name="Google Shape;503;p3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04" name="Google Shape;504;p34"/>
          <p:cNvGrpSpPr/>
          <p:nvPr/>
        </p:nvGrpSpPr>
        <p:grpSpPr>
          <a:xfrm rot="10800000">
            <a:off x="15785084" y="-536938"/>
            <a:ext cx="7681773" cy="4260605"/>
            <a:chOff x="0" y="-38100"/>
            <a:chExt cx="406400" cy="225405"/>
          </a:xfrm>
        </p:grpSpPr>
        <p:sp>
          <p:nvSpPr>
            <p:cNvPr id="505" name="Google Shape;505;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6" name="Google Shape;506;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7" name="Google Shape;507;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08" name="Google Shape;508;p34"/>
          <p:cNvSpPr txBox="1"/>
          <p:nvPr/>
        </p:nvSpPr>
        <p:spPr>
          <a:xfrm>
            <a:off x="3203510" y="571857"/>
            <a:ext cx="11880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Hướng dẫn trả lời</a:t>
            </a:r>
            <a:endParaRPr b="1" sz="5000">
              <a:solidFill>
                <a:srgbClr val="018345"/>
              </a:solidFill>
              <a:latin typeface="Montserrat"/>
              <a:ea typeface="Montserrat"/>
              <a:cs typeface="Montserrat"/>
              <a:sym typeface="Montserrat"/>
            </a:endParaRPr>
          </a:p>
        </p:txBody>
      </p:sp>
      <p:sp>
        <p:nvSpPr>
          <p:cNvPr id="509" name="Google Shape;509;p34"/>
          <p:cNvSpPr txBox="1"/>
          <p:nvPr/>
        </p:nvSpPr>
        <p:spPr>
          <a:xfrm>
            <a:off x="1629875" y="1630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13. We are eating out tonight, ______ we?</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don't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doesn't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aren't</a:t>
            </a:r>
            <a:endParaRPr sz="3000">
              <a:solidFill>
                <a:schemeClr val="dk1"/>
              </a:solidFill>
              <a:latin typeface="Calibri"/>
              <a:ea typeface="Calibri"/>
              <a:cs typeface="Calibri"/>
              <a:sym typeface="Calibri"/>
            </a:endParaRPr>
          </a:p>
        </p:txBody>
      </p:sp>
      <p:sp>
        <p:nvSpPr>
          <p:cNvPr id="510" name="Google Shape;510;p34"/>
          <p:cNvSpPr txBox="1"/>
          <p:nvPr/>
        </p:nvSpPr>
        <p:spPr>
          <a:xfrm>
            <a:off x="1460075" y="443966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Chủ điểm ngữ pháp: câu hỏi đuôi</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Câu hỏi đuôi (Tag question) là một dạng câu hỏi Yes-No Question ngắn được đặt ở cuối câu, ngăn cách với mệnh đề phía trước bởi một dấu phẩy.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Nếu </a:t>
            </a:r>
            <a:r>
              <a:rPr lang="en-US" sz="3000" u="sng">
                <a:solidFill>
                  <a:schemeClr val="dk1"/>
                </a:solidFill>
                <a:latin typeface="Calibri"/>
                <a:ea typeface="Calibri"/>
                <a:cs typeface="Calibri"/>
                <a:sym typeface="Calibri"/>
              </a:rPr>
              <a:t>mệnh đề đứng trước</a:t>
            </a:r>
            <a:r>
              <a:rPr lang="en-US" sz="3000">
                <a:solidFill>
                  <a:schemeClr val="dk1"/>
                </a:solidFill>
                <a:latin typeface="Calibri"/>
                <a:ea typeface="Calibri"/>
                <a:cs typeface="Calibri"/>
                <a:sym typeface="Calibri"/>
              </a:rPr>
              <a:t> câu hỏi đuôi được viết dưới dạng </a:t>
            </a:r>
            <a:r>
              <a:rPr lang="en-US" sz="3000" u="sng">
                <a:solidFill>
                  <a:schemeClr val="dk1"/>
                </a:solidFill>
                <a:latin typeface="Calibri"/>
                <a:ea typeface="Calibri"/>
                <a:cs typeface="Calibri"/>
                <a:sym typeface="Calibri"/>
              </a:rPr>
              <a:t>khẳng định</a:t>
            </a:r>
            <a:r>
              <a:rPr lang="en-US" sz="3000">
                <a:solidFill>
                  <a:schemeClr val="dk1"/>
                </a:solidFill>
                <a:latin typeface="Calibri"/>
                <a:ea typeface="Calibri"/>
                <a:cs typeface="Calibri"/>
                <a:sym typeface="Calibri"/>
              </a:rPr>
              <a:t> thì câu hỏi </a:t>
            </a:r>
            <a:r>
              <a:rPr lang="en-US" sz="3000" u="sng">
                <a:solidFill>
                  <a:schemeClr val="dk1"/>
                </a:solidFill>
                <a:latin typeface="Calibri"/>
                <a:ea typeface="Calibri"/>
                <a:cs typeface="Calibri"/>
                <a:sym typeface="Calibri"/>
              </a:rPr>
              <a:t>đuôi</a:t>
            </a:r>
            <a:r>
              <a:rPr lang="en-US" sz="3000">
                <a:solidFill>
                  <a:schemeClr val="dk1"/>
                </a:solidFill>
                <a:latin typeface="Calibri"/>
                <a:ea typeface="Calibri"/>
                <a:cs typeface="Calibri"/>
                <a:sym typeface="Calibri"/>
              </a:rPr>
              <a:t> sẽ ở</a:t>
            </a:r>
            <a:r>
              <a:rPr lang="en-US" sz="3000" u="sng">
                <a:solidFill>
                  <a:schemeClr val="dk1"/>
                </a:solidFill>
                <a:latin typeface="Calibri"/>
                <a:ea typeface="Calibri"/>
                <a:cs typeface="Calibri"/>
                <a:sym typeface="Calibri"/>
              </a:rPr>
              <a:t> dạng phủ định</a:t>
            </a:r>
            <a:r>
              <a:rPr lang="en-US" sz="3000">
                <a:solidFill>
                  <a:schemeClr val="dk1"/>
                </a:solidFill>
                <a:latin typeface="Calibri"/>
                <a:ea typeface="Calibri"/>
                <a:cs typeface="Calibri"/>
                <a:sym typeface="Calibri"/>
              </a:rPr>
              <a:t> và </a:t>
            </a:r>
            <a:r>
              <a:rPr lang="en-US" sz="3000" u="sng">
                <a:solidFill>
                  <a:schemeClr val="dk1"/>
                </a:solidFill>
                <a:latin typeface="Calibri"/>
                <a:ea typeface="Calibri"/>
                <a:cs typeface="Calibri"/>
                <a:sym typeface="Calibri"/>
              </a:rPr>
              <a:t>ngược lại</a:t>
            </a:r>
            <a:r>
              <a:rPr lang="en-US" sz="3000">
                <a:solidFill>
                  <a:schemeClr val="dk1"/>
                </a:solidFill>
                <a:latin typeface="Calibri"/>
                <a:ea typeface="Calibri"/>
                <a:cs typeface="Calibri"/>
                <a:sym typeface="Calibri"/>
              </a:rPr>
              <a:t>. Phần câu hỏi đuôi luôn được viết tắt.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Khi mệnh đề chính sử dụng động từ nào, câu hỏi đuôi sẽ sử dụng trợ động từ phụ thuộc vào mệnh đề chính.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Trong câu, phần trước là khẳng định =&gt; vế sau phủ định và sử dụng trợ động từ ở trước</a:t>
            </a:r>
            <a:endParaRPr sz="3000">
              <a:solidFill>
                <a:schemeClr val="dk1"/>
              </a:solidFill>
              <a:latin typeface="Calibri"/>
              <a:ea typeface="Calibri"/>
              <a:cs typeface="Calibri"/>
              <a:sym typeface="Calibri"/>
            </a:endParaRPr>
          </a:p>
        </p:txBody>
      </p:sp>
      <p:sp>
        <p:nvSpPr>
          <p:cNvPr id="511" name="Google Shape;511;p34"/>
          <p:cNvSpPr/>
          <p:nvPr/>
        </p:nvSpPr>
        <p:spPr>
          <a:xfrm>
            <a:off x="1460075" y="3723675"/>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cxnSp>
        <p:nvCxnSpPr>
          <p:cNvPr id="517" name="Google Shape;517;p35"/>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18" name="Google Shape;518;p35"/>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19" name="Google Shape;519;p35"/>
          <p:cNvGrpSpPr/>
          <p:nvPr/>
        </p:nvGrpSpPr>
        <p:grpSpPr>
          <a:xfrm rot="10800000">
            <a:off x="15785084" y="-536938"/>
            <a:ext cx="7681773" cy="4260605"/>
            <a:chOff x="0" y="-38100"/>
            <a:chExt cx="406400" cy="225405"/>
          </a:xfrm>
        </p:grpSpPr>
        <p:sp>
          <p:nvSpPr>
            <p:cNvPr id="520" name="Google Shape;520;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1" name="Google Shape;521;p3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2" name="Google Shape;522;p3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23" name="Google Shape;523;p35"/>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524" name="Google Shape;524;p35"/>
          <p:cNvGrpSpPr/>
          <p:nvPr/>
        </p:nvGrpSpPr>
        <p:grpSpPr>
          <a:xfrm>
            <a:off x="-2718010" y="9274530"/>
            <a:ext cx="7950378" cy="1707223"/>
            <a:chOff x="0" y="-384760"/>
            <a:chExt cx="10600504" cy="2276297"/>
          </a:xfrm>
        </p:grpSpPr>
        <p:grpSp>
          <p:nvGrpSpPr>
            <p:cNvPr id="525" name="Google Shape;525;p35"/>
            <p:cNvGrpSpPr/>
            <p:nvPr/>
          </p:nvGrpSpPr>
          <p:grpSpPr>
            <a:xfrm>
              <a:off x="0" y="-384760"/>
              <a:ext cx="10600504" cy="2276297"/>
              <a:chOff x="0" y="-38100"/>
              <a:chExt cx="1049690" cy="225405"/>
            </a:xfrm>
          </p:grpSpPr>
          <p:sp>
            <p:nvSpPr>
              <p:cNvPr id="526" name="Google Shape;526;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7" name="Google Shape;527;p3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8" name="Google Shape;528;p3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9" name="Google Shape;529;p35"/>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14. Colt _______ to the store yesterday.</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go</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went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gone</a:t>
            </a:r>
            <a:endParaRPr sz="3300">
              <a:solidFill>
                <a:schemeClr val="dk1"/>
              </a:solidFill>
              <a:latin typeface="Calibri"/>
              <a:ea typeface="Calibri"/>
              <a:cs typeface="Calibri"/>
              <a:sym typeface="Calibri"/>
            </a:endParaRPr>
          </a:p>
        </p:txBody>
      </p:sp>
      <p:sp>
        <p:nvSpPr>
          <p:cNvPr id="530" name="Google Shape;530;p35"/>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chia động từ theo thì</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Trong câu chính xuất hiện từ nhận biết “yesterday” (hôm qua) =&gt; Thì trong câu là thì quá khứ đơn.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=&gt; Động từ phù hợp “B. went”</a:t>
            </a:r>
            <a:endParaRPr sz="3300">
              <a:solidFill>
                <a:schemeClr val="dk1"/>
              </a:solidFill>
              <a:latin typeface="Calibri"/>
              <a:ea typeface="Calibri"/>
              <a:cs typeface="Calibri"/>
              <a:sym typeface="Calibri"/>
            </a:endParaRPr>
          </a:p>
        </p:txBody>
      </p:sp>
      <p:sp>
        <p:nvSpPr>
          <p:cNvPr id="531" name="Google Shape;531;p35"/>
          <p:cNvSpPr/>
          <p:nvPr/>
        </p:nvSpPr>
        <p:spPr>
          <a:xfrm>
            <a:off x="1460075" y="3556975"/>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cxnSp>
        <p:nvCxnSpPr>
          <p:cNvPr id="537" name="Google Shape;537;p36"/>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38" name="Google Shape;538;p36"/>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39" name="Google Shape;539;p36"/>
          <p:cNvGrpSpPr/>
          <p:nvPr/>
        </p:nvGrpSpPr>
        <p:grpSpPr>
          <a:xfrm rot="10800000">
            <a:off x="15785084" y="-536938"/>
            <a:ext cx="7681773" cy="4260605"/>
            <a:chOff x="0" y="-38100"/>
            <a:chExt cx="406400" cy="225405"/>
          </a:xfrm>
        </p:grpSpPr>
        <p:sp>
          <p:nvSpPr>
            <p:cNvPr id="540" name="Google Shape;540;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1" name="Google Shape;541;p3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 name="Google Shape;542;p3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43" name="Google Shape;543;p36"/>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544" name="Google Shape;544;p36"/>
          <p:cNvGrpSpPr/>
          <p:nvPr/>
        </p:nvGrpSpPr>
        <p:grpSpPr>
          <a:xfrm>
            <a:off x="-2718010" y="9274530"/>
            <a:ext cx="7950378" cy="1707223"/>
            <a:chOff x="0" y="-384760"/>
            <a:chExt cx="10600504" cy="2276297"/>
          </a:xfrm>
        </p:grpSpPr>
        <p:grpSp>
          <p:nvGrpSpPr>
            <p:cNvPr id="545" name="Google Shape;545;p36"/>
            <p:cNvGrpSpPr/>
            <p:nvPr/>
          </p:nvGrpSpPr>
          <p:grpSpPr>
            <a:xfrm>
              <a:off x="0" y="-384760"/>
              <a:ext cx="10600504" cy="2276297"/>
              <a:chOff x="0" y="-38100"/>
              <a:chExt cx="1049690" cy="225405"/>
            </a:xfrm>
          </p:grpSpPr>
          <p:sp>
            <p:nvSpPr>
              <p:cNvPr id="546" name="Google Shape;546;p3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7" name="Google Shape;547;p3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8" name="Google Shape;548;p3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9" name="Google Shape;549;p36"/>
          <p:cNvSpPr txBox="1"/>
          <p:nvPr/>
        </p:nvSpPr>
        <p:spPr>
          <a:xfrm>
            <a:off x="1629875" y="2001250"/>
            <a:ext cx="15360300" cy="3123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15. While my dad was making dinner, my mom _______ TV</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watches</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has watched</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was watching</a:t>
            </a:r>
            <a:endParaRPr sz="3300">
              <a:solidFill>
                <a:schemeClr val="dk1"/>
              </a:solidFill>
              <a:latin typeface="Calibri"/>
              <a:ea typeface="Calibri"/>
              <a:cs typeface="Calibri"/>
              <a:sym typeface="Calibri"/>
            </a:endParaRPr>
          </a:p>
        </p:txBody>
      </p:sp>
      <p:sp>
        <p:nvSpPr>
          <p:cNvPr id="550" name="Google Shape;550;p36"/>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chia động từ theo thì</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Trong câu xuất hiện từ “while”: diễn tả hai hành động xảy ra song song đồng thời tại cùng một thời điểm: “making dinner” và “watching TV”. Do đó 2 vế sẽ đều dùng thì quá khứ tiếp diễn.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=&gt; Đáp án phù hợp C. was watching</a:t>
            </a:r>
            <a:endParaRPr sz="3300">
              <a:solidFill>
                <a:schemeClr val="dk1"/>
              </a:solidFill>
              <a:latin typeface="Calibri"/>
              <a:ea typeface="Calibri"/>
              <a:cs typeface="Calibri"/>
              <a:sym typeface="Calibri"/>
            </a:endParaRPr>
          </a:p>
        </p:txBody>
      </p:sp>
      <p:sp>
        <p:nvSpPr>
          <p:cNvPr id="551" name="Google Shape;551;p36"/>
          <p:cNvSpPr/>
          <p:nvPr/>
        </p:nvSpPr>
        <p:spPr>
          <a:xfrm>
            <a:off x="1460075" y="427135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cxnSp>
        <p:nvCxnSpPr>
          <p:cNvPr id="557" name="Google Shape;557;p37"/>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58" name="Google Shape;558;p37"/>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59" name="Google Shape;559;p37"/>
          <p:cNvGrpSpPr/>
          <p:nvPr/>
        </p:nvGrpSpPr>
        <p:grpSpPr>
          <a:xfrm rot="10800000">
            <a:off x="15785084" y="-536938"/>
            <a:ext cx="7681773" cy="4260605"/>
            <a:chOff x="0" y="-38100"/>
            <a:chExt cx="406400" cy="225405"/>
          </a:xfrm>
        </p:grpSpPr>
        <p:sp>
          <p:nvSpPr>
            <p:cNvPr id="560" name="Google Shape;560;p3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1" name="Google Shape;561;p3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2" name="Google Shape;562;p3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63" name="Google Shape;563;p37"/>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564" name="Google Shape;564;p37"/>
          <p:cNvGrpSpPr/>
          <p:nvPr/>
        </p:nvGrpSpPr>
        <p:grpSpPr>
          <a:xfrm>
            <a:off x="-2718010" y="9274530"/>
            <a:ext cx="7950378" cy="1707223"/>
            <a:chOff x="0" y="-384760"/>
            <a:chExt cx="10600504" cy="2276297"/>
          </a:xfrm>
        </p:grpSpPr>
        <p:grpSp>
          <p:nvGrpSpPr>
            <p:cNvPr id="565" name="Google Shape;565;p37"/>
            <p:cNvGrpSpPr/>
            <p:nvPr/>
          </p:nvGrpSpPr>
          <p:grpSpPr>
            <a:xfrm>
              <a:off x="0" y="-384760"/>
              <a:ext cx="10600504" cy="2276297"/>
              <a:chOff x="0" y="-38100"/>
              <a:chExt cx="1049690" cy="225405"/>
            </a:xfrm>
          </p:grpSpPr>
          <p:sp>
            <p:nvSpPr>
              <p:cNvPr id="566" name="Google Shape;566;p3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7" name="Google Shape;567;p3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8" name="Google Shape;568;p3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9" name="Google Shape;569;p37"/>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100">
                <a:solidFill>
                  <a:schemeClr val="dk1"/>
                </a:solidFill>
                <a:latin typeface="Calibri"/>
                <a:ea typeface="Calibri"/>
                <a:cs typeface="Calibri"/>
                <a:sym typeface="Calibri"/>
              </a:rPr>
              <a:t>16. We _______ buy our tickets before they sell out.</a:t>
            </a:r>
            <a:endParaRPr sz="3100">
              <a:solidFill>
                <a:schemeClr val="dk1"/>
              </a:solidFill>
              <a:latin typeface="Calibri"/>
              <a:ea typeface="Calibri"/>
              <a:cs typeface="Calibri"/>
              <a:sym typeface="Calibri"/>
            </a:endParaRPr>
          </a:p>
          <a:p>
            <a:pPr indent="-425450" lvl="0" marL="457200" rtl="0" algn="l">
              <a:lnSpc>
                <a:spcPct val="150000"/>
              </a:lnSpc>
              <a:spcBef>
                <a:spcPts val="0"/>
              </a:spcBef>
              <a:spcAft>
                <a:spcPts val="0"/>
              </a:spcAft>
              <a:buClr>
                <a:schemeClr val="dk1"/>
              </a:buClr>
              <a:buSzPts val="3100"/>
              <a:buFont typeface="Calibri"/>
              <a:buAutoNum type="alphaUcPeriod"/>
            </a:pPr>
            <a:r>
              <a:rPr lang="en-US" sz="3100">
                <a:solidFill>
                  <a:schemeClr val="dk1"/>
                </a:solidFill>
                <a:latin typeface="Calibri"/>
                <a:ea typeface="Calibri"/>
                <a:cs typeface="Calibri"/>
                <a:sym typeface="Calibri"/>
              </a:rPr>
              <a:t>should</a:t>
            </a:r>
            <a:endParaRPr sz="3100">
              <a:solidFill>
                <a:schemeClr val="dk1"/>
              </a:solidFill>
              <a:latin typeface="Calibri"/>
              <a:ea typeface="Calibri"/>
              <a:cs typeface="Calibri"/>
              <a:sym typeface="Calibri"/>
            </a:endParaRPr>
          </a:p>
          <a:p>
            <a:pPr indent="-425450" lvl="0" marL="457200" rtl="0" algn="l">
              <a:lnSpc>
                <a:spcPct val="150000"/>
              </a:lnSpc>
              <a:spcBef>
                <a:spcPts val="0"/>
              </a:spcBef>
              <a:spcAft>
                <a:spcPts val="0"/>
              </a:spcAft>
              <a:buClr>
                <a:schemeClr val="dk1"/>
              </a:buClr>
              <a:buSzPts val="3100"/>
              <a:buFont typeface="Calibri"/>
              <a:buAutoNum type="alphaUcPeriod"/>
            </a:pPr>
            <a:r>
              <a:rPr lang="en-US" sz="3100">
                <a:solidFill>
                  <a:schemeClr val="dk1"/>
                </a:solidFill>
                <a:latin typeface="Calibri"/>
                <a:ea typeface="Calibri"/>
                <a:cs typeface="Calibri"/>
                <a:sym typeface="Calibri"/>
              </a:rPr>
              <a:t>can</a:t>
            </a:r>
            <a:endParaRPr sz="3100">
              <a:solidFill>
                <a:schemeClr val="dk1"/>
              </a:solidFill>
              <a:latin typeface="Calibri"/>
              <a:ea typeface="Calibri"/>
              <a:cs typeface="Calibri"/>
              <a:sym typeface="Calibri"/>
            </a:endParaRPr>
          </a:p>
          <a:p>
            <a:pPr indent="-425450" lvl="0" marL="457200" rtl="0" algn="l">
              <a:lnSpc>
                <a:spcPct val="150000"/>
              </a:lnSpc>
              <a:spcBef>
                <a:spcPts val="0"/>
              </a:spcBef>
              <a:spcAft>
                <a:spcPts val="0"/>
              </a:spcAft>
              <a:buClr>
                <a:schemeClr val="dk1"/>
              </a:buClr>
              <a:buSzPts val="3100"/>
              <a:buFont typeface="Calibri"/>
              <a:buAutoNum type="alphaUcPeriod"/>
            </a:pPr>
            <a:r>
              <a:rPr lang="en-US" sz="3100">
                <a:solidFill>
                  <a:schemeClr val="dk1"/>
                </a:solidFill>
                <a:latin typeface="Calibri"/>
                <a:ea typeface="Calibri"/>
                <a:cs typeface="Calibri"/>
                <a:sym typeface="Calibri"/>
              </a:rPr>
              <a:t>could</a:t>
            </a:r>
            <a:endParaRPr sz="3100">
              <a:solidFill>
                <a:schemeClr val="dk1"/>
              </a:solidFill>
              <a:latin typeface="Calibri"/>
              <a:ea typeface="Calibri"/>
              <a:cs typeface="Calibri"/>
              <a:sym typeface="Calibri"/>
            </a:endParaRPr>
          </a:p>
        </p:txBody>
      </p:sp>
      <p:sp>
        <p:nvSpPr>
          <p:cNvPr id="570" name="Google Shape;570;p37"/>
          <p:cNvSpPr txBox="1"/>
          <p:nvPr/>
        </p:nvSpPr>
        <p:spPr>
          <a:xfrm>
            <a:off x="1460075" y="502618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100">
                <a:solidFill>
                  <a:schemeClr val="dk1"/>
                </a:solidFill>
                <a:latin typeface="Calibri"/>
                <a:ea typeface="Calibri"/>
                <a:cs typeface="Calibri"/>
                <a:sym typeface="Calibri"/>
              </a:rPr>
              <a:t>Chủ điểm ngữ pháp: Modal verbs</a:t>
            </a:r>
            <a:endParaRPr b="1" sz="31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100">
                <a:solidFill>
                  <a:schemeClr val="dk1"/>
                </a:solidFill>
                <a:latin typeface="Calibri"/>
                <a:ea typeface="Calibri"/>
                <a:cs typeface="Calibri"/>
                <a:sym typeface="Calibri"/>
              </a:rPr>
              <a:t>- should: được sử dụng để diễn đạt một lời khuyên hoặc đề xuất nên làm một hành động nào đó.</a:t>
            </a:r>
            <a:endParaRPr sz="31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100">
                <a:solidFill>
                  <a:schemeClr val="dk1"/>
                </a:solidFill>
                <a:latin typeface="Calibri"/>
                <a:ea typeface="Calibri"/>
                <a:cs typeface="Calibri"/>
                <a:sym typeface="Calibri"/>
              </a:rPr>
              <a:t>- can: diễn đạt khả năng làm một hành động nào đó.</a:t>
            </a:r>
            <a:endParaRPr sz="31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100">
                <a:solidFill>
                  <a:schemeClr val="dk1"/>
                </a:solidFill>
                <a:latin typeface="Calibri"/>
                <a:ea typeface="Calibri"/>
                <a:cs typeface="Calibri"/>
                <a:sym typeface="Calibri"/>
              </a:rPr>
              <a:t>- could: khả năng xảy ra trong tương lai của 1 việc nhưng chưa chắc chắn.</a:t>
            </a:r>
            <a:endParaRPr sz="31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100">
                <a:solidFill>
                  <a:schemeClr val="dk1"/>
                </a:solidFill>
                <a:latin typeface="Calibri"/>
                <a:ea typeface="Calibri"/>
                <a:cs typeface="Calibri"/>
                <a:sym typeface="Calibri"/>
              </a:rPr>
              <a:t>Trong trường hợp này, chúng ta muốn diễn đạt một lời khuyên hoặc đề xuất, vì vậy "should" là từ phù hợp nhất.</a:t>
            </a:r>
            <a:endParaRPr sz="3100">
              <a:solidFill>
                <a:schemeClr val="dk1"/>
              </a:solidFill>
              <a:latin typeface="Calibri"/>
              <a:ea typeface="Calibri"/>
              <a:cs typeface="Calibri"/>
              <a:sym typeface="Calibri"/>
            </a:endParaRPr>
          </a:p>
        </p:txBody>
      </p:sp>
      <p:sp>
        <p:nvSpPr>
          <p:cNvPr id="571" name="Google Shape;571;p37"/>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cxnSp>
        <p:nvCxnSpPr>
          <p:cNvPr id="577" name="Google Shape;577;p38"/>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78" name="Google Shape;578;p38"/>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79" name="Google Shape;579;p38"/>
          <p:cNvGrpSpPr/>
          <p:nvPr/>
        </p:nvGrpSpPr>
        <p:grpSpPr>
          <a:xfrm rot="10800000">
            <a:off x="15785084" y="-536938"/>
            <a:ext cx="7681773" cy="4260605"/>
            <a:chOff x="0" y="-38100"/>
            <a:chExt cx="406400" cy="225405"/>
          </a:xfrm>
        </p:grpSpPr>
        <p:sp>
          <p:nvSpPr>
            <p:cNvPr id="580" name="Google Shape;580;p3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1" name="Google Shape;581;p3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2" name="Google Shape;582;p3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83" name="Google Shape;583;p38"/>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584" name="Google Shape;584;p38"/>
          <p:cNvGrpSpPr/>
          <p:nvPr/>
        </p:nvGrpSpPr>
        <p:grpSpPr>
          <a:xfrm>
            <a:off x="-2718010" y="9274530"/>
            <a:ext cx="7950378" cy="1707223"/>
            <a:chOff x="0" y="-384760"/>
            <a:chExt cx="10600504" cy="2276297"/>
          </a:xfrm>
        </p:grpSpPr>
        <p:grpSp>
          <p:nvGrpSpPr>
            <p:cNvPr id="585" name="Google Shape;585;p38"/>
            <p:cNvGrpSpPr/>
            <p:nvPr/>
          </p:nvGrpSpPr>
          <p:grpSpPr>
            <a:xfrm>
              <a:off x="0" y="-384760"/>
              <a:ext cx="10600504" cy="2276297"/>
              <a:chOff x="0" y="-38100"/>
              <a:chExt cx="1049690" cy="225405"/>
            </a:xfrm>
          </p:grpSpPr>
          <p:sp>
            <p:nvSpPr>
              <p:cNvPr id="586" name="Google Shape;586;p3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87" name="Google Shape;587;p3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8" name="Google Shape;588;p3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9" name="Google Shape;589;p38"/>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17. If I were taller, I _______ be better at basketball.</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had</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would</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can</a:t>
            </a:r>
            <a:endParaRPr sz="3300">
              <a:solidFill>
                <a:schemeClr val="dk1"/>
              </a:solidFill>
              <a:latin typeface="Calibri"/>
              <a:ea typeface="Calibri"/>
              <a:cs typeface="Calibri"/>
              <a:sym typeface="Calibri"/>
            </a:endParaRPr>
          </a:p>
        </p:txBody>
      </p:sp>
      <p:sp>
        <p:nvSpPr>
          <p:cNvPr id="590" name="Google Shape;590;p38"/>
          <p:cNvSpPr txBox="1"/>
          <p:nvPr/>
        </p:nvSpPr>
        <p:spPr>
          <a:xfrm>
            <a:off x="1460075" y="500536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câu điều kiện</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Đây là câu điều kiện loại II. Cấu trúc: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b="1" lang="en-US" sz="3300">
                <a:solidFill>
                  <a:schemeClr val="dk1"/>
                </a:solidFill>
                <a:latin typeface="Calibri"/>
                <a:ea typeface="Calibri"/>
                <a:cs typeface="Calibri"/>
                <a:sym typeface="Calibri"/>
              </a:rPr>
              <a:t>If clause	</a:t>
            </a:r>
            <a:r>
              <a:rPr lang="en-US" sz="3300">
                <a:solidFill>
                  <a:schemeClr val="dk1"/>
                </a:solidFill>
                <a:latin typeface="Calibri"/>
                <a:ea typeface="Calibri"/>
                <a:cs typeface="Calibri"/>
                <a:sym typeface="Calibri"/>
              </a:rPr>
              <a:t>										</a:t>
            </a:r>
            <a:r>
              <a:rPr b="1" lang="en-US" sz="3300">
                <a:solidFill>
                  <a:schemeClr val="dk1"/>
                </a:solidFill>
                <a:latin typeface="Calibri"/>
                <a:ea typeface="Calibri"/>
                <a:cs typeface="Calibri"/>
                <a:sym typeface="Calibri"/>
              </a:rPr>
              <a:t>Main clause</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If + S + V-ed,									     S + would/could/should (not) + V- nguyên thể</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Đáp án phù hợp là B. would</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p:txBody>
      </p:sp>
      <p:sp>
        <p:nvSpPr>
          <p:cNvPr id="591" name="Google Shape;591;p38"/>
          <p:cNvSpPr/>
          <p:nvPr/>
        </p:nvSpPr>
        <p:spPr>
          <a:xfrm>
            <a:off x="1460075" y="3575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cxnSp>
        <p:nvCxnSpPr>
          <p:cNvPr id="597" name="Google Shape;597;p39"/>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98" name="Google Shape;598;p39"/>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99" name="Google Shape;599;p39"/>
          <p:cNvGrpSpPr/>
          <p:nvPr/>
        </p:nvGrpSpPr>
        <p:grpSpPr>
          <a:xfrm rot="10800000">
            <a:off x="15785084" y="-536938"/>
            <a:ext cx="7681773" cy="4260605"/>
            <a:chOff x="0" y="-38100"/>
            <a:chExt cx="406400" cy="225405"/>
          </a:xfrm>
        </p:grpSpPr>
        <p:sp>
          <p:nvSpPr>
            <p:cNvPr id="600" name="Google Shape;600;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01" name="Google Shape;601;p3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2" name="Google Shape;602;p3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03" name="Google Shape;603;p39"/>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sp>
        <p:nvSpPr>
          <p:cNvPr id="604" name="Google Shape;604;p39"/>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18. Jessica asked _______ you would like to eat for dinner</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whether</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if</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what</a:t>
            </a:r>
            <a:endParaRPr sz="3000">
              <a:solidFill>
                <a:schemeClr val="dk1"/>
              </a:solidFill>
              <a:latin typeface="Calibri"/>
              <a:ea typeface="Calibri"/>
              <a:cs typeface="Calibri"/>
              <a:sym typeface="Calibri"/>
            </a:endParaRPr>
          </a:p>
        </p:txBody>
      </p:sp>
      <p:sp>
        <p:nvSpPr>
          <p:cNvPr id="605" name="Google Shape;605;p39"/>
          <p:cNvSpPr txBox="1"/>
          <p:nvPr/>
        </p:nvSpPr>
        <p:spPr>
          <a:xfrm>
            <a:off x="1460075" y="4810677"/>
            <a:ext cx="15699900" cy="5010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whether: được sử dụng để giới thiệu hai lựa chọn thay thế. Ví dụ: "She asked whether I wanted to </a:t>
            </a:r>
            <a:r>
              <a:rPr lang="en-US" sz="3000" u="sng">
                <a:solidFill>
                  <a:schemeClr val="dk1"/>
                </a:solidFill>
                <a:latin typeface="Calibri"/>
                <a:ea typeface="Calibri"/>
                <a:cs typeface="Calibri"/>
                <a:sym typeface="Calibri"/>
              </a:rPr>
              <a:t>go to the movie</a:t>
            </a:r>
            <a:r>
              <a:rPr lang="en-US" sz="3000">
                <a:solidFill>
                  <a:schemeClr val="dk1"/>
                </a:solidFill>
                <a:latin typeface="Calibri"/>
                <a:ea typeface="Calibri"/>
                <a:cs typeface="Calibri"/>
                <a:sym typeface="Calibri"/>
              </a:rPr>
              <a:t> or </a:t>
            </a:r>
            <a:r>
              <a:rPr lang="en-US" sz="3000" u="sng">
                <a:solidFill>
                  <a:schemeClr val="dk1"/>
                </a:solidFill>
                <a:latin typeface="Calibri"/>
                <a:ea typeface="Calibri"/>
                <a:cs typeface="Calibri"/>
                <a:sym typeface="Calibri"/>
              </a:rPr>
              <a:t>stay home</a:t>
            </a:r>
            <a:r>
              <a:rPr lang="en-US" sz="3000">
                <a:solidFill>
                  <a:schemeClr val="dk1"/>
                </a:solidFill>
                <a:latin typeface="Calibri"/>
                <a:ea typeface="Calibri"/>
                <a:cs typeface="Calibri"/>
                <a:sym typeface="Calibri"/>
              </a:rPr>
              <a:t>." (Cô ấy hỏi tôi có muốn đi xem phim hay ở nhà không.)</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 if: được sử dụng để giới thiệu một điều kiện hoặc giả thiết. Ví dụ: "I told her that </a:t>
            </a:r>
            <a:r>
              <a:rPr lang="en-US" sz="3000" u="sng">
                <a:solidFill>
                  <a:schemeClr val="dk1"/>
                </a:solidFill>
                <a:latin typeface="Calibri"/>
                <a:ea typeface="Calibri"/>
                <a:cs typeface="Calibri"/>
                <a:sym typeface="Calibri"/>
              </a:rPr>
              <a:t>I would go if she paid for dinner</a:t>
            </a:r>
            <a:r>
              <a:rPr lang="en-US" sz="3000">
                <a:solidFill>
                  <a:schemeClr val="dk1"/>
                </a:solidFill>
                <a:latin typeface="Calibri"/>
                <a:ea typeface="Calibri"/>
                <a:cs typeface="Calibri"/>
                <a:sym typeface="Calibri"/>
              </a:rPr>
              <a:t>." (Tôi nói với cô ấy rằng tôi sẽ đi nếu cô ấy trả tiền bữa tối.)</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what: được sử dụng để hỏi về một thứ cụ thể. Trong câu này, Jessica đang hỏi về món ăn cụ thể mà người nghe muốn ăn tối.</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=&gt; Đáp án phù hợp là C. what</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000">
              <a:solidFill>
                <a:schemeClr val="dk1"/>
              </a:solidFill>
              <a:latin typeface="Calibri"/>
              <a:ea typeface="Calibri"/>
              <a:cs typeface="Calibri"/>
              <a:sym typeface="Calibri"/>
            </a:endParaRPr>
          </a:p>
        </p:txBody>
      </p:sp>
      <p:sp>
        <p:nvSpPr>
          <p:cNvPr id="606" name="Google Shape;606;p39"/>
          <p:cNvSpPr/>
          <p:nvPr/>
        </p:nvSpPr>
        <p:spPr>
          <a:xfrm>
            <a:off x="1460075" y="40984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cxnSp>
        <p:nvCxnSpPr>
          <p:cNvPr id="612" name="Google Shape;612;p40"/>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613" name="Google Shape;613;p4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14" name="Google Shape;614;p40"/>
          <p:cNvGrpSpPr/>
          <p:nvPr/>
        </p:nvGrpSpPr>
        <p:grpSpPr>
          <a:xfrm rot="10800000">
            <a:off x="15785084" y="-536938"/>
            <a:ext cx="7681773" cy="4260605"/>
            <a:chOff x="0" y="-38100"/>
            <a:chExt cx="406400" cy="225405"/>
          </a:xfrm>
        </p:grpSpPr>
        <p:sp>
          <p:nvSpPr>
            <p:cNvPr id="615" name="Google Shape;615;p4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16" name="Google Shape;616;p4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7" name="Google Shape;617;p4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18" name="Google Shape;618;p40"/>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619" name="Google Shape;619;p40"/>
          <p:cNvGrpSpPr/>
          <p:nvPr/>
        </p:nvGrpSpPr>
        <p:grpSpPr>
          <a:xfrm>
            <a:off x="-2718010" y="9274530"/>
            <a:ext cx="7950378" cy="1707223"/>
            <a:chOff x="0" y="-384760"/>
            <a:chExt cx="10600504" cy="2276297"/>
          </a:xfrm>
        </p:grpSpPr>
        <p:grpSp>
          <p:nvGrpSpPr>
            <p:cNvPr id="620" name="Google Shape;620;p40"/>
            <p:cNvGrpSpPr/>
            <p:nvPr/>
          </p:nvGrpSpPr>
          <p:grpSpPr>
            <a:xfrm>
              <a:off x="0" y="-384760"/>
              <a:ext cx="10600504" cy="2276297"/>
              <a:chOff x="0" y="-38100"/>
              <a:chExt cx="1049690" cy="225405"/>
            </a:xfrm>
          </p:grpSpPr>
          <p:sp>
            <p:nvSpPr>
              <p:cNvPr id="621" name="Google Shape;621;p4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22" name="Google Shape;622;p4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3" name="Google Shape;623;p4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4" name="Google Shape;624;p40"/>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19. I can't stand _______ in long queues.</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wait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to wait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waiting</a:t>
            </a:r>
            <a:endParaRPr sz="3300">
              <a:solidFill>
                <a:schemeClr val="dk1"/>
              </a:solidFill>
              <a:latin typeface="Calibri"/>
              <a:ea typeface="Calibri"/>
              <a:cs typeface="Calibri"/>
              <a:sym typeface="Calibri"/>
            </a:endParaRPr>
          </a:p>
        </p:txBody>
      </p:sp>
      <p:sp>
        <p:nvSpPr>
          <p:cNvPr id="625" name="Google Shape;625;p40"/>
          <p:cNvSpPr txBox="1"/>
          <p:nvPr/>
        </p:nvSpPr>
        <p:spPr>
          <a:xfrm>
            <a:off x="1460075" y="521668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chia động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 can't stand: là một thành ngữ thể hiện sự ghét bỏ hoặc không dung thứ mạnh mẽ đối với một điều gì đó. Nó thường được theo sau bởi một V-ing.</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=&gt; Đáp án phù hợp là C. waiting (</a:t>
            </a:r>
            <a:r>
              <a:rPr lang="en-US" sz="3300">
                <a:solidFill>
                  <a:schemeClr val="dk1"/>
                </a:solidFill>
                <a:latin typeface="Calibri"/>
                <a:ea typeface="Calibri"/>
                <a:cs typeface="Calibri"/>
                <a:sym typeface="Calibri"/>
              </a:rPr>
              <a:t>thể hiện sự ghét bỏ)</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b="1" sz="3300">
              <a:solidFill>
                <a:schemeClr val="dk1"/>
              </a:solidFill>
              <a:latin typeface="Calibri"/>
              <a:ea typeface="Calibri"/>
              <a:cs typeface="Calibri"/>
              <a:sym typeface="Calibri"/>
            </a:endParaRPr>
          </a:p>
        </p:txBody>
      </p:sp>
      <p:sp>
        <p:nvSpPr>
          <p:cNvPr id="626" name="Google Shape;626;p40"/>
          <p:cNvSpPr/>
          <p:nvPr/>
        </p:nvSpPr>
        <p:spPr>
          <a:xfrm>
            <a:off x="1460075" y="433125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cxnSp>
        <p:nvCxnSpPr>
          <p:cNvPr id="632" name="Google Shape;632;p41"/>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633" name="Google Shape;633;p4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34" name="Google Shape;634;p41"/>
          <p:cNvGrpSpPr/>
          <p:nvPr/>
        </p:nvGrpSpPr>
        <p:grpSpPr>
          <a:xfrm rot="10800000">
            <a:off x="15785084" y="-536938"/>
            <a:ext cx="7681773" cy="4260605"/>
            <a:chOff x="0" y="-38100"/>
            <a:chExt cx="406400" cy="225405"/>
          </a:xfrm>
        </p:grpSpPr>
        <p:sp>
          <p:nvSpPr>
            <p:cNvPr id="635" name="Google Shape;635;p4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36" name="Google Shape;636;p4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7" name="Google Shape;637;p4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38" name="Google Shape;638;p41"/>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639" name="Google Shape;639;p41"/>
          <p:cNvGrpSpPr/>
          <p:nvPr/>
        </p:nvGrpSpPr>
        <p:grpSpPr>
          <a:xfrm>
            <a:off x="-2718010" y="9274530"/>
            <a:ext cx="7950378" cy="1707223"/>
            <a:chOff x="0" y="-384760"/>
            <a:chExt cx="10600504" cy="2276297"/>
          </a:xfrm>
        </p:grpSpPr>
        <p:grpSp>
          <p:nvGrpSpPr>
            <p:cNvPr id="640" name="Google Shape;640;p41"/>
            <p:cNvGrpSpPr/>
            <p:nvPr/>
          </p:nvGrpSpPr>
          <p:grpSpPr>
            <a:xfrm>
              <a:off x="0" y="-384760"/>
              <a:ext cx="10600504" cy="2276297"/>
              <a:chOff x="0" y="-38100"/>
              <a:chExt cx="1049690" cy="225405"/>
            </a:xfrm>
          </p:grpSpPr>
          <p:sp>
            <p:nvSpPr>
              <p:cNvPr id="641" name="Google Shape;641;p4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42" name="Google Shape;642;p4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3" name="Google Shape;643;p4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4" name="Google Shape;644;p41"/>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20. You promised _______ me with my homework.</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to help</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help</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helping</a:t>
            </a:r>
            <a:endParaRPr sz="3300">
              <a:solidFill>
                <a:schemeClr val="dk1"/>
              </a:solidFill>
              <a:latin typeface="Calibri"/>
              <a:ea typeface="Calibri"/>
              <a:cs typeface="Calibri"/>
              <a:sym typeface="Calibri"/>
            </a:endParaRPr>
          </a:p>
        </p:txBody>
      </p:sp>
      <p:sp>
        <p:nvSpPr>
          <p:cNvPr id="645" name="Google Shape;645;p41"/>
          <p:cNvSpPr txBox="1"/>
          <p:nvPr/>
        </p:nvSpPr>
        <p:spPr>
          <a:xfrm>
            <a:off x="1460075" y="5124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Chia động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promise + to V: hứa làm điều gì</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=&gt; Đáp án phù hợp là A. to help</a:t>
            </a:r>
            <a:endParaRPr sz="3300">
              <a:solidFill>
                <a:schemeClr val="dk1"/>
              </a:solidFill>
              <a:latin typeface="Calibri"/>
              <a:ea typeface="Calibri"/>
              <a:cs typeface="Calibri"/>
              <a:sym typeface="Calibri"/>
            </a:endParaRPr>
          </a:p>
        </p:txBody>
      </p:sp>
      <p:sp>
        <p:nvSpPr>
          <p:cNvPr id="646" name="Google Shape;646;p41"/>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cxnSp>
        <p:nvCxnSpPr>
          <p:cNvPr id="652" name="Google Shape;652;p42"/>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653" name="Google Shape;653;p42"/>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54" name="Google Shape;654;p42"/>
          <p:cNvGrpSpPr/>
          <p:nvPr/>
        </p:nvGrpSpPr>
        <p:grpSpPr>
          <a:xfrm rot="10800000">
            <a:off x="15785084" y="-536938"/>
            <a:ext cx="7681773" cy="4260605"/>
            <a:chOff x="0" y="-38100"/>
            <a:chExt cx="406400" cy="225405"/>
          </a:xfrm>
        </p:grpSpPr>
        <p:sp>
          <p:nvSpPr>
            <p:cNvPr id="655" name="Google Shape;655;p4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56" name="Google Shape;656;p4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7" name="Google Shape;657;p4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58" name="Google Shape;658;p42"/>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659" name="Google Shape;659;p42"/>
          <p:cNvGrpSpPr/>
          <p:nvPr/>
        </p:nvGrpSpPr>
        <p:grpSpPr>
          <a:xfrm>
            <a:off x="-2718010" y="9274530"/>
            <a:ext cx="7950378" cy="1707223"/>
            <a:chOff x="0" y="-384760"/>
            <a:chExt cx="10600504" cy="2276297"/>
          </a:xfrm>
        </p:grpSpPr>
        <p:grpSp>
          <p:nvGrpSpPr>
            <p:cNvPr id="660" name="Google Shape;660;p42"/>
            <p:cNvGrpSpPr/>
            <p:nvPr/>
          </p:nvGrpSpPr>
          <p:grpSpPr>
            <a:xfrm>
              <a:off x="0" y="-384760"/>
              <a:ext cx="10600504" cy="2276297"/>
              <a:chOff x="0" y="-38100"/>
              <a:chExt cx="1049690" cy="225405"/>
            </a:xfrm>
          </p:grpSpPr>
          <p:sp>
            <p:nvSpPr>
              <p:cNvPr id="661" name="Google Shape;661;p4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62" name="Google Shape;662;p4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3" name="Google Shape;663;p4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4" name="Google Shape;664;p42"/>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21. You _______ be Sonia's sister. You look just like her!</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must</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can</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chemeClr val="dk1"/>
              </a:buClr>
              <a:buSzPts val="3000"/>
              <a:buFont typeface="Calibri"/>
              <a:buAutoNum type="alphaUcPeriod"/>
            </a:pPr>
            <a:r>
              <a:rPr lang="en-US" sz="3000">
                <a:solidFill>
                  <a:schemeClr val="dk1"/>
                </a:solidFill>
                <a:latin typeface="Calibri"/>
                <a:ea typeface="Calibri"/>
                <a:cs typeface="Calibri"/>
                <a:sym typeface="Calibri"/>
              </a:rPr>
              <a:t>may</a:t>
            </a:r>
            <a:endParaRPr sz="3000">
              <a:solidFill>
                <a:schemeClr val="dk1"/>
              </a:solidFill>
              <a:latin typeface="Calibri"/>
              <a:ea typeface="Calibri"/>
              <a:cs typeface="Calibri"/>
              <a:sym typeface="Calibri"/>
            </a:endParaRPr>
          </a:p>
        </p:txBody>
      </p:sp>
      <p:sp>
        <p:nvSpPr>
          <p:cNvPr id="665" name="Google Shape;665;p42"/>
          <p:cNvSpPr txBox="1"/>
          <p:nvPr/>
        </p:nvSpPr>
        <p:spPr>
          <a:xfrm>
            <a:off x="1460075" y="49203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Chủ điểm ngữ pháp: modal verb</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000">
                <a:solidFill>
                  <a:schemeClr val="dk1"/>
                </a:solidFill>
                <a:latin typeface="Calibri"/>
                <a:ea typeface="Calibri"/>
                <a:cs typeface="Calibri"/>
                <a:sym typeface="Calibri"/>
              </a:rPr>
              <a:t>- must: thể hiện khả năng cao dựa trên bằng chứng.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 can: chỉ khả năng nói chung, nhưng không truyền tải mức độ chắc chắn như "must".</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 may: gợi ý khả năng yếu hơn. Mặc dù bạn có thể là chị em, người nói không tự tin về điều đó.</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000">
                <a:solidFill>
                  <a:schemeClr val="dk1"/>
                </a:solidFill>
                <a:latin typeface="Calibri"/>
                <a:ea typeface="Calibri"/>
                <a:cs typeface="Calibri"/>
                <a:sym typeface="Calibri"/>
              </a:rPr>
              <a:t>Trong câu này, người nói nhìn thấy sự giống nhau rõ ràng giữa bạn và Sonia, khiến họ tin rằng bạn phải là chị em. Do đó, "must" thể hiện rõ nhất niềm tin mạnh mẽ của người nói dựa trên bằng chứng trực quan.</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000">
              <a:solidFill>
                <a:schemeClr val="dk1"/>
              </a:solidFill>
              <a:latin typeface="Calibri"/>
              <a:ea typeface="Calibri"/>
              <a:cs typeface="Calibri"/>
              <a:sym typeface="Calibri"/>
            </a:endParaRPr>
          </a:p>
        </p:txBody>
      </p:sp>
      <p:sp>
        <p:nvSpPr>
          <p:cNvPr id="666" name="Google Shape;666;p42"/>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cxnSp>
        <p:nvCxnSpPr>
          <p:cNvPr id="672" name="Google Shape;672;p43"/>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673" name="Google Shape;673;p4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74" name="Google Shape;674;p43"/>
          <p:cNvGrpSpPr/>
          <p:nvPr/>
        </p:nvGrpSpPr>
        <p:grpSpPr>
          <a:xfrm rot="10800000">
            <a:off x="15785084" y="-536938"/>
            <a:ext cx="7681773" cy="4260605"/>
            <a:chOff x="0" y="-38100"/>
            <a:chExt cx="406400" cy="225405"/>
          </a:xfrm>
        </p:grpSpPr>
        <p:sp>
          <p:nvSpPr>
            <p:cNvPr id="675" name="Google Shape;675;p4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76" name="Google Shape;676;p4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7" name="Google Shape;677;p4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78" name="Google Shape;678;p43"/>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679" name="Google Shape;679;p43"/>
          <p:cNvGrpSpPr/>
          <p:nvPr/>
        </p:nvGrpSpPr>
        <p:grpSpPr>
          <a:xfrm>
            <a:off x="-2718010" y="9274530"/>
            <a:ext cx="7950378" cy="1707223"/>
            <a:chOff x="0" y="-384760"/>
            <a:chExt cx="10600504" cy="2276297"/>
          </a:xfrm>
        </p:grpSpPr>
        <p:grpSp>
          <p:nvGrpSpPr>
            <p:cNvPr id="680" name="Google Shape;680;p43"/>
            <p:cNvGrpSpPr/>
            <p:nvPr/>
          </p:nvGrpSpPr>
          <p:grpSpPr>
            <a:xfrm>
              <a:off x="0" y="-384760"/>
              <a:ext cx="10600504" cy="2276297"/>
              <a:chOff x="0" y="-38100"/>
              <a:chExt cx="1049690" cy="225405"/>
            </a:xfrm>
          </p:grpSpPr>
          <p:sp>
            <p:nvSpPr>
              <p:cNvPr id="681" name="Google Shape;681;p4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82" name="Google Shape;682;p4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3" name="Google Shape;683;p4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4" name="Google Shape;684;p43"/>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22. The event _______ broadcasted last month!</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is</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is being</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was</a:t>
            </a:r>
            <a:endParaRPr sz="3300">
              <a:solidFill>
                <a:schemeClr val="dk1"/>
              </a:solidFill>
              <a:latin typeface="Calibri"/>
              <a:ea typeface="Calibri"/>
              <a:cs typeface="Calibri"/>
              <a:sym typeface="Calibri"/>
            </a:endParaRPr>
          </a:p>
        </p:txBody>
      </p:sp>
      <p:sp>
        <p:nvSpPr>
          <p:cNvPr id="685" name="Google Shape;685;p43"/>
          <p:cNvSpPr txBox="1"/>
          <p:nvPr/>
        </p:nvSpPr>
        <p:spPr>
          <a:xfrm>
            <a:off x="1460075" y="500501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câu bị động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Trong đề bài có cụm “last month” (tháng trước) thể hiện sự kiện trong quá khứ.</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“is, is being” đều là hiện tại =&gt; loại A,B</a:t>
            </a:r>
            <a:endParaRPr sz="3300">
              <a:solidFill>
                <a:schemeClr val="dk1"/>
              </a:solidFill>
              <a:latin typeface="Calibri"/>
              <a:ea typeface="Calibri"/>
              <a:cs typeface="Calibri"/>
              <a:sym typeface="Calibri"/>
            </a:endParaRPr>
          </a:p>
        </p:txBody>
      </p:sp>
      <p:sp>
        <p:nvSpPr>
          <p:cNvPr id="686" name="Google Shape;686;p43"/>
          <p:cNvSpPr/>
          <p:nvPr/>
        </p:nvSpPr>
        <p:spPr>
          <a:xfrm>
            <a:off x="1460075" y="429535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cxnSp>
        <p:nvCxnSpPr>
          <p:cNvPr id="692" name="Google Shape;692;p44"/>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693" name="Google Shape;693;p4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94" name="Google Shape;694;p44"/>
          <p:cNvGrpSpPr/>
          <p:nvPr/>
        </p:nvGrpSpPr>
        <p:grpSpPr>
          <a:xfrm rot="10800000">
            <a:off x="15785084" y="-536938"/>
            <a:ext cx="7681773" cy="4260605"/>
            <a:chOff x="0" y="-38100"/>
            <a:chExt cx="406400" cy="225405"/>
          </a:xfrm>
        </p:grpSpPr>
        <p:sp>
          <p:nvSpPr>
            <p:cNvPr id="695" name="Google Shape;695;p4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96" name="Google Shape;696;p4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7" name="Google Shape;697;p4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98" name="Google Shape;698;p44"/>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699" name="Google Shape;699;p44"/>
          <p:cNvGrpSpPr/>
          <p:nvPr/>
        </p:nvGrpSpPr>
        <p:grpSpPr>
          <a:xfrm>
            <a:off x="-2718010" y="9274530"/>
            <a:ext cx="7950378" cy="1707223"/>
            <a:chOff x="0" y="-384760"/>
            <a:chExt cx="10600504" cy="2276297"/>
          </a:xfrm>
        </p:grpSpPr>
        <p:grpSp>
          <p:nvGrpSpPr>
            <p:cNvPr id="700" name="Google Shape;700;p44"/>
            <p:cNvGrpSpPr/>
            <p:nvPr/>
          </p:nvGrpSpPr>
          <p:grpSpPr>
            <a:xfrm>
              <a:off x="0" y="-384760"/>
              <a:ext cx="10600504" cy="2276297"/>
              <a:chOff x="0" y="-38100"/>
              <a:chExt cx="1049690" cy="225405"/>
            </a:xfrm>
          </p:grpSpPr>
          <p:sp>
            <p:nvSpPr>
              <p:cNvPr id="701" name="Google Shape;701;p4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02" name="Google Shape;702;p4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3" name="Google Shape;703;p4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4" name="Google Shape;704;p44"/>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23. My cousin takes _______ my aunt. They are quite similar.</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after</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up</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off</a:t>
            </a:r>
            <a:endParaRPr sz="3300">
              <a:solidFill>
                <a:schemeClr val="dk1"/>
              </a:solidFill>
              <a:latin typeface="Calibri"/>
              <a:ea typeface="Calibri"/>
              <a:cs typeface="Calibri"/>
              <a:sym typeface="Calibri"/>
            </a:endParaRPr>
          </a:p>
        </p:txBody>
      </p:sp>
      <p:sp>
        <p:nvSpPr>
          <p:cNvPr id="705" name="Google Shape;705;p44"/>
          <p:cNvSpPr txBox="1"/>
          <p:nvPr/>
        </p:nvSpPr>
        <p:spPr>
          <a:xfrm>
            <a:off x="1460075" y="4941513"/>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cụm động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take after: nhìn giống nhau</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take up: bắt đầu đảm nhận công việc/ lấp đầy</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take off: cất cánh (máy bay), cởi (quần áo)</a:t>
            </a:r>
            <a:endParaRPr sz="3300">
              <a:solidFill>
                <a:schemeClr val="dk1"/>
              </a:solidFill>
              <a:latin typeface="Calibri"/>
              <a:ea typeface="Calibri"/>
              <a:cs typeface="Calibri"/>
              <a:sym typeface="Calibri"/>
            </a:endParaRPr>
          </a:p>
        </p:txBody>
      </p:sp>
      <p:sp>
        <p:nvSpPr>
          <p:cNvPr id="706" name="Google Shape;706;p44"/>
          <p:cNvSpPr/>
          <p:nvPr/>
        </p:nvSpPr>
        <p:spPr>
          <a:xfrm>
            <a:off x="1460075" y="28137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5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cxnSp>
        <p:nvCxnSpPr>
          <p:cNvPr id="712" name="Google Shape;712;p45"/>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713" name="Google Shape;713;p45"/>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14" name="Google Shape;714;p45"/>
          <p:cNvGrpSpPr/>
          <p:nvPr/>
        </p:nvGrpSpPr>
        <p:grpSpPr>
          <a:xfrm rot="10800000">
            <a:off x="15785084" y="-536938"/>
            <a:ext cx="7681773" cy="4260605"/>
            <a:chOff x="0" y="-38100"/>
            <a:chExt cx="406400" cy="225405"/>
          </a:xfrm>
        </p:grpSpPr>
        <p:sp>
          <p:nvSpPr>
            <p:cNvPr id="715" name="Google Shape;715;p4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16" name="Google Shape;716;p4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7" name="Google Shape;717;p4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18" name="Google Shape;718;p45"/>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719" name="Google Shape;719;p45"/>
          <p:cNvGrpSpPr/>
          <p:nvPr/>
        </p:nvGrpSpPr>
        <p:grpSpPr>
          <a:xfrm>
            <a:off x="-2718010" y="9274530"/>
            <a:ext cx="7950378" cy="1707223"/>
            <a:chOff x="0" y="-384760"/>
            <a:chExt cx="10600504" cy="2276297"/>
          </a:xfrm>
        </p:grpSpPr>
        <p:grpSp>
          <p:nvGrpSpPr>
            <p:cNvPr id="720" name="Google Shape;720;p45"/>
            <p:cNvGrpSpPr/>
            <p:nvPr/>
          </p:nvGrpSpPr>
          <p:grpSpPr>
            <a:xfrm>
              <a:off x="0" y="-384760"/>
              <a:ext cx="10600504" cy="2276297"/>
              <a:chOff x="0" y="-38100"/>
              <a:chExt cx="1049690" cy="225405"/>
            </a:xfrm>
          </p:grpSpPr>
          <p:sp>
            <p:nvSpPr>
              <p:cNvPr id="721" name="Google Shape;721;p4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22" name="Google Shape;722;p4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3" name="Google Shape;723;p4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4" name="Google Shape;724;p45"/>
          <p:cNvSpPr txBox="1"/>
          <p:nvPr/>
        </p:nvSpPr>
        <p:spPr>
          <a:xfrm>
            <a:off x="1629875" y="2254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24. 	Person 1: Could you lend me some money?</a:t>
            </a:r>
            <a:endParaRPr sz="33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None/>
            </a:pPr>
            <a:r>
              <a:rPr lang="en-US" sz="3300">
                <a:solidFill>
                  <a:schemeClr val="dk1"/>
                </a:solidFill>
                <a:latin typeface="Calibri"/>
                <a:ea typeface="Calibri"/>
                <a:cs typeface="Calibri"/>
                <a:sym typeface="Calibri"/>
              </a:rPr>
              <a:t>Person 2: I have _______ spent my allowance this month.</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never</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just</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already</a:t>
            </a:r>
            <a:endParaRPr sz="3300">
              <a:solidFill>
                <a:schemeClr val="dk1"/>
              </a:solidFill>
              <a:latin typeface="Calibri"/>
              <a:ea typeface="Calibri"/>
              <a:cs typeface="Calibri"/>
              <a:sym typeface="Calibri"/>
            </a:endParaRPr>
          </a:p>
        </p:txBody>
      </p:sp>
      <p:sp>
        <p:nvSpPr>
          <p:cNvPr id="725" name="Google Shape;725;p45"/>
          <p:cNvSpPr txBox="1"/>
          <p:nvPr/>
        </p:nvSpPr>
        <p:spPr>
          <a:xfrm>
            <a:off x="1460075" y="6011438"/>
            <a:ext cx="15699900" cy="444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trạng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never: chưa bao giờ</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just: chỉ, vừa mới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already: đã rồi</a:t>
            </a:r>
            <a:endParaRPr sz="3300">
              <a:solidFill>
                <a:schemeClr val="dk1"/>
              </a:solidFill>
              <a:latin typeface="Calibri"/>
              <a:ea typeface="Calibri"/>
              <a:cs typeface="Calibri"/>
              <a:sym typeface="Calibri"/>
            </a:endParaRPr>
          </a:p>
        </p:txBody>
      </p:sp>
      <p:sp>
        <p:nvSpPr>
          <p:cNvPr id="726" name="Google Shape;726;p45"/>
          <p:cNvSpPr/>
          <p:nvPr/>
        </p:nvSpPr>
        <p:spPr>
          <a:xfrm>
            <a:off x="1460075" y="52603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500"/>
                                        <p:tgtEl>
                                          <p:spTgt spid="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cxnSp>
        <p:nvCxnSpPr>
          <p:cNvPr id="732" name="Google Shape;732;p46"/>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733" name="Google Shape;733;p46"/>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34" name="Google Shape;734;p46"/>
          <p:cNvGrpSpPr/>
          <p:nvPr/>
        </p:nvGrpSpPr>
        <p:grpSpPr>
          <a:xfrm rot="10800000">
            <a:off x="15785084" y="-536938"/>
            <a:ext cx="7681773" cy="4260605"/>
            <a:chOff x="0" y="-38100"/>
            <a:chExt cx="406400" cy="225405"/>
          </a:xfrm>
        </p:grpSpPr>
        <p:sp>
          <p:nvSpPr>
            <p:cNvPr id="735" name="Google Shape;735;p4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36" name="Google Shape;736;p4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7" name="Google Shape;737;p4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38" name="Google Shape;738;p46"/>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Hướng dẫn trả lời</a:t>
            </a:r>
            <a:endParaRPr b="1" sz="6000">
              <a:solidFill>
                <a:srgbClr val="018345"/>
              </a:solidFill>
              <a:latin typeface="Montserrat"/>
              <a:ea typeface="Montserrat"/>
              <a:cs typeface="Montserrat"/>
              <a:sym typeface="Montserrat"/>
            </a:endParaRPr>
          </a:p>
        </p:txBody>
      </p:sp>
      <p:grpSp>
        <p:nvGrpSpPr>
          <p:cNvPr id="739" name="Google Shape;739;p46"/>
          <p:cNvGrpSpPr/>
          <p:nvPr/>
        </p:nvGrpSpPr>
        <p:grpSpPr>
          <a:xfrm>
            <a:off x="-2718010" y="9274530"/>
            <a:ext cx="7950378" cy="1707223"/>
            <a:chOff x="0" y="-384760"/>
            <a:chExt cx="10600504" cy="2276297"/>
          </a:xfrm>
        </p:grpSpPr>
        <p:grpSp>
          <p:nvGrpSpPr>
            <p:cNvPr id="740" name="Google Shape;740;p46"/>
            <p:cNvGrpSpPr/>
            <p:nvPr/>
          </p:nvGrpSpPr>
          <p:grpSpPr>
            <a:xfrm>
              <a:off x="0" y="-384760"/>
              <a:ext cx="10600504" cy="2276297"/>
              <a:chOff x="0" y="-38100"/>
              <a:chExt cx="1049690" cy="225405"/>
            </a:xfrm>
          </p:grpSpPr>
          <p:sp>
            <p:nvSpPr>
              <p:cNvPr id="741" name="Google Shape;741;p4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42" name="Google Shape;742;p4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3" name="Google Shape;743;p4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4" name="Google Shape;744;p46"/>
          <p:cNvSpPr txBox="1"/>
          <p:nvPr/>
        </p:nvSpPr>
        <p:spPr>
          <a:xfrm>
            <a:off x="1629875" y="2001250"/>
            <a:ext cx="153603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25. I can always depend _______ my mother.</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in</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on</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AutoNum type="alphaUcPeriod"/>
            </a:pPr>
            <a:r>
              <a:rPr lang="en-US" sz="3300">
                <a:solidFill>
                  <a:schemeClr val="dk1"/>
                </a:solidFill>
                <a:latin typeface="Calibri"/>
                <a:ea typeface="Calibri"/>
                <a:cs typeface="Calibri"/>
                <a:sym typeface="Calibri"/>
              </a:rPr>
              <a:t>for</a:t>
            </a:r>
            <a:endParaRPr sz="3300">
              <a:solidFill>
                <a:schemeClr val="dk1"/>
              </a:solidFill>
              <a:latin typeface="Calibri"/>
              <a:ea typeface="Calibri"/>
              <a:cs typeface="Calibri"/>
              <a:sym typeface="Calibri"/>
            </a:endParaRPr>
          </a:p>
        </p:txBody>
      </p:sp>
      <p:sp>
        <p:nvSpPr>
          <p:cNvPr id="745" name="Google Shape;745;p46"/>
          <p:cNvSpPr txBox="1"/>
          <p:nvPr/>
        </p:nvSpPr>
        <p:spPr>
          <a:xfrm>
            <a:off x="1460075" y="5124445"/>
            <a:ext cx="15699900" cy="261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Chủ điểm ngữ pháp: cụm động từ</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 depend thể hiện sự phụ thuộc thường đi kèm với giới từ on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=&gt; depend on: phụ thuộc/ dựa vào</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p:txBody>
      </p:sp>
      <p:sp>
        <p:nvSpPr>
          <p:cNvPr id="746" name="Google Shape;746;p46"/>
          <p:cNvSpPr/>
          <p:nvPr/>
        </p:nvSpPr>
        <p:spPr>
          <a:xfrm>
            <a:off x="1460075" y="3545800"/>
            <a:ext cx="574800" cy="615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cxnSp>
        <p:nvCxnSpPr>
          <p:cNvPr id="751" name="Google Shape;751;p47"/>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752" name="Google Shape;752;p4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753" name="Google Shape;753;p47"/>
          <p:cNvGrpSpPr/>
          <p:nvPr/>
        </p:nvGrpSpPr>
        <p:grpSpPr>
          <a:xfrm rot="10800000">
            <a:off x="15044552" y="-741521"/>
            <a:ext cx="7681766" cy="4260610"/>
            <a:chOff x="0" y="-38100"/>
            <a:chExt cx="406400" cy="225405"/>
          </a:xfrm>
        </p:grpSpPr>
        <p:sp>
          <p:nvSpPr>
            <p:cNvPr id="754" name="Google Shape;754;p4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55" name="Google Shape;755;p4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56" name="Google Shape;756;p4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57" name="Google Shape;757;p4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58" name="Google Shape;758;p47"/>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759" name="Google Shape;759;p47"/>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760" name="Google Shape;760;p47"/>
          <p:cNvGrpSpPr/>
          <p:nvPr/>
        </p:nvGrpSpPr>
        <p:grpSpPr>
          <a:xfrm>
            <a:off x="-2718010" y="9274528"/>
            <a:ext cx="7950400" cy="1707231"/>
            <a:chOff x="0" y="-384762"/>
            <a:chExt cx="10600533" cy="2276307"/>
          </a:xfrm>
        </p:grpSpPr>
        <p:grpSp>
          <p:nvGrpSpPr>
            <p:cNvPr id="761" name="Google Shape;761;p47"/>
            <p:cNvGrpSpPr/>
            <p:nvPr/>
          </p:nvGrpSpPr>
          <p:grpSpPr>
            <a:xfrm>
              <a:off x="0" y="-384762"/>
              <a:ext cx="10600533" cy="2276307"/>
              <a:chOff x="0" y="-38100"/>
              <a:chExt cx="1049690" cy="225405"/>
            </a:xfrm>
          </p:grpSpPr>
          <p:sp>
            <p:nvSpPr>
              <p:cNvPr id="762" name="Google Shape;762;p4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63" name="Google Shape;763;p4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4" name="Google Shape;764;p4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765" name="Google Shape;765;p47"/>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59"/>
                                        </p:tgtEl>
                                        <p:attrNameLst>
                                          <p:attrName>style.visibility</p:attrName>
                                        </p:attrNameLst>
                                      </p:cBhvr>
                                      <p:to>
                                        <p:strVal val="visible"/>
                                      </p:to>
                                    </p:set>
                                    <p:anim calcmode="lin" valueType="num">
                                      <p:cBhvr additive="base">
                                        <p:cTn dur="500"/>
                                        <p:tgtEl>
                                          <p:spTgt spid="759"/>
                                        </p:tgtEl>
                                        <p:attrNameLst>
                                          <p:attrName>ppt_w</p:attrName>
                                        </p:attrNameLst>
                                      </p:cBhvr>
                                      <p:tavLst>
                                        <p:tav fmla="" tm="0">
                                          <p:val>
                                            <p:strVal val="0"/>
                                          </p:val>
                                        </p:tav>
                                        <p:tav fmla="" tm="100000">
                                          <p:val>
                                            <p:strVal val="#ppt_w"/>
                                          </p:val>
                                        </p:tav>
                                      </p:tavLst>
                                    </p:anim>
                                    <p:anim calcmode="lin" valueType="num">
                                      <p:cBhvr additive="base">
                                        <p:cTn dur="500"/>
                                        <p:tgtEl>
                                          <p:spTgt spid="75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58"/>
                                        </p:tgtEl>
                                        <p:attrNameLst>
                                          <p:attrName>style.visibility</p:attrName>
                                        </p:attrNameLst>
                                      </p:cBhvr>
                                      <p:to>
                                        <p:strVal val="visible"/>
                                      </p:to>
                                    </p:set>
                                    <p:anim calcmode="lin" valueType="num">
                                      <p:cBhvr additive="base">
                                        <p:cTn dur="500"/>
                                        <p:tgtEl>
                                          <p:spTgt spid="758"/>
                                        </p:tgtEl>
                                        <p:attrNameLst>
                                          <p:attrName>ppt_w</p:attrName>
                                        </p:attrNameLst>
                                      </p:cBhvr>
                                      <p:tavLst>
                                        <p:tav fmla="" tm="0">
                                          <p:val>
                                            <p:strVal val="0"/>
                                          </p:val>
                                        </p:tav>
                                        <p:tav fmla="" tm="100000">
                                          <p:val>
                                            <p:strVal val="#ppt_w"/>
                                          </p:val>
                                        </p:tav>
                                      </p:tavLst>
                                    </p:anim>
                                    <p:anim calcmode="lin" valueType="num">
                                      <p:cBhvr additive="base">
                                        <p:cTn dur="500"/>
                                        <p:tgtEl>
                                          <p:spTgt spid="7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cxnSp>
        <p:nvCxnSpPr>
          <p:cNvPr id="771" name="Google Shape;771;p48"/>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772" name="Google Shape;772;p4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773" name="Google Shape;773;p48"/>
          <p:cNvGrpSpPr/>
          <p:nvPr/>
        </p:nvGrpSpPr>
        <p:grpSpPr>
          <a:xfrm rot="10800000">
            <a:off x="15044552" y="-741521"/>
            <a:ext cx="7681766" cy="4260610"/>
            <a:chOff x="0" y="-38100"/>
            <a:chExt cx="406400" cy="225405"/>
          </a:xfrm>
        </p:grpSpPr>
        <p:sp>
          <p:nvSpPr>
            <p:cNvPr id="774" name="Google Shape;774;p4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75" name="Google Shape;775;p4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76" name="Google Shape;776;p4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77" name="Google Shape;777;p48"/>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778" name="Google Shape;778;p48"/>
          <p:cNvGrpSpPr/>
          <p:nvPr/>
        </p:nvGrpSpPr>
        <p:grpSpPr>
          <a:xfrm rot="10800000">
            <a:off x="15828686" y="-13843"/>
            <a:ext cx="7681766" cy="4260610"/>
            <a:chOff x="0" y="-38100"/>
            <a:chExt cx="406400" cy="225405"/>
          </a:xfrm>
        </p:grpSpPr>
        <p:sp>
          <p:nvSpPr>
            <p:cNvPr id="779" name="Google Shape;779;p4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780" name="Google Shape;780;p4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1" name="Google Shape;781;p48"/>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782" name="Google Shape;782;p48"/>
          <p:cNvGrpSpPr/>
          <p:nvPr/>
        </p:nvGrpSpPr>
        <p:grpSpPr>
          <a:xfrm>
            <a:off x="5693855" y="6543482"/>
            <a:ext cx="11567835" cy="1261722"/>
            <a:chOff x="5693855" y="7590172"/>
            <a:chExt cx="11567835" cy="1261722"/>
          </a:xfrm>
        </p:grpSpPr>
        <p:grpSp>
          <p:nvGrpSpPr>
            <p:cNvPr id="783" name="Google Shape;783;p48"/>
            <p:cNvGrpSpPr/>
            <p:nvPr/>
          </p:nvGrpSpPr>
          <p:grpSpPr>
            <a:xfrm>
              <a:off x="5693855" y="7590172"/>
              <a:ext cx="11567834" cy="1261722"/>
              <a:chOff x="0" y="-38100"/>
              <a:chExt cx="3046672" cy="332305"/>
            </a:xfrm>
          </p:grpSpPr>
          <p:sp>
            <p:nvSpPr>
              <p:cNvPr id="784" name="Google Shape;784;p48"/>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785" name="Google Shape;785;p48"/>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6" name="Google Shape;786;p48"/>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787" name="Google Shape;787;p48"/>
          <p:cNvGrpSpPr/>
          <p:nvPr/>
        </p:nvGrpSpPr>
        <p:grpSpPr>
          <a:xfrm>
            <a:off x="-2718010" y="9274528"/>
            <a:ext cx="7950400" cy="1707231"/>
            <a:chOff x="0" y="-384762"/>
            <a:chExt cx="10600533" cy="2276307"/>
          </a:xfrm>
        </p:grpSpPr>
        <p:grpSp>
          <p:nvGrpSpPr>
            <p:cNvPr id="788" name="Google Shape;788;p48"/>
            <p:cNvGrpSpPr/>
            <p:nvPr/>
          </p:nvGrpSpPr>
          <p:grpSpPr>
            <a:xfrm>
              <a:off x="0" y="-384762"/>
              <a:ext cx="10600533" cy="2276307"/>
              <a:chOff x="0" y="-38100"/>
              <a:chExt cx="1049690" cy="225405"/>
            </a:xfrm>
          </p:grpSpPr>
          <p:sp>
            <p:nvSpPr>
              <p:cNvPr id="789" name="Google Shape;789;p4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90" name="Google Shape;790;p4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91" name="Google Shape;791;p4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781"/>
                                        </p:tgtEl>
                                        <p:attrNameLst>
                                          <p:attrName>style.visibility</p:attrName>
                                        </p:attrNameLst>
                                      </p:cBhvr>
                                      <p:to>
                                        <p:strVal val="visible"/>
                                      </p:to>
                                    </p:set>
                                    <p:anim calcmode="lin" valueType="num">
                                      <p:cBhvr additive="base">
                                        <p:cTn dur="500"/>
                                        <p:tgtEl>
                                          <p:spTgt spid="781"/>
                                        </p:tgtEl>
                                        <p:attrNameLst>
                                          <p:attrName>ppt_w</p:attrName>
                                        </p:attrNameLst>
                                      </p:cBhvr>
                                      <p:tavLst>
                                        <p:tav fmla="" tm="0">
                                          <p:val>
                                            <p:strVal val="0"/>
                                          </p:val>
                                        </p:tav>
                                        <p:tav fmla="" tm="100000">
                                          <p:val>
                                            <p:strVal val="#ppt_w"/>
                                          </p:val>
                                        </p:tav>
                                      </p:tavLst>
                                    </p:anim>
                                    <p:anim calcmode="lin" valueType="num">
                                      <p:cBhvr additive="base">
                                        <p:cTn dur="500"/>
                                        <p:tgtEl>
                                          <p:spTgt spid="78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782"/>
                                        </p:tgtEl>
                                        <p:attrNameLst>
                                          <p:attrName>style.visibility</p:attrName>
                                        </p:attrNameLst>
                                      </p:cBhvr>
                                      <p:to>
                                        <p:strVal val="visible"/>
                                      </p:to>
                                    </p:set>
                                    <p:animEffect filter="fade" transition="in">
                                      <p:cBhvr>
                                        <p:cTn dur="500"/>
                                        <p:tgtEl>
                                          <p:spTgt spid="7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