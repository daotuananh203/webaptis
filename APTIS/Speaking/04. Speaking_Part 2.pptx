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0287000" cx="18288000"/>
  <p:notesSz cx="6858000" cy="9144000"/>
  <p:embeddedFontLst>
    <p:embeddedFont>
      <p:font typeface="Roboto"/>
      <p:regular r:id="rId29"/>
      <p:bold r:id="rId30"/>
      <p:italic r:id="rId31"/>
      <p:boldItalic r:id="rId32"/>
    </p:embeddedFont>
    <p:embeddedFont>
      <p:font typeface="Montserra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e70dba91f0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2e70dba91f0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Phần lưu ý tương tự như part 1. </a:t>
            </a:r>
            <a:r>
              <a:rPr lang="en-US"/>
              <a:t>Thí sinh sẽ mô tả một bức ảnh và sau đó sẽ trả lời hai câu hỏi có liên quan tới chủ đề được minh họa trong bức ảnh đó</a:t>
            </a:r>
            <a:r>
              <a:rPr lang="en-US" sz="1200">
                <a:latin typeface="Calibri"/>
                <a:ea typeface="Calibri"/>
                <a:cs typeface="Calibri"/>
                <a:sym typeface="Calibri"/>
              </a:rPr>
              <a:t>. Hãy lắng nghe hướng dẫn và nói rõ ràng vào micrô khi bạn nghe thấy tín hiệu. Mỗi phần của bài kiểm tra sẽ tự động xuất hiện. Bạn có thể dừng ghi âm phản hồi của mình trước khi hết giờ bằng cách nhấn vào nút dừng, nhưng </a:t>
            </a:r>
            <a:r>
              <a:rPr lang="en-US"/>
              <a:t>cô </a:t>
            </a:r>
            <a:r>
              <a:rPr lang="en-US" sz="1200">
                <a:latin typeface="Calibri"/>
                <a:ea typeface="Calibri"/>
                <a:cs typeface="Calibri"/>
                <a:sym typeface="Calibri"/>
              </a:rPr>
              <a:t>khuyên bạn nên cố gắng nói trong toàn bộ thời gian có sẵn để tối đa hóa điểm số của mình.</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Khi đến thời gian ghi âm, bộ đếm thời gian sẽ bắt đầu.</a:t>
            </a:r>
            <a:endParaRPr sz="1200">
              <a:latin typeface="Calibri"/>
              <a:ea typeface="Calibri"/>
              <a:cs typeface="Calibri"/>
              <a:sym typeface="Calibri"/>
            </a:endParaRPr>
          </a:p>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Nội dung này cho bạn biết bạn đã ghi âm được bao lâu (trên màn hình hiển thị bên dưới bộ đếm thời gian cho thấy bạn đã ghi âm được 25 giây).</a:t>
            </a:r>
            <a:endParaRPr sz="1200">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Mỗi khi một câu hỏi mới xuất hiện, quy trình tương tự sẽ được lặp lại.</a:t>
            </a:r>
            <a:endParaRPr sz="1200">
              <a:latin typeface="Calibri"/>
              <a:ea typeface="Calibri"/>
              <a:cs typeface="Calibri"/>
              <a:sym typeface="Calibri"/>
            </a:endParaRPr>
          </a:p>
          <a:p>
            <a:pPr indent="-495300" lvl="0" marL="571500" rtl="0" algn="l">
              <a:lnSpc>
                <a:spcPct val="150000"/>
              </a:lnSpc>
              <a:spcBef>
                <a:spcPts val="0"/>
              </a:spcBef>
              <a:spcAft>
                <a:spcPts val="0"/>
              </a:spcAft>
              <a:buClr>
                <a:schemeClr val="dk1"/>
              </a:buClr>
              <a:buSzPts val="1200"/>
              <a:buFont typeface="Noto Sans Symbols"/>
              <a:buNone/>
            </a:pPr>
            <a:r>
              <a:t/>
            </a:r>
            <a:endParaRPr sz="1200">
              <a:latin typeface="Calibri"/>
              <a:ea typeface="Calibri"/>
              <a:cs typeface="Calibri"/>
              <a:sym typeface="Calibri"/>
            </a:endParaRPr>
          </a:p>
          <a:p>
            <a:pPr indent="0" lvl="0" marL="0" rtl="0" algn="l">
              <a:spcBef>
                <a:spcPts val="0"/>
              </a:spcBef>
              <a:spcAft>
                <a:spcPts val="0"/>
              </a:spcAft>
              <a:buNone/>
            </a:pPr>
            <a:r>
              <a:t/>
            </a:r>
            <a:endParaRPr/>
          </a:p>
        </p:txBody>
      </p:sp>
      <p:sp>
        <p:nvSpPr>
          <p:cNvPr id="240" name="Google Shape;2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Nói đúng yêu cầu</a:t>
            </a:r>
            <a:r>
              <a:rPr b="1" lang="en-US"/>
              <a:t>:</a:t>
            </a:r>
            <a:r>
              <a:rPr lang="en-US"/>
              <a:t> Xem kỹ tranh và câu hỏi để trả lời trọng tâm, chính xác</a:t>
            </a:r>
            <a:endParaRPr/>
          </a:p>
          <a:p>
            <a:pPr indent="0" lvl="0" marL="0" rtl="0" algn="l">
              <a:spcBef>
                <a:spcPts val="0"/>
              </a:spcBef>
              <a:spcAft>
                <a:spcPts val="0"/>
              </a:spcAft>
              <a:buNone/>
            </a:pPr>
            <a:r>
              <a:rPr b="1" lang="en-US"/>
              <a:t>Nói rõ ràng và dễ hiểu:</a:t>
            </a:r>
            <a:r>
              <a:rPr lang="en-US"/>
              <a:t> Hãy nói rõ ràng và dễ hiểu để giám khảo có thể nghe và hiểu rõ câu trả lời của bạn.</a:t>
            </a:r>
            <a:endParaRPr/>
          </a:p>
          <a:p>
            <a:pPr indent="0" lvl="0" marL="0" rtl="0" algn="l">
              <a:spcBef>
                <a:spcPts val="0"/>
              </a:spcBef>
              <a:spcAft>
                <a:spcPts val="0"/>
              </a:spcAft>
              <a:buNone/>
            </a:pPr>
            <a:r>
              <a:rPr b="1" lang="en-US"/>
              <a:t>Sử dụng ngữ điệu và cách nhấn phù hợp:</a:t>
            </a:r>
            <a:r>
              <a:rPr lang="en-US"/>
              <a:t> Hãy sử dụng ngữ điệu và cách nhấn phù hợp để câu trả lời của bạn thêm sinh động và tự nhiên.</a:t>
            </a:r>
            <a:endParaRPr/>
          </a:p>
        </p:txBody>
      </p:sp>
      <p:sp>
        <p:nvSpPr>
          <p:cNvPr id="258" name="Google Shape;2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0aaba2e2a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e0aaba2e2a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311" name="Google Shape;311;g2e0aaba2e2a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e0aaba2e2a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2e0aaba2e2a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2e0aaba2e2a_0_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e0aaba2e2a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2e0aaba2e2a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2e0aaba2e2a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e0aaba2e2a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2e0aaba2e2a_0_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2e0aaba2e2a_0_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e0aaba2e2a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2e0aaba2e2a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2e0aaba2e2a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e0aaba2e2a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2e0aaba2e2a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g2e0aaba2e2a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e0aaba2e2a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2e0aaba2e2a_0_2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g2e0aaba2e2a_0_2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e0aaba2e2a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g2e0aaba2e2a_0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g2e0aaba2e2a_0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4227" cy="2222588"/>
            <a:chOff x="0" y="-192881"/>
            <a:chExt cx="11458969" cy="2963451"/>
          </a:xfrm>
        </p:grpSpPr>
        <p:grpSp>
          <p:nvGrpSpPr>
            <p:cNvPr id="90" name="Google Shape;90;p13"/>
            <p:cNvGrpSpPr/>
            <p:nvPr/>
          </p:nvGrpSpPr>
          <p:grpSpPr>
            <a:xfrm>
              <a:off x="0" y="-192881"/>
              <a:ext cx="11458969" cy="2963451"/>
              <a:chOff x="0" y="-38100"/>
              <a:chExt cx="2263500"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b="0" i="0" lang="en-US" sz="12460" u="none" cap="none" strike="noStrike">
                  <a:solidFill>
                    <a:srgbClr val="018345"/>
                  </a:solidFill>
                  <a:latin typeface="Arial"/>
                  <a:ea typeface="Arial"/>
                  <a:cs typeface="Arial"/>
                  <a:sym typeface="Arial"/>
                </a:rPr>
                <a:t>Speaking</a:t>
              </a:r>
              <a:endParaRPr/>
            </a:p>
          </p:txBody>
        </p:sp>
      </p:grpSp>
      <p:cxnSp>
        <p:nvCxnSpPr>
          <p:cNvPr id="94" name="Google Shape;94;p13"/>
          <p:cNvCxnSpPr/>
          <p:nvPr/>
        </p:nvCxnSpPr>
        <p:spPr>
          <a:xfrm>
            <a:off x="5559805" y="3724211"/>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00" cy="14733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196" y="-741517"/>
            <a:ext cx="7681773" cy="4260605"/>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2552819"/>
            <a:ext cx="10092911" cy="1384957"/>
            <a:chOff x="6375842" y="6151456"/>
            <a:chExt cx="10542000" cy="1434000"/>
          </a:xfrm>
        </p:grpSpPr>
        <p:sp>
          <p:nvSpPr>
            <p:cNvPr id="107" name="Google Shape;107;p14"/>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nói APTIS part</a:t>
              </a:r>
              <a:r>
                <a:rPr b="1" lang="en-US" sz="3200">
                  <a:solidFill>
                    <a:srgbClr val="FFFFFF"/>
                  </a:solidFill>
                  <a:latin typeface="Montserrat"/>
                  <a:ea typeface="Montserrat"/>
                  <a:cs typeface="Montserrat"/>
                  <a:sym typeface="Montserrat"/>
                </a:rPr>
                <a:t> 2</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30"/>
            <a:ext cx="7950378" cy="1707223"/>
            <a:chOff x="0" y="-384760"/>
            <a:chExt cx="10600504" cy="2276297"/>
          </a:xfrm>
        </p:grpSpPr>
        <p:grpSp>
          <p:nvGrpSpPr>
            <p:cNvPr id="115" name="Google Shape;115;p14"/>
            <p:cNvGrpSpPr/>
            <p:nvPr/>
          </p:nvGrpSpPr>
          <p:grpSpPr>
            <a:xfrm>
              <a:off x="0" y="-384760"/>
              <a:ext cx="10600504" cy="227629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400" y="4203458"/>
            <a:ext cx="10121692" cy="1245030"/>
            <a:chOff x="6934120" y="7048419"/>
            <a:chExt cx="9882535" cy="1159030"/>
          </a:xfrm>
        </p:grpSpPr>
        <p:grpSp>
          <p:nvGrpSpPr>
            <p:cNvPr id="120" name="Google Shape;120;p14"/>
            <p:cNvGrpSpPr/>
            <p:nvPr/>
          </p:nvGrpSpPr>
          <p:grpSpPr>
            <a:xfrm>
              <a:off x="6934120" y="7048419"/>
              <a:ext cx="9882535" cy="1159030"/>
              <a:chOff x="6487861" y="7950596"/>
              <a:chExt cx="10571817" cy="1289100"/>
            </a:xfrm>
          </p:grpSpPr>
          <p:sp>
            <p:nvSpPr>
              <p:cNvPr id="121" name="Google Shape;121;p14"/>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10142" y="8239170"/>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nói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5727617"/>
            <a:ext cx="10150411" cy="1245213"/>
            <a:chOff x="6962073" y="8572500"/>
            <a:chExt cx="9910575" cy="1159200"/>
          </a:xfrm>
        </p:grpSpPr>
        <p:sp>
          <p:nvSpPr>
            <p:cNvPr id="126" name="Google Shape;126;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52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647" y="7174698"/>
            <a:ext cx="10121659" cy="1245114"/>
            <a:chOff x="6947521" y="8856561"/>
            <a:chExt cx="9366703" cy="1016502"/>
          </a:xfrm>
        </p:grpSpPr>
        <p:grpSp>
          <p:nvGrpSpPr>
            <p:cNvPr id="131" name="Google Shape;131;p14"/>
            <p:cNvGrpSpPr/>
            <p:nvPr/>
          </p:nvGrpSpPr>
          <p:grpSpPr>
            <a:xfrm>
              <a:off x="6947521" y="8856561"/>
              <a:ext cx="9366703" cy="1016502"/>
              <a:chOff x="6962073" y="8572500"/>
              <a:chExt cx="9882573" cy="1159200"/>
            </a:xfrm>
          </p:grpSpPr>
          <p:sp>
            <p:nvSpPr>
              <p:cNvPr id="132" name="Google Shape;132;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637" y="8669603"/>
            <a:ext cx="10121659" cy="1245114"/>
            <a:chOff x="6947521" y="8856561"/>
            <a:chExt cx="9366703" cy="1016502"/>
          </a:xfrm>
        </p:grpSpPr>
        <p:grpSp>
          <p:nvGrpSpPr>
            <p:cNvPr id="137" name="Google Shape;137;p14"/>
            <p:cNvGrpSpPr/>
            <p:nvPr/>
          </p:nvGrpSpPr>
          <p:grpSpPr>
            <a:xfrm>
              <a:off x="6947521" y="8856561"/>
              <a:ext cx="9366703" cy="1016502"/>
              <a:chOff x="6962073" y="8572500"/>
              <a:chExt cx="9882573" cy="1159200"/>
            </a:xfrm>
          </p:grpSpPr>
          <p:sp>
            <p:nvSpPr>
              <p:cNvPr id="138" name="Google Shape;138;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nói APTIS part 2</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Part 2 Speaking Aptis</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381" y="1809050"/>
            <a:ext cx="9412781" cy="6801294"/>
            <a:chOff x="7810502" y="2279932"/>
            <a:chExt cx="7889348" cy="6330318"/>
          </a:xfrm>
        </p:grpSpPr>
        <p:grpSp>
          <p:nvGrpSpPr>
            <p:cNvPr id="180" name="Google Shape;180;p16"/>
            <p:cNvGrpSpPr/>
            <p:nvPr/>
          </p:nvGrpSpPr>
          <p:grpSpPr>
            <a:xfrm>
              <a:off x="7810502" y="2279932"/>
              <a:ext cx="7889348" cy="6330318"/>
              <a:chOff x="695515" y="76899"/>
              <a:chExt cx="7889348" cy="6330318"/>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3700">
                    <a:solidFill>
                      <a:schemeClr val="lt1"/>
                    </a:solidFill>
                    <a:latin typeface="Roboto"/>
                    <a:ea typeface="Roboto"/>
                    <a:cs typeface="Roboto"/>
                    <a:sym typeface="Roboto"/>
                  </a:rPr>
                  <a:t>45</a:t>
                </a:r>
                <a:r>
                  <a:rPr b="1" lang="en-US" sz="3700">
                    <a:solidFill>
                      <a:schemeClr val="lt1"/>
                    </a:solidFill>
                    <a:latin typeface="Roboto"/>
                    <a:ea typeface="Roboto"/>
                    <a:cs typeface="Roboto"/>
                    <a:sym typeface="Roboto"/>
                  </a:rPr>
                  <a:t> giây/ câu trả lời</a:t>
                </a:r>
                <a:endParaRPr b="1" sz="3700">
                  <a:solidFill>
                    <a:schemeClr val="lt1"/>
                  </a:solidFill>
                  <a:latin typeface="Roboto"/>
                  <a:ea typeface="Roboto"/>
                  <a:cs typeface="Roboto"/>
                  <a:sym typeface="Roboto"/>
                </a:endParaRPr>
              </a:p>
            </p:txBody>
          </p:sp>
          <p:sp>
            <p:nvSpPr>
              <p:cNvPr id="193" name="Google Shape;193;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734082" y="2574474"/>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dk1"/>
                  </a:buClr>
                  <a:buSzPts val="1100"/>
                  <a:buFont typeface="Arial"/>
                  <a:buNone/>
                </a:pPr>
                <a:r>
                  <a:rPr b="1" lang="en-US" sz="3700">
                    <a:solidFill>
                      <a:schemeClr val="lt1"/>
                    </a:solidFill>
                    <a:latin typeface="Roboto"/>
                    <a:ea typeface="Roboto"/>
                    <a:cs typeface="Roboto"/>
                    <a:sym typeface="Roboto"/>
                  </a:rPr>
                  <a:t>Mô tả hình ảnh, trả lời 2 câu hỏi</a:t>
                </a:r>
                <a:endParaRPr b="1" sz="3700">
                  <a:solidFill>
                    <a:schemeClr val="lt1"/>
                  </a:solidFill>
                  <a:latin typeface="Roboto"/>
                  <a:ea typeface="Roboto"/>
                  <a:cs typeface="Roboto"/>
                  <a:sym typeface="Roboto"/>
                </a:endParaRPr>
              </a:p>
            </p:txBody>
          </p:sp>
          <p:sp>
            <p:nvSpPr>
              <p:cNvPr id="196" name="Google Shape;196;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4" name="Google Shape;204;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5" name="Google Shape;205;p17"/>
          <p:cNvGrpSpPr/>
          <p:nvPr/>
        </p:nvGrpSpPr>
        <p:grpSpPr>
          <a:xfrm rot="10800000">
            <a:off x="15044552" y="-741521"/>
            <a:ext cx="7681766" cy="4260610"/>
            <a:chOff x="0" y="-38100"/>
            <a:chExt cx="406400" cy="225405"/>
          </a:xfrm>
        </p:grpSpPr>
        <p:sp>
          <p:nvSpPr>
            <p:cNvPr id="206" name="Google Shape;206;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7" name="Google Shape;207;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5511794" y="2502271"/>
            <a:ext cx="11760209" cy="238597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nói APTIS</a:t>
            </a:r>
            <a:endParaRPr/>
          </a:p>
        </p:txBody>
      </p:sp>
      <p:sp>
        <p:nvSpPr>
          <p:cNvPr id="211" name="Google Shape;211;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2" name="Google Shape;212;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3" name="Google Shape;213;p17"/>
          <p:cNvGrpSpPr/>
          <p:nvPr/>
        </p:nvGrpSpPr>
        <p:grpSpPr>
          <a:xfrm>
            <a:off x="-2718010" y="9274528"/>
            <a:ext cx="7950400" cy="1707231"/>
            <a:chOff x="0" y="-384762"/>
            <a:chExt cx="10600533" cy="2276307"/>
          </a:xfrm>
        </p:grpSpPr>
        <p:grpSp>
          <p:nvGrpSpPr>
            <p:cNvPr id="214" name="Google Shape;214;p17"/>
            <p:cNvGrpSpPr/>
            <p:nvPr/>
          </p:nvGrpSpPr>
          <p:grpSpPr>
            <a:xfrm>
              <a:off x="0" y="-384762"/>
              <a:ext cx="10600533" cy="2276307"/>
              <a:chOff x="0" y="-38100"/>
              <a:chExt cx="1049690" cy="225405"/>
            </a:xfrm>
          </p:grpSpPr>
          <p:sp>
            <p:nvSpPr>
              <p:cNvPr id="215" name="Google Shape;215;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6" name="Google Shape;216;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18" name="Google Shape;218;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500"/>
                                        <p:tgtEl>
                                          <p:spTgt spid="210"/>
                                        </p:tgtEl>
                                        <p:attrNameLst>
                                          <p:attrName>ppt_w</p:attrName>
                                        </p:attrNameLst>
                                      </p:cBhvr>
                                      <p:tavLst>
                                        <p:tav fmla="" tm="0">
                                          <p:val>
                                            <p:strVal val="0"/>
                                          </p:val>
                                        </p:tav>
                                        <p:tav fmla="" tm="100000">
                                          <p:val>
                                            <p:strVal val="#ppt_w"/>
                                          </p:val>
                                        </p:tav>
                                      </p:tavLst>
                                    </p:anim>
                                    <p:anim calcmode="lin" valueType="num">
                                      <p:cBhvr additive="base">
                                        <p:cTn dur="500"/>
                                        <p:tgtEl>
                                          <p:spTgt spid="2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5" name="Google Shape;225;p18"/>
          <p:cNvGrpSpPr/>
          <p:nvPr/>
        </p:nvGrpSpPr>
        <p:grpSpPr>
          <a:xfrm rot="10800000">
            <a:off x="15785091" y="-536942"/>
            <a:ext cx="7681766" cy="4260610"/>
            <a:chOff x="0" y="-38100"/>
            <a:chExt cx="406400" cy="225405"/>
          </a:xfrm>
        </p:grpSpPr>
        <p:sp>
          <p:nvSpPr>
            <p:cNvPr id="226" name="Google Shape;226;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27" name="Google Shape;227;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29" name="Google Shape;229;p18"/>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30" name="Google Shape;230;p18"/>
          <p:cNvGrpSpPr/>
          <p:nvPr/>
        </p:nvGrpSpPr>
        <p:grpSpPr>
          <a:xfrm>
            <a:off x="-2718010" y="9274528"/>
            <a:ext cx="7950400" cy="1707231"/>
            <a:chOff x="0" y="-384762"/>
            <a:chExt cx="10600533" cy="2276307"/>
          </a:xfrm>
        </p:grpSpPr>
        <p:grpSp>
          <p:nvGrpSpPr>
            <p:cNvPr id="231" name="Google Shape;231;p18"/>
            <p:cNvGrpSpPr/>
            <p:nvPr/>
          </p:nvGrpSpPr>
          <p:grpSpPr>
            <a:xfrm>
              <a:off x="0" y="-384762"/>
              <a:ext cx="10600533" cy="2276307"/>
              <a:chOff x="0" y="-38100"/>
              <a:chExt cx="1049690" cy="225405"/>
            </a:xfrm>
          </p:grpSpPr>
          <p:sp>
            <p:nvSpPr>
              <p:cNvPr id="232" name="Google Shape;23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3" name="Google Shape;23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5" name="Google Shape;235;p18"/>
          <p:cNvSpPr txBox="1"/>
          <p:nvPr/>
        </p:nvSpPr>
        <p:spPr>
          <a:xfrm>
            <a:off x="930043" y="2095500"/>
            <a:ext cx="17255599" cy="3690241"/>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Hãy lắng nghe hướng dẫn và nói rõ ràng vào micrô khi bạn nghe thấy tín hiệu.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phần của bài kiểm tra sẽ tự động xuất hiện. </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Bạn có thể dừng ghi âm phản hồi của mình trước khi hết giờ.</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Nên nói trong toàn bộ thời gian để tối đa hóa điểm số của mình.</a:t>
            </a:r>
            <a:endParaRPr/>
          </a:p>
        </p:txBody>
      </p:sp>
      <p:pic>
        <p:nvPicPr>
          <p:cNvPr id="236" name="Google Shape;236;p18"/>
          <p:cNvPicPr preferRelativeResize="0"/>
          <p:nvPr/>
        </p:nvPicPr>
        <p:blipFill>
          <a:blip r:embed="rId4">
            <a:alphaModFix/>
          </a:blip>
          <a:stretch>
            <a:fillRect/>
          </a:stretch>
        </p:blipFill>
        <p:spPr>
          <a:xfrm>
            <a:off x="4269088" y="5785750"/>
            <a:ext cx="10698175" cy="388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19"/>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43" name="Google Shape;243;p19"/>
          <p:cNvGrpSpPr/>
          <p:nvPr/>
        </p:nvGrpSpPr>
        <p:grpSpPr>
          <a:xfrm rot="10800000">
            <a:off x="15785091" y="-536942"/>
            <a:ext cx="7681766" cy="4260610"/>
            <a:chOff x="0" y="-38100"/>
            <a:chExt cx="406400" cy="225405"/>
          </a:xfrm>
        </p:grpSpPr>
        <p:sp>
          <p:nvSpPr>
            <p:cNvPr id="244" name="Google Shape;244;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5" name="Google Shape;245;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19"/>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47" name="Google Shape;247;p19"/>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48" name="Google Shape;248;p19"/>
          <p:cNvGrpSpPr/>
          <p:nvPr/>
        </p:nvGrpSpPr>
        <p:grpSpPr>
          <a:xfrm>
            <a:off x="-2718010" y="9274528"/>
            <a:ext cx="7950400" cy="1707231"/>
            <a:chOff x="0" y="-384762"/>
            <a:chExt cx="10600533" cy="2276307"/>
          </a:xfrm>
        </p:grpSpPr>
        <p:grpSp>
          <p:nvGrpSpPr>
            <p:cNvPr id="249" name="Google Shape;249;p19"/>
            <p:cNvGrpSpPr/>
            <p:nvPr/>
          </p:nvGrpSpPr>
          <p:grpSpPr>
            <a:xfrm>
              <a:off x="0" y="-384762"/>
              <a:ext cx="10600533" cy="2276307"/>
              <a:chOff x="0" y="-38100"/>
              <a:chExt cx="1049690" cy="225405"/>
            </a:xfrm>
          </p:grpSpPr>
          <p:sp>
            <p:nvSpPr>
              <p:cNvPr id="250" name="Google Shape;250;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1" name="Google Shape;251;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19"/>
          <p:cNvSpPr txBox="1"/>
          <p:nvPr/>
        </p:nvSpPr>
        <p:spPr>
          <a:xfrm>
            <a:off x="1600200" y="2200508"/>
            <a:ext cx="15938100" cy="25551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Khi đến thời gian ghi âm, bộ đếm thời gian sẽ bắt đầu.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Nội dung này cho bạn biết bạn đã ghi âm được bao lâu.</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khi một câu hỏi mới xuất hiện, quy trình tương tự sẽ được lặp lại.</a:t>
            </a:r>
            <a:endParaRPr sz="4000">
              <a:solidFill>
                <a:schemeClr val="dk1"/>
              </a:solidFill>
              <a:latin typeface="Calibri"/>
              <a:ea typeface="Calibri"/>
              <a:cs typeface="Calibri"/>
              <a:sym typeface="Calibri"/>
            </a:endParaRPr>
          </a:p>
        </p:txBody>
      </p:sp>
      <p:pic>
        <p:nvPicPr>
          <p:cNvPr id="254" name="Google Shape;254;p19"/>
          <p:cNvPicPr preferRelativeResize="0"/>
          <p:nvPr/>
        </p:nvPicPr>
        <p:blipFill>
          <a:blip r:embed="rId4">
            <a:alphaModFix/>
          </a:blip>
          <a:stretch>
            <a:fillRect/>
          </a:stretch>
        </p:blipFill>
        <p:spPr>
          <a:xfrm>
            <a:off x="4239075" y="5374100"/>
            <a:ext cx="10660450" cy="413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cxnSp>
        <p:nvCxnSpPr>
          <p:cNvPr id="260" name="Google Shape;260;p20"/>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61" name="Google Shape;261;p20"/>
          <p:cNvGrpSpPr/>
          <p:nvPr/>
        </p:nvGrpSpPr>
        <p:grpSpPr>
          <a:xfrm rot="10800000">
            <a:off x="15785091" y="-536942"/>
            <a:ext cx="7681766" cy="4260610"/>
            <a:chOff x="0" y="-38100"/>
            <a:chExt cx="406400" cy="225405"/>
          </a:xfrm>
        </p:grpSpPr>
        <p:sp>
          <p:nvSpPr>
            <p:cNvPr id="262" name="Google Shape;262;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3" name="Google Shape;263;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4" name="Google Shape;264;p20"/>
          <p:cNvSpPr txBox="1"/>
          <p:nvPr/>
        </p:nvSpPr>
        <p:spPr>
          <a:xfrm>
            <a:off x="5571910"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65" name="Google Shape;265;p20"/>
          <p:cNvGrpSpPr/>
          <p:nvPr/>
        </p:nvGrpSpPr>
        <p:grpSpPr>
          <a:xfrm>
            <a:off x="-2718010" y="9274528"/>
            <a:ext cx="7950400" cy="1707231"/>
            <a:chOff x="0" y="-384762"/>
            <a:chExt cx="10600533" cy="2276307"/>
          </a:xfrm>
        </p:grpSpPr>
        <p:grpSp>
          <p:nvGrpSpPr>
            <p:cNvPr id="266" name="Google Shape;266;p20"/>
            <p:cNvGrpSpPr/>
            <p:nvPr/>
          </p:nvGrpSpPr>
          <p:grpSpPr>
            <a:xfrm>
              <a:off x="0" y="-384762"/>
              <a:ext cx="10600533" cy="2276307"/>
              <a:chOff x="0" y="-38100"/>
              <a:chExt cx="1049690" cy="225405"/>
            </a:xfrm>
          </p:grpSpPr>
          <p:sp>
            <p:nvSpPr>
              <p:cNvPr id="267" name="Google Shape;267;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68" name="Google Shape;268;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 name="Google Shape;269;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20"/>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52203" y="1059893"/>
            <a:ext cx="9424803" cy="9424803"/>
          </a:xfrm>
          <a:prstGeom prst="blockArc">
            <a:avLst>
              <a:gd fmla="val 18900000" name="adj1"/>
              <a:gd fmla="val 2700000" name="adj2"/>
              <a:gd fmla="val 229"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 name="Google Shape;272;p20"/>
          <p:cNvCxnSpPr/>
          <p:nvPr/>
        </p:nvCxnSpPr>
        <p:spPr>
          <a:xfrm flipH="1" rot="10800000">
            <a:off x="6209271" y="163299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73" name="Google Shape;273;p20"/>
          <p:cNvGrpSpPr/>
          <p:nvPr/>
        </p:nvGrpSpPr>
        <p:grpSpPr>
          <a:xfrm>
            <a:off x="8158730" y="2598220"/>
            <a:ext cx="8684450" cy="1094798"/>
            <a:chOff x="7100641" y="2598220"/>
            <a:chExt cx="8684450" cy="1094798"/>
          </a:xfrm>
        </p:grpSpPr>
        <p:sp>
          <p:nvSpPr>
            <p:cNvPr id="274" name="Google Shape;274;p20"/>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Giữ bình tĩnh và tự tin</a:t>
              </a:r>
              <a:endParaRPr sz="4600">
                <a:solidFill>
                  <a:schemeClr val="lt1"/>
                </a:solidFill>
                <a:latin typeface="Calibri"/>
                <a:ea typeface="Calibri"/>
                <a:cs typeface="Calibri"/>
                <a:sym typeface="Calibri"/>
              </a:endParaRPr>
            </a:p>
          </p:txBody>
        </p:sp>
        <p:sp>
          <p:nvSpPr>
            <p:cNvPr id="275" name="Google Shape;275;p20"/>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20"/>
          <p:cNvGrpSpPr/>
          <p:nvPr/>
        </p:nvGrpSpPr>
        <p:grpSpPr>
          <a:xfrm>
            <a:off x="8786330" y="3911557"/>
            <a:ext cx="8056850" cy="1094798"/>
            <a:chOff x="7728241" y="3911557"/>
            <a:chExt cx="8056850" cy="1094798"/>
          </a:xfrm>
        </p:grpSpPr>
        <p:sp>
          <p:nvSpPr>
            <p:cNvPr id="277" name="Google Shape;277;p20"/>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Nghe kỹ hướng dẫn</a:t>
              </a:r>
              <a:endParaRPr sz="4600">
                <a:solidFill>
                  <a:schemeClr val="lt1"/>
                </a:solidFill>
                <a:latin typeface="Calibri"/>
                <a:ea typeface="Calibri"/>
                <a:cs typeface="Calibri"/>
                <a:sym typeface="Calibri"/>
              </a:endParaRPr>
            </a:p>
          </p:txBody>
        </p:sp>
        <p:sp>
          <p:nvSpPr>
            <p:cNvPr id="278" name="Google Shape;278;p20"/>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20"/>
          <p:cNvGrpSpPr/>
          <p:nvPr/>
        </p:nvGrpSpPr>
        <p:grpSpPr>
          <a:xfrm>
            <a:off x="8978953" y="5224895"/>
            <a:ext cx="7864227" cy="1094798"/>
            <a:chOff x="7920864" y="5224895"/>
            <a:chExt cx="7864227" cy="1094798"/>
          </a:xfrm>
        </p:grpSpPr>
        <p:sp>
          <p:nvSpPr>
            <p:cNvPr id="280" name="Google Shape;280;p20"/>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Nói đúng yêu cầu</a:t>
              </a:r>
              <a:endParaRPr sz="4600">
                <a:solidFill>
                  <a:schemeClr val="lt1"/>
                </a:solidFill>
                <a:latin typeface="Calibri"/>
                <a:ea typeface="Calibri"/>
                <a:cs typeface="Calibri"/>
                <a:sym typeface="Calibri"/>
              </a:endParaRPr>
            </a:p>
          </p:txBody>
        </p:sp>
        <p:sp>
          <p:nvSpPr>
            <p:cNvPr id="281" name="Google Shape;281;p20"/>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0"/>
          <p:cNvGrpSpPr/>
          <p:nvPr/>
        </p:nvGrpSpPr>
        <p:grpSpPr>
          <a:xfrm>
            <a:off x="8786330" y="6538232"/>
            <a:ext cx="8056850" cy="1094798"/>
            <a:chOff x="7728241" y="6538232"/>
            <a:chExt cx="8056850" cy="1094798"/>
          </a:xfrm>
        </p:grpSpPr>
        <p:sp>
          <p:nvSpPr>
            <p:cNvPr id="283" name="Google Shape;283;p20"/>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Nói rõ ràng, dễ hiểu</a:t>
              </a:r>
              <a:endParaRPr sz="4600">
                <a:solidFill>
                  <a:schemeClr val="lt1"/>
                </a:solidFill>
                <a:latin typeface="Calibri"/>
                <a:ea typeface="Calibri"/>
                <a:cs typeface="Calibri"/>
                <a:sym typeface="Calibri"/>
              </a:endParaRPr>
            </a:p>
          </p:txBody>
        </p:sp>
        <p:sp>
          <p:nvSpPr>
            <p:cNvPr id="284" name="Google Shape;284;p20"/>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20"/>
          <p:cNvGrpSpPr/>
          <p:nvPr/>
        </p:nvGrpSpPr>
        <p:grpSpPr>
          <a:xfrm>
            <a:off x="8158730" y="7851570"/>
            <a:ext cx="8684450" cy="1094798"/>
            <a:chOff x="7100641" y="7851570"/>
            <a:chExt cx="8684450" cy="1094798"/>
          </a:xfrm>
        </p:grpSpPr>
        <p:sp>
          <p:nvSpPr>
            <p:cNvPr id="286" name="Google Shape;286;p20"/>
            <p:cNvSpPr/>
            <p:nvPr/>
          </p:nvSpPr>
          <p:spPr>
            <a:xfrm>
              <a:off x="7648040" y="796105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Sử dụng ngữ điệu khi nói</a:t>
              </a:r>
              <a:endParaRPr sz="4600">
                <a:solidFill>
                  <a:schemeClr val="lt1"/>
                </a:solidFill>
                <a:latin typeface="Calibri"/>
                <a:ea typeface="Calibri"/>
                <a:cs typeface="Calibri"/>
                <a:sym typeface="Calibri"/>
              </a:endParaRPr>
            </a:p>
          </p:txBody>
        </p:sp>
        <p:sp>
          <p:nvSpPr>
            <p:cNvPr id="287" name="Google Shape;287;p20"/>
            <p:cNvSpPr/>
            <p:nvPr/>
          </p:nvSpPr>
          <p:spPr>
            <a:xfrm>
              <a:off x="7100641" y="785157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cxnSp>
        <p:nvCxnSpPr>
          <p:cNvPr id="292" name="Google Shape;292;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93" name="Google Shape;293;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94" name="Google Shape;294;p21"/>
          <p:cNvGrpSpPr/>
          <p:nvPr/>
        </p:nvGrpSpPr>
        <p:grpSpPr>
          <a:xfrm rot="10800000">
            <a:off x="15044552" y="-741521"/>
            <a:ext cx="7681766" cy="4260610"/>
            <a:chOff x="0" y="-38100"/>
            <a:chExt cx="406400" cy="225405"/>
          </a:xfrm>
        </p:grpSpPr>
        <p:sp>
          <p:nvSpPr>
            <p:cNvPr id="295" name="Google Shape;295;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96" name="Google Shape;296;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97" name="Google Shape;297;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98" name="Google Shape;298;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99" name="Google Shape;299;p21"/>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300" name="Google Shape;300;p21"/>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301" name="Google Shape;301;p21"/>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02" name="Google Shape;302;p21"/>
          <p:cNvGrpSpPr/>
          <p:nvPr/>
        </p:nvGrpSpPr>
        <p:grpSpPr>
          <a:xfrm>
            <a:off x="-2718010" y="9274528"/>
            <a:ext cx="7950400" cy="1707231"/>
            <a:chOff x="0" y="-384762"/>
            <a:chExt cx="10600533" cy="2276307"/>
          </a:xfrm>
        </p:grpSpPr>
        <p:grpSp>
          <p:nvGrpSpPr>
            <p:cNvPr id="303" name="Google Shape;303;p21"/>
            <p:cNvGrpSpPr/>
            <p:nvPr/>
          </p:nvGrpSpPr>
          <p:grpSpPr>
            <a:xfrm>
              <a:off x="0" y="-384762"/>
              <a:ext cx="10600533" cy="2276307"/>
              <a:chOff x="0" y="-38100"/>
              <a:chExt cx="1049690" cy="225405"/>
            </a:xfrm>
          </p:grpSpPr>
          <p:sp>
            <p:nvSpPr>
              <p:cNvPr id="304" name="Google Shape;304;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5" name="Google Shape;305;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6" name="Google Shape;306;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07" name="Google Shape;307;p21"/>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ppt_w</p:attrName>
                                        </p:attrNameLst>
                                      </p:cBhvr>
                                      <p:tavLst>
                                        <p:tav fmla="" tm="0">
                                          <p:val>
                                            <p:strVal val="0"/>
                                          </p:val>
                                        </p:tav>
                                        <p:tav fmla="" tm="100000">
                                          <p:val>
                                            <p:strVal val="#ppt_w"/>
                                          </p:val>
                                        </p:tav>
                                      </p:tavLst>
                                    </p:anim>
                                    <p:anim calcmode="lin" valueType="num">
                                      <p:cBhvr additive="base">
                                        <p:cTn dur="500"/>
                                        <p:tgtEl>
                                          <p:spTgt spid="2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cxnSp>
        <p:nvCxnSpPr>
          <p:cNvPr id="313" name="Google Shape;313;p22"/>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14" name="Google Shape;314;p22"/>
          <p:cNvGrpSpPr/>
          <p:nvPr/>
        </p:nvGrpSpPr>
        <p:grpSpPr>
          <a:xfrm rot="10800000">
            <a:off x="15785084" y="-536938"/>
            <a:ext cx="7681773" cy="4260605"/>
            <a:chOff x="0" y="-38100"/>
            <a:chExt cx="406400" cy="225405"/>
          </a:xfrm>
        </p:grpSpPr>
        <p:sp>
          <p:nvSpPr>
            <p:cNvPr id="315" name="Google Shape;315;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6" name="Google Shape;316;p2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7" name="Google Shape;317;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18" name="Google Shape;318;p22"/>
          <p:cNvGrpSpPr/>
          <p:nvPr/>
        </p:nvGrpSpPr>
        <p:grpSpPr>
          <a:xfrm>
            <a:off x="-2718010" y="9274530"/>
            <a:ext cx="7950378" cy="1707223"/>
            <a:chOff x="0" y="-384760"/>
            <a:chExt cx="10600504" cy="2276297"/>
          </a:xfrm>
        </p:grpSpPr>
        <p:grpSp>
          <p:nvGrpSpPr>
            <p:cNvPr id="319" name="Google Shape;319;p22"/>
            <p:cNvGrpSpPr/>
            <p:nvPr/>
          </p:nvGrpSpPr>
          <p:grpSpPr>
            <a:xfrm>
              <a:off x="0" y="-384760"/>
              <a:ext cx="10600504" cy="2276297"/>
              <a:chOff x="0" y="-38100"/>
              <a:chExt cx="1049690" cy="225405"/>
            </a:xfrm>
          </p:grpSpPr>
          <p:sp>
            <p:nvSpPr>
              <p:cNvPr id="320" name="Google Shape;320;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1" name="Google Shape;321;p2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p2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3" name="Google Shape;323;p22"/>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pic>
        <p:nvPicPr>
          <p:cNvPr id="324" name="Google Shape;324;p22"/>
          <p:cNvPicPr preferRelativeResize="0"/>
          <p:nvPr/>
        </p:nvPicPr>
        <p:blipFill>
          <a:blip r:embed="rId4">
            <a:alphaModFix/>
          </a:blip>
          <a:stretch>
            <a:fillRect/>
          </a:stretch>
        </p:blipFill>
        <p:spPr>
          <a:xfrm>
            <a:off x="10333975" y="2910528"/>
            <a:ext cx="4863300" cy="4225490"/>
          </a:xfrm>
          <a:prstGeom prst="rect">
            <a:avLst/>
          </a:prstGeom>
          <a:noFill/>
          <a:ln>
            <a:noFill/>
          </a:ln>
        </p:spPr>
      </p:pic>
      <p:sp>
        <p:nvSpPr>
          <p:cNvPr id="325" name="Google Shape;325;p22"/>
          <p:cNvSpPr txBox="1"/>
          <p:nvPr/>
        </p:nvSpPr>
        <p:spPr>
          <a:xfrm>
            <a:off x="7543800" y="1987125"/>
            <a:ext cx="54594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Describe the picture</a:t>
            </a:r>
            <a:endParaRPr sz="3200">
              <a:solidFill>
                <a:schemeClr val="dk1"/>
              </a:solidFill>
              <a:latin typeface="Calibri"/>
              <a:ea typeface="Calibri"/>
              <a:cs typeface="Calibri"/>
              <a:sym typeface="Calibri"/>
            </a:endParaRPr>
          </a:p>
        </p:txBody>
      </p:sp>
      <p:sp>
        <p:nvSpPr>
          <p:cNvPr id="326" name="Google Shape;326;p22"/>
          <p:cNvSpPr txBox="1"/>
          <p:nvPr/>
        </p:nvSpPr>
        <p:spPr>
          <a:xfrm>
            <a:off x="7543800" y="7506050"/>
            <a:ext cx="94488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Tell me about a time you visited a museum.</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Do you think people should pay to visit museums, or should they be free?</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23"/>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32" name="Google Shape;332;p2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33" name="Google Shape;333;p23"/>
          <p:cNvGrpSpPr/>
          <p:nvPr/>
        </p:nvGrpSpPr>
        <p:grpSpPr>
          <a:xfrm rot="10800000">
            <a:off x="15044552" y="-741521"/>
            <a:ext cx="7681766" cy="4260610"/>
            <a:chOff x="0" y="-38100"/>
            <a:chExt cx="406400" cy="225405"/>
          </a:xfrm>
        </p:grpSpPr>
        <p:sp>
          <p:nvSpPr>
            <p:cNvPr id="334" name="Google Shape;334;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5" name="Google Shape;335;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36" name="Google Shape;336;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37" name="Google Shape;337;p2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38" name="Google Shape;338;p23"/>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339" name="Google Shape;339;p23"/>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40" name="Google Shape;340;p23"/>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41" name="Google Shape;341;p23"/>
          <p:cNvGrpSpPr/>
          <p:nvPr/>
        </p:nvGrpSpPr>
        <p:grpSpPr>
          <a:xfrm>
            <a:off x="-2718010" y="9274528"/>
            <a:ext cx="7950400" cy="1707231"/>
            <a:chOff x="0" y="-384762"/>
            <a:chExt cx="10600533" cy="2276307"/>
          </a:xfrm>
        </p:grpSpPr>
        <p:grpSp>
          <p:nvGrpSpPr>
            <p:cNvPr id="342" name="Google Shape;342;p23"/>
            <p:cNvGrpSpPr/>
            <p:nvPr/>
          </p:nvGrpSpPr>
          <p:grpSpPr>
            <a:xfrm>
              <a:off x="0" y="-384762"/>
              <a:ext cx="10600533" cy="2276307"/>
              <a:chOff x="0" y="-38100"/>
              <a:chExt cx="1049690" cy="225405"/>
            </a:xfrm>
          </p:grpSpPr>
          <p:sp>
            <p:nvSpPr>
              <p:cNvPr id="343" name="Google Shape;343;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4" name="Google Shape;344;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 name="Google Shape;345;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6" name="Google Shape;346;p23"/>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500"/>
                                        <p:tgtEl>
                                          <p:spTgt spid="339"/>
                                        </p:tgtEl>
                                        <p:attrNameLst>
                                          <p:attrName>ppt_w</p:attrName>
                                        </p:attrNameLst>
                                      </p:cBhvr>
                                      <p:tavLst>
                                        <p:tav fmla="" tm="0">
                                          <p:val>
                                            <p:strVal val="0"/>
                                          </p:val>
                                        </p:tav>
                                        <p:tav fmla="" tm="100000">
                                          <p:val>
                                            <p:strVal val="#ppt_w"/>
                                          </p:val>
                                        </p:tav>
                                      </p:tavLst>
                                    </p:anim>
                                    <p:anim calcmode="lin" valueType="num">
                                      <p:cBhvr additive="base">
                                        <p:cTn dur="500"/>
                                        <p:tgtEl>
                                          <p:spTgt spid="33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500"/>
                                        <p:tgtEl>
                                          <p:spTgt spid="338"/>
                                        </p:tgtEl>
                                        <p:attrNameLst>
                                          <p:attrName>ppt_w</p:attrName>
                                        </p:attrNameLst>
                                      </p:cBhvr>
                                      <p:tavLst>
                                        <p:tav fmla="" tm="0">
                                          <p:val>
                                            <p:strVal val="0"/>
                                          </p:val>
                                        </p:tav>
                                        <p:tav fmla="" tm="100000">
                                          <p:val>
                                            <p:strVal val="#ppt_w"/>
                                          </p:val>
                                        </p:tav>
                                      </p:tavLst>
                                    </p:anim>
                                    <p:anim calcmode="lin" valueType="num">
                                      <p:cBhvr additive="base">
                                        <p:cTn dur="500"/>
                                        <p:tgtEl>
                                          <p:spTgt spid="33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cxnSp>
        <p:nvCxnSpPr>
          <p:cNvPr id="352" name="Google Shape;352;p24"/>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53" name="Google Shape;353;p2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54" name="Google Shape;354;p24"/>
          <p:cNvGrpSpPr/>
          <p:nvPr/>
        </p:nvGrpSpPr>
        <p:grpSpPr>
          <a:xfrm rot="10800000">
            <a:off x="15785091" y="-536942"/>
            <a:ext cx="7681766" cy="4260610"/>
            <a:chOff x="0" y="-38100"/>
            <a:chExt cx="406400" cy="225405"/>
          </a:xfrm>
        </p:grpSpPr>
        <p:sp>
          <p:nvSpPr>
            <p:cNvPr id="355" name="Google Shape;35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6" name="Google Shape;356;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7" name="Google Shape;35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8" name="Google Shape;358;p24"/>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Phần 1: Mô tả tranh</a:t>
            </a:r>
            <a:endParaRPr b="1" sz="6000">
              <a:solidFill>
                <a:srgbClr val="018345"/>
              </a:solidFill>
              <a:latin typeface="Montserrat"/>
              <a:ea typeface="Montserrat"/>
              <a:cs typeface="Montserrat"/>
              <a:sym typeface="Montserrat"/>
            </a:endParaRPr>
          </a:p>
        </p:txBody>
      </p:sp>
      <p:grpSp>
        <p:nvGrpSpPr>
          <p:cNvPr id="359" name="Google Shape;359;p24"/>
          <p:cNvGrpSpPr/>
          <p:nvPr/>
        </p:nvGrpSpPr>
        <p:grpSpPr>
          <a:xfrm>
            <a:off x="-2718010" y="9274528"/>
            <a:ext cx="7950400" cy="1707231"/>
            <a:chOff x="0" y="-384762"/>
            <a:chExt cx="10600533" cy="2276307"/>
          </a:xfrm>
        </p:grpSpPr>
        <p:grpSp>
          <p:nvGrpSpPr>
            <p:cNvPr id="360" name="Google Shape;360;p24"/>
            <p:cNvGrpSpPr/>
            <p:nvPr/>
          </p:nvGrpSpPr>
          <p:grpSpPr>
            <a:xfrm>
              <a:off x="0" y="-384762"/>
              <a:ext cx="10600533" cy="2276307"/>
              <a:chOff x="0" y="-38100"/>
              <a:chExt cx="1049690" cy="225405"/>
            </a:xfrm>
          </p:grpSpPr>
          <p:sp>
            <p:nvSpPr>
              <p:cNvPr id="361" name="Google Shape;361;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3" name="Google Shape;363;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64" name="Google Shape;364;p24"/>
          <p:cNvPicPr preferRelativeResize="0"/>
          <p:nvPr/>
        </p:nvPicPr>
        <p:blipFill>
          <a:blip r:embed="rId4">
            <a:alphaModFix/>
          </a:blip>
          <a:stretch>
            <a:fillRect/>
          </a:stretch>
        </p:blipFill>
        <p:spPr>
          <a:xfrm>
            <a:off x="6209275" y="3601853"/>
            <a:ext cx="4863300" cy="4225490"/>
          </a:xfrm>
          <a:prstGeom prst="rect">
            <a:avLst/>
          </a:prstGeom>
          <a:noFill/>
          <a:ln>
            <a:noFill/>
          </a:ln>
        </p:spPr>
      </p:pic>
      <p:sp>
        <p:nvSpPr>
          <p:cNvPr id="365" name="Google Shape;365;p24"/>
          <p:cNvSpPr txBox="1"/>
          <p:nvPr/>
        </p:nvSpPr>
        <p:spPr>
          <a:xfrm>
            <a:off x="6209275" y="2158375"/>
            <a:ext cx="54594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Describe the picture</a:t>
            </a:r>
            <a:endParaRPr sz="3200">
              <a:solidFill>
                <a:schemeClr val="dk1"/>
              </a:solidFill>
              <a:latin typeface="Calibri"/>
              <a:ea typeface="Calibri"/>
              <a:cs typeface="Calibri"/>
              <a:sym typeface="Calibri"/>
            </a:endParaRPr>
          </a:p>
        </p:txBody>
      </p:sp>
      <p:sp>
        <p:nvSpPr>
          <p:cNvPr id="366" name="Google Shape;366;p24"/>
          <p:cNvSpPr txBox="1"/>
          <p:nvPr/>
        </p:nvSpPr>
        <p:spPr>
          <a:xfrm>
            <a:off x="11380175" y="1809025"/>
            <a:ext cx="6719100" cy="8154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Cấu trúc nên dùng:</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Tổng quan:</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Look at the picture, I can see…</a:t>
            </a:r>
            <a:endParaRPr b="1" sz="3000">
              <a:solidFill>
                <a:srgbClr val="018146"/>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Chi tiết:</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The … is about … years old</a:t>
            </a:r>
            <a:r>
              <a:rPr lang="en-US" sz="3000">
                <a:solidFill>
                  <a:srgbClr val="018146"/>
                </a:solidFill>
                <a:latin typeface="Calibri"/>
                <a:ea typeface="Calibri"/>
                <a:cs typeface="Calibri"/>
                <a:sym typeface="Calibri"/>
              </a:rPr>
              <a:t> </a:t>
            </a:r>
            <a:r>
              <a:rPr b="1" lang="en-US" sz="3000">
                <a:solidFill>
                  <a:srgbClr val="018146"/>
                </a:solidFill>
                <a:latin typeface="Calibri"/>
                <a:ea typeface="Calibri"/>
                <a:cs typeface="Calibri"/>
                <a:sym typeface="Calibri"/>
              </a:rPr>
              <a:t>and the … is about… years old</a:t>
            </a:r>
            <a:r>
              <a:rPr b="1" lang="en-US" sz="3000">
                <a:solidFill>
                  <a:schemeClr val="dk1"/>
                </a:solidFill>
                <a:latin typeface="Calibri"/>
                <a:ea typeface="Calibri"/>
                <a:cs typeface="Calibri"/>
                <a:sym typeface="Calibri"/>
              </a:rPr>
              <a:t> </a:t>
            </a:r>
            <a:r>
              <a:rPr lang="en-US" sz="3000">
                <a:solidFill>
                  <a:schemeClr val="dk1"/>
                </a:solidFill>
                <a:latin typeface="Calibri"/>
                <a:ea typeface="Calibri"/>
                <a:cs typeface="Calibri"/>
                <a:sym typeface="Calibri"/>
              </a:rPr>
              <a:t>(tuổi)</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 think they are … </a:t>
            </a:r>
            <a:r>
              <a:rPr lang="en-US" sz="3000">
                <a:solidFill>
                  <a:schemeClr val="dk1"/>
                </a:solidFill>
                <a:latin typeface="Calibri"/>
                <a:ea typeface="Calibri"/>
                <a:cs typeface="Calibri"/>
                <a:sym typeface="Calibri"/>
              </a:rPr>
              <a:t>(mối quan hệ)</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They are + V-ing</a:t>
            </a:r>
            <a:r>
              <a:rPr lang="en-US" sz="3000">
                <a:solidFill>
                  <a:schemeClr val="dk1"/>
                </a:solidFill>
                <a:latin typeface="Calibri"/>
                <a:ea typeface="Calibri"/>
                <a:cs typeface="Calibri"/>
                <a:sym typeface="Calibri"/>
              </a:rPr>
              <a:t> (đang làm gì)</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It seems that they are …</a:t>
            </a:r>
            <a:r>
              <a:rPr lang="en-US" sz="3000">
                <a:solidFill>
                  <a:schemeClr val="dk1"/>
                </a:solidFill>
                <a:latin typeface="Calibri"/>
                <a:ea typeface="Calibri"/>
                <a:cs typeface="Calibri"/>
                <a:sym typeface="Calibri"/>
              </a:rPr>
              <a:t> (cảm xúc)</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They are wearing … </a:t>
            </a:r>
            <a:r>
              <a:rPr lang="en-US" sz="3000">
                <a:solidFill>
                  <a:schemeClr val="dk1"/>
                </a:solidFill>
                <a:latin typeface="Calibri"/>
                <a:ea typeface="Calibri"/>
                <a:cs typeface="Calibri"/>
                <a:sym typeface="Calibri"/>
              </a:rPr>
              <a:t>(mặc gì)</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The weather seems … It is …</a:t>
            </a:r>
            <a:r>
              <a:rPr lang="en-US" sz="3000">
                <a:solidFill>
                  <a:schemeClr val="dk1"/>
                </a:solidFill>
                <a:latin typeface="Calibri"/>
                <a:ea typeface="Calibri"/>
                <a:cs typeface="Calibri"/>
                <a:sym typeface="Calibri"/>
              </a:rPr>
              <a:t>(thời tiết)</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 like this picture. It shows …</a:t>
            </a:r>
            <a:r>
              <a:rPr lang="en-US" sz="3000">
                <a:solidFill>
                  <a:schemeClr val="dk1"/>
                </a:solidFill>
                <a:latin typeface="Calibri"/>
                <a:ea typeface="Calibri"/>
                <a:cs typeface="Calibri"/>
                <a:sym typeface="Calibri"/>
              </a:rPr>
              <a:t> (thể hiện)</a:t>
            </a:r>
            <a:endParaRPr sz="3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cxnSp>
        <p:nvCxnSpPr>
          <p:cNvPr id="372" name="Google Shape;372;p25"/>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73" name="Google Shape;373;p2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74" name="Google Shape;374;p25"/>
          <p:cNvGrpSpPr/>
          <p:nvPr/>
        </p:nvGrpSpPr>
        <p:grpSpPr>
          <a:xfrm rot="10800000">
            <a:off x="15785091" y="-536942"/>
            <a:ext cx="7681766" cy="4260610"/>
            <a:chOff x="0" y="-38100"/>
            <a:chExt cx="406400" cy="225405"/>
          </a:xfrm>
        </p:grpSpPr>
        <p:sp>
          <p:nvSpPr>
            <p:cNvPr id="375" name="Google Shape;375;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6" name="Google Shape;376;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7" name="Google Shape;377;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8" name="Google Shape;378;p25"/>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379" name="Google Shape;379;p25"/>
          <p:cNvGrpSpPr/>
          <p:nvPr/>
        </p:nvGrpSpPr>
        <p:grpSpPr>
          <a:xfrm>
            <a:off x="-2718010" y="9274528"/>
            <a:ext cx="7950400" cy="1707231"/>
            <a:chOff x="0" y="-384762"/>
            <a:chExt cx="10600533" cy="2276307"/>
          </a:xfrm>
        </p:grpSpPr>
        <p:grpSp>
          <p:nvGrpSpPr>
            <p:cNvPr id="380" name="Google Shape;380;p25"/>
            <p:cNvGrpSpPr/>
            <p:nvPr/>
          </p:nvGrpSpPr>
          <p:grpSpPr>
            <a:xfrm>
              <a:off x="0" y="-384762"/>
              <a:ext cx="10600533" cy="2276307"/>
              <a:chOff x="0" y="-38100"/>
              <a:chExt cx="1049690" cy="225405"/>
            </a:xfrm>
          </p:grpSpPr>
          <p:sp>
            <p:nvSpPr>
              <p:cNvPr id="381" name="Google Shape;381;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2" name="Google Shape;382;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3" name="Google Shape;383;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4" name="Google Shape;384;p25"/>
          <p:cNvGrpSpPr/>
          <p:nvPr/>
        </p:nvGrpSpPr>
        <p:grpSpPr>
          <a:xfrm>
            <a:off x="6249668" y="2781296"/>
            <a:ext cx="11243637" cy="6585895"/>
            <a:chOff x="6209270" y="2251250"/>
            <a:chExt cx="11243637" cy="6416499"/>
          </a:xfrm>
        </p:grpSpPr>
        <p:sp>
          <p:nvSpPr>
            <p:cNvPr id="385" name="Google Shape;385;p25"/>
            <p:cNvSpPr/>
            <p:nvPr/>
          </p:nvSpPr>
          <p:spPr>
            <a:xfrm>
              <a:off x="6209270" y="2251250"/>
              <a:ext cx="11243637" cy="6416499"/>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386" name="Google Shape;386;p25"/>
            <p:cNvSpPr txBox="1"/>
            <p:nvPr/>
          </p:nvSpPr>
          <p:spPr>
            <a:xfrm>
              <a:off x="6828641" y="2891669"/>
              <a:ext cx="10005000" cy="56085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3200">
                  <a:solidFill>
                    <a:schemeClr val="dk1"/>
                  </a:solidFill>
                  <a:latin typeface="Calibri"/>
                  <a:ea typeface="Calibri"/>
                  <a:cs typeface="Calibri"/>
                  <a:sym typeface="Calibri"/>
                </a:rPr>
                <a:t>Look at the picture, I can see </a:t>
              </a:r>
              <a:r>
                <a:rPr b="1" lang="en-US" sz="3200">
                  <a:solidFill>
                    <a:schemeClr val="dk1"/>
                  </a:solidFill>
                  <a:latin typeface="Calibri"/>
                  <a:ea typeface="Calibri"/>
                  <a:cs typeface="Calibri"/>
                  <a:sym typeface="Calibri"/>
                </a:rPr>
                <a:t>a woman</a:t>
              </a:r>
              <a:r>
                <a:rPr lang="en-US" sz="3200">
                  <a:solidFill>
                    <a:schemeClr val="dk1"/>
                  </a:solidFill>
                  <a:latin typeface="Calibri"/>
                  <a:ea typeface="Calibri"/>
                  <a:cs typeface="Calibri"/>
                  <a:sym typeface="Calibri"/>
                </a:rPr>
                <a:t> and</a:t>
              </a:r>
              <a:r>
                <a:rPr b="1" lang="en-US" sz="3200">
                  <a:solidFill>
                    <a:schemeClr val="dk1"/>
                  </a:solidFill>
                  <a:latin typeface="Calibri"/>
                  <a:ea typeface="Calibri"/>
                  <a:cs typeface="Calibri"/>
                  <a:sym typeface="Calibri"/>
                </a:rPr>
                <a:t> a girl</a:t>
              </a: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SzPts val="1100"/>
                <a:buNone/>
              </a:pPr>
              <a:r>
                <a:rPr lang="en-US" sz="3200">
                  <a:solidFill>
                    <a:schemeClr val="dk1"/>
                  </a:solidFill>
                  <a:latin typeface="Calibri"/>
                  <a:ea typeface="Calibri"/>
                  <a:cs typeface="Calibri"/>
                  <a:sym typeface="Calibri"/>
                </a:rPr>
                <a:t>The </a:t>
              </a:r>
              <a:r>
                <a:rPr b="1" lang="en-US" sz="3200">
                  <a:solidFill>
                    <a:schemeClr val="dk1"/>
                  </a:solidFill>
                  <a:latin typeface="Calibri"/>
                  <a:ea typeface="Calibri"/>
                  <a:cs typeface="Calibri"/>
                  <a:sym typeface="Calibri"/>
                </a:rPr>
                <a:t>woman</a:t>
              </a:r>
              <a:r>
                <a:rPr lang="en-US" sz="3200">
                  <a:solidFill>
                    <a:schemeClr val="dk1"/>
                  </a:solidFill>
                  <a:latin typeface="Calibri"/>
                  <a:ea typeface="Calibri"/>
                  <a:cs typeface="Calibri"/>
                  <a:sym typeface="Calibri"/>
                </a:rPr>
                <a:t> is about </a:t>
              </a:r>
              <a:r>
                <a:rPr b="1" lang="en-US" sz="3200">
                  <a:solidFill>
                    <a:schemeClr val="dk1"/>
                  </a:solidFill>
                  <a:latin typeface="Calibri"/>
                  <a:ea typeface="Calibri"/>
                  <a:cs typeface="Calibri"/>
                  <a:sym typeface="Calibri"/>
                </a:rPr>
                <a:t>35</a:t>
              </a:r>
              <a:r>
                <a:rPr lang="en-US" sz="3200">
                  <a:solidFill>
                    <a:schemeClr val="dk1"/>
                  </a:solidFill>
                  <a:latin typeface="Calibri"/>
                  <a:ea typeface="Calibri"/>
                  <a:cs typeface="Calibri"/>
                  <a:sym typeface="Calibri"/>
                </a:rPr>
                <a:t> years old and the </a:t>
              </a:r>
              <a:r>
                <a:rPr b="1" lang="en-US" sz="3200">
                  <a:solidFill>
                    <a:schemeClr val="dk1"/>
                  </a:solidFill>
                  <a:latin typeface="Calibri"/>
                  <a:ea typeface="Calibri"/>
                  <a:cs typeface="Calibri"/>
                  <a:sym typeface="Calibri"/>
                </a:rPr>
                <a:t>girl</a:t>
              </a:r>
              <a:r>
                <a:rPr lang="en-US" sz="3200">
                  <a:solidFill>
                    <a:schemeClr val="dk1"/>
                  </a:solidFill>
                  <a:latin typeface="Calibri"/>
                  <a:ea typeface="Calibri"/>
                  <a:cs typeface="Calibri"/>
                  <a:sym typeface="Calibri"/>
                </a:rPr>
                <a:t> is about </a:t>
              </a:r>
              <a:r>
                <a:rPr b="1" lang="en-US" sz="3200">
                  <a:solidFill>
                    <a:schemeClr val="dk1"/>
                  </a:solidFill>
                  <a:latin typeface="Calibri"/>
                  <a:ea typeface="Calibri"/>
                  <a:cs typeface="Calibri"/>
                  <a:sym typeface="Calibri"/>
                </a:rPr>
                <a:t>12</a:t>
              </a:r>
              <a:r>
                <a:rPr lang="en-US" sz="3200">
                  <a:solidFill>
                    <a:schemeClr val="dk1"/>
                  </a:solidFill>
                  <a:latin typeface="Calibri"/>
                  <a:ea typeface="Calibri"/>
                  <a:cs typeface="Calibri"/>
                  <a:sym typeface="Calibri"/>
                </a:rPr>
                <a:t> years old. I think they are </a:t>
              </a:r>
              <a:r>
                <a:rPr b="1" lang="en-US" sz="3200">
                  <a:solidFill>
                    <a:schemeClr val="dk1"/>
                  </a:solidFill>
                  <a:latin typeface="Calibri"/>
                  <a:ea typeface="Calibri"/>
                  <a:cs typeface="Calibri"/>
                  <a:sym typeface="Calibri"/>
                </a:rPr>
                <a:t>mother</a:t>
              </a:r>
              <a:r>
                <a:rPr lang="en-US" sz="3200">
                  <a:solidFill>
                    <a:schemeClr val="dk1"/>
                  </a:solidFill>
                  <a:latin typeface="Calibri"/>
                  <a:ea typeface="Calibri"/>
                  <a:cs typeface="Calibri"/>
                  <a:sym typeface="Calibri"/>
                </a:rPr>
                <a:t> and </a:t>
              </a:r>
              <a:r>
                <a:rPr b="1" lang="en-US" sz="3200">
                  <a:solidFill>
                    <a:schemeClr val="dk1"/>
                  </a:solidFill>
                  <a:latin typeface="Calibri"/>
                  <a:ea typeface="Calibri"/>
                  <a:cs typeface="Calibri"/>
                  <a:sym typeface="Calibri"/>
                </a:rPr>
                <a:t>daughter. </a:t>
              </a:r>
              <a:r>
                <a:rPr lang="en-US" sz="3200">
                  <a:solidFill>
                    <a:schemeClr val="dk1"/>
                  </a:solidFill>
                  <a:latin typeface="Calibri"/>
                  <a:ea typeface="Calibri"/>
                  <a:cs typeface="Calibri"/>
                  <a:sym typeface="Calibri"/>
                </a:rPr>
                <a:t>They are </a:t>
              </a:r>
              <a:r>
                <a:rPr b="1" lang="en-US" sz="3200">
                  <a:solidFill>
                    <a:schemeClr val="dk1"/>
                  </a:solidFill>
                  <a:latin typeface="Calibri"/>
                  <a:ea typeface="Calibri"/>
                  <a:cs typeface="Calibri"/>
                  <a:sym typeface="Calibri"/>
                </a:rPr>
                <a:t>visiting museum</a:t>
              </a:r>
              <a:r>
                <a:rPr lang="en-US" sz="3200">
                  <a:solidFill>
                    <a:schemeClr val="dk1"/>
                  </a:solidFill>
                  <a:latin typeface="Calibri"/>
                  <a:ea typeface="Calibri"/>
                  <a:cs typeface="Calibri"/>
                  <a:sym typeface="Calibri"/>
                </a:rPr>
                <a:t>. It seems that they are </a:t>
              </a:r>
              <a:r>
                <a:rPr b="1" lang="en-US" sz="3200">
                  <a:solidFill>
                    <a:schemeClr val="dk1"/>
                  </a:solidFill>
                  <a:latin typeface="Calibri"/>
                  <a:ea typeface="Calibri"/>
                  <a:cs typeface="Calibri"/>
                  <a:sym typeface="Calibri"/>
                </a:rPr>
                <a:t>so excited about this trip.</a:t>
              </a:r>
              <a:r>
                <a:rPr lang="en-US" sz="3200">
                  <a:solidFill>
                    <a:schemeClr val="dk1"/>
                  </a:solidFill>
                  <a:latin typeface="Calibri"/>
                  <a:ea typeface="Calibri"/>
                  <a:cs typeface="Calibri"/>
                  <a:sym typeface="Calibri"/>
                </a:rPr>
                <a:t> They are wearing </a:t>
              </a:r>
              <a:r>
                <a:rPr b="1" lang="en-US" sz="3200">
                  <a:solidFill>
                    <a:schemeClr val="dk1"/>
                  </a:solidFill>
                  <a:latin typeface="Calibri"/>
                  <a:ea typeface="Calibri"/>
                  <a:cs typeface="Calibri"/>
                  <a:sym typeface="Calibri"/>
                </a:rPr>
                <a:t>dress, which makes them beautiful.</a:t>
              </a:r>
              <a:r>
                <a:rPr lang="en-US" sz="3200">
                  <a:solidFill>
                    <a:schemeClr val="dk1"/>
                  </a:solidFill>
                  <a:latin typeface="Calibri"/>
                  <a:ea typeface="Calibri"/>
                  <a:cs typeface="Calibri"/>
                  <a:sym typeface="Calibri"/>
                </a:rPr>
                <a:t> The weather seems </a:t>
              </a:r>
              <a:r>
                <a:rPr b="1" lang="en-US" sz="3200">
                  <a:solidFill>
                    <a:schemeClr val="dk1"/>
                  </a:solidFill>
                  <a:latin typeface="Calibri"/>
                  <a:ea typeface="Calibri"/>
                  <a:cs typeface="Calibri"/>
                  <a:sym typeface="Calibri"/>
                </a:rPr>
                <a:t>nice.</a:t>
              </a:r>
              <a:r>
                <a:rPr lang="en-US" sz="3200">
                  <a:solidFill>
                    <a:schemeClr val="dk1"/>
                  </a:solidFill>
                  <a:latin typeface="Calibri"/>
                  <a:ea typeface="Calibri"/>
                  <a:cs typeface="Calibri"/>
                  <a:sym typeface="Calibri"/>
                </a:rPr>
                <a:t> It is </a:t>
              </a:r>
              <a:r>
                <a:rPr b="1" lang="en-US" sz="3200">
                  <a:solidFill>
                    <a:schemeClr val="dk1"/>
                  </a:solidFill>
                  <a:latin typeface="Calibri"/>
                  <a:ea typeface="Calibri"/>
                  <a:cs typeface="Calibri"/>
                  <a:sym typeface="Calibri"/>
                </a:rPr>
                <a:t>sunny and warm</a:t>
              </a: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SzPts val="1100"/>
                <a:buNone/>
              </a:pPr>
              <a:r>
                <a:rPr lang="en-US" sz="3200">
                  <a:solidFill>
                    <a:schemeClr val="dk1"/>
                  </a:solidFill>
                  <a:latin typeface="Calibri"/>
                  <a:ea typeface="Calibri"/>
                  <a:cs typeface="Calibri"/>
                  <a:sym typeface="Calibri"/>
                </a:rPr>
                <a:t>I like this picture. It shows </a:t>
              </a:r>
              <a:r>
                <a:rPr b="1" lang="en-US" sz="3200">
                  <a:solidFill>
                    <a:schemeClr val="dk1"/>
                  </a:solidFill>
                  <a:latin typeface="Calibri"/>
                  <a:ea typeface="Calibri"/>
                  <a:cs typeface="Calibri"/>
                  <a:sym typeface="Calibri"/>
                </a:rPr>
                <a:t>love between mother and daughter.</a:t>
              </a:r>
              <a:endParaRPr b="1" sz="32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cxnSp>
        <p:nvCxnSpPr>
          <p:cNvPr id="392" name="Google Shape;392;p26"/>
          <p:cNvCxnSpPr/>
          <p:nvPr/>
        </p:nvCxnSpPr>
        <p:spPr>
          <a:xfrm flipH="1" rot="10800000">
            <a:off x="6209270" y="2305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93" name="Google Shape;393;p2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94" name="Google Shape;394;p26"/>
          <p:cNvGrpSpPr/>
          <p:nvPr/>
        </p:nvGrpSpPr>
        <p:grpSpPr>
          <a:xfrm rot="10800000">
            <a:off x="15785091" y="-536942"/>
            <a:ext cx="7681766" cy="4260610"/>
            <a:chOff x="0" y="-38100"/>
            <a:chExt cx="406400" cy="225405"/>
          </a:xfrm>
        </p:grpSpPr>
        <p:sp>
          <p:nvSpPr>
            <p:cNvPr id="395" name="Google Shape;395;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6" name="Google Shape;396;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7" name="Google Shape;397;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98" name="Google Shape;398;p26"/>
          <p:cNvSpPr txBox="1"/>
          <p:nvPr/>
        </p:nvSpPr>
        <p:spPr>
          <a:xfrm>
            <a:off x="5571910" y="10869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a:t>
            </a:r>
            <a:endParaRPr b="1" sz="6000">
              <a:solidFill>
                <a:srgbClr val="018345"/>
              </a:solidFill>
              <a:latin typeface="Montserrat"/>
              <a:ea typeface="Montserrat"/>
              <a:cs typeface="Montserrat"/>
              <a:sym typeface="Montserrat"/>
            </a:endParaRPr>
          </a:p>
        </p:txBody>
      </p:sp>
      <p:grpSp>
        <p:nvGrpSpPr>
          <p:cNvPr id="399" name="Google Shape;399;p26"/>
          <p:cNvGrpSpPr/>
          <p:nvPr/>
        </p:nvGrpSpPr>
        <p:grpSpPr>
          <a:xfrm>
            <a:off x="-2718010" y="9274528"/>
            <a:ext cx="7950400" cy="1707231"/>
            <a:chOff x="0" y="-384762"/>
            <a:chExt cx="10600533" cy="2276307"/>
          </a:xfrm>
        </p:grpSpPr>
        <p:grpSp>
          <p:nvGrpSpPr>
            <p:cNvPr id="400" name="Google Shape;400;p26"/>
            <p:cNvGrpSpPr/>
            <p:nvPr/>
          </p:nvGrpSpPr>
          <p:grpSpPr>
            <a:xfrm>
              <a:off x="0" y="-384762"/>
              <a:ext cx="10600533" cy="2276307"/>
              <a:chOff x="0" y="-38100"/>
              <a:chExt cx="1049690" cy="225405"/>
            </a:xfrm>
          </p:grpSpPr>
          <p:sp>
            <p:nvSpPr>
              <p:cNvPr id="401" name="Google Shape;401;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2" name="Google Shape;402;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3" name="Google Shape;403;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4" name="Google Shape;404;p26"/>
          <p:cNvSpPr txBox="1"/>
          <p:nvPr/>
        </p:nvSpPr>
        <p:spPr>
          <a:xfrm>
            <a:off x="7227575" y="3031425"/>
            <a:ext cx="10871700" cy="5941500"/>
          </a:xfrm>
          <a:prstGeom prst="rect">
            <a:avLst/>
          </a:prstGeom>
          <a:noFill/>
          <a:ln>
            <a:noFill/>
          </a:ln>
        </p:spPr>
        <p:txBody>
          <a:bodyPr anchorCtr="0" anchor="t" bIns="45700" lIns="91425" spcFirstLastPara="1" rIns="91425" wrap="square" tIns="45700">
            <a:spAutoFit/>
          </a:bodyPr>
          <a:lstStyle/>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Mother</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Mẹ</a:t>
            </a:r>
            <a:endParaRPr sz="3800">
              <a:solidFill>
                <a:schemeClr val="dk1"/>
              </a:solidFill>
              <a:latin typeface="Calibri"/>
              <a:ea typeface="Calibri"/>
              <a:cs typeface="Calibri"/>
              <a:sym typeface="Calibri"/>
            </a:endParaRPr>
          </a:p>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Woman</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Người phụ nữ</a:t>
            </a:r>
            <a:endParaRPr sz="3800">
              <a:solidFill>
                <a:schemeClr val="dk1"/>
              </a:solidFill>
              <a:latin typeface="Calibri"/>
              <a:ea typeface="Calibri"/>
              <a:cs typeface="Calibri"/>
              <a:sym typeface="Calibri"/>
            </a:endParaRPr>
          </a:p>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Daughter: </a:t>
            </a:r>
            <a:r>
              <a:rPr lang="en-US" sz="3800">
                <a:solidFill>
                  <a:schemeClr val="dk1"/>
                </a:solidFill>
                <a:latin typeface="Calibri"/>
                <a:ea typeface="Calibri"/>
                <a:cs typeface="Calibri"/>
                <a:sym typeface="Calibri"/>
              </a:rPr>
              <a:t>Con gái</a:t>
            </a:r>
            <a:endParaRPr sz="3800">
              <a:solidFill>
                <a:schemeClr val="dk1"/>
              </a:solidFill>
              <a:latin typeface="Calibri"/>
              <a:ea typeface="Calibri"/>
              <a:cs typeface="Calibri"/>
              <a:sym typeface="Calibri"/>
            </a:endParaRPr>
          </a:p>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Girl:</a:t>
            </a:r>
            <a:r>
              <a:rPr lang="en-US" sz="3800">
                <a:solidFill>
                  <a:schemeClr val="dk1"/>
                </a:solidFill>
                <a:latin typeface="Calibri"/>
                <a:ea typeface="Calibri"/>
                <a:cs typeface="Calibri"/>
                <a:sym typeface="Calibri"/>
              </a:rPr>
              <a:t> cô gái</a:t>
            </a:r>
            <a:endParaRPr sz="3800">
              <a:solidFill>
                <a:schemeClr val="dk1"/>
              </a:solidFill>
              <a:latin typeface="Calibri"/>
              <a:ea typeface="Calibri"/>
              <a:cs typeface="Calibri"/>
              <a:sym typeface="Calibri"/>
            </a:endParaRPr>
          </a:p>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Museum</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Bảo tàng</a:t>
            </a:r>
            <a:endParaRPr sz="3800">
              <a:solidFill>
                <a:schemeClr val="dk1"/>
              </a:solidFill>
              <a:latin typeface="Calibri"/>
              <a:ea typeface="Calibri"/>
              <a:cs typeface="Calibri"/>
              <a:sym typeface="Calibri"/>
            </a:endParaRPr>
          </a:p>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Make + somebody + adj</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Làm ai đó trở nên thế nào</a:t>
            </a:r>
            <a:endParaRPr sz="3800">
              <a:solidFill>
                <a:schemeClr val="dk1"/>
              </a:solidFill>
              <a:latin typeface="Calibri"/>
              <a:ea typeface="Calibri"/>
              <a:cs typeface="Calibri"/>
              <a:sym typeface="Calibri"/>
            </a:endParaRPr>
          </a:p>
          <a:p>
            <a:pPr indent="-533400" lvl="0" marL="571500" marR="0" rtl="0" algn="l">
              <a:lnSpc>
                <a:spcPct val="150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Excited about</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Hào hứng về…</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cxnSp>
        <p:nvCxnSpPr>
          <p:cNvPr id="410" name="Google Shape;410;p27"/>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11" name="Google Shape;411;p27"/>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12" name="Google Shape;412;p27"/>
          <p:cNvGrpSpPr/>
          <p:nvPr/>
        </p:nvGrpSpPr>
        <p:grpSpPr>
          <a:xfrm rot="10800000">
            <a:off x="15785084" y="-536938"/>
            <a:ext cx="7681773" cy="4260605"/>
            <a:chOff x="0" y="-38100"/>
            <a:chExt cx="406400" cy="225405"/>
          </a:xfrm>
        </p:grpSpPr>
        <p:sp>
          <p:nvSpPr>
            <p:cNvPr id="413" name="Google Shape;413;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4" name="Google Shape;414;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5" name="Google Shape;415;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16" name="Google Shape;416;p27"/>
          <p:cNvSpPr txBox="1"/>
          <p:nvPr/>
        </p:nvSpPr>
        <p:spPr>
          <a:xfrm>
            <a:off x="5571910" y="401132"/>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400">
                <a:solidFill>
                  <a:srgbClr val="018345"/>
                </a:solidFill>
                <a:latin typeface="Montserrat"/>
                <a:ea typeface="Montserrat"/>
                <a:cs typeface="Montserrat"/>
                <a:sym typeface="Montserrat"/>
              </a:rPr>
              <a:t>Phần 2: Trả lời câu hỏi liên quan</a:t>
            </a:r>
            <a:endParaRPr b="1" sz="5400">
              <a:solidFill>
                <a:srgbClr val="018345"/>
              </a:solidFill>
              <a:latin typeface="Montserrat"/>
              <a:ea typeface="Montserrat"/>
              <a:cs typeface="Montserrat"/>
              <a:sym typeface="Montserrat"/>
            </a:endParaRPr>
          </a:p>
        </p:txBody>
      </p:sp>
      <p:grpSp>
        <p:nvGrpSpPr>
          <p:cNvPr id="417" name="Google Shape;417;p27"/>
          <p:cNvGrpSpPr/>
          <p:nvPr/>
        </p:nvGrpSpPr>
        <p:grpSpPr>
          <a:xfrm>
            <a:off x="-2718010" y="9274530"/>
            <a:ext cx="7950378" cy="1707223"/>
            <a:chOff x="0" y="-384760"/>
            <a:chExt cx="10600504" cy="2276297"/>
          </a:xfrm>
        </p:grpSpPr>
        <p:grpSp>
          <p:nvGrpSpPr>
            <p:cNvPr id="418" name="Google Shape;418;p27"/>
            <p:cNvGrpSpPr/>
            <p:nvPr/>
          </p:nvGrpSpPr>
          <p:grpSpPr>
            <a:xfrm>
              <a:off x="0" y="-384760"/>
              <a:ext cx="10600504" cy="2276297"/>
              <a:chOff x="0" y="-38100"/>
              <a:chExt cx="1049690" cy="225405"/>
            </a:xfrm>
          </p:grpSpPr>
          <p:sp>
            <p:nvSpPr>
              <p:cNvPr id="419" name="Google Shape;419;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20" name="Google Shape;420;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1" name="Google Shape;421;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22" name="Google Shape;422;p27"/>
          <p:cNvPicPr preferRelativeResize="0"/>
          <p:nvPr/>
        </p:nvPicPr>
        <p:blipFill>
          <a:blip r:embed="rId4">
            <a:alphaModFix/>
          </a:blip>
          <a:stretch>
            <a:fillRect/>
          </a:stretch>
        </p:blipFill>
        <p:spPr>
          <a:xfrm>
            <a:off x="6118675" y="2677178"/>
            <a:ext cx="4863300" cy="4225490"/>
          </a:xfrm>
          <a:prstGeom prst="rect">
            <a:avLst/>
          </a:prstGeom>
          <a:noFill/>
          <a:ln>
            <a:noFill/>
          </a:ln>
        </p:spPr>
      </p:pic>
      <p:sp>
        <p:nvSpPr>
          <p:cNvPr id="423" name="Google Shape;423;p27"/>
          <p:cNvSpPr txBox="1"/>
          <p:nvPr/>
        </p:nvSpPr>
        <p:spPr>
          <a:xfrm>
            <a:off x="11380175" y="2677175"/>
            <a:ext cx="6719100" cy="4601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Cấu trúc nên dùng:</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 am going to tell you about … </a:t>
            </a:r>
            <a:r>
              <a:rPr lang="en-US" sz="3000">
                <a:solidFill>
                  <a:schemeClr val="dk1"/>
                </a:solidFill>
                <a:latin typeface="Calibri"/>
                <a:ea typeface="Calibri"/>
                <a:cs typeface="Calibri"/>
                <a:sym typeface="Calibri"/>
              </a:rPr>
              <a:t>(đề bài)</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It was … </a:t>
            </a:r>
            <a:r>
              <a:rPr lang="en-US" sz="3000">
                <a:solidFill>
                  <a:schemeClr val="dk1"/>
                </a:solidFill>
                <a:latin typeface="Calibri"/>
                <a:ea typeface="Calibri"/>
                <a:cs typeface="Calibri"/>
                <a:sym typeface="Calibri"/>
              </a:rPr>
              <a:t>(thời gian)</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 (visited a museum) with … </a:t>
            </a:r>
            <a:r>
              <a:rPr lang="en-US" sz="3000">
                <a:solidFill>
                  <a:schemeClr val="dk1"/>
                </a:solidFill>
                <a:latin typeface="Calibri"/>
                <a:ea typeface="Calibri"/>
                <a:cs typeface="Calibri"/>
                <a:sym typeface="Calibri"/>
              </a:rPr>
              <a:t>(với ai)</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It was … </a:t>
            </a:r>
            <a:r>
              <a:rPr lang="en-US" sz="3000">
                <a:solidFill>
                  <a:schemeClr val="dk1"/>
                </a:solidFill>
                <a:latin typeface="Calibri"/>
                <a:ea typeface="Calibri"/>
                <a:cs typeface="Calibri"/>
                <a:sym typeface="Calibri"/>
              </a:rPr>
              <a:t>(cảm nhận)</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 love it.</a:t>
            </a:r>
            <a:endParaRPr sz="3000">
              <a:solidFill>
                <a:schemeClr val="dk1"/>
              </a:solidFill>
              <a:latin typeface="Calibri"/>
              <a:ea typeface="Calibri"/>
              <a:cs typeface="Calibri"/>
              <a:sym typeface="Calibri"/>
            </a:endParaRPr>
          </a:p>
        </p:txBody>
      </p:sp>
      <p:sp>
        <p:nvSpPr>
          <p:cNvPr id="424" name="Google Shape;424;p27"/>
          <p:cNvSpPr txBox="1"/>
          <p:nvPr/>
        </p:nvSpPr>
        <p:spPr>
          <a:xfrm>
            <a:off x="6028075" y="7527450"/>
            <a:ext cx="5044500" cy="13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Tell me about a time you visited a museum.</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cxnSp>
        <p:nvCxnSpPr>
          <p:cNvPr id="430" name="Google Shape;430;p28"/>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31" name="Google Shape;431;p28"/>
          <p:cNvGrpSpPr/>
          <p:nvPr/>
        </p:nvGrpSpPr>
        <p:grpSpPr>
          <a:xfrm rot="10800000">
            <a:off x="15785084" y="-536938"/>
            <a:ext cx="7681773" cy="4260605"/>
            <a:chOff x="0" y="-38100"/>
            <a:chExt cx="406400" cy="225405"/>
          </a:xfrm>
        </p:grpSpPr>
        <p:sp>
          <p:nvSpPr>
            <p:cNvPr id="432" name="Google Shape;432;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3" name="Google Shape;433;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5" name="Google Shape;435;p28"/>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 Cách 1</a:t>
            </a:r>
            <a:endParaRPr b="1" sz="6000">
              <a:solidFill>
                <a:srgbClr val="018345"/>
              </a:solidFill>
              <a:latin typeface="Montserrat"/>
              <a:ea typeface="Montserrat"/>
              <a:cs typeface="Montserrat"/>
              <a:sym typeface="Montserrat"/>
            </a:endParaRPr>
          </a:p>
        </p:txBody>
      </p:sp>
      <p:grpSp>
        <p:nvGrpSpPr>
          <p:cNvPr id="436" name="Google Shape;436;p28"/>
          <p:cNvGrpSpPr/>
          <p:nvPr/>
        </p:nvGrpSpPr>
        <p:grpSpPr>
          <a:xfrm>
            <a:off x="-2718010" y="9274530"/>
            <a:ext cx="7950378" cy="1707223"/>
            <a:chOff x="0" y="-384760"/>
            <a:chExt cx="10600504" cy="2276297"/>
          </a:xfrm>
        </p:grpSpPr>
        <p:grpSp>
          <p:nvGrpSpPr>
            <p:cNvPr id="437" name="Google Shape;437;p28"/>
            <p:cNvGrpSpPr/>
            <p:nvPr/>
          </p:nvGrpSpPr>
          <p:grpSpPr>
            <a:xfrm>
              <a:off x="0" y="-384760"/>
              <a:ext cx="10600504" cy="2276297"/>
              <a:chOff x="0" y="-38100"/>
              <a:chExt cx="1049690" cy="225405"/>
            </a:xfrm>
          </p:grpSpPr>
          <p:sp>
            <p:nvSpPr>
              <p:cNvPr id="438" name="Google Shape;438;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9" name="Google Shape;439;p2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0" name="Google Shape;440;p2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1" name="Google Shape;441;p28"/>
          <p:cNvGrpSpPr/>
          <p:nvPr/>
        </p:nvGrpSpPr>
        <p:grpSpPr>
          <a:xfrm>
            <a:off x="6209275" y="3145670"/>
            <a:ext cx="11243700" cy="2991967"/>
            <a:chOff x="6209270" y="1710342"/>
            <a:chExt cx="11243700" cy="6416400"/>
          </a:xfrm>
        </p:grpSpPr>
        <p:sp>
          <p:nvSpPr>
            <p:cNvPr id="442" name="Google Shape;442;p28"/>
            <p:cNvSpPr/>
            <p:nvPr/>
          </p:nvSpPr>
          <p:spPr>
            <a:xfrm>
              <a:off x="6209270" y="1710342"/>
              <a:ext cx="11243700" cy="64164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443" name="Google Shape;443;p28"/>
            <p:cNvSpPr txBox="1"/>
            <p:nvPr/>
          </p:nvSpPr>
          <p:spPr>
            <a:xfrm>
              <a:off x="6828616" y="2242133"/>
              <a:ext cx="10005000" cy="4291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3100">
                  <a:solidFill>
                    <a:schemeClr val="dk1"/>
                  </a:solidFill>
                  <a:latin typeface="Calibri"/>
                  <a:ea typeface="Calibri"/>
                  <a:cs typeface="Calibri"/>
                  <a:sym typeface="Calibri"/>
                </a:rPr>
                <a:t>I am going to tell you about </a:t>
              </a:r>
              <a:r>
                <a:rPr b="1" lang="en-US" sz="3100">
                  <a:solidFill>
                    <a:schemeClr val="dk1"/>
                  </a:solidFill>
                  <a:latin typeface="Calibri"/>
                  <a:ea typeface="Calibri"/>
                  <a:cs typeface="Calibri"/>
                  <a:sym typeface="Calibri"/>
                </a:rPr>
                <a:t>a time I visited a museum</a:t>
              </a:r>
              <a:r>
                <a:rPr lang="en-US" sz="3100">
                  <a:solidFill>
                    <a:schemeClr val="dk1"/>
                  </a:solidFill>
                  <a:latin typeface="Calibri"/>
                  <a:ea typeface="Calibri"/>
                  <a:cs typeface="Calibri"/>
                  <a:sym typeface="Calibri"/>
                </a:rPr>
                <a:t>. It was </a:t>
              </a:r>
              <a:r>
                <a:rPr b="1" lang="en-US" sz="3100">
                  <a:solidFill>
                    <a:schemeClr val="dk1"/>
                  </a:solidFill>
                  <a:latin typeface="Calibri"/>
                  <a:ea typeface="Calibri"/>
                  <a:cs typeface="Calibri"/>
                  <a:sym typeface="Calibri"/>
                </a:rPr>
                <a:t>last month</a:t>
              </a:r>
              <a:r>
                <a:rPr lang="en-US" sz="3100">
                  <a:solidFill>
                    <a:schemeClr val="dk1"/>
                  </a:solidFill>
                  <a:latin typeface="Calibri"/>
                  <a:ea typeface="Calibri"/>
                  <a:cs typeface="Calibri"/>
                  <a:sym typeface="Calibri"/>
                </a:rPr>
                <a:t>. I visited a museum with </a:t>
              </a:r>
              <a:r>
                <a:rPr b="1" lang="en-US" sz="3100">
                  <a:solidFill>
                    <a:schemeClr val="dk1"/>
                  </a:solidFill>
                  <a:latin typeface="Calibri"/>
                  <a:ea typeface="Calibri"/>
                  <a:cs typeface="Calibri"/>
                  <a:sym typeface="Calibri"/>
                </a:rPr>
                <a:t>my family: my parents, my husband, and my son</a:t>
              </a:r>
              <a:r>
                <a:rPr lang="en-US" sz="3100">
                  <a:solidFill>
                    <a:schemeClr val="dk1"/>
                  </a:solidFill>
                  <a:latin typeface="Calibri"/>
                  <a:ea typeface="Calibri"/>
                  <a:cs typeface="Calibri"/>
                  <a:sym typeface="Calibri"/>
                </a:rPr>
                <a:t>. It was </a:t>
              </a:r>
              <a:r>
                <a:rPr b="1" lang="en-US" sz="3100">
                  <a:solidFill>
                    <a:schemeClr val="dk1"/>
                  </a:solidFill>
                  <a:latin typeface="Calibri"/>
                  <a:ea typeface="Calibri"/>
                  <a:cs typeface="Calibri"/>
                  <a:sym typeface="Calibri"/>
                </a:rPr>
                <a:t>really interesting</a:t>
              </a:r>
              <a:r>
                <a:rPr lang="en-US" sz="3100">
                  <a:solidFill>
                    <a:schemeClr val="dk1"/>
                  </a:solidFill>
                  <a:latin typeface="Calibri"/>
                  <a:ea typeface="Calibri"/>
                  <a:cs typeface="Calibri"/>
                  <a:sym typeface="Calibri"/>
                </a:rPr>
                <a:t>. I love it.</a:t>
              </a:r>
              <a:endParaRPr sz="3100">
                <a:solidFill>
                  <a:schemeClr val="dk1"/>
                </a:solidFill>
                <a:latin typeface="Calibri"/>
                <a:ea typeface="Calibri"/>
                <a:cs typeface="Calibri"/>
                <a:sym typeface="Calibri"/>
              </a:endParaRPr>
            </a:p>
          </p:txBody>
        </p:sp>
      </p:grpSp>
      <p:sp>
        <p:nvSpPr>
          <p:cNvPr id="444" name="Google Shape;444;p28"/>
          <p:cNvSpPr txBox="1"/>
          <p:nvPr/>
        </p:nvSpPr>
        <p:spPr>
          <a:xfrm>
            <a:off x="6209275" y="2022825"/>
            <a:ext cx="95355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700">
                <a:solidFill>
                  <a:schemeClr val="dk1"/>
                </a:solidFill>
                <a:latin typeface="Calibri"/>
                <a:ea typeface="Calibri"/>
                <a:cs typeface="Calibri"/>
                <a:sym typeface="Calibri"/>
              </a:rPr>
              <a:t>T</a:t>
            </a:r>
            <a:r>
              <a:rPr lang="en-US" sz="3700">
                <a:solidFill>
                  <a:schemeClr val="dk1"/>
                </a:solidFill>
                <a:latin typeface="Calibri"/>
                <a:ea typeface="Calibri"/>
                <a:cs typeface="Calibri"/>
                <a:sym typeface="Calibri"/>
              </a:rPr>
              <a:t>ell me about a time you visited a museum.</a:t>
            </a:r>
            <a:endParaRPr sz="37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cxnSp>
        <p:nvCxnSpPr>
          <p:cNvPr id="450" name="Google Shape;450;p29"/>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51" name="Google Shape;451;p29"/>
          <p:cNvGrpSpPr/>
          <p:nvPr/>
        </p:nvGrpSpPr>
        <p:grpSpPr>
          <a:xfrm rot="10800000">
            <a:off x="15785084" y="-536938"/>
            <a:ext cx="7681773" cy="4260605"/>
            <a:chOff x="0" y="-38100"/>
            <a:chExt cx="406400" cy="225405"/>
          </a:xfrm>
        </p:grpSpPr>
        <p:sp>
          <p:nvSpPr>
            <p:cNvPr id="452" name="Google Shape;452;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3" name="Google Shape;453;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4" name="Google Shape;454;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5" name="Google Shape;455;p29"/>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 Cách 2</a:t>
            </a:r>
            <a:endParaRPr b="1" sz="6000">
              <a:solidFill>
                <a:srgbClr val="018345"/>
              </a:solidFill>
              <a:latin typeface="Montserrat"/>
              <a:ea typeface="Montserrat"/>
              <a:cs typeface="Montserrat"/>
              <a:sym typeface="Montserrat"/>
            </a:endParaRPr>
          </a:p>
        </p:txBody>
      </p:sp>
      <p:grpSp>
        <p:nvGrpSpPr>
          <p:cNvPr id="456" name="Google Shape;456;p29"/>
          <p:cNvGrpSpPr/>
          <p:nvPr/>
        </p:nvGrpSpPr>
        <p:grpSpPr>
          <a:xfrm>
            <a:off x="-2718010" y="9274530"/>
            <a:ext cx="7950378" cy="1707223"/>
            <a:chOff x="0" y="-384760"/>
            <a:chExt cx="10600504" cy="2276297"/>
          </a:xfrm>
        </p:grpSpPr>
        <p:grpSp>
          <p:nvGrpSpPr>
            <p:cNvPr id="457" name="Google Shape;457;p29"/>
            <p:cNvGrpSpPr/>
            <p:nvPr/>
          </p:nvGrpSpPr>
          <p:grpSpPr>
            <a:xfrm>
              <a:off x="0" y="-384760"/>
              <a:ext cx="10600504" cy="2276297"/>
              <a:chOff x="0" y="-38100"/>
              <a:chExt cx="1049690" cy="225405"/>
            </a:xfrm>
          </p:grpSpPr>
          <p:sp>
            <p:nvSpPr>
              <p:cNvPr id="458" name="Google Shape;458;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9" name="Google Shape;459;p2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0" name="Google Shape;460;p2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1" name="Google Shape;461;p29"/>
          <p:cNvGrpSpPr/>
          <p:nvPr/>
        </p:nvGrpSpPr>
        <p:grpSpPr>
          <a:xfrm>
            <a:off x="6209275" y="3145675"/>
            <a:ext cx="11243700" cy="5923782"/>
            <a:chOff x="6209270" y="1710353"/>
            <a:chExt cx="11243700" cy="12703800"/>
          </a:xfrm>
        </p:grpSpPr>
        <p:sp>
          <p:nvSpPr>
            <p:cNvPr id="462" name="Google Shape;462;p29"/>
            <p:cNvSpPr/>
            <p:nvPr/>
          </p:nvSpPr>
          <p:spPr>
            <a:xfrm>
              <a:off x="6209270" y="1710353"/>
              <a:ext cx="11243700" cy="127038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463" name="Google Shape;463;p29"/>
            <p:cNvSpPr txBox="1"/>
            <p:nvPr/>
          </p:nvSpPr>
          <p:spPr>
            <a:xfrm>
              <a:off x="6828616" y="2242133"/>
              <a:ext cx="10005000" cy="119658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3100">
                  <a:solidFill>
                    <a:schemeClr val="dk1"/>
                  </a:solidFill>
                  <a:latin typeface="Calibri"/>
                  <a:ea typeface="Calibri"/>
                  <a:cs typeface="Calibri"/>
                  <a:sym typeface="Calibri"/>
                </a:rPr>
                <a:t>The closest time that I could remember was in 2018. It was a trip to Saigon on Tet holiday that I had with my friend and we decided to go to Vietnam Arts museum during the weekend in HCM City. It was a museum that shows all of the works of art of Vietnamese artists throughout history, and I had a really fun time there looking at different paintings and sculptures. Really fond memories have been made in that place.</a:t>
              </a:r>
              <a:endParaRPr sz="3100">
                <a:solidFill>
                  <a:schemeClr val="dk1"/>
                </a:solidFill>
                <a:latin typeface="Calibri"/>
                <a:ea typeface="Calibri"/>
                <a:cs typeface="Calibri"/>
                <a:sym typeface="Calibri"/>
              </a:endParaRPr>
            </a:p>
          </p:txBody>
        </p:sp>
      </p:grpSp>
      <p:sp>
        <p:nvSpPr>
          <p:cNvPr id="464" name="Google Shape;464;p29"/>
          <p:cNvSpPr txBox="1"/>
          <p:nvPr/>
        </p:nvSpPr>
        <p:spPr>
          <a:xfrm>
            <a:off x="6209275" y="2044975"/>
            <a:ext cx="95355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700">
                <a:solidFill>
                  <a:schemeClr val="dk1"/>
                </a:solidFill>
                <a:latin typeface="Calibri"/>
                <a:ea typeface="Calibri"/>
                <a:cs typeface="Calibri"/>
                <a:sym typeface="Calibri"/>
              </a:rPr>
              <a:t>Tell me about a time you visited a museum.</a:t>
            </a:r>
            <a:endParaRPr sz="37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cxnSp>
        <p:nvCxnSpPr>
          <p:cNvPr id="470" name="Google Shape;470;p30"/>
          <p:cNvCxnSpPr/>
          <p:nvPr/>
        </p:nvCxnSpPr>
        <p:spPr>
          <a:xfrm flipH="1" rot="10800000">
            <a:off x="6209270" y="23052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71" name="Google Shape;471;p30"/>
          <p:cNvGrpSpPr/>
          <p:nvPr/>
        </p:nvGrpSpPr>
        <p:grpSpPr>
          <a:xfrm rot="10800000">
            <a:off x="15785084" y="-536938"/>
            <a:ext cx="7681773" cy="4260605"/>
            <a:chOff x="0" y="-38100"/>
            <a:chExt cx="406400" cy="225405"/>
          </a:xfrm>
        </p:grpSpPr>
        <p:sp>
          <p:nvSpPr>
            <p:cNvPr id="472" name="Google Shape;472;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3" name="Google Shape;473;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4" name="Google Shape;474;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5" name="Google Shape;475;p30"/>
          <p:cNvSpPr txBox="1"/>
          <p:nvPr/>
        </p:nvSpPr>
        <p:spPr>
          <a:xfrm>
            <a:off x="5571910" y="10869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a:t>
            </a:r>
            <a:endParaRPr b="1" sz="6000">
              <a:solidFill>
                <a:srgbClr val="018345"/>
              </a:solidFill>
              <a:latin typeface="Montserrat"/>
              <a:ea typeface="Montserrat"/>
              <a:cs typeface="Montserrat"/>
              <a:sym typeface="Montserrat"/>
            </a:endParaRPr>
          </a:p>
        </p:txBody>
      </p:sp>
      <p:grpSp>
        <p:nvGrpSpPr>
          <p:cNvPr id="476" name="Google Shape;476;p30"/>
          <p:cNvGrpSpPr/>
          <p:nvPr/>
        </p:nvGrpSpPr>
        <p:grpSpPr>
          <a:xfrm>
            <a:off x="-2718010" y="9274530"/>
            <a:ext cx="7950378" cy="1707223"/>
            <a:chOff x="0" y="-384760"/>
            <a:chExt cx="10600504" cy="2276297"/>
          </a:xfrm>
        </p:grpSpPr>
        <p:grpSp>
          <p:nvGrpSpPr>
            <p:cNvPr id="477" name="Google Shape;477;p30"/>
            <p:cNvGrpSpPr/>
            <p:nvPr/>
          </p:nvGrpSpPr>
          <p:grpSpPr>
            <a:xfrm>
              <a:off x="0" y="-384760"/>
              <a:ext cx="10600504" cy="2276297"/>
              <a:chOff x="0" y="-38100"/>
              <a:chExt cx="1049690" cy="225405"/>
            </a:xfrm>
          </p:grpSpPr>
          <p:sp>
            <p:nvSpPr>
              <p:cNvPr id="478" name="Google Shape;478;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9" name="Google Shape;479;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0" name="Google Shape;480;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1" name="Google Shape;481;p30"/>
          <p:cNvSpPr txBox="1"/>
          <p:nvPr/>
        </p:nvSpPr>
        <p:spPr>
          <a:xfrm>
            <a:off x="7227575" y="3031425"/>
            <a:ext cx="10871700" cy="6731100"/>
          </a:xfrm>
          <a:prstGeom prst="rect">
            <a:avLst/>
          </a:prstGeom>
          <a:noFill/>
          <a:ln>
            <a:noFill/>
          </a:ln>
        </p:spPr>
        <p:txBody>
          <a:bodyPr anchorCtr="0" anchor="t" bIns="45700" lIns="91425" spcFirstLastPara="1" rIns="91425" wrap="square" tIns="45700">
            <a:spAutoFit/>
          </a:bodyPr>
          <a:lstStyle/>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Visit a museum</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Thăm bảo tàng</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Last month</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Tháng trước</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Parents</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Bố mẹ</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Husband</a:t>
            </a:r>
            <a:r>
              <a:rPr lang="en-US" sz="3800">
                <a:solidFill>
                  <a:srgbClr val="018345"/>
                </a:solidFill>
                <a:latin typeface="Calibri"/>
                <a:ea typeface="Calibri"/>
                <a:cs typeface="Calibri"/>
                <a:sym typeface="Calibri"/>
              </a:rPr>
              <a:t>:</a:t>
            </a:r>
            <a:r>
              <a:rPr lang="en-US" sz="3800">
                <a:solidFill>
                  <a:schemeClr val="dk1"/>
                </a:solidFill>
                <a:latin typeface="Calibri"/>
                <a:ea typeface="Calibri"/>
                <a:cs typeface="Calibri"/>
                <a:sym typeface="Calibri"/>
              </a:rPr>
              <a:t> Chồng</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Closest time</a:t>
            </a:r>
            <a:r>
              <a:rPr lang="en-US" sz="3800">
                <a:solidFill>
                  <a:srgbClr val="018345"/>
                </a:solidFill>
                <a:latin typeface="Calibri"/>
                <a:ea typeface="Calibri"/>
                <a:cs typeface="Calibri"/>
                <a:sym typeface="Calibri"/>
              </a:rPr>
              <a:t>: </a:t>
            </a:r>
            <a:r>
              <a:rPr lang="en-US" sz="3800">
                <a:solidFill>
                  <a:schemeClr val="dk1"/>
                </a:solidFill>
                <a:latin typeface="Calibri"/>
                <a:ea typeface="Calibri"/>
                <a:cs typeface="Calibri"/>
                <a:sym typeface="Calibri"/>
              </a:rPr>
              <a:t>Lần gần nhất</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Vietnam Arts museum: </a:t>
            </a:r>
            <a:r>
              <a:rPr lang="en-US" sz="3800">
                <a:solidFill>
                  <a:schemeClr val="dk1"/>
                </a:solidFill>
                <a:latin typeface="Calibri"/>
                <a:ea typeface="Calibri"/>
                <a:cs typeface="Calibri"/>
                <a:sym typeface="Calibri"/>
              </a:rPr>
              <a:t>Bảo tàng nghệ thuật VN</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Works of art: </a:t>
            </a:r>
            <a:r>
              <a:rPr lang="en-US" sz="3800">
                <a:solidFill>
                  <a:schemeClr val="dk1"/>
                </a:solidFill>
                <a:latin typeface="Calibri"/>
                <a:ea typeface="Calibri"/>
                <a:cs typeface="Calibri"/>
                <a:sym typeface="Calibri"/>
              </a:rPr>
              <a:t>Tác phẩm nghệ thuật</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Vietnamese artists: </a:t>
            </a:r>
            <a:r>
              <a:rPr lang="en-US" sz="3800">
                <a:solidFill>
                  <a:schemeClr val="dk1"/>
                </a:solidFill>
                <a:latin typeface="Calibri"/>
                <a:ea typeface="Calibri"/>
                <a:cs typeface="Calibri"/>
                <a:sym typeface="Calibri"/>
              </a:rPr>
              <a:t>Những nghệ sĩ VN</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History: </a:t>
            </a:r>
            <a:r>
              <a:rPr lang="en-US" sz="3800">
                <a:solidFill>
                  <a:schemeClr val="dk1"/>
                </a:solidFill>
                <a:latin typeface="Calibri"/>
                <a:ea typeface="Calibri"/>
                <a:cs typeface="Calibri"/>
                <a:sym typeface="Calibri"/>
              </a:rPr>
              <a:t>Lịch sử</a:t>
            </a:r>
            <a:endParaRPr sz="3800">
              <a:solidFill>
                <a:schemeClr val="dk1"/>
              </a:solidFill>
              <a:latin typeface="Calibri"/>
              <a:ea typeface="Calibri"/>
              <a:cs typeface="Calibri"/>
              <a:sym typeface="Calibri"/>
            </a:endParaRPr>
          </a:p>
          <a:p>
            <a:pPr indent="-533400" lvl="0" marL="571500" marR="0" rtl="0" algn="l">
              <a:lnSpc>
                <a:spcPct val="115000"/>
              </a:lnSpc>
              <a:spcBef>
                <a:spcPts val="0"/>
              </a:spcBef>
              <a:spcAft>
                <a:spcPts val="0"/>
              </a:spcAft>
              <a:buClr>
                <a:srgbClr val="018345"/>
              </a:buClr>
              <a:buSzPts val="3800"/>
              <a:buFont typeface="Arial"/>
              <a:buChar char="•"/>
            </a:pPr>
            <a:r>
              <a:rPr lang="en-US" sz="3800">
                <a:solidFill>
                  <a:srgbClr val="018345"/>
                </a:solidFill>
                <a:latin typeface="Calibri"/>
                <a:ea typeface="Calibri"/>
                <a:cs typeface="Calibri"/>
                <a:sym typeface="Calibri"/>
              </a:rPr>
              <a:t>Paintings and sculptures: </a:t>
            </a:r>
            <a:r>
              <a:rPr lang="en-US" sz="3800">
                <a:solidFill>
                  <a:schemeClr val="dk1"/>
                </a:solidFill>
                <a:latin typeface="Calibri"/>
                <a:ea typeface="Calibri"/>
                <a:cs typeface="Calibri"/>
                <a:sym typeface="Calibri"/>
              </a:rPr>
              <a:t>Tranh và tượng điêu khắc</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cxnSp>
        <p:nvCxnSpPr>
          <p:cNvPr id="487" name="Google Shape;487;p31"/>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88" name="Google Shape;488;p31"/>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89" name="Google Shape;489;p31"/>
          <p:cNvGrpSpPr/>
          <p:nvPr/>
        </p:nvGrpSpPr>
        <p:grpSpPr>
          <a:xfrm rot="10800000">
            <a:off x="15785084" y="-536938"/>
            <a:ext cx="7681773" cy="4260605"/>
            <a:chOff x="0" y="-38100"/>
            <a:chExt cx="406400" cy="225405"/>
          </a:xfrm>
        </p:grpSpPr>
        <p:sp>
          <p:nvSpPr>
            <p:cNvPr id="490" name="Google Shape;490;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1" name="Google Shape;491;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2" name="Google Shape;492;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93" name="Google Shape;493;p31"/>
          <p:cNvSpPr txBox="1"/>
          <p:nvPr/>
        </p:nvSpPr>
        <p:spPr>
          <a:xfrm>
            <a:off x="5571910" y="401132"/>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400">
                <a:solidFill>
                  <a:srgbClr val="018345"/>
                </a:solidFill>
                <a:latin typeface="Montserrat"/>
                <a:ea typeface="Montserrat"/>
                <a:cs typeface="Montserrat"/>
                <a:sym typeface="Montserrat"/>
              </a:rPr>
              <a:t>Phần 2: Trả lời câu hỏi liên quan</a:t>
            </a:r>
            <a:endParaRPr b="1" sz="5400">
              <a:solidFill>
                <a:srgbClr val="018345"/>
              </a:solidFill>
              <a:latin typeface="Montserrat"/>
              <a:ea typeface="Montserrat"/>
              <a:cs typeface="Montserrat"/>
              <a:sym typeface="Montserrat"/>
            </a:endParaRPr>
          </a:p>
        </p:txBody>
      </p:sp>
      <p:grpSp>
        <p:nvGrpSpPr>
          <p:cNvPr id="494" name="Google Shape;494;p31"/>
          <p:cNvGrpSpPr/>
          <p:nvPr/>
        </p:nvGrpSpPr>
        <p:grpSpPr>
          <a:xfrm>
            <a:off x="-2718010" y="9274530"/>
            <a:ext cx="7950378" cy="1707223"/>
            <a:chOff x="0" y="-384760"/>
            <a:chExt cx="10600504" cy="2276297"/>
          </a:xfrm>
        </p:grpSpPr>
        <p:grpSp>
          <p:nvGrpSpPr>
            <p:cNvPr id="495" name="Google Shape;495;p31"/>
            <p:cNvGrpSpPr/>
            <p:nvPr/>
          </p:nvGrpSpPr>
          <p:grpSpPr>
            <a:xfrm>
              <a:off x="0" y="-384760"/>
              <a:ext cx="10600504" cy="2276297"/>
              <a:chOff x="0" y="-38100"/>
              <a:chExt cx="1049690" cy="225405"/>
            </a:xfrm>
          </p:grpSpPr>
          <p:sp>
            <p:nvSpPr>
              <p:cNvPr id="496" name="Google Shape;496;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97" name="Google Shape;497;p3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8" name="Google Shape;498;p3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99" name="Google Shape;499;p31"/>
          <p:cNvPicPr preferRelativeResize="0"/>
          <p:nvPr/>
        </p:nvPicPr>
        <p:blipFill>
          <a:blip r:embed="rId4">
            <a:alphaModFix/>
          </a:blip>
          <a:stretch>
            <a:fillRect/>
          </a:stretch>
        </p:blipFill>
        <p:spPr>
          <a:xfrm>
            <a:off x="6118675" y="2677178"/>
            <a:ext cx="4863300" cy="4225490"/>
          </a:xfrm>
          <a:prstGeom prst="rect">
            <a:avLst/>
          </a:prstGeom>
          <a:noFill/>
          <a:ln>
            <a:noFill/>
          </a:ln>
        </p:spPr>
      </p:pic>
      <p:sp>
        <p:nvSpPr>
          <p:cNvPr id="500" name="Google Shape;500;p31"/>
          <p:cNvSpPr txBox="1"/>
          <p:nvPr/>
        </p:nvSpPr>
        <p:spPr>
          <a:xfrm>
            <a:off x="11380175" y="2677175"/>
            <a:ext cx="6316200" cy="6070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000">
                <a:solidFill>
                  <a:schemeClr val="dk1"/>
                </a:solidFill>
                <a:latin typeface="Calibri"/>
                <a:ea typeface="Calibri"/>
                <a:cs typeface="Calibri"/>
                <a:sym typeface="Calibri"/>
              </a:rPr>
              <a:t>Cấu trúc nên dùng:</a:t>
            </a:r>
            <a:endParaRPr b="1" sz="30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b="1" lang="en-US" sz="3000">
                <a:solidFill>
                  <a:srgbClr val="018146"/>
                </a:solidFill>
                <a:latin typeface="Calibri"/>
                <a:ea typeface="Calibri"/>
                <a:cs typeface="Calibri"/>
                <a:sym typeface="Calibri"/>
              </a:rPr>
              <a:t>I think it’s (not) a good idea for people to …</a:t>
            </a:r>
            <a:r>
              <a:rPr lang="en-US" sz="3000">
                <a:solidFill>
                  <a:schemeClr val="dk1"/>
                </a:solidFill>
                <a:latin typeface="Calibri"/>
                <a:ea typeface="Calibri"/>
                <a:cs typeface="Calibri"/>
                <a:sym typeface="Calibri"/>
              </a:rPr>
              <a:t> (Nêu quan điểm)</a:t>
            </a:r>
            <a:endParaRPr sz="30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b="1" lang="en-US" sz="3000">
                <a:solidFill>
                  <a:srgbClr val="018146"/>
                </a:solidFill>
                <a:latin typeface="Calibri"/>
                <a:ea typeface="Calibri"/>
                <a:cs typeface="Calibri"/>
                <a:sym typeface="Calibri"/>
              </a:rPr>
              <a:t>S + V + O because S + V + O</a:t>
            </a:r>
            <a:r>
              <a:rPr lang="en-US" sz="3000">
                <a:solidFill>
                  <a:schemeClr val="dk1"/>
                </a:solidFill>
                <a:latin typeface="Calibri"/>
                <a:ea typeface="Calibri"/>
                <a:cs typeface="Calibri"/>
                <a:sym typeface="Calibri"/>
              </a:rPr>
              <a:t> (nêu lý do)</a:t>
            </a:r>
            <a:endParaRPr sz="30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000">
                <a:solidFill>
                  <a:schemeClr val="dk1"/>
                </a:solidFill>
                <a:latin typeface="Calibri"/>
                <a:ea typeface="Calibri"/>
                <a:cs typeface="Calibri"/>
                <a:sym typeface="Calibri"/>
              </a:rPr>
              <a:t>Eg. I think it’s (not) a good idea for people to have to pay all the time </a:t>
            </a:r>
            <a:r>
              <a:rPr b="1" lang="en-US" sz="3000">
                <a:solidFill>
                  <a:schemeClr val="dk1"/>
                </a:solidFill>
                <a:latin typeface="Calibri"/>
                <a:ea typeface="Calibri"/>
                <a:cs typeface="Calibri"/>
                <a:sym typeface="Calibri"/>
              </a:rPr>
              <a:t>because </a:t>
            </a:r>
            <a:r>
              <a:rPr lang="en-US" sz="3000">
                <a:solidFill>
                  <a:schemeClr val="dk1"/>
                </a:solidFill>
                <a:latin typeface="Calibri"/>
                <a:ea typeface="Calibri"/>
                <a:cs typeface="Calibri"/>
                <a:sym typeface="Calibri"/>
              </a:rPr>
              <a:t>museums have a valuable role in preserving and transmitting a nation’s history and heritage to new generations</a:t>
            </a:r>
            <a:endParaRPr sz="3000">
              <a:solidFill>
                <a:schemeClr val="dk1"/>
              </a:solidFill>
              <a:latin typeface="Calibri"/>
              <a:ea typeface="Calibri"/>
              <a:cs typeface="Calibri"/>
              <a:sym typeface="Calibri"/>
            </a:endParaRPr>
          </a:p>
        </p:txBody>
      </p:sp>
      <p:sp>
        <p:nvSpPr>
          <p:cNvPr id="501" name="Google Shape;501;p31"/>
          <p:cNvSpPr txBox="1"/>
          <p:nvPr/>
        </p:nvSpPr>
        <p:spPr>
          <a:xfrm>
            <a:off x="6028075" y="7527450"/>
            <a:ext cx="5044500" cy="19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Do you think people should pay to visit museums, or should they be free?</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32"/>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08" name="Google Shape;508;p32"/>
          <p:cNvGrpSpPr/>
          <p:nvPr/>
        </p:nvGrpSpPr>
        <p:grpSpPr>
          <a:xfrm rot="10800000">
            <a:off x="15785084" y="-536938"/>
            <a:ext cx="7681773" cy="4260605"/>
            <a:chOff x="0" y="-38100"/>
            <a:chExt cx="406400" cy="225405"/>
          </a:xfrm>
        </p:grpSpPr>
        <p:sp>
          <p:nvSpPr>
            <p:cNvPr id="509" name="Google Shape;509;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0" name="Google Shape;510;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1" name="Google Shape;511;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12" name="Google Shape;512;p32"/>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513" name="Google Shape;513;p32"/>
          <p:cNvGrpSpPr/>
          <p:nvPr/>
        </p:nvGrpSpPr>
        <p:grpSpPr>
          <a:xfrm>
            <a:off x="-2718010" y="9274530"/>
            <a:ext cx="7950378" cy="1707223"/>
            <a:chOff x="0" y="-384760"/>
            <a:chExt cx="10600504" cy="2276297"/>
          </a:xfrm>
        </p:grpSpPr>
        <p:grpSp>
          <p:nvGrpSpPr>
            <p:cNvPr id="514" name="Google Shape;514;p32"/>
            <p:cNvGrpSpPr/>
            <p:nvPr/>
          </p:nvGrpSpPr>
          <p:grpSpPr>
            <a:xfrm>
              <a:off x="0" y="-384760"/>
              <a:ext cx="10600504" cy="2276297"/>
              <a:chOff x="0" y="-38100"/>
              <a:chExt cx="1049690" cy="225405"/>
            </a:xfrm>
          </p:grpSpPr>
          <p:sp>
            <p:nvSpPr>
              <p:cNvPr id="515" name="Google Shape;515;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16" name="Google Shape;516;p3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7" name="Google Shape;517;p3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18" name="Google Shape;518;p32"/>
          <p:cNvGrpSpPr/>
          <p:nvPr/>
        </p:nvGrpSpPr>
        <p:grpSpPr>
          <a:xfrm>
            <a:off x="6209275" y="3278558"/>
            <a:ext cx="11243700" cy="5710613"/>
            <a:chOff x="6209270" y="1710366"/>
            <a:chExt cx="11243700" cy="13490700"/>
          </a:xfrm>
        </p:grpSpPr>
        <p:sp>
          <p:nvSpPr>
            <p:cNvPr id="519" name="Google Shape;519;p32"/>
            <p:cNvSpPr/>
            <p:nvPr/>
          </p:nvSpPr>
          <p:spPr>
            <a:xfrm>
              <a:off x="6209270" y="1710366"/>
              <a:ext cx="11243700" cy="134907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520" name="Google Shape;520;p32"/>
            <p:cNvSpPr txBox="1"/>
            <p:nvPr/>
          </p:nvSpPr>
          <p:spPr>
            <a:xfrm>
              <a:off x="6828616" y="2576940"/>
              <a:ext cx="10005000" cy="114906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3100">
                  <a:solidFill>
                    <a:schemeClr val="dk1"/>
                  </a:solidFill>
                  <a:latin typeface="Calibri"/>
                  <a:ea typeface="Calibri"/>
                  <a:cs typeface="Calibri"/>
                  <a:sym typeface="Calibri"/>
                </a:rPr>
                <a:t>I think it’s </a:t>
              </a:r>
              <a:r>
                <a:rPr lang="en-US" sz="3100">
                  <a:solidFill>
                    <a:schemeClr val="dk1"/>
                  </a:solidFill>
                  <a:latin typeface="Calibri"/>
                  <a:ea typeface="Calibri"/>
                  <a:cs typeface="Calibri"/>
                  <a:sym typeface="Calibri"/>
                </a:rPr>
                <a:t>(</a:t>
              </a:r>
              <a:r>
                <a:rPr lang="en-US" sz="3100">
                  <a:solidFill>
                    <a:schemeClr val="dk1"/>
                  </a:solidFill>
                  <a:latin typeface="Calibri"/>
                  <a:ea typeface="Calibri"/>
                  <a:cs typeface="Calibri"/>
                  <a:sym typeface="Calibri"/>
                </a:rPr>
                <a:t>not</a:t>
              </a:r>
              <a:r>
                <a:rPr lang="en-US" sz="3100">
                  <a:solidFill>
                    <a:schemeClr val="dk1"/>
                  </a:solidFill>
                  <a:latin typeface="Calibri"/>
                  <a:ea typeface="Calibri"/>
                  <a:cs typeface="Calibri"/>
                  <a:sym typeface="Calibri"/>
                </a:rPr>
                <a:t>)</a:t>
              </a:r>
              <a:r>
                <a:rPr lang="en-US" sz="3100">
                  <a:solidFill>
                    <a:schemeClr val="dk1"/>
                  </a:solidFill>
                  <a:latin typeface="Calibri"/>
                  <a:ea typeface="Calibri"/>
                  <a:cs typeface="Calibri"/>
                  <a:sym typeface="Calibri"/>
                </a:rPr>
                <a:t> a good idea for people to have to pay </a:t>
              </a:r>
              <a:r>
                <a:rPr lang="en-US" sz="3100">
                  <a:solidFill>
                    <a:schemeClr val="dk1"/>
                  </a:solidFill>
                  <a:latin typeface="Calibri"/>
                  <a:ea typeface="Calibri"/>
                  <a:cs typeface="Calibri"/>
                  <a:sym typeface="Calibri"/>
                </a:rPr>
                <a:t>all the time because m</a:t>
              </a:r>
              <a:r>
                <a:rPr lang="en-US" sz="3100">
                  <a:solidFill>
                    <a:schemeClr val="dk1"/>
                  </a:solidFill>
                  <a:latin typeface="Calibri"/>
                  <a:ea typeface="Calibri"/>
                  <a:cs typeface="Calibri"/>
                  <a:sym typeface="Calibri"/>
                </a:rPr>
                <a:t>useums have a valuable role in preserving and transmitting a nation’s history and heritage to new generations. </a:t>
              </a:r>
              <a:r>
                <a:rPr b="1" lang="en-US" sz="3100">
                  <a:solidFill>
                    <a:schemeClr val="dk1"/>
                  </a:solidFill>
                  <a:latin typeface="Calibri"/>
                  <a:ea typeface="Calibri"/>
                  <a:cs typeface="Calibri"/>
                  <a:sym typeface="Calibri"/>
                </a:rPr>
                <a:t>Free access will encourage more people to find out about their country and help to promote feelings of national unity and identity, while promoting greater understanding and acceptance of foreign cultures.</a:t>
              </a:r>
              <a:endParaRPr b="1" sz="3100">
                <a:solidFill>
                  <a:schemeClr val="dk1"/>
                </a:solidFill>
                <a:latin typeface="Calibri"/>
                <a:ea typeface="Calibri"/>
                <a:cs typeface="Calibri"/>
                <a:sym typeface="Calibri"/>
              </a:endParaRPr>
            </a:p>
          </p:txBody>
        </p:sp>
      </p:grpSp>
      <p:sp>
        <p:nvSpPr>
          <p:cNvPr id="521" name="Google Shape;521;p32"/>
          <p:cNvSpPr txBox="1"/>
          <p:nvPr/>
        </p:nvSpPr>
        <p:spPr>
          <a:xfrm>
            <a:off x="6209275" y="1773400"/>
            <a:ext cx="110907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500">
                <a:solidFill>
                  <a:schemeClr val="dk1"/>
                </a:solidFill>
                <a:latin typeface="Calibri"/>
                <a:ea typeface="Calibri"/>
                <a:cs typeface="Calibri"/>
                <a:sym typeface="Calibri"/>
              </a:rPr>
              <a:t>Do you think people should pay to visit museums, or should they be free?</a:t>
            </a:r>
            <a:endParaRPr sz="3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cxnSp>
        <p:nvCxnSpPr>
          <p:cNvPr id="527" name="Google Shape;527;p33"/>
          <p:cNvCxnSpPr/>
          <p:nvPr/>
        </p:nvCxnSpPr>
        <p:spPr>
          <a:xfrm flipH="1" rot="10800000">
            <a:off x="6209270" y="23052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28" name="Google Shape;528;p33"/>
          <p:cNvGrpSpPr/>
          <p:nvPr/>
        </p:nvGrpSpPr>
        <p:grpSpPr>
          <a:xfrm rot="10800000">
            <a:off x="15785084" y="-536938"/>
            <a:ext cx="7681773" cy="4260605"/>
            <a:chOff x="0" y="-38100"/>
            <a:chExt cx="406400" cy="225405"/>
          </a:xfrm>
        </p:grpSpPr>
        <p:sp>
          <p:nvSpPr>
            <p:cNvPr id="529" name="Google Shape;529;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0" name="Google Shape;530;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1" name="Google Shape;531;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32" name="Google Shape;532;p33"/>
          <p:cNvSpPr txBox="1"/>
          <p:nvPr/>
        </p:nvSpPr>
        <p:spPr>
          <a:xfrm>
            <a:off x="5571910" y="10869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a:t>
            </a:r>
            <a:endParaRPr b="1" sz="6000">
              <a:solidFill>
                <a:srgbClr val="018345"/>
              </a:solidFill>
              <a:latin typeface="Montserrat"/>
              <a:ea typeface="Montserrat"/>
              <a:cs typeface="Montserrat"/>
              <a:sym typeface="Montserrat"/>
            </a:endParaRPr>
          </a:p>
        </p:txBody>
      </p:sp>
      <p:grpSp>
        <p:nvGrpSpPr>
          <p:cNvPr id="533" name="Google Shape;533;p33"/>
          <p:cNvGrpSpPr/>
          <p:nvPr/>
        </p:nvGrpSpPr>
        <p:grpSpPr>
          <a:xfrm>
            <a:off x="-2718010" y="9274530"/>
            <a:ext cx="7950378" cy="1707223"/>
            <a:chOff x="0" y="-384760"/>
            <a:chExt cx="10600504" cy="2276297"/>
          </a:xfrm>
        </p:grpSpPr>
        <p:grpSp>
          <p:nvGrpSpPr>
            <p:cNvPr id="534" name="Google Shape;534;p33"/>
            <p:cNvGrpSpPr/>
            <p:nvPr/>
          </p:nvGrpSpPr>
          <p:grpSpPr>
            <a:xfrm>
              <a:off x="0" y="-384760"/>
              <a:ext cx="10600504" cy="2276297"/>
              <a:chOff x="0" y="-38100"/>
              <a:chExt cx="1049690" cy="225405"/>
            </a:xfrm>
          </p:grpSpPr>
          <p:sp>
            <p:nvSpPr>
              <p:cNvPr id="535" name="Google Shape;535;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36" name="Google Shape;536;p3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7" name="Google Shape;537;p3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8" name="Google Shape;538;p33"/>
          <p:cNvSpPr txBox="1"/>
          <p:nvPr/>
        </p:nvSpPr>
        <p:spPr>
          <a:xfrm>
            <a:off x="6218375" y="3031425"/>
            <a:ext cx="11880900" cy="6058500"/>
          </a:xfrm>
          <a:prstGeom prst="rect">
            <a:avLst/>
          </a:prstGeom>
          <a:noFill/>
          <a:ln>
            <a:noFill/>
          </a:ln>
        </p:spPr>
        <p:txBody>
          <a:bodyPr anchorCtr="0" anchor="t" bIns="45700" lIns="91425" spcFirstLastPara="1" rIns="91425" wrap="square" tIns="45700">
            <a:spAutoFit/>
          </a:bodyPr>
          <a:lstStyle/>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Valuable role: </a:t>
            </a:r>
            <a:r>
              <a:rPr lang="en-US" sz="3800">
                <a:solidFill>
                  <a:schemeClr val="dk1"/>
                </a:solidFill>
                <a:latin typeface="Calibri"/>
                <a:ea typeface="Calibri"/>
                <a:cs typeface="Calibri"/>
                <a:sym typeface="Calibri"/>
              </a:rPr>
              <a:t>Vai trò quý giá</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Preserving: </a:t>
            </a:r>
            <a:r>
              <a:rPr lang="en-US" sz="3800">
                <a:solidFill>
                  <a:schemeClr val="dk1"/>
                </a:solidFill>
                <a:latin typeface="Calibri"/>
                <a:ea typeface="Calibri"/>
                <a:cs typeface="Calibri"/>
                <a:sym typeface="Calibri"/>
              </a:rPr>
              <a:t>Bảo tồn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Transmitting: </a:t>
            </a:r>
            <a:r>
              <a:rPr lang="en-US" sz="3800">
                <a:solidFill>
                  <a:schemeClr val="dk1"/>
                </a:solidFill>
                <a:latin typeface="Calibri"/>
                <a:ea typeface="Calibri"/>
                <a:cs typeface="Calibri"/>
                <a:sym typeface="Calibri"/>
              </a:rPr>
              <a:t>Truyền đạt</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Heritage: </a:t>
            </a:r>
            <a:r>
              <a:rPr lang="en-US" sz="3800">
                <a:solidFill>
                  <a:schemeClr val="dk1"/>
                </a:solidFill>
                <a:latin typeface="Calibri"/>
                <a:ea typeface="Calibri"/>
                <a:cs typeface="Calibri"/>
                <a:sym typeface="Calibri"/>
              </a:rPr>
              <a:t>Di sản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Free access: </a:t>
            </a:r>
            <a:r>
              <a:rPr lang="en-US" sz="3800">
                <a:solidFill>
                  <a:schemeClr val="dk1"/>
                </a:solidFill>
                <a:latin typeface="Calibri"/>
                <a:ea typeface="Calibri"/>
                <a:cs typeface="Calibri"/>
                <a:sym typeface="Calibri"/>
              </a:rPr>
              <a:t>Tiếp cận miễn phí</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Encourage: </a:t>
            </a:r>
            <a:r>
              <a:rPr lang="en-US" sz="3800">
                <a:solidFill>
                  <a:schemeClr val="dk1"/>
                </a:solidFill>
                <a:latin typeface="Calibri"/>
                <a:ea typeface="Calibri"/>
                <a:cs typeface="Calibri"/>
                <a:sym typeface="Calibri"/>
              </a:rPr>
              <a:t>Khuyến khích</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Promote:</a:t>
            </a:r>
            <a:r>
              <a:rPr lang="en-US" sz="3800">
                <a:solidFill>
                  <a:schemeClr val="dk1"/>
                </a:solidFill>
                <a:latin typeface="Calibri"/>
                <a:ea typeface="Calibri"/>
                <a:cs typeface="Calibri"/>
                <a:sym typeface="Calibri"/>
              </a:rPr>
              <a:t> T</a:t>
            </a:r>
            <a:r>
              <a:rPr lang="en-US" sz="3800">
                <a:solidFill>
                  <a:schemeClr val="dk1"/>
                </a:solidFill>
                <a:latin typeface="Calibri"/>
                <a:ea typeface="Calibri"/>
                <a:cs typeface="Calibri"/>
                <a:sym typeface="Calibri"/>
              </a:rPr>
              <a:t>húc đẩy</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National unity and identity: </a:t>
            </a:r>
            <a:r>
              <a:rPr lang="en-US" sz="3800">
                <a:solidFill>
                  <a:schemeClr val="dk1"/>
                </a:solidFill>
                <a:latin typeface="Calibri"/>
                <a:ea typeface="Calibri"/>
                <a:cs typeface="Calibri"/>
                <a:sym typeface="Calibri"/>
              </a:rPr>
              <a:t>Đoàn kết và bản sắc dân tộc</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Acceptance: </a:t>
            </a:r>
            <a:r>
              <a:rPr lang="en-US" sz="3800">
                <a:solidFill>
                  <a:schemeClr val="dk1"/>
                </a:solidFill>
                <a:latin typeface="Calibri"/>
                <a:ea typeface="Calibri"/>
                <a:cs typeface="Calibri"/>
                <a:sym typeface="Calibri"/>
              </a:rPr>
              <a:t>Chấp nhận</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cxnSp>
        <p:nvCxnSpPr>
          <p:cNvPr id="543" name="Google Shape;543;p34"/>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44" name="Google Shape;544;p3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45" name="Google Shape;545;p34"/>
          <p:cNvGrpSpPr/>
          <p:nvPr/>
        </p:nvGrpSpPr>
        <p:grpSpPr>
          <a:xfrm rot="10800000">
            <a:off x="15044552" y="-741521"/>
            <a:ext cx="7681766" cy="4260610"/>
            <a:chOff x="0" y="-38100"/>
            <a:chExt cx="406400" cy="225405"/>
          </a:xfrm>
        </p:grpSpPr>
        <p:sp>
          <p:nvSpPr>
            <p:cNvPr id="546" name="Google Shape;546;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7" name="Google Shape;547;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48" name="Google Shape;548;p3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49" name="Google Shape;549;p34"/>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50" name="Google Shape;550;p34"/>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551" name="Google Shape;551;p34"/>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552" name="Google Shape;552;p34"/>
          <p:cNvGrpSpPr/>
          <p:nvPr/>
        </p:nvGrpSpPr>
        <p:grpSpPr>
          <a:xfrm>
            <a:off x="-2718010" y="9274528"/>
            <a:ext cx="7950400" cy="1707231"/>
            <a:chOff x="0" y="-384762"/>
            <a:chExt cx="10600533" cy="2276307"/>
          </a:xfrm>
        </p:grpSpPr>
        <p:grpSp>
          <p:nvGrpSpPr>
            <p:cNvPr id="553" name="Google Shape;553;p34"/>
            <p:cNvGrpSpPr/>
            <p:nvPr/>
          </p:nvGrpSpPr>
          <p:grpSpPr>
            <a:xfrm>
              <a:off x="0" y="-384762"/>
              <a:ext cx="10600533" cy="2276307"/>
              <a:chOff x="0" y="-38100"/>
              <a:chExt cx="1049690" cy="225405"/>
            </a:xfrm>
          </p:grpSpPr>
          <p:sp>
            <p:nvSpPr>
              <p:cNvPr id="554" name="Google Shape;554;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55" name="Google Shape;555;p3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6" name="Google Shape;556;p3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557" name="Google Shape;557;p34"/>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51"/>
                                        </p:tgtEl>
                                        <p:attrNameLst>
                                          <p:attrName>style.visibility</p:attrName>
                                        </p:attrNameLst>
                                      </p:cBhvr>
                                      <p:to>
                                        <p:strVal val="visible"/>
                                      </p:to>
                                    </p:set>
                                    <p:anim calcmode="lin" valueType="num">
                                      <p:cBhvr additive="base">
                                        <p:cTn dur="500"/>
                                        <p:tgtEl>
                                          <p:spTgt spid="551"/>
                                        </p:tgtEl>
                                        <p:attrNameLst>
                                          <p:attrName>ppt_w</p:attrName>
                                        </p:attrNameLst>
                                      </p:cBhvr>
                                      <p:tavLst>
                                        <p:tav fmla="" tm="0">
                                          <p:val>
                                            <p:strVal val="0"/>
                                          </p:val>
                                        </p:tav>
                                        <p:tav fmla="" tm="100000">
                                          <p:val>
                                            <p:strVal val="#ppt_w"/>
                                          </p:val>
                                        </p:tav>
                                      </p:tavLst>
                                    </p:anim>
                                    <p:anim calcmode="lin" valueType="num">
                                      <p:cBhvr additive="base">
                                        <p:cTn dur="500"/>
                                        <p:tgtEl>
                                          <p:spTgt spid="55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50"/>
                                        </p:tgtEl>
                                        <p:attrNameLst>
                                          <p:attrName>style.visibility</p:attrName>
                                        </p:attrNameLst>
                                      </p:cBhvr>
                                      <p:to>
                                        <p:strVal val="visible"/>
                                      </p:to>
                                    </p:set>
                                    <p:anim calcmode="lin" valueType="num">
                                      <p:cBhvr additive="base">
                                        <p:cTn dur="500"/>
                                        <p:tgtEl>
                                          <p:spTgt spid="550"/>
                                        </p:tgtEl>
                                        <p:attrNameLst>
                                          <p:attrName>ppt_w</p:attrName>
                                        </p:attrNameLst>
                                      </p:cBhvr>
                                      <p:tavLst>
                                        <p:tav fmla="" tm="0">
                                          <p:val>
                                            <p:strVal val="0"/>
                                          </p:val>
                                        </p:tav>
                                        <p:tav fmla="" tm="100000">
                                          <p:val>
                                            <p:strVal val="#ppt_w"/>
                                          </p:val>
                                        </p:tav>
                                      </p:tavLst>
                                    </p:anim>
                                    <p:anim calcmode="lin" valueType="num">
                                      <p:cBhvr additive="base">
                                        <p:cTn dur="500"/>
                                        <p:tgtEl>
                                          <p:spTgt spid="55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cxnSp>
        <p:nvCxnSpPr>
          <p:cNvPr id="563" name="Google Shape;563;p35"/>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64" name="Google Shape;564;p3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65" name="Google Shape;565;p35"/>
          <p:cNvGrpSpPr/>
          <p:nvPr/>
        </p:nvGrpSpPr>
        <p:grpSpPr>
          <a:xfrm rot="10800000">
            <a:off x="15044552" y="-741521"/>
            <a:ext cx="7681766" cy="4260610"/>
            <a:chOff x="0" y="-38100"/>
            <a:chExt cx="406400" cy="225405"/>
          </a:xfrm>
        </p:grpSpPr>
        <p:sp>
          <p:nvSpPr>
            <p:cNvPr id="566" name="Google Shape;566;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7" name="Google Shape;567;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68" name="Google Shape;568;p3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69" name="Google Shape;569;p35"/>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70" name="Google Shape;570;p35"/>
          <p:cNvGrpSpPr/>
          <p:nvPr/>
        </p:nvGrpSpPr>
        <p:grpSpPr>
          <a:xfrm rot="10800000">
            <a:off x="15828686" y="-13843"/>
            <a:ext cx="7681766" cy="4260610"/>
            <a:chOff x="0" y="-38100"/>
            <a:chExt cx="406400" cy="225405"/>
          </a:xfrm>
        </p:grpSpPr>
        <p:sp>
          <p:nvSpPr>
            <p:cNvPr id="571" name="Google Shape;571;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72" name="Google Shape;572;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 name="Google Shape;573;p35"/>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574" name="Google Shape;574;p35"/>
          <p:cNvGrpSpPr/>
          <p:nvPr/>
        </p:nvGrpSpPr>
        <p:grpSpPr>
          <a:xfrm>
            <a:off x="5693855" y="6543482"/>
            <a:ext cx="11567835" cy="1261722"/>
            <a:chOff x="5693855" y="7590172"/>
            <a:chExt cx="11567835" cy="1261722"/>
          </a:xfrm>
        </p:grpSpPr>
        <p:grpSp>
          <p:nvGrpSpPr>
            <p:cNvPr id="575" name="Google Shape;575;p35"/>
            <p:cNvGrpSpPr/>
            <p:nvPr/>
          </p:nvGrpSpPr>
          <p:grpSpPr>
            <a:xfrm>
              <a:off x="5693855" y="7590172"/>
              <a:ext cx="11567834" cy="1261722"/>
              <a:chOff x="0" y="-38100"/>
              <a:chExt cx="3046672" cy="332305"/>
            </a:xfrm>
          </p:grpSpPr>
          <p:sp>
            <p:nvSpPr>
              <p:cNvPr id="576" name="Google Shape;576;p35"/>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77" name="Google Shape;577;p35"/>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8" name="Google Shape;578;p35"/>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79" name="Google Shape;579;p35"/>
          <p:cNvGrpSpPr/>
          <p:nvPr/>
        </p:nvGrpSpPr>
        <p:grpSpPr>
          <a:xfrm>
            <a:off x="-2718010" y="9274528"/>
            <a:ext cx="7950400" cy="1707231"/>
            <a:chOff x="0" y="-384762"/>
            <a:chExt cx="10600533" cy="2276307"/>
          </a:xfrm>
        </p:grpSpPr>
        <p:grpSp>
          <p:nvGrpSpPr>
            <p:cNvPr id="580" name="Google Shape;580;p35"/>
            <p:cNvGrpSpPr/>
            <p:nvPr/>
          </p:nvGrpSpPr>
          <p:grpSpPr>
            <a:xfrm>
              <a:off x="0" y="-384762"/>
              <a:ext cx="10600533" cy="2276307"/>
              <a:chOff x="0" y="-38100"/>
              <a:chExt cx="1049690" cy="225405"/>
            </a:xfrm>
          </p:grpSpPr>
          <p:sp>
            <p:nvSpPr>
              <p:cNvPr id="581" name="Google Shape;581;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82" name="Google Shape;582;p3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3" name="Google Shape;583;p3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73"/>
                                        </p:tgtEl>
                                        <p:attrNameLst>
                                          <p:attrName>style.visibility</p:attrName>
                                        </p:attrNameLst>
                                      </p:cBhvr>
                                      <p:to>
                                        <p:strVal val="visible"/>
                                      </p:to>
                                    </p:set>
                                    <p:anim calcmode="lin" valueType="num">
                                      <p:cBhvr additive="base">
                                        <p:cTn dur="500"/>
                                        <p:tgtEl>
                                          <p:spTgt spid="573"/>
                                        </p:tgtEl>
                                        <p:attrNameLst>
                                          <p:attrName>ppt_w</p:attrName>
                                        </p:attrNameLst>
                                      </p:cBhvr>
                                      <p:tavLst>
                                        <p:tav fmla="" tm="0">
                                          <p:val>
                                            <p:strVal val="0"/>
                                          </p:val>
                                        </p:tav>
                                        <p:tav fmla="" tm="100000">
                                          <p:val>
                                            <p:strVal val="#ppt_w"/>
                                          </p:val>
                                        </p:tav>
                                      </p:tavLst>
                                    </p:anim>
                                    <p:anim calcmode="lin" valueType="num">
                                      <p:cBhvr additive="base">
                                        <p:cTn dur="500"/>
                                        <p:tgtEl>
                                          <p:spTgt spid="57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