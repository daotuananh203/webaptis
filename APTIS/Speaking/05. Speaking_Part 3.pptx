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287000" cx="18288000"/>
  <p:notesSz cx="6858000" cy="9144000"/>
  <p:embeddedFontLst>
    <p:embeddedFont>
      <p:font typeface="Roboto"/>
      <p:regular r:id="rId28"/>
      <p:bold r:id="rId29"/>
      <p:italic r:id="rId30"/>
      <p:boldItalic r:id="rId31"/>
    </p:embeddedFont>
    <p:embeddedFont>
      <p:font typeface="Montserra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33" Type="http://schemas.openxmlformats.org/officeDocument/2006/relationships/font" Target="fonts/Montserrat-bold.fntdata"/><Relationship Id="rId10" Type="http://schemas.openxmlformats.org/officeDocument/2006/relationships/slide" Target="slides/slide5.xml"/><Relationship Id="rId32" Type="http://schemas.openxmlformats.org/officeDocument/2006/relationships/font" Target="fonts/Montserrat-regular.fntdata"/><Relationship Id="rId13" Type="http://schemas.openxmlformats.org/officeDocument/2006/relationships/slide" Target="slides/slide8.xml"/><Relationship Id="rId35" Type="http://schemas.openxmlformats.org/officeDocument/2006/relationships/font" Target="fonts/Montserrat-boldItalic.fntdata"/><Relationship Id="rId12" Type="http://schemas.openxmlformats.org/officeDocument/2006/relationships/slide" Target="slides/slide7.xml"/><Relationship Id="rId34" Type="http://schemas.openxmlformats.org/officeDocument/2006/relationships/font" Target="fonts/Montserrat-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8f8a5e8a6a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g28f8a5e8a6a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Phần lưu ý tương tự như part 1. </a:t>
            </a:r>
            <a:r>
              <a:rPr lang="en-US"/>
              <a:t>Thí sinh sẽ mô tả một bức ảnh và sau đó sẽ trả lời hai câu hỏi có liên quan tới chủ đề được minh họa trong bức ảnh đó</a:t>
            </a:r>
            <a:r>
              <a:rPr lang="en-US" sz="1200">
                <a:latin typeface="Calibri"/>
                <a:ea typeface="Calibri"/>
                <a:cs typeface="Calibri"/>
                <a:sym typeface="Calibri"/>
              </a:rPr>
              <a:t>. Hãy lắng nghe hướng dẫn và nói rõ ràng vào micrô khi bạn nghe thấy tín hiệu. Mỗi phần của bài kiểm tra sẽ tự động xuất hiện. Bạn có thể dừng ghi âm phản hồi của mình trước khi hết giờ bằng cách nhấn vào nút dừng, nhưng </a:t>
            </a:r>
            <a:r>
              <a:rPr lang="en-US"/>
              <a:t>cô </a:t>
            </a:r>
            <a:r>
              <a:rPr lang="en-US" sz="1200">
                <a:latin typeface="Calibri"/>
                <a:ea typeface="Calibri"/>
                <a:cs typeface="Calibri"/>
                <a:sym typeface="Calibri"/>
              </a:rPr>
              <a:t>khuyên bạn nên cố gắng nói trong toàn bộ thời gian có sẵn để tối đa hóa điểm số của mình.</a:t>
            </a:r>
            <a:endParaRPr/>
          </a:p>
        </p:txBody>
      </p:sp>
      <p:sp>
        <p:nvSpPr>
          <p:cNvPr id="222" name="Google Shape;2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571500" lvl="0" marL="571500" rtl="0" algn="l">
              <a:lnSpc>
                <a:spcPct val="150000"/>
              </a:lnSpc>
              <a:spcBef>
                <a:spcPts val="0"/>
              </a:spcBef>
              <a:spcAft>
                <a:spcPts val="0"/>
              </a:spcAft>
              <a:buClr>
                <a:schemeClr val="dk1"/>
              </a:buClr>
              <a:buSzPts val="1200"/>
              <a:buFont typeface="Noto Sans Symbols"/>
              <a:buChar char="⮚"/>
            </a:pPr>
            <a:r>
              <a:rPr lang="en-US" sz="1200">
                <a:latin typeface="Calibri"/>
                <a:ea typeface="Calibri"/>
                <a:cs typeface="Calibri"/>
                <a:sym typeface="Calibri"/>
              </a:rPr>
              <a:t>Khi đến thời gian ghi âm, bộ đếm thời gian sẽ bắt đầu.</a:t>
            </a:r>
            <a:endParaRPr sz="1200">
              <a:latin typeface="Calibri"/>
              <a:ea typeface="Calibri"/>
              <a:cs typeface="Calibri"/>
              <a:sym typeface="Calibri"/>
            </a:endParaRPr>
          </a:p>
          <a:p>
            <a:pPr indent="-571500" lvl="0" marL="571500" rtl="0" algn="l">
              <a:lnSpc>
                <a:spcPct val="150000"/>
              </a:lnSpc>
              <a:spcBef>
                <a:spcPts val="0"/>
              </a:spcBef>
              <a:spcAft>
                <a:spcPts val="0"/>
              </a:spcAft>
              <a:buClr>
                <a:schemeClr val="dk1"/>
              </a:buClr>
              <a:buSzPts val="1200"/>
              <a:buFont typeface="Noto Sans Symbols"/>
              <a:buChar char="⮚"/>
            </a:pPr>
            <a:r>
              <a:rPr lang="en-US" sz="1200">
                <a:latin typeface="Calibri"/>
                <a:ea typeface="Calibri"/>
                <a:cs typeface="Calibri"/>
                <a:sym typeface="Calibri"/>
              </a:rPr>
              <a:t>Nội dung này cho bạn biết bạn đã ghi âm được bao lâu (trên màn hình hiển thị bên dưới bộ đếm thời gian cho thấy bạn đã ghi âm được 25 giây).</a:t>
            </a:r>
            <a:endParaRPr sz="1200">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1200"/>
              <a:buFont typeface="Noto Sans Symbols"/>
              <a:buChar char="⮚"/>
            </a:pPr>
            <a:r>
              <a:rPr lang="en-US" sz="1200">
                <a:latin typeface="Calibri"/>
                <a:ea typeface="Calibri"/>
                <a:cs typeface="Calibri"/>
                <a:sym typeface="Calibri"/>
              </a:rPr>
              <a:t>Mỗi khi một câu hỏi mới xuất hiện, quy trình tương tự sẽ được lặp lại.</a:t>
            </a:r>
            <a:endParaRPr sz="1200">
              <a:latin typeface="Calibri"/>
              <a:ea typeface="Calibri"/>
              <a:cs typeface="Calibri"/>
              <a:sym typeface="Calibri"/>
            </a:endParaRPr>
          </a:p>
          <a:p>
            <a:pPr indent="-495300" lvl="0" marL="571500" rtl="0" algn="l">
              <a:lnSpc>
                <a:spcPct val="150000"/>
              </a:lnSpc>
              <a:spcBef>
                <a:spcPts val="0"/>
              </a:spcBef>
              <a:spcAft>
                <a:spcPts val="0"/>
              </a:spcAft>
              <a:buClr>
                <a:schemeClr val="dk1"/>
              </a:buClr>
              <a:buSzPts val="1200"/>
              <a:buFont typeface="Noto Sans Symbols"/>
              <a:buNone/>
            </a:pPr>
            <a:r>
              <a:t/>
            </a:r>
            <a:endParaRPr sz="1200">
              <a:latin typeface="Calibri"/>
              <a:ea typeface="Calibri"/>
              <a:cs typeface="Calibri"/>
              <a:sym typeface="Calibri"/>
            </a:endParaRPr>
          </a:p>
          <a:p>
            <a:pPr indent="0" lvl="0" marL="0" rtl="0" algn="l">
              <a:spcBef>
                <a:spcPts val="0"/>
              </a:spcBef>
              <a:spcAft>
                <a:spcPts val="0"/>
              </a:spcAft>
              <a:buNone/>
            </a:pPr>
            <a:r>
              <a:t/>
            </a:r>
            <a:endParaRPr/>
          </a:p>
        </p:txBody>
      </p:sp>
      <p:sp>
        <p:nvSpPr>
          <p:cNvPr id="240" name="Google Shape;24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Giữ bình tĩnh và tự tin:</a:t>
            </a:r>
            <a:r>
              <a:rPr lang="en-US"/>
              <a:t> Điều quan trọng nhất là bạn phải giữ bình tĩnh và tự tin khi làm bài thi. Hãy hít thở sâu và tập trung vào việc trả lời các câu hỏi.</a:t>
            </a:r>
            <a:endParaRPr/>
          </a:p>
          <a:p>
            <a:pPr indent="0" lvl="0" marL="0" rtl="0" algn="l">
              <a:spcBef>
                <a:spcPts val="0"/>
              </a:spcBef>
              <a:spcAft>
                <a:spcPts val="0"/>
              </a:spcAft>
              <a:buNone/>
            </a:pPr>
            <a:r>
              <a:rPr b="1" lang="en-US"/>
              <a:t>Nghe kỹ hướng dẫn:</a:t>
            </a:r>
            <a:r>
              <a:rPr lang="en-US"/>
              <a:t> Hãy nghe kỹ hướng dẫn trước khi bắt đầu trả lời mỗi câu hỏi. Hãy chắc chắn rằng bạn hiểu rõ câu hỏi trước khi trả lời.</a:t>
            </a:r>
            <a:endParaRPr/>
          </a:p>
          <a:p>
            <a:pPr indent="0" lvl="0" marL="0" rtl="0" algn="l">
              <a:spcBef>
                <a:spcPts val="0"/>
              </a:spcBef>
              <a:spcAft>
                <a:spcPts val="0"/>
              </a:spcAft>
              <a:buNone/>
            </a:pPr>
            <a:r>
              <a:rPr b="1" lang="en-US"/>
              <a:t>Dùng đúng ngữ pháp</a:t>
            </a:r>
            <a:r>
              <a:rPr b="1" lang="en-US"/>
              <a:t>:</a:t>
            </a:r>
            <a:r>
              <a:rPr lang="en-US"/>
              <a:t> Trong khi trả lời cần dùng kết hợp câu đơn, câu ghép, câu phức và HV cần chú ý để nói chính xác.</a:t>
            </a:r>
            <a:endParaRPr/>
          </a:p>
          <a:p>
            <a:pPr indent="0" lvl="0" marL="0" rtl="0" algn="l">
              <a:spcBef>
                <a:spcPts val="0"/>
              </a:spcBef>
              <a:spcAft>
                <a:spcPts val="0"/>
              </a:spcAft>
              <a:buNone/>
            </a:pPr>
            <a:r>
              <a:rPr b="1" lang="en-US"/>
              <a:t>Nêu được sự khác biệt</a:t>
            </a:r>
            <a:r>
              <a:rPr b="1" lang="en-US"/>
              <a:t>:</a:t>
            </a:r>
            <a:r>
              <a:rPr lang="en-US"/>
              <a:t> KHông nên chỉ liệt kê 2 tranh giống như part 2, phần này cần nêu được những điểm khác nhau cơ bản của 2 bức tranh sau đó đi vào chi tiết từng tranh.</a:t>
            </a:r>
            <a:endParaRPr/>
          </a:p>
          <a:p>
            <a:pPr indent="0" lvl="0" marL="0" rtl="0" algn="l">
              <a:spcBef>
                <a:spcPts val="0"/>
              </a:spcBef>
              <a:spcAft>
                <a:spcPts val="0"/>
              </a:spcAft>
              <a:buNone/>
            </a:pPr>
            <a:r>
              <a:rPr b="1" lang="en-US"/>
              <a:t>Sử dụng ngữ điệu và cách nhấn phù hợp:</a:t>
            </a:r>
            <a:r>
              <a:rPr lang="en-US"/>
              <a:t> Hãy sử dụng ngữ điệu và cách nhấn phù hợp để câu trả lời của bạn thêm sinh động và tự nhiên.</a:t>
            </a:r>
            <a:endParaRPr/>
          </a:p>
        </p:txBody>
      </p:sp>
      <p:sp>
        <p:nvSpPr>
          <p:cNvPr id="258" name="Google Shape;25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e0f7cb05b0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2e0f7cb05b0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đề mẫu giải thích yêu cầu đề bài</a:t>
            </a:r>
            <a:endParaRPr/>
          </a:p>
        </p:txBody>
      </p:sp>
      <p:sp>
        <p:nvSpPr>
          <p:cNvPr id="311" name="Google Shape;311;g2e0f7cb05b0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e0aaba2e2a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g2e0aaba2e2a_0_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g2e0aaba2e2a_0_1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e10205cf14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g2e10205cf14_0_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g2e10205cf14_0_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2e0aaba2e2a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g2e0aaba2e2a_0_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g2e0aaba2e2a_0_1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2e10205cf14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g2e10205cf14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g2e10205cf14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e10205cf14_0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g2e10205cf14_0_1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g2e10205cf14_0_1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e10205cf14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g2e10205cf14_0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g2e10205cf14_0_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0" name="Google Shape;54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png"/><Relationship Id="rId6"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7" name="Shape 87"/>
        <p:cNvGrpSpPr/>
        <p:nvPr/>
      </p:nvGrpSpPr>
      <p:grpSpPr>
        <a:xfrm>
          <a:off x="0" y="0"/>
          <a:ext cx="0" cy="0"/>
          <a:chOff x="0" y="0"/>
          <a:chExt cx="0" cy="0"/>
        </a:xfrm>
      </p:grpSpPr>
      <p:sp>
        <p:nvSpPr>
          <p:cNvPr id="88" name="Google Shape;88;p13"/>
          <p:cNvSpPr txBox="1"/>
          <p:nvPr/>
        </p:nvSpPr>
        <p:spPr>
          <a:xfrm>
            <a:off x="4788018" y="1722907"/>
            <a:ext cx="13410900" cy="160320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0" i="0" lang="en-US" sz="10416" u="none" cap="none" strike="noStrike">
                <a:solidFill>
                  <a:srgbClr val="FFFFFF"/>
                </a:solidFill>
                <a:latin typeface="Arial"/>
                <a:ea typeface="Arial"/>
                <a:cs typeface="Arial"/>
                <a:sym typeface="Arial"/>
              </a:rPr>
              <a:t>APTIS</a:t>
            </a:r>
            <a:endParaRPr/>
          </a:p>
        </p:txBody>
      </p:sp>
      <p:grpSp>
        <p:nvGrpSpPr>
          <p:cNvPr id="89" name="Google Shape;89;p13"/>
          <p:cNvGrpSpPr/>
          <p:nvPr/>
        </p:nvGrpSpPr>
        <p:grpSpPr>
          <a:xfrm>
            <a:off x="7338936" y="4396612"/>
            <a:ext cx="8594227" cy="2222588"/>
            <a:chOff x="0" y="-192881"/>
            <a:chExt cx="11458969" cy="2963451"/>
          </a:xfrm>
        </p:grpSpPr>
        <p:grpSp>
          <p:nvGrpSpPr>
            <p:cNvPr id="90" name="Google Shape;90;p13"/>
            <p:cNvGrpSpPr/>
            <p:nvPr/>
          </p:nvGrpSpPr>
          <p:grpSpPr>
            <a:xfrm>
              <a:off x="0" y="-192881"/>
              <a:ext cx="11458969" cy="2963451"/>
              <a:chOff x="0" y="-38100"/>
              <a:chExt cx="2263500" cy="585373"/>
            </a:xfrm>
          </p:grpSpPr>
          <p:sp>
            <p:nvSpPr>
              <p:cNvPr id="91" name="Google Shape;91;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txBox="1"/>
              <p:nvPr/>
            </p:nvSpPr>
            <p:spPr>
              <a:xfrm>
                <a:off x="0" y="-38100"/>
                <a:ext cx="2263500" cy="585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3" name="Google Shape;93;p13"/>
            <p:cNvSpPr txBox="1"/>
            <p:nvPr/>
          </p:nvSpPr>
          <p:spPr>
            <a:xfrm>
              <a:off x="793233" y="91935"/>
              <a:ext cx="9871800" cy="2557200"/>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None/>
              </a:pPr>
              <a:r>
                <a:rPr b="0" i="0" lang="en-US" sz="12460" u="none" cap="none" strike="noStrike">
                  <a:solidFill>
                    <a:srgbClr val="018345"/>
                  </a:solidFill>
                  <a:latin typeface="Arial"/>
                  <a:ea typeface="Arial"/>
                  <a:cs typeface="Arial"/>
                  <a:sym typeface="Arial"/>
                </a:rPr>
                <a:t>Speaking</a:t>
              </a:r>
              <a:endParaRPr/>
            </a:p>
          </p:txBody>
        </p:sp>
      </p:grpSp>
      <p:cxnSp>
        <p:nvCxnSpPr>
          <p:cNvPr id="94" name="Google Shape;94;p13"/>
          <p:cNvCxnSpPr/>
          <p:nvPr/>
        </p:nvCxnSpPr>
        <p:spPr>
          <a:xfrm>
            <a:off x="5559805" y="3724211"/>
            <a:ext cx="116994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4867241" y="698293"/>
            <a:ext cx="13215300" cy="1473300"/>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None/>
            </a:pPr>
            <a:r>
              <a:rPr b="0" i="0" lang="en-US" sz="10264" u="none" cap="none" strike="noStrike">
                <a:solidFill>
                  <a:srgbClr val="018345"/>
                </a:solidFill>
                <a:latin typeface="Arial"/>
                <a:ea typeface="Arial"/>
                <a:cs typeface="Arial"/>
                <a:sym typeface="Arial"/>
              </a:rPr>
              <a:t>Table of contents</a:t>
            </a:r>
            <a:endParaRPr/>
          </a:p>
        </p:txBody>
      </p:sp>
      <p:cxnSp>
        <p:nvCxnSpPr>
          <p:cNvPr id="101" name="Google Shape;101;p14"/>
          <p:cNvCxnSpPr/>
          <p:nvPr/>
        </p:nvCxnSpPr>
        <p:spPr>
          <a:xfrm>
            <a:off x="5943600" y="2152650"/>
            <a:ext cx="11579700" cy="0"/>
          </a:xfrm>
          <a:prstGeom prst="straightConnector1">
            <a:avLst/>
          </a:prstGeom>
          <a:noFill/>
          <a:ln cap="flat" cmpd="sng" w="38100">
            <a:solidFill>
              <a:srgbClr val="018345"/>
            </a:solidFill>
            <a:prstDash val="solid"/>
            <a:round/>
            <a:headEnd len="sm" w="sm" type="none"/>
            <a:tailEnd len="sm" w="sm" type="none"/>
          </a:ln>
        </p:spPr>
      </p:cxnSp>
      <p:grpSp>
        <p:nvGrpSpPr>
          <p:cNvPr id="102" name="Google Shape;102;p14"/>
          <p:cNvGrpSpPr/>
          <p:nvPr/>
        </p:nvGrpSpPr>
        <p:grpSpPr>
          <a:xfrm rot="10800000">
            <a:off x="14951196" y="-741517"/>
            <a:ext cx="7681773" cy="4260605"/>
            <a:chOff x="0" y="-38100"/>
            <a:chExt cx="406400" cy="225405"/>
          </a:xfrm>
        </p:grpSpPr>
        <p:sp>
          <p:nvSpPr>
            <p:cNvPr id="103" name="Google Shape;103;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05" name="Google Shape;105;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grpSp>
        <p:nvGrpSpPr>
          <p:cNvPr id="106" name="Google Shape;106;p14"/>
          <p:cNvGrpSpPr/>
          <p:nvPr/>
        </p:nvGrpSpPr>
        <p:grpSpPr>
          <a:xfrm>
            <a:off x="6890434" y="2552819"/>
            <a:ext cx="10092911" cy="1384957"/>
            <a:chOff x="6375842" y="6151456"/>
            <a:chExt cx="10542000" cy="1434000"/>
          </a:xfrm>
        </p:grpSpPr>
        <p:sp>
          <p:nvSpPr>
            <p:cNvPr id="107" name="Google Shape;107;p14"/>
            <p:cNvSpPr/>
            <p:nvPr/>
          </p:nvSpPr>
          <p:spPr>
            <a:xfrm>
              <a:off x="6375842" y="6278356"/>
              <a:ext cx="10542000" cy="12891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08" name="Google Shape;108;p14"/>
            <p:cNvSpPr txBox="1"/>
            <p:nvPr/>
          </p:nvSpPr>
          <p:spPr>
            <a:xfrm>
              <a:off x="6375842" y="6151456"/>
              <a:ext cx="10542000" cy="1434000"/>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09" name="Google Shape;109;p14"/>
            <p:cNvSpPr/>
            <p:nvPr/>
          </p:nvSpPr>
          <p:spPr>
            <a:xfrm>
              <a:off x="6375842" y="6296117"/>
              <a:ext cx="1253681" cy="1253681"/>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txBox="1"/>
            <p:nvPr/>
          </p:nvSpPr>
          <p:spPr>
            <a:xfrm>
              <a:off x="7917301" y="6581020"/>
              <a:ext cx="8651100" cy="510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3200" u="none" cap="none" strike="noStrike">
                  <a:solidFill>
                    <a:srgbClr val="FFFFFF"/>
                  </a:solidFill>
                  <a:latin typeface="Montserrat"/>
                  <a:ea typeface="Montserrat"/>
                  <a:cs typeface="Montserrat"/>
                  <a:sym typeface="Montserrat"/>
                </a:rPr>
                <a:t>Bài nói APTIS part</a:t>
              </a:r>
              <a:r>
                <a:rPr b="1" lang="en-US" sz="3200">
                  <a:solidFill>
                    <a:srgbClr val="FFFFFF"/>
                  </a:solidFill>
                  <a:latin typeface="Montserrat"/>
                  <a:ea typeface="Montserrat"/>
                  <a:cs typeface="Montserrat"/>
                  <a:sym typeface="Montserrat"/>
                </a:rPr>
                <a:t> 3</a:t>
              </a:r>
              <a:endParaRPr/>
            </a:p>
          </p:txBody>
        </p:sp>
        <p:sp>
          <p:nvSpPr>
            <p:cNvPr descr="Books with solid fill" id="111" name="Google Shape;111;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12" name="Google Shape;112;p14"/>
          <p:cNvSpPr txBox="1"/>
          <p:nvPr/>
        </p:nvSpPr>
        <p:spPr>
          <a:xfrm>
            <a:off x="6487860" y="5519116"/>
            <a:ext cx="10092900" cy="1384800"/>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13" name="Google Shape;113;p14"/>
          <p:cNvSpPr txBox="1"/>
          <p:nvPr/>
        </p:nvSpPr>
        <p:spPr>
          <a:xfrm>
            <a:off x="-10653311" y="9715322"/>
            <a:ext cx="13923300" cy="285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b="0" i="0" lang="en-US" sz="1876" u="none" cap="none" strike="noStrike">
                <a:solidFill>
                  <a:srgbClr val="FEFEFE"/>
                </a:solidFill>
                <a:latin typeface="Roboto"/>
                <a:ea typeface="Roboto"/>
                <a:cs typeface="Roboto"/>
                <a:sym typeface="Roboto"/>
              </a:rPr>
              <a:t>https://edulife.com.vn/</a:t>
            </a:r>
            <a:endParaRPr/>
          </a:p>
        </p:txBody>
      </p:sp>
      <p:grpSp>
        <p:nvGrpSpPr>
          <p:cNvPr id="114" name="Google Shape;114;p14"/>
          <p:cNvGrpSpPr/>
          <p:nvPr/>
        </p:nvGrpSpPr>
        <p:grpSpPr>
          <a:xfrm>
            <a:off x="-2718010" y="9274530"/>
            <a:ext cx="7950378" cy="1707223"/>
            <a:chOff x="0" y="-384760"/>
            <a:chExt cx="10600504" cy="2276297"/>
          </a:xfrm>
        </p:grpSpPr>
        <p:grpSp>
          <p:nvGrpSpPr>
            <p:cNvPr id="115" name="Google Shape;115;p14"/>
            <p:cNvGrpSpPr/>
            <p:nvPr/>
          </p:nvGrpSpPr>
          <p:grpSpPr>
            <a:xfrm>
              <a:off x="0" y="-384760"/>
              <a:ext cx="10600504" cy="2276297"/>
              <a:chOff x="0" y="-38100"/>
              <a:chExt cx="1049690" cy="225405"/>
            </a:xfrm>
          </p:grpSpPr>
          <p:sp>
            <p:nvSpPr>
              <p:cNvPr id="116" name="Google Shape;116;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17" name="Google Shape;117;p14"/>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14"/>
            <p:cNvSpPr txBox="1"/>
            <p:nvPr/>
          </p:nvSpPr>
          <p:spPr>
            <a:xfrm>
              <a:off x="4182979" y="666743"/>
              <a:ext cx="3721200" cy="5295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14"/>
          <p:cNvGrpSpPr/>
          <p:nvPr/>
        </p:nvGrpSpPr>
        <p:grpSpPr>
          <a:xfrm>
            <a:off x="6934400" y="4203458"/>
            <a:ext cx="10121692" cy="1245030"/>
            <a:chOff x="6934120" y="7048419"/>
            <a:chExt cx="9882535" cy="1159030"/>
          </a:xfrm>
        </p:grpSpPr>
        <p:grpSp>
          <p:nvGrpSpPr>
            <p:cNvPr id="120" name="Google Shape;120;p14"/>
            <p:cNvGrpSpPr/>
            <p:nvPr/>
          </p:nvGrpSpPr>
          <p:grpSpPr>
            <a:xfrm>
              <a:off x="6934120" y="7048419"/>
              <a:ext cx="9882535" cy="1159030"/>
              <a:chOff x="6487861" y="7950596"/>
              <a:chExt cx="10571817" cy="1289100"/>
            </a:xfrm>
          </p:grpSpPr>
          <p:sp>
            <p:nvSpPr>
              <p:cNvPr id="121" name="Google Shape;121;p14"/>
              <p:cNvSpPr/>
              <p:nvPr/>
            </p:nvSpPr>
            <p:spPr>
              <a:xfrm>
                <a:off x="6517678" y="7950596"/>
                <a:ext cx="10542000" cy="12891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3" name="Google Shape;123;p14"/>
              <p:cNvSpPr txBox="1"/>
              <p:nvPr/>
            </p:nvSpPr>
            <p:spPr>
              <a:xfrm>
                <a:off x="8010142" y="8239170"/>
                <a:ext cx="7896000" cy="510000"/>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None/>
                </a:pPr>
                <a:r>
                  <a:rPr b="1" lang="en-US" sz="3200">
                    <a:solidFill>
                      <a:schemeClr val="lt1"/>
                    </a:solidFill>
                    <a:latin typeface="Montserrat"/>
                    <a:ea typeface="Montserrat"/>
                    <a:cs typeface="Montserrat"/>
                    <a:sym typeface="Montserrat"/>
                  </a:rPr>
                  <a:t>Những lưu ý khi làm bài nói Aptis</a:t>
                </a:r>
                <a:endParaRPr b="1" sz="3200">
                  <a:solidFill>
                    <a:schemeClr val="lt1"/>
                  </a:solidFill>
                  <a:latin typeface="Montserrat"/>
                  <a:ea typeface="Montserrat"/>
                  <a:cs typeface="Montserrat"/>
                  <a:sym typeface="Montserrat"/>
                </a:endParaRPr>
              </a:p>
            </p:txBody>
          </p:sp>
        </p:grpSp>
        <p:pic>
          <p:nvPicPr>
            <p:cNvPr descr="Envelope with solid fill" id="124" name="Google Shape;124;p14"/>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25" name="Google Shape;125;p14"/>
          <p:cNvGrpSpPr/>
          <p:nvPr/>
        </p:nvGrpSpPr>
        <p:grpSpPr>
          <a:xfrm>
            <a:off x="6962357" y="5727617"/>
            <a:ext cx="10150411" cy="1245213"/>
            <a:chOff x="6962073" y="8572500"/>
            <a:chExt cx="9910575" cy="1159200"/>
          </a:xfrm>
        </p:grpSpPr>
        <p:sp>
          <p:nvSpPr>
            <p:cNvPr id="126" name="Google Shape;126;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27" name="Google Shape;127;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8" name="Google Shape;128;p14"/>
            <p:cNvSpPr txBox="1"/>
            <p:nvPr/>
          </p:nvSpPr>
          <p:spPr>
            <a:xfrm>
              <a:off x="8403048" y="8840948"/>
              <a:ext cx="8469600" cy="524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Đề mẫu</a:t>
              </a:r>
              <a:endParaRPr b="1" sz="3200">
                <a:solidFill>
                  <a:srgbClr val="FFFFFF"/>
                </a:solidFill>
                <a:latin typeface="Montserrat"/>
                <a:ea typeface="Montserrat"/>
                <a:cs typeface="Montserrat"/>
                <a:sym typeface="Montserrat"/>
              </a:endParaRPr>
            </a:p>
          </p:txBody>
        </p:sp>
        <p:pic>
          <p:nvPicPr>
            <p:cNvPr descr="Pencil with solid fill" id="129" name="Google Shape;129;p14"/>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grpSp>
        <p:nvGrpSpPr>
          <p:cNvPr id="130" name="Google Shape;130;p14"/>
          <p:cNvGrpSpPr/>
          <p:nvPr/>
        </p:nvGrpSpPr>
        <p:grpSpPr>
          <a:xfrm>
            <a:off x="6947647" y="7174698"/>
            <a:ext cx="10121659" cy="1245114"/>
            <a:chOff x="6947521" y="8856561"/>
            <a:chExt cx="9366703" cy="1016502"/>
          </a:xfrm>
        </p:grpSpPr>
        <p:grpSp>
          <p:nvGrpSpPr>
            <p:cNvPr id="131" name="Google Shape;131;p14"/>
            <p:cNvGrpSpPr/>
            <p:nvPr/>
          </p:nvGrpSpPr>
          <p:grpSpPr>
            <a:xfrm>
              <a:off x="6947521" y="8856561"/>
              <a:ext cx="9366703" cy="1016502"/>
              <a:chOff x="6962073" y="8572500"/>
              <a:chExt cx="9882573" cy="1159200"/>
            </a:xfrm>
          </p:grpSpPr>
          <p:sp>
            <p:nvSpPr>
              <p:cNvPr id="132" name="Google Shape;132;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3" name="Google Shape;133;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34" name="Google Shape;134;p14"/>
              <p:cNvSpPr txBox="1"/>
              <p:nvPr/>
            </p:nvSpPr>
            <p:spPr>
              <a:xfrm>
                <a:off x="8459833" y="8840948"/>
                <a:ext cx="8087400" cy="536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Hướng dẫn trả lời</a:t>
                </a:r>
                <a:endParaRPr b="1" sz="3200">
                  <a:solidFill>
                    <a:srgbClr val="FFFFFF"/>
                  </a:solidFill>
                  <a:latin typeface="Montserrat"/>
                  <a:ea typeface="Montserrat"/>
                  <a:cs typeface="Montserrat"/>
                  <a:sym typeface="Montserrat"/>
                </a:endParaRPr>
              </a:p>
            </p:txBody>
          </p:sp>
        </p:grpSp>
        <p:pic>
          <p:nvPicPr>
            <p:cNvPr descr="Books on shelf with solid fill" id="135" name="Google Shape;135;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grpSp>
        <p:nvGrpSpPr>
          <p:cNvPr id="136" name="Google Shape;136;p14"/>
          <p:cNvGrpSpPr/>
          <p:nvPr/>
        </p:nvGrpSpPr>
        <p:grpSpPr>
          <a:xfrm>
            <a:off x="7010637" y="8669603"/>
            <a:ext cx="10121659" cy="1245114"/>
            <a:chOff x="6947521" y="8856561"/>
            <a:chExt cx="9366703" cy="1016502"/>
          </a:xfrm>
        </p:grpSpPr>
        <p:grpSp>
          <p:nvGrpSpPr>
            <p:cNvPr id="137" name="Google Shape;137;p14"/>
            <p:cNvGrpSpPr/>
            <p:nvPr/>
          </p:nvGrpSpPr>
          <p:grpSpPr>
            <a:xfrm>
              <a:off x="6947521" y="8856561"/>
              <a:ext cx="9366703" cy="1016502"/>
              <a:chOff x="6962073" y="8572500"/>
              <a:chExt cx="9882573" cy="1159200"/>
            </a:xfrm>
          </p:grpSpPr>
          <p:sp>
            <p:nvSpPr>
              <p:cNvPr id="138" name="Google Shape;138;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9" name="Google Shape;139;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40" name="Google Shape;140;p14"/>
              <p:cNvSpPr txBox="1"/>
              <p:nvPr/>
            </p:nvSpPr>
            <p:spPr>
              <a:xfrm>
                <a:off x="8459833" y="8840948"/>
                <a:ext cx="8087400" cy="536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Luyện tập</a:t>
                </a:r>
                <a:endParaRPr b="1" sz="3200">
                  <a:solidFill>
                    <a:srgbClr val="FFFFFF"/>
                  </a:solidFill>
                  <a:latin typeface="Montserrat"/>
                  <a:ea typeface="Montserrat"/>
                  <a:cs typeface="Montserrat"/>
                  <a:sym typeface="Montserrat"/>
                </a:endParaRPr>
              </a:p>
            </p:txBody>
          </p:sp>
        </p:grpSp>
        <p:pic>
          <p:nvPicPr>
            <p:cNvPr descr="Books on shelf with solid fill" id="141" name="Google Shape;141;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ppt_w</p:attrName>
                                        </p:attrNameLst>
                                      </p:cBhvr>
                                      <p:tavLst>
                                        <p:tav fmla="" tm="0">
                                          <p:val>
                                            <p:strVal val="0"/>
                                          </p:val>
                                        </p:tav>
                                        <p:tav fmla="" tm="100000">
                                          <p:val>
                                            <p:strVal val="#ppt_w"/>
                                          </p:val>
                                        </p:tav>
                                      </p:tavLst>
                                    </p:anim>
                                    <p:anim calcmode="lin" valueType="num">
                                      <p:cBhvr additive="base">
                                        <p:cTn dur="500"/>
                                        <p:tgtEl>
                                          <p:spTgt spid="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5"/>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47" name="Google Shape;147;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48" name="Google Shape;148;p15"/>
          <p:cNvGrpSpPr/>
          <p:nvPr/>
        </p:nvGrpSpPr>
        <p:grpSpPr>
          <a:xfrm rot="10800000">
            <a:off x="15044552" y="-741521"/>
            <a:ext cx="7681766" cy="4260610"/>
            <a:chOff x="0" y="-38100"/>
            <a:chExt cx="406400" cy="225405"/>
          </a:xfrm>
        </p:grpSpPr>
        <p:sp>
          <p:nvSpPr>
            <p:cNvPr id="149" name="Google Shape;149;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0" name="Google Shape;150;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151" name="Google Shape;151;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52" name="Google Shape;152;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53" name="Google Shape;153;p15"/>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54" name="Google Shape;154;p15"/>
          <p:cNvSpPr txBox="1"/>
          <p:nvPr/>
        </p:nvSpPr>
        <p:spPr>
          <a:xfrm>
            <a:off x="7315200" y="2540878"/>
            <a:ext cx="8643900" cy="2851500"/>
          </a:xfrm>
          <a:prstGeom prst="rect">
            <a:avLst/>
          </a:prstGeom>
          <a:noFill/>
          <a:ln>
            <a:noFill/>
          </a:ln>
        </p:spPr>
        <p:txBody>
          <a:bodyPr anchorCtr="0" anchor="t" bIns="0" lIns="0" spcFirstLastPara="1" rIns="0" wrap="square" tIns="0">
            <a:spAutoFit/>
          </a:bodyPr>
          <a:lstStyle/>
          <a:p>
            <a:pPr indent="0" lvl="0" marL="0" marR="0" rtl="0" algn="ctr">
              <a:lnSpc>
                <a:spcPct val="110511"/>
              </a:lnSpc>
              <a:spcBef>
                <a:spcPts val="0"/>
              </a:spcBef>
              <a:spcAft>
                <a:spcPts val="0"/>
              </a:spcAft>
              <a:buNone/>
            </a:pPr>
            <a:r>
              <a:rPr b="1" lang="en-US" sz="8800">
                <a:solidFill>
                  <a:srgbClr val="018345"/>
                </a:solidFill>
                <a:latin typeface="Montserrat"/>
                <a:ea typeface="Montserrat"/>
                <a:cs typeface="Montserrat"/>
                <a:sym typeface="Montserrat"/>
              </a:rPr>
              <a:t>Bài nói APTIS part 3</a:t>
            </a:r>
            <a:endParaRPr/>
          </a:p>
        </p:txBody>
      </p:sp>
      <p:sp>
        <p:nvSpPr>
          <p:cNvPr id="155" name="Google Shape;155;p15"/>
          <p:cNvSpPr txBox="1"/>
          <p:nvPr/>
        </p:nvSpPr>
        <p:spPr>
          <a:xfrm>
            <a:off x="10210111" y="339710"/>
            <a:ext cx="214672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01</a:t>
            </a:r>
            <a:endParaRPr/>
          </a:p>
        </p:txBody>
      </p:sp>
      <p:sp>
        <p:nvSpPr>
          <p:cNvPr id="156" name="Google Shape;156;p15"/>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157" name="Google Shape;157;p15"/>
          <p:cNvGrpSpPr/>
          <p:nvPr/>
        </p:nvGrpSpPr>
        <p:grpSpPr>
          <a:xfrm>
            <a:off x="-2718010" y="9274528"/>
            <a:ext cx="7950400" cy="1707231"/>
            <a:chOff x="0" y="-384762"/>
            <a:chExt cx="10600533" cy="2276307"/>
          </a:xfrm>
        </p:grpSpPr>
        <p:grpSp>
          <p:nvGrpSpPr>
            <p:cNvPr id="158" name="Google Shape;158;p15"/>
            <p:cNvGrpSpPr/>
            <p:nvPr/>
          </p:nvGrpSpPr>
          <p:grpSpPr>
            <a:xfrm>
              <a:off x="0" y="-384762"/>
              <a:ext cx="10600533" cy="2276307"/>
              <a:chOff x="0" y="-38100"/>
              <a:chExt cx="1049690" cy="225405"/>
            </a:xfrm>
          </p:grpSpPr>
          <p:sp>
            <p:nvSpPr>
              <p:cNvPr id="159" name="Google Shape;159;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0" name="Google Shape;160;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1" name="Google Shape;161;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ppt_w</p:attrName>
                                        </p:attrNameLst>
                                      </p:cBhvr>
                                      <p:tavLst>
                                        <p:tav fmla="" tm="0">
                                          <p:val>
                                            <p:strVal val="0"/>
                                          </p:val>
                                        </p:tav>
                                        <p:tav fmla="" tm="100000">
                                          <p:val>
                                            <p:strVal val="#ppt_w"/>
                                          </p:val>
                                        </p:tav>
                                      </p:tavLst>
                                    </p:anim>
                                    <p:anim calcmode="lin" valueType="num">
                                      <p:cBhvr additive="base">
                                        <p:cTn dur="500"/>
                                        <p:tgtEl>
                                          <p:spTgt spid="1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16"/>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cxnSp>
        <p:nvCxnSpPr>
          <p:cNvPr id="168" name="Google Shape;168;p1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69" name="Google Shape;169;p16"/>
          <p:cNvGrpSpPr/>
          <p:nvPr/>
        </p:nvGrpSpPr>
        <p:grpSpPr>
          <a:xfrm rot="10800000">
            <a:off x="15785091" y="-536942"/>
            <a:ext cx="7681766" cy="4260610"/>
            <a:chOff x="0" y="-38100"/>
            <a:chExt cx="406400" cy="225405"/>
          </a:xfrm>
        </p:grpSpPr>
        <p:sp>
          <p:nvSpPr>
            <p:cNvPr id="170" name="Google Shape;170;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71" name="Google Shape;171;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2" name="Google Shape;172;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73" name="Google Shape;173;p16"/>
          <p:cNvGrpSpPr/>
          <p:nvPr/>
        </p:nvGrpSpPr>
        <p:grpSpPr>
          <a:xfrm>
            <a:off x="-2718010" y="9274528"/>
            <a:ext cx="7950400" cy="1707231"/>
            <a:chOff x="0" y="-384762"/>
            <a:chExt cx="10600533" cy="2276307"/>
          </a:xfrm>
        </p:grpSpPr>
        <p:grpSp>
          <p:nvGrpSpPr>
            <p:cNvPr id="174" name="Google Shape;174;p16"/>
            <p:cNvGrpSpPr/>
            <p:nvPr/>
          </p:nvGrpSpPr>
          <p:grpSpPr>
            <a:xfrm>
              <a:off x="0" y="-384762"/>
              <a:ext cx="10600533" cy="2276307"/>
              <a:chOff x="0" y="-38100"/>
              <a:chExt cx="1049690" cy="225405"/>
            </a:xfrm>
          </p:grpSpPr>
          <p:sp>
            <p:nvSpPr>
              <p:cNvPr id="175" name="Google Shape;175;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76" name="Google Shape;176;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7" name="Google Shape;177;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8" name="Google Shape;178;p16"/>
          <p:cNvSpPr txBox="1"/>
          <p:nvPr/>
        </p:nvSpPr>
        <p:spPr>
          <a:xfrm>
            <a:off x="6293296" y="622074"/>
            <a:ext cx="118809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Part 3 Speaking Aptis</a:t>
            </a:r>
            <a:endParaRPr b="1" sz="4800">
              <a:solidFill>
                <a:srgbClr val="018345"/>
              </a:solidFill>
              <a:latin typeface="Montserrat"/>
              <a:ea typeface="Montserrat"/>
              <a:cs typeface="Montserrat"/>
              <a:sym typeface="Montserrat"/>
            </a:endParaRPr>
          </a:p>
        </p:txBody>
      </p:sp>
      <p:grpSp>
        <p:nvGrpSpPr>
          <p:cNvPr id="179" name="Google Shape;179;p16"/>
          <p:cNvGrpSpPr/>
          <p:nvPr/>
        </p:nvGrpSpPr>
        <p:grpSpPr>
          <a:xfrm>
            <a:off x="7810381" y="1809050"/>
            <a:ext cx="9412781" cy="6801294"/>
            <a:chOff x="7810502" y="2279932"/>
            <a:chExt cx="7889348" cy="6330318"/>
          </a:xfrm>
        </p:grpSpPr>
        <p:grpSp>
          <p:nvGrpSpPr>
            <p:cNvPr id="180" name="Google Shape;180;p16"/>
            <p:cNvGrpSpPr/>
            <p:nvPr/>
          </p:nvGrpSpPr>
          <p:grpSpPr>
            <a:xfrm>
              <a:off x="7810502" y="2279932"/>
              <a:ext cx="7889348" cy="6330318"/>
              <a:chOff x="695515" y="76899"/>
              <a:chExt cx="7889348" cy="6330318"/>
            </a:xfrm>
          </p:grpSpPr>
          <p:sp>
            <p:nvSpPr>
              <p:cNvPr id="181" name="Google Shape;181;p16"/>
              <p:cNvSpPr/>
              <p:nvPr/>
            </p:nvSpPr>
            <p:spPr>
              <a:xfrm>
                <a:off x="2991522" y="365952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a:off x="2791890" y="397944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a:off x="2553972" y="4256426"/>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2838380"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31428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3446391" y="7689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
              <p:cNvSpPr/>
              <p:nvPr/>
            </p:nvSpPr>
            <p:spPr>
              <a:xfrm>
                <a:off x="37499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
              <p:cNvSpPr/>
              <p:nvPr/>
            </p:nvSpPr>
            <p:spPr>
              <a:xfrm>
                <a:off x="4054402"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3446391" y="459715"/>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3446391" y="842531"/>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1592275" y="5088831"/>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txBox="1"/>
              <p:nvPr/>
            </p:nvSpPr>
            <p:spPr>
              <a:xfrm>
                <a:off x="1656633" y="5153189"/>
                <a:ext cx="4786423" cy="118967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3700">
                    <a:solidFill>
                      <a:schemeClr val="lt1"/>
                    </a:solidFill>
                    <a:latin typeface="Roboto"/>
                    <a:ea typeface="Roboto"/>
                    <a:cs typeface="Roboto"/>
                    <a:sym typeface="Roboto"/>
                  </a:rPr>
                  <a:t>45</a:t>
                </a:r>
                <a:r>
                  <a:rPr b="1" lang="en-US" sz="3700">
                    <a:solidFill>
                      <a:schemeClr val="lt1"/>
                    </a:solidFill>
                    <a:latin typeface="Roboto"/>
                    <a:ea typeface="Roboto"/>
                    <a:cs typeface="Roboto"/>
                    <a:sym typeface="Roboto"/>
                  </a:rPr>
                  <a:t> giây/ câu trả lời</a:t>
                </a:r>
                <a:endParaRPr b="1" sz="3700">
                  <a:solidFill>
                    <a:schemeClr val="lt1"/>
                  </a:solidFill>
                  <a:latin typeface="Roboto"/>
                  <a:ea typeface="Roboto"/>
                  <a:cs typeface="Roboto"/>
                  <a:sym typeface="Roboto"/>
                </a:endParaRPr>
              </a:p>
            </p:txBody>
          </p:sp>
          <p:sp>
            <p:nvSpPr>
              <p:cNvPr id="193" name="Google Shape;193;p16"/>
              <p:cNvSpPr/>
              <p:nvPr/>
            </p:nvSpPr>
            <p:spPr>
              <a:xfrm>
                <a:off x="695515" y="4108036"/>
                <a:ext cx="1676384" cy="1630492"/>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p:nvPr/>
            </p:nvSpPr>
            <p:spPr>
              <a:xfrm>
                <a:off x="3669724" y="2510116"/>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
              <p:cNvSpPr txBox="1"/>
              <p:nvPr/>
            </p:nvSpPr>
            <p:spPr>
              <a:xfrm>
                <a:off x="3734082" y="2574474"/>
                <a:ext cx="4786500" cy="1189800"/>
              </a:xfrm>
              <a:prstGeom prst="rect">
                <a:avLst/>
              </a:prstGeom>
              <a:noFill/>
              <a:ln>
                <a:noFill/>
              </a:ln>
            </p:spPr>
            <p:txBody>
              <a:bodyPr anchorCtr="0" anchor="ctr" bIns="182875" lIns="1040350" spcFirstLastPara="1" rIns="182875" wrap="square" tIns="182875">
                <a:noAutofit/>
              </a:bodyPr>
              <a:lstStyle/>
              <a:p>
                <a:pPr indent="0" lvl="0" marL="0" rtl="0" algn="l">
                  <a:lnSpc>
                    <a:spcPct val="90000"/>
                  </a:lnSpc>
                  <a:spcBef>
                    <a:spcPts val="0"/>
                  </a:spcBef>
                  <a:spcAft>
                    <a:spcPts val="0"/>
                  </a:spcAft>
                  <a:buClr>
                    <a:schemeClr val="dk1"/>
                  </a:buClr>
                  <a:buSzPts val="1100"/>
                  <a:buFont typeface="Arial"/>
                  <a:buNone/>
                </a:pPr>
                <a:r>
                  <a:rPr b="1" lang="en-US" sz="3700">
                    <a:solidFill>
                      <a:schemeClr val="lt1"/>
                    </a:solidFill>
                    <a:latin typeface="Roboto"/>
                    <a:ea typeface="Roboto"/>
                    <a:cs typeface="Roboto"/>
                    <a:sym typeface="Roboto"/>
                  </a:rPr>
                  <a:t>Mô tả 2 hình ảnh đối lập, trả lời 2 câu hỏi</a:t>
                </a:r>
                <a:endParaRPr b="1" sz="3700">
                  <a:solidFill>
                    <a:schemeClr val="lt1"/>
                  </a:solidFill>
                  <a:latin typeface="Roboto"/>
                  <a:ea typeface="Roboto"/>
                  <a:cs typeface="Roboto"/>
                  <a:sym typeface="Roboto"/>
                </a:endParaRPr>
              </a:p>
            </p:txBody>
          </p:sp>
          <p:sp>
            <p:nvSpPr>
              <p:cNvPr id="196" name="Google Shape;196;p16"/>
              <p:cNvSpPr/>
              <p:nvPr/>
            </p:nvSpPr>
            <p:spPr>
              <a:xfrm>
                <a:off x="2564182" y="1520638"/>
                <a:ext cx="1764418" cy="1674153"/>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Bullseye with solid fill" id="197" name="Google Shape;197;p16"/>
            <p:cNvPicPr preferRelativeResize="0"/>
            <p:nvPr/>
          </p:nvPicPr>
          <p:blipFill rotWithShape="1">
            <a:blip r:embed="rId4">
              <a:alphaModFix/>
            </a:blip>
            <a:srcRect b="0" l="0" r="0" t="0"/>
            <a:stretch/>
          </p:blipFill>
          <p:spPr>
            <a:xfrm>
              <a:off x="8077200" y="6515100"/>
              <a:ext cx="1219200" cy="1219200"/>
            </a:xfrm>
            <a:prstGeom prst="rect">
              <a:avLst/>
            </a:prstGeom>
            <a:noFill/>
            <a:ln>
              <a:noFill/>
            </a:ln>
          </p:spPr>
        </p:pic>
        <p:pic>
          <p:nvPicPr>
            <p:cNvPr descr="Lightbulb and gear with solid fill" id="198" name="Google Shape;198;p16"/>
            <p:cNvPicPr preferRelativeResize="0"/>
            <p:nvPr/>
          </p:nvPicPr>
          <p:blipFill rotWithShape="1">
            <a:blip r:embed="rId5">
              <a:alphaModFix/>
            </a:blip>
            <a:srcRect b="0" l="0" r="0" t="0"/>
            <a:stretch/>
          </p:blipFill>
          <p:spPr>
            <a:xfrm>
              <a:off x="10001250" y="3943350"/>
              <a:ext cx="1200150" cy="12001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cxnSp>
        <p:nvCxnSpPr>
          <p:cNvPr id="203" name="Google Shape;203;p17"/>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04" name="Google Shape;204;p1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05" name="Google Shape;205;p17"/>
          <p:cNvGrpSpPr/>
          <p:nvPr/>
        </p:nvGrpSpPr>
        <p:grpSpPr>
          <a:xfrm rot="10800000">
            <a:off x="15044552" y="-741521"/>
            <a:ext cx="7681766" cy="4260610"/>
            <a:chOff x="0" y="-38100"/>
            <a:chExt cx="406400" cy="225405"/>
          </a:xfrm>
        </p:grpSpPr>
        <p:sp>
          <p:nvSpPr>
            <p:cNvPr id="206" name="Google Shape;206;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07" name="Google Shape;207;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08" name="Google Shape;208;p1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09" name="Google Shape;209;p17"/>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10" name="Google Shape;210;p17"/>
          <p:cNvSpPr txBox="1"/>
          <p:nvPr/>
        </p:nvSpPr>
        <p:spPr>
          <a:xfrm>
            <a:off x="5511794" y="2502271"/>
            <a:ext cx="11760209" cy="2385974"/>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Lưu ý khi làm bài nói APTIS</a:t>
            </a:r>
            <a:endParaRPr/>
          </a:p>
        </p:txBody>
      </p:sp>
      <p:sp>
        <p:nvSpPr>
          <p:cNvPr id="211" name="Google Shape;211;p17"/>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02</a:t>
            </a:r>
            <a:endParaRPr/>
          </a:p>
        </p:txBody>
      </p:sp>
      <p:sp>
        <p:nvSpPr>
          <p:cNvPr id="212" name="Google Shape;212;p17"/>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13" name="Google Shape;213;p17"/>
          <p:cNvGrpSpPr/>
          <p:nvPr/>
        </p:nvGrpSpPr>
        <p:grpSpPr>
          <a:xfrm>
            <a:off x="-2718010" y="9274528"/>
            <a:ext cx="7950400" cy="1707231"/>
            <a:chOff x="0" y="-384762"/>
            <a:chExt cx="10600533" cy="2276307"/>
          </a:xfrm>
        </p:grpSpPr>
        <p:grpSp>
          <p:nvGrpSpPr>
            <p:cNvPr id="214" name="Google Shape;214;p17"/>
            <p:cNvGrpSpPr/>
            <p:nvPr/>
          </p:nvGrpSpPr>
          <p:grpSpPr>
            <a:xfrm>
              <a:off x="0" y="-384762"/>
              <a:ext cx="10600533" cy="2276307"/>
              <a:chOff x="0" y="-38100"/>
              <a:chExt cx="1049690" cy="225405"/>
            </a:xfrm>
          </p:grpSpPr>
          <p:sp>
            <p:nvSpPr>
              <p:cNvPr id="215" name="Google Shape;215;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16" name="Google Shape;216;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7" name="Google Shape;217;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Stressed Out Woman Cartoon Images – Browse 1,008 Stock Photos, Vectors, and  Video | Adobe Stock" id="218" name="Google Shape;218;p17"/>
          <p:cNvPicPr preferRelativeResize="0"/>
          <p:nvPr/>
        </p:nvPicPr>
        <p:blipFill rotWithShape="1">
          <a:blip r:embed="rId5">
            <a:alphaModFix/>
          </a:blip>
          <a:srcRect b="0" l="0" r="0" t="0"/>
          <a:stretch/>
        </p:blipFill>
        <p:spPr>
          <a:xfrm>
            <a:off x="8305800" y="4969014"/>
            <a:ext cx="7127824" cy="3990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11"/>
                                        </p:tgtEl>
                                        <p:attrNameLst>
                                          <p:attrName>style.visibility</p:attrName>
                                        </p:attrNameLst>
                                      </p:cBhvr>
                                      <p:to>
                                        <p:strVal val="visible"/>
                                      </p:to>
                                    </p:set>
                                    <p:anim calcmode="lin" valueType="num">
                                      <p:cBhvr additive="base">
                                        <p:cTn dur="500"/>
                                        <p:tgtEl>
                                          <p:spTgt spid="211"/>
                                        </p:tgtEl>
                                        <p:attrNameLst>
                                          <p:attrName>ppt_w</p:attrName>
                                        </p:attrNameLst>
                                      </p:cBhvr>
                                      <p:tavLst>
                                        <p:tav fmla="" tm="0">
                                          <p:val>
                                            <p:strVal val="0"/>
                                          </p:val>
                                        </p:tav>
                                        <p:tav fmla="" tm="100000">
                                          <p:val>
                                            <p:strVal val="#ppt_w"/>
                                          </p:val>
                                        </p:tav>
                                      </p:tavLst>
                                    </p:anim>
                                    <p:anim calcmode="lin" valueType="num">
                                      <p:cBhvr additive="base">
                                        <p:cTn dur="500"/>
                                        <p:tgtEl>
                                          <p:spTgt spid="21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10"/>
                                        </p:tgtEl>
                                        <p:attrNameLst>
                                          <p:attrName>style.visibility</p:attrName>
                                        </p:attrNameLst>
                                      </p:cBhvr>
                                      <p:to>
                                        <p:strVal val="visible"/>
                                      </p:to>
                                    </p:set>
                                    <p:anim calcmode="lin" valueType="num">
                                      <p:cBhvr additive="base">
                                        <p:cTn dur="500"/>
                                        <p:tgtEl>
                                          <p:spTgt spid="210"/>
                                        </p:tgtEl>
                                        <p:attrNameLst>
                                          <p:attrName>ppt_w</p:attrName>
                                        </p:attrNameLst>
                                      </p:cBhvr>
                                      <p:tavLst>
                                        <p:tav fmla="" tm="0">
                                          <p:val>
                                            <p:strVal val="0"/>
                                          </p:val>
                                        </p:tav>
                                        <p:tav fmla="" tm="100000">
                                          <p:val>
                                            <p:strVal val="#ppt_w"/>
                                          </p:val>
                                        </p:tav>
                                      </p:tavLst>
                                    </p:anim>
                                    <p:anim calcmode="lin" valueType="num">
                                      <p:cBhvr additive="base">
                                        <p:cTn dur="500"/>
                                        <p:tgtEl>
                                          <p:spTgt spid="21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cxnSp>
        <p:nvCxnSpPr>
          <p:cNvPr id="224" name="Google Shape;224;p18"/>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25" name="Google Shape;225;p18"/>
          <p:cNvGrpSpPr/>
          <p:nvPr/>
        </p:nvGrpSpPr>
        <p:grpSpPr>
          <a:xfrm rot="10800000">
            <a:off x="15785091" y="-536942"/>
            <a:ext cx="7681766" cy="4260610"/>
            <a:chOff x="0" y="-38100"/>
            <a:chExt cx="406400" cy="225405"/>
          </a:xfrm>
        </p:grpSpPr>
        <p:sp>
          <p:nvSpPr>
            <p:cNvPr id="226" name="Google Shape;226;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27" name="Google Shape;227;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8" name="Google Shape;228;p18"/>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29" name="Google Shape;229;p18"/>
          <p:cNvSpPr txBox="1"/>
          <p:nvPr/>
        </p:nvSpPr>
        <p:spPr>
          <a:xfrm>
            <a:off x="3359002" y="401132"/>
            <a:ext cx="11880998" cy="863826"/>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 khi làm bài nói APTIS</a:t>
            </a:r>
            <a:endParaRPr/>
          </a:p>
        </p:txBody>
      </p:sp>
      <p:grpSp>
        <p:nvGrpSpPr>
          <p:cNvPr id="230" name="Google Shape;230;p18"/>
          <p:cNvGrpSpPr/>
          <p:nvPr/>
        </p:nvGrpSpPr>
        <p:grpSpPr>
          <a:xfrm>
            <a:off x="-2718010" y="9274528"/>
            <a:ext cx="7950400" cy="1707231"/>
            <a:chOff x="0" y="-384762"/>
            <a:chExt cx="10600533" cy="2276307"/>
          </a:xfrm>
        </p:grpSpPr>
        <p:grpSp>
          <p:nvGrpSpPr>
            <p:cNvPr id="231" name="Google Shape;231;p18"/>
            <p:cNvGrpSpPr/>
            <p:nvPr/>
          </p:nvGrpSpPr>
          <p:grpSpPr>
            <a:xfrm>
              <a:off x="0" y="-384762"/>
              <a:ext cx="10600533" cy="2276307"/>
              <a:chOff x="0" y="-38100"/>
              <a:chExt cx="1049690" cy="225405"/>
            </a:xfrm>
          </p:grpSpPr>
          <p:sp>
            <p:nvSpPr>
              <p:cNvPr id="232" name="Google Shape;232;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33" name="Google Shape;233;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4" name="Google Shape;234;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5" name="Google Shape;235;p18"/>
          <p:cNvSpPr txBox="1"/>
          <p:nvPr/>
        </p:nvSpPr>
        <p:spPr>
          <a:xfrm>
            <a:off x="930043" y="2095500"/>
            <a:ext cx="17255599" cy="3690241"/>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Hãy lắng nghe hướng dẫn và nói rõ ràng vào micrô khi bạn nghe thấy tín hiệu.</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Mỗi phần của bài kiểm tra sẽ tự động xuất hiện. </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Bạn có thể dừng ghi âm phản hồi của mình trước khi hết giờ.</a:t>
            </a:r>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Nên nói trong toàn bộ thời gian để tối đa hóa điểm số của mình.</a:t>
            </a:r>
            <a:endParaRPr/>
          </a:p>
        </p:txBody>
      </p:sp>
      <p:pic>
        <p:nvPicPr>
          <p:cNvPr id="236" name="Google Shape;236;p18"/>
          <p:cNvPicPr preferRelativeResize="0"/>
          <p:nvPr/>
        </p:nvPicPr>
        <p:blipFill>
          <a:blip r:embed="rId4">
            <a:alphaModFix/>
          </a:blip>
          <a:stretch>
            <a:fillRect/>
          </a:stretch>
        </p:blipFill>
        <p:spPr>
          <a:xfrm>
            <a:off x="3992888" y="5785759"/>
            <a:ext cx="11129925" cy="4128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cxnSp>
        <p:nvCxnSpPr>
          <p:cNvPr id="242" name="Google Shape;242;p19"/>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43" name="Google Shape;243;p19"/>
          <p:cNvGrpSpPr/>
          <p:nvPr/>
        </p:nvGrpSpPr>
        <p:grpSpPr>
          <a:xfrm rot="10800000">
            <a:off x="15785091" y="-536942"/>
            <a:ext cx="7681766" cy="4260610"/>
            <a:chOff x="0" y="-38100"/>
            <a:chExt cx="406400" cy="225405"/>
          </a:xfrm>
        </p:grpSpPr>
        <p:sp>
          <p:nvSpPr>
            <p:cNvPr id="244" name="Google Shape;244;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45" name="Google Shape;245;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6" name="Google Shape;246;p19"/>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47" name="Google Shape;247;p19"/>
          <p:cNvSpPr txBox="1"/>
          <p:nvPr/>
        </p:nvSpPr>
        <p:spPr>
          <a:xfrm>
            <a:off x="3359002" y="401132"/>
            <a:ext cx="11880998" cy="863826"/>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 khi làm bài nói APTIS</a:t>
            </a:r>
            <a:endParaRPr/>
          </a:p>
        </p:txBody>
      </p:sp>
      <p:grpSp>
        <p:nvGrpSpPr>
          <p:cNvPr id="248" name="Google Shape;248;p19"/>
          <p:cNvGrpSpPr/>
          <p:nvPr/>
        </p:nvGrpSpPr>
        <p:grpSpPr>
          <a:xfrm>
            <a:off x="-2718010" y="9274528"/>
            <a:ext cx="7950400" cy="1707231"/>
            <a:chOff x="0" y="-384762"/>
            <a:chExt cx="10600533" cy="2276307"/>
          </a:xfrm>
        </p:grpSpPr>
        <p:grpSp>
          <p:nvGrpSpPr>
            <p:cNvPr id="249" name="Google Shape;249;p19"/>
            <p:cNvGrpSpPr/>
            <p:nvPr/>
          </p:nvGrpSpPr>
          <p:grpSpPr>
            <a:xfrm>
              <a:off x="0" y="-384762"/>
              <a:ext cx="10600533" cy="2276307"/>
              <a:chOff x="0" y="-38100"/>
              <a:chExt cx="1049690" cy="225405"/>
            </a:xfrm>
          </p:grpSpPr>
          <p:sp>
            <p:nvSpPr>
              <p:cNvPr id="250" name="Google Shape;250;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51" name="Google Shape;251;p1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2" name="Google Shape;252;p1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3" name="Google Shape;253;p19"/>
          <p:cNvSpPr txBox="1"/>
          <p:nvPr/>
        </p:nvSpPr>
        <p:spPr>
          <a:xfrm>
            <a:off x="1600200" y="2200508"/>
            <a:ext cx="15938100" cy="255510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Khi đến thời gian ghi âm, bộ đếm thời gian sẽ bắt đầu.</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Nội dung này cho bạn biết bạn đã ghi âm được bao lâu.</a:t>
            </a:r>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Mỗi khi một câu hỏi mới xuất hiện, quy trình tương tự sẽ được lặp lại.</a:t>
            </a:r>
            <a:endParaRPr sz="4000">
              <a:solidFill>
                <a:schemeClr val="dk1"/>
              </a:solidFill>
              <a:latin typeface="Calibri"/>
              <a:ea typeface="Calibri"/>
              <a:cs typeface="Calibri"/>
              <a:sym typeface="Calibri"/>
            </a:endParaRPr>
          </a:p>
        </p:txBody>
      </p:sp>
      <p:pic>
        <p:nvPicPr>
          <p:cNvPr id="254" name="Google Shape;254;p19"/>
          <p:cNvPicPr preferRelativeResize="0"/>
          <p:nvPr/>
        </p:nvPicPr>
        <p:blipFill>
          <a:blip r:embed="rId4">
            <a:alphaModFix/>
          </a:blip>
          <a:stretch>
            <a:fillRect/>
          </a:stretch>
        </p:blipFill>
        <p:spPr>
          <a:xfrm>
            <a:off x="3996350" y="5181325"/>
            <a:ext cx="11592884" cy="4260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cxnSp>
        <p:nvCxnSpPr>
          <p:cNvPr id="260" name="Google Shape;260;p20"/>
          <p:cNvCxnSpPr/>
          <p:nvPr/>
        </p:nvCxnSpPr>
        <p:spPr>
          <a:xfrm>
            <a:off x="3154"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61" name="Google Shape;261;p20"/>
          <p:cNvGrpSpPr/>
          <p:nvPr/>
        </p:nvGrpSpPr>
        <p:grpSpPr>
          <a:xfrm rot="10800000">
            <a:off x="15785091" y="-536942"/>
            <a:ext cx="7681766" cy="4260610"/>
            <a:chOff x="0" y="-38100"/>
            <a:chExt cx="406400" cy="225405"/>
          </a:xfrm>
        </p:grpSpPr>
        <p:sp>
          <p:nvSpPr>
            <p:cNvPr id="262" name="Google Shape;262;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63" name="Google Shape;263;p2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4" name="Google Shape;264;p20"/>
          <p:cNvSpPr txBox="1"/>
          <p:nvPr/>
        </p:nvSpPr>
        <p:spPr>
          <a:xfrm>
            <a:off x="5571910" y="401132"/>
            <a:ext cx="11880998" cy="863826"/>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a:t>
            </a:r>
            <a:endParaRPr/>
          </a:p>
        </p:txBody>
      </p:sp>
      <p:grpSp>
        <p:nvGrpSpPr>
          <p:cNvPr id="265" name="Google Shape;265;p20"/>
          <p:cNvGrpSpPr/>
          <p:nvPr/>
        </p:nvGrpSpPr>
        <p:grpSpPr>
          <a:xfrm>
            <a:off x="-2718010" y="9274528"/>
            <a:ext cx="7950400" cy="1707231"/>
            <a:chOff x="0" y="-384762"/>
            <a:chExt cx="10600533" cy="2276307"/>
          </a:xfrm>
        </p:grpSpPr>
        <p:grpSp>
          <p:nvGrpSpPr>
            <p:cNvPr id="266" name="Google Shape;266;p20"/>
            <p:cNvGrpSpPr/>
            <p:nvPr/>
          </p:nvGrpSpPr>
          <p:grpSpPr>
            <a:xfrm>
              <a:off x="0" y="-384762"/>
              <a:ext cx="10600533" cy="2276307"/>
              <a:chOff x="0" y="-38100"/>
              <a:chExt cx="1049690" cy="225405"/>
            </a:xfrm>
          </p:grpSpPr>
          <p:sp>
            <p:nvSpPr>
              <p:cNvPr id="267" name="Google Shape;267;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68" name="Google Shape;268;p2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9" name="Google Shape;269;p2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0" name="Google Shape;270;p20"/>
          <p:cNvSpPr/>
          <p:nvPr/>
        </p:nvSpPr>
        <p:spPr>
          <a:xfrm>
            <a:off x="7720637" y="2270061"/>
            <a:ext cx="10186363" cy="70044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0"/>
          <p:cNvSpPr/>
          <p:nvPr/>
        </p:nvSpPr>
        <p:spPr>
          <a:xfrm>
            <a:off x="-52203" y="1059893"/>
            <a:ext cx="9424803" cy="9424803"/>
          </a:xfrm>
          <a:prstGeom prst="blockArc">
            <a:avLst>
              <a:gd fmla="val 18900000" name="adj1"/>
              <a:gd fmla="val 2700000" name="adj2"/>
              <a:gd fmla="val 229" name="adj3"/>
            </a:avLst>
          </a:prstGeom>
          <a:no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2" name="Google Shape;272;p20"/>
          <p:cNvCxnSpPr/>
          <p:nvPr/>
        </p:nvCxnSpPr>
        <p:spPr>
          <a:xfrm flipH="1" rot="10800000">
            <a:off x="6209271" y="1632998"/>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73" name="Google Shape;273;p20"/>
          <p:cNvGrpSpPr/>
          <p:nvPr/>
        </p:nvGrpSpPr>
        <p:grpSpPr>
          <a:xfrm>
            <a:off x="8158730" y="2598220"/>
            <a:ext cx="8684450" cy="1094798"/>
            <a:chOff x="7100641" y="2598220"/>
            <a:chExt cx="8684450" cy="1094798"/>
          </a:xfrm>
        </p:grpSpPr>
        <p:sp>
          <p:nvSpPr>
            <p:cNvPr id="274" name="Google Shape;274;p20"/>
            <p:cNvSpPr/>
            <p:nvPr/>
          </p:nvSpPr>
          <p:spPr>
            <a:xfrm>
              <a:off x="7648040" y="2707700"/>
              <a:ext cx="8137051" cy="875838"/>
            </a:xfrm>
            <a:custGeom>
              <a:rect b="b" l="l" r="r" t="t"/>
              <a:pathLst>
                <a:path extrusionOk="0" h="875838" w="9428479">
                  <a:moveTo>
                    <a:pt x="0" y="0"/>
                  </a:moveTo>
                  <a:lnTo>
                    <a:pt x="9428479" y="0"/>
                  </a:lnTo>
                  <a:lnTo>
                    <a:pt x="94284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Giữ bình tĩnh và tự tin</a:t>
              </a:r>
              <a:endParaRPr sz="4600">
                <a:solidFill>
                  <a:schemeClr val="lt1"/>
                </a:solidFill>
                <a:latin typeface="Calibri"/>
                <a:ea typeface="Calibri"/>
                <a:cs typeface="Calibri"/>
                <a:sym typeface="Calibri"/>
              </a:endParaRPr>
            </a:p>
          </p:txBody>
        </p:sp>
        <p:sp>
          <p:nvSpPr>
            <p:cNvPr id="275" name="Google Shape;275;p20"/>
            <p:cNvSpPr/>
            <p:nvPr/>
          </p:nvSpPr>
          <p:spPr>
            <a:xfrm>
              <a:off x="7100641" y="2598220"/>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 name="Google Shape;276;p20"/>
          <p:cNvGrpSpPr/>
          <p:nvPr/>
        </p:nvGrpSpPr>
        <p:grpSpPr>
          <a:xfrm>
            <a:off x="8786330" y="3911557"/>
            <a:ext cx="8056850" cy="1094798"/>
            <a:chOff x="7728241" y="3911557"/>
            <a:chExt cx="8056850" cy="1094798"/>
          </a:xfrm>
        </p:grpSpPr>
        <p:sp>
          <p:nvSpPr>
            <p:cNvPr id="277" name="Google Shape;277;p20"/>
            <p:cNvSpPr/>
            <p:nvPr/>
          </p:nvSpPr>
          <p:spPr>
            <a:xfrm>
              <a:off x="8275640" y="4021037"/>
              <a:ext cx="7509451" cy="875838"/>
            </a:xfrm>
            <a:custGeom>
              <a:rect b="b" l="l" r="r" t="t"/>
              <a:pathLst>
                <a:path extrusionOk="0" h="875838" w="8800879">
                  <a:moveTo>
                    <a:pt x="0" y="0"/>
                  </a:moveTo>
                  <a:lnTo>
                    <a:pt x="8800879" y="0"/>
                  </a:lnTo>
                  <a:lnTo>
                    <a:pt x="88008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Nghe kỹ hướng dẫn</a:t>
              </a:r>
              <a:endParaRPr sz="4600">
                <a:solidFill>
                  <a:schemeClr val="lt1"/>
                </a:solidFill>
                <a:latin typeface="Calibri"/>
                <a:ea typeface="Calibri"/>
                <a:cs typeface="Calibri"/>
                <a:sym typeface="Calibri"/>
              </a:endParaRPr>
            </a:p>
          </p:txBody>
        </p:sp>
        <p:sp>
          <p:nvSpPr>
            <p:cNvPr id="278" name="Google Shape;278;p20"/>
            <p:cNvSpPr/>
            <p:nvPr/>
          </p:nvSpPr>
          <p:spPr>
            <a:xfrm>
              <a:off x="7728241" y="3911557"/>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 name="Google Shape;279;p20"/>
          <p:cNvGrpSpPr/>
          <p:nvPr/>
        </p:nvGrpSpPr>
        <p:grpSpPr>
          <a:xfrm>
            <a:off x="8978953" y="5224895"/>
            <a:ext cx="7864227" cy="1094798"/>
            <a:chOff x="7920864" y="5224895"/>
            <a:chExt cx="7864227" cy="1094798"/>
          </a:xfrm>
        </p:grpSpPr>
        <p:sp>
          <p:nvSpPr>
            <p:cNvPr id="280" name="Google Shape;280;p20"/>
            <p:cNvSpPr/>
            <p:nvPr/>
          </p:nvSpPr>
          <p:spPr>
            <a:xfrm>
              <a:off x="8468263" y="5334375"/>
              <a:ext cx="7316828" cy="875838"/>
            </a:xfrm>
            <a:custGeom>
              <a:rect b="b" l="l" r="r" t="t"/>
              <a:pathLst>
                <a:path extrusionOk="0" h="875838" w="8608256">
                  <a:moveTo>
                    <a:pt x="0" y="0"/>
                  </a:moveTo>
                  <a:lnTo>
                    <a:pt x="8608256" y="0"/>
                  </a:lnTo>
                  <a:lnTo>
                    <a:pt x="8608256"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Dùng đúng ngữ pháp</a:t>
              </a:r>
              <a:endParaRPr sz="4600">
                <a:solidFill>
                  <a:schemeClr val="lt1"/>
                </a:solidFill>
                <a:latin typeface="Calibri"/>
                <a:ea typeface="Calibri"/>
                <a:cs typeface="Calibri"/>
                <a:sym typeface="Calibri"/>
              </a:endParaRPr>
            </a:p>
          </p:txBody>
        </p:sp>
        <p:sp>
          <p:nvSpPr>
            <p:cNvPr id="281" name="Google Shape;281;p20"/>
            <p:cNvSpPr/>
            <p:nvPr/>
          </p:nvSpPr>
          <p:spPr>
            <a:xfrm>
              <a:off x="7920864" y="5224895"/>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 name="Google Shape;282;p20"/>
          <p:cNvGrpSpPr/>
          <p:nvPr/>
        </p:nvGrpSpPr>
        <p:grpSpPr>
          <a:xfrm>
            <a:off x="8786330" y="6538232"/>
            <a:ext cx="8056850" cy="1094798"/>
            <a:chOff x="7728241" y="6538232"/>
            <a:chExt cx="8056850" cy="1094798"/>
          </a:xfrm>
        </p:grpSpPr>
        <p:sp>
          <p:nvSpPr>
            <p:cNvPr id="283" name="Google Shape;283;p20"/>
            <p:cNvSpPr/>
            <p:nvPr/>
          </p:nvSpPr>
          <p:spPr>
            <a:xfrm>
              <a:off x="8275640" y="6647712"/>
              <a:ext cx="7509451" cy="875838"/>
            </a:xfrm>
            <a:custGeom>
              <a:rect b="b" l="l" r="r" t="t"/>
              <a:pathLst>
                <a:path extrusionOk="0" h="875838" w="8800879">
                  <a:moveTo>
                    <a:pt x="0" y="0"/>
                  </a:moveTo>
                  <a:lnTo>
                    <a:pt x="8800879" y="0"/>
                  </a:lnTo>
                  <a:lnTo>
                    <a:pt x="88008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Nêu được sự khác biệt</a:t>
              </a:r>
              <a:endParaRPr sz="4600">
                <a:solidFill>
                  <a:schemeClr val="lt1"/>
                </a:solidFill>
                <a:latin typeface="Calibri"/>
                <a:ea typeface="Calibri"/>
                <a:cs typeface="Calibri"/>
                <a:sym typeface="Calibri"/>
              </a:endParaRPr>
            </a:p>
          </p:txBody>
        </p:sp>
        <p:sp>
          <p:nvSpPr>
            <p:cNvPr id="284" name="Google Shape;284;p20"/>
            <p:cNvSpPr/>
            <p:nvPr/>
          </p:nvSpPr>
          <p:spPr>
            <a:xfrm>
              <a:off x="7728241" y="6538232"/>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20"/>
          <p:cNvGrpSpPr/>
          <p:nvPr/>
        </p:nvGrpSpPr>
        <p:grpSpPr>
          <a:xfrm>
            <a:off x="8158730" y="7851570"/>
            <a:ext cx="8684450" cy="1094798"/>
            <a:chOff x="7100641" y="7851570"/>
            <a:chExt cx="8684450" cy="1094798"/>
          </a:xfrm>
        </p:grpSpPr>
        <p:sp>
          <p:nvSpPr>
            <p:cNvPr id="286" name="Google Shape;286;p20"/>
            <p:cNvSpPr/>
            <p:nvPr/>
          </p:nvSpPr>
          <p:spPr>
            <a:xfrm>
              <a:off x="7648040" y="7961050"/>
              <a:ext cx="8137051" cy="875838"/>
            </a:xfrm>
            <a:custGeom>
              <a:rect b="b" l="l" r="r" t="t"/>
              <a:pathLst>
                <a:path extrusionOk="0" h="875838" w="9428479">
                  <a:moveTo>
                    <a:pt x="0" y="0"/>
                  </a:moveTo>
                  <a:lnTo>
                    <a:pt x="9428479" y="0"/>
                  </a:lnTo>
                  <a:lnTo>
                    <a:pt x="94284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Sử dụng ngữ điệu khi nói</a:t>
              </a:r>
              <a:endParaRPr sz="4600">
                <a:solidFill>
                  <a:schemeClr val="lt1"/>
                </a:solidFill>
                <a:latin typeface="Calibri"/>
                <a:ea typeface="Calibri"/>
                <a:cs typeface="Calibri"/>
                <a:sym typeface="Calibri"/>
              </a:endParaRPr>
            </a:p>
          </p:txBody>
        </p:sp>
        <p:sp>
          <p:nvSpPr>
            <p:cNvPr id="287" name="Google Shape;287;p20"/>
            <p:cNvSpPr/>
            <p:nvPr/>
          </p:nvSpPr>
          <p:spPr>
            <a:xfrm>
              <a:off x="7100641" y="7851570"/>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cxnSp>
        <p:nvCxnSpPr>
          <p:cNvPr id="292" name="Google Shape;292;p21"/>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93" name="Google Shape;293;p21"/>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94" name="Google Shape;294;p21"/>
          <p:cNvGrpSpPr/>
          <p:nvPr/>
        </p:nvGrpSpPr>
        <p:grpSpPr>
          <a:xfrm rot="10800000">
            <a:off x="15044552" y="-741521"/>
            <a:ext cx="7681766" cy="4260610"/>
            <a:chOff x="0" y="-38100"/>
            <a:chExt cx="406400" cy="225405"/>
          </a:xfrm>
        </p:grpSpPr>
        <p:sp>
          <p:nvSpPr>
            <p:cNvPr id="295" name="Google Shape;295;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96" name="Google Shape;296;p2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97" name="Google Shape;297;p21"/>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98" name="Google Shape;298;p21"/>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99" name="Google Shape;299;p21"/>
          <p:cNvSpPr txBox="1"/>
          <p:nvPr/>
        </p:nvSpPr>
        <p:spPr>
          <a:xfrm>
            <a:off x="5511794" y="2502271"/>
            <a:ext cx="11760209" cy="1142044"/>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Đề mẫu</a:t>
            </a:r>
            <a:endParaRPr b="1" sz="6600">
              <a:solidFill>
                <a:srgbClr val="018345"/>
              </a:solidFill>
              <a:latin typeface="Montserrat"/>
              <a:ea typeface="Montserrat"/>
              <a:cs typeface="Montserrat"/>
              <a:sym typeface="Montserrat"/>
            </a:endParaRPr>
          </a:p>
        </p:txBody>
      </p:sp>
      <p:sp>
        <p:nvSpPr>
          <p:cNvPr id="300" name="Google Shape;300;p21"/>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03</a:t>
            </a:r>
            <a:endParaRPr/>
          </a:p>
        </p:txBody>
      </p:sp>
      <p:sp>
        <p:nvSpPr>
          <p:cNvPr id="301" name="Google Shape;301;p21"/>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02" name="Google Shape;302;p21"/>
          <p:cNvGrpSpPr/>
          <p:nvPr/>
        </p:nvGrpSpPr>
        <p:grpSpPr>
          <a:xfrm>
            <a:off x="-2718010" y="9274528"/>
            <a:ext cx="7950400" cy="1707231"/>
            <a:chOff x="0" y="-384762"/>
            <a:chExt cx="10600533" cy="2276307"/>
          </a:xfrm>
        </p:grpSpPr>
        <p:grpSp>
          <p:nvGrpSpPr>
            <p:cNvPr id="303" name="Google Shape;303;p21"/>
            <p:cNvGrpSpPr/>
            <p:nvPr/>
          </p:nvGrpSpPr>
          <p:grpSpPr>
            <a:xfrm>
              <a:off x="0" y="-384762"/>
              <a:ext cx="10600533" cy="2276307"/>
              <a:chOff x="0" y="-38100"/>
              <a:chExt cx="1049690" cy="225405"/>
            </a:xfrm>
          </p:grpSpPr>
          <p:sp>
            <p:nvSpPr>
              <p:cNvPr id="304" name="Google Shape;304;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05" name="Google Shape;305;p2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6" name="Google Shape;306;p2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307" name="Google Shape;307;p21"/>
          <p:cNvPicPr preferRelativeResize="0"/>
          <p:nvPr/>
        </p:nvPicPr>
        <p:blipFill rotWithShape="1">
          <a:blip r:embed="rId5">
            <a:alphaModFix/>
          </a:blip>
          <a:srcRect b="10096" l="0" r="0" t="10547"/>
          <a:stretch/>
        </p:blipFill>
        <p:spPr>
          <a:xfrm>
            <a:off x="7772400" y="4099418"/>
            <a:ext cx="6391277" cy="50719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00"/>
                                        </p:tgtEl>
                                        <p:attrNameLst>
                                          <p:attrName>style.visibility</p:attrName>
                                        </p:attrNameLst>
                                      </p:cBhvr>
                                      <p:to>
                                        <p:strVal val="visible"/>
                                      </p:to>
                                    </p:set>
                                    <p:anim calcmode="lin" valueType="num">
                                      <p:cBhvr additive="base">
                                        <p:cTn dur="500"/>
                                        <p:tgtEl>
                                          <p:spTgt spid="300"/>
                                        </p:tgtEl>
                                        <p:attrNameLst>
                                          <p:attrName>ppt_w</p:attrName>
                                        </p:attrNameLst>
                                      </p:cBhvr>
                                      <p:tavLst>
                                        <p:tav fmla="" tm="0">
                                          <p:val>
                                            <p:strVal val="0"/>
                                          </p:val>
                                        </p:tav>
                                        <p:tav fmla="" tm="100000">
                                          <p:val>
                                            <p:strVal val="#ppt_w"/>
                                          </p:val>
                                        </p:tav>
                                      </p:tavLst>
                                    </p:anim>
                                    <p:anim calcmode="lin" valueType="num">
                                      <p:cBhvr additive="base">
                                        <p:cTn dur="500"/>
                                        <p:tgtEl>
                                          <p:spTgt spid="30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99"/>
                                        </p:tgtEl>
                                        <p:attrNameLst>
                                          <p:attrName>style.visibility</p:attrName>
                                        </p:attrNameLst>
                                      </p:cBhvr>
                                      <p:to>
                                        <p:strVal val="visible"/>
                                      </p:to>
                                    </p:set>
                                    <p:anim calcmode="lin" valueType="num">
                                      <p:cBhvr additive="base">
                                        <p:cTn dur="500"/>
                                        <p:tgtEl>
                                          <p:spTgt spid="299"/>
                                        </p:tgtEl>
                                        <p:attrNameLst>
                                          <p:attrName>ppt_w</p:attrName>
                                        </p:attrNameLst>
                                      </p:cBhvr>
                                      <p:tavLst>
                                        <p:tav fmla="" tm="0">
                                          <p:val>
                                            <p:strVal val="0"/>
                                          </p:val>
                                        </p:tav>
                                        <p:tav fmla="" tm="100000">
                                          <p:val>
                                            <p:strVal val="#ppt_w"/>
                                          </p:val>
                                        </p:tav>
                                      </p:tavLst>
                                    </p:anim>
                                    <p:anim calcmode="lin" valueType="num">
                                      <p:cBhvr additive="base">
                                        <p:cTn dur="500"/>
                                        <p:tgtEl>
                                          <p:spTgt spid="29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cxnSp>
        <p:nvCxnSpPr>
          <p:cNvPr id="313" name="Google Shape;313;p22"/>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314" name="Google Shape;314;p22"/>
          <p:cNvGrpSpPr/>
          <p:nvPr/>
        </p:nvGrpSpPr>
        <p:grpSpPr>
          <a:xfrm rot="10800000">
            <a:off x="15785084" y="-536938"/>
            <a:ext cx="7681773" cy="4260605"/>
            <a:chOff x="0" y="-38100"/>
            <a:chExt cx="406400" cy="225405"/>
          </a:xfrm>
        </p:grpSpPr>
        <p:sp>
          <p:nvSpPr>
            <p:cNvPr id="315" name="Google Shape;315;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16" name="Google Shape;316;p2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7" name="Google Shape;317;p2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318" name="Google Shape;318;p22"/>
          <p:cNvGrpSpPr/>
          <p:nvPr/>
        </p:nvGrpSpPr>
        <p:grpSpPr>
          <a:xfrm>
            <a:off x="-2718010" y="9274530"/>
            <a:ext cx="7950378" cy="1707223"/>
            <a:chOff x="0" y="-384760"/>
            <a:chExt cx="10600504" cy="2276297"/>
          </a:xfrm>
        </p:grpSpPr>
        <p:grpSp>
          <p:nvGrpSpPr>
            <p:cNvPr id="319" name="Google Shape;319;p22"/>
            <p:cNvGrpSpPr/>
            <p:nvPr/>
          </p:nvGrpSpPr>
          <p:grpSpPr>
            <a:xfrm>
              <a:off x="0" y="-384760"/>
              <a:ext cx="10600504" cy="2276297"/>
              <a:chOff x="0" y="-38100"/>
              <a:chExt cx="1049690" cy="225405"/>
            </a:xfrm>
          </p:grpSpPr>
          <p:sp>
            <p:nvSpPr>
              <p:cNvPr id="320" name="Google Shape;320;p2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21" name="Google Shape;321;p22"/>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2" name="Google Shape;322;p22"/>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3" name="Google Shape;323;p22"/>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324" name="Google Shape;324;p22"/>
          <p:cNvSpPr txBox="1"/>
          <p:nvPr/>
        </p:nvSpPr>
        <p:spPr>
          <a:xfrm>
            <a:off x="7543800" y="1987125"/>
            <a:ext cx="8241300" cy="9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Tell me what you see in the two pictures.</a:t>
            </a:r>
            <a:endParaRPr sz="3200">
              <a:solidFill>
                <a:schemeClr val="dk1"/>
              </a:solidFill>
              <a:latin typeface="Calibri"/>
              <a:ea typeface="Calibri"/>
              <a:cs typeface="Calibri"/>
              <a:sym typeface="Calibri"/>
            </a:endParaRPr>
          </a:p>
        </p:txBody>
      </p:sp>
      <p:sp>
        <p:nvSpPr>
          <p:cNvPr id="325" name="Google Shape;325;p22"/>
          <p:cNvSpPr txBox="1"/>
          <p:nvPr/>
        </p:nvSpPr>
        <p:spPr>
          <a:xfrm>
            <a:off x="7543800" y="7506050"/>
            <a:ext cx="9909000" cy="22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300">
                <a:solidFill>
                  <a:schemeClr val="dk1"/>
                </a:solidFill>
                <a:latin typeface="Calibri"/>
                <a:ea typeface="Calibri"/>
                <a:cs typeface="Calibri"/>
                <a:sym typeface="Calibri"/>
              </a:rPr>
              <a:t>What kind of people play these two sports?</a:t>
            </a:r>
            <a:endParaRPr sz="3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3300">
              <a:solidFill>
                <a:schemeClr val="dk1"/>
              </a:solidFill>
              <a:latin typeface="Calibri"/>
              <a:ea typeface="Calibri"/>
              <a:cs typeface="Calibri"/>
              <a:sym typeface="Calibri"/>
            </a:endParaRPr>
          </a:p>
          <a:p>
            <a:pPr indent="0" lvl="0" marL="0" rtl="0" algn="l">
              <a:spcBef>
                <a:spcPts val="0"/>
              </a:spcBef>
              <a:spcAft>
                <a:spcPts val="0"/>
              </a:spcAft>
              <a:buNone/>
            </a:pPr>
            <a:r>
              <a:rPr lang="en-US" sz="3300">
                <a:solidFill>
                  <a:schemeClr val="dk1"/>
                </a:solidFill>
                <a:latin typeface="Calibri"/>
                <a:ea typeface="Calibri"/>
                <a:cs typeface="Calibri"/>
                <a:sym typeface="Calibri"/>
              </a:rPr>
              <a:t>Which of these two sports is more difficult to play? Why?</a:t>
            </a:r>
            <a:endParaRPr sz="3300">
              <a:solidFill>
                <a:schemeClr val="dk1"/>
              </a:solidFill>
              <a:latin typeface="Calibri"/>
              <a:ea typeface="Calibri"/>
              <a:cs typeface="Calibri"/>
              <a:sym typeface="Calibri"/>
            </a:endParaRPr>
          </a:p>
        </p:txBody>
      </p:sp>
      <p:pic>
        <p:nvPicPr>
          <p:cNvPr id="326" name="Google Shape;326;p22"/>
          <p:cNvPicPr preferRelativeResize="0"/>
          <p:nvPr/>
        </p:nvPicPr>
        <p:blipFill>
          <a:blip r:embed="rId4">
            <a:alphaModFix/>
          </a:blip>
          <a:stretch>
            <a:fillRect/>
          </a:stretch>
        </p:blipFill>
        <p:spPr>
          <a:xfrm>
            <a:off x="7689213" y="3191050"/>
            <a:ext cx="8239125" cy="2990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cxnSp>
        <p:nvCxnSpPr>
          <p:cNvPr id="331" name="Google Shape;331;p23"/>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332" name="Google Shape;332;p23"/>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33" name="Google Shape;333;p23"/>
          <p:cNvGrpSpPr/>
          <p:nvPr/>
        </p:nvGrpSpPr>
        <p:grpSpPr>
          <a:xfrm rot="10800000">
            <a:off x="15044552" y="-741521"/>
            <a:ext cx="7681766" cy="4260610"/>
            <a:chOff x="0" y="-38100"/>
            <a:chExt cx="406400" cy="225405"/>
          </a:xfrm>
        </p:grpSpPr>
        <p:sp>
          <p:nvSpPr>
            <p:cNvPr id="334" name="Google Shape;334;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35" name="Google Shape;335;p23"/>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336" name="Google Shape;336;p23"/>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37" name="Google Shape;337;p23"/>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38" name="Google Shape;338;p23"/>
          <p:cNvSpPr txBox="1"/>
          <p:nvPr/>
        </p:nvSpPr>
        <p:spPr>
          <a:xfrm>
            <a:off x="5232390" y="2564021"/>
            <a:ext cx="11760209" cy="1104085"/>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Hướng dẫn trả lời</a:t>
            </a:r>
            <a:endParaRPr/>
          </a:p>
        </p:txBody>
      </p:sp>
      <p:sp>
        <p:nvSpPr>
          <p:cNvPr id="339" name="Google Shape;339;p23"/>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04</a:t>
            </a:r>
            <a:endParaRPr/>
          </a:p>
        </p:txBody>
      </p:sp>
      <p:sp>
        <p:nvSpPr>
          <p:cNvPr id="340" name="Google Shape;340;p23"/>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41" name="Google Shape;341;p23"/>
          <p:cNvGrpSpPr/>
          <p:nvPr/>
        </p:nvGrpSpPr>
        <p:grpSpPr>
          <a:xfrm>
            <a:off x="-2718010" y="9274528"/>
            <a:ext cx="7950400" cy="1707231"/>
            <a:chOff x="0" y="-384762"/>
            <a:chExt cx="10600533" cy="2276307"/>
          </a:xfrm>
        </p:grpSpPr>
        <p:grpSp>
          <p:nvGrpSpPr>
            <p:cNvPr id="342" name="Google Shape;342;p23"/>
            <p:cNvGrpSpPr/>
            <p:nvPr/>
          </p:nvGrpSpPr>
          <p:grpSpPr>
            <a:xfrm>
              <a:off x="0" y="-384762"/>
              <a:ext cx="10600533" cy="2276307"/>
              <a:chOff x="0" y="-38100"/>
              <a:chExt cx="1049690" cy="225405"/>
            </a:xfrm>
          </p:grpSpPr>
          <p:sp>
            <p:nvSpPr>
              <p:cNvPr id="343" name="Google Shape;343;p2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44" name="Google Shape;344;p23"/>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5" name="Google Shape;345;p23"/>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6" name="Google Shape;346;p23"/>
          <p:cNvSpPr/>
          <p:nvPr/>
        </p:nvSpPr>
        <p:spPr>
          <a:xfrm>
            <a:off x="9563099" y="4749873"/>
            <a:ext cx="3276055" cy="3301942"/>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39"/>
                                        </p:tgtEl>
                                        <p:attrNameLst>
                                          <p:attrName>style.visibility</p:attrName>
                                        </p:attrNameLst>
                                      </p:cBhvr>
                                      <p:to>
                                        <p:strVal val="visible"/>
                                      </p:to>
                                    </p:set>
                                    <p:anim calcmode="lin" valueType="num">
                                      <p:cBhvr additive="base">
                                        <p:cTn dur="500"/>
                                        <p:tgtEl>
                                          <p:spTgt spid="339"/>
                                        </p:tgtEl>
                                        <p:attrNameLst>
                                          <p:attrName>ppt_w</p:attrName>
                                        </p:attrNameLst>
                                      </p:cBhvr>
                                      <p:tavLst>
                                        <p:tav fmla="" tm="0">
                                          <p:val>
                                            <p:strVal val="0"/>
                                          </p:val>
                                        </p:tav>
                                        <p:tav fmla="" tm="100000">
                                          <p:val>
                                            <p:strVal val="#ppt_w"/>
                                          </p:val>
                                        </p:tav>
                                      </p:tavLst>
                                    </p:anim>
                                    <p:anim calcmode="lin" valueType="num">
                                      <p:cBhvr additive="base">
                                        <p:cTn dur="500"/>
                                        <p:tgtEl>
                                          <p:spTgt spid="33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38"/>
                                        </p:tgtEl>
                                        <p:attrNameLst>
                                          <p:attrName>style.visibility</p:attrName>
                                        </p:attrNameLst>
                                      </p:cBhvr>
                                      <p:to>
                                        <p:strVal val="visible"/>
                                      </p:to>
                                    </p:set>
                                    <p:anim calcmode="lin" valueType="num">
                                      <p:cBhvr additive="base">
                                        <p:cTn dur="500"/>
                                        <p:tgtEl>
                                          <p:spTgt spid="338"/>
                                        </p:tgtEl>
                                        <p:attrNameLst>
                                          <p:attrName>ppt_w</p:attrName>
                                        </p:attrNameLst>
                                      </p:cBhvr>
                                      <p:tavLst>
                                        <p:tav fmla="" tm="0">
                                          <p:val>
                                            <p:strVal val="0"/>
                                          </p:val>
                                        </p:tav>
                                        <p:tav fmla="" tm="100000">
                                          <p:val>
                                            <p:strVal val="#ppt_w"/>
                                          </p:val>
                                        </p:tav>
                                      </p:tavLst>
                                    </p:anim>
                                    <p:anim calcmode="lin" valueType="num">
                                      <p:cBhvr additive="base">
                                        <p:cTn dur="500"/>
                                        <p:tgtEl>
                                          <p:spTgt spid="33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cxnSp>
        <p:nvCxnSpPr>
          <p:cNvPr id="352" name="Google Shape;352;p24"/>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353" name="Google Shape;353;p24"/>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54" name="Google Shape;354;p24"/>
          <p:cNvGrpSpPr/>
          <p:nvPr/>
        </p:nvGrpSpPr>
        <p:grpSpPr>
          <a:xfrm rot="10800000">
            <a:off x="15785091" y="-536942"/>
            <a:ext cx="7681766" cy="4260610"/>
            <a:chOff x="0" y="-38100"/>
            <a:chExt cx="406400" cy="225405"/>
          </a:xfrm>
        </p:grpSpPr>
        <p:sp>
          <p:nvSpPr>
            <p:cNvPr id="355" name="Google Shape;355;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56" name="Google Shape;356;p2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7" name="Google Shape;357;p2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58" name="Google Shape;358;p24"/>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Phần 1: So sánh 2 tranh</a:t>
            </a:r>
            <a:endParaRPr b="1" sz="6000">
              <a:solidFill>
                <a:srgbClr val="018345"/>
              </a:solidFill>
              <a:latin typeface="Montserrat"/>
              <a:ea typeface="Montserrat"/>
              <a:cs typeface="Montserrat"/>
              <a:sym typeface="Montserrat"/>
            </a:endParaRPr>
          </a:p>
        </p:txBody>
      </p:sp>
      <p:grpSp>
        <p:nvGrpSpPr>
          <p:cNvPr id="359" name="Google Shape;359;p24"/>
          <p:cNvGrpSpPr/>
          <p:nvPr/>
        </p:nvGrpSpPr>
        <p:grpSpPr>
          <a:xfrm>
            <a:off x="-2718010" y="9274528"/>
            <a:ext cx="7950400" cy="1707231"/>
            <a:chOff x="0" y="-384762"/>
            <a:chExt cx="10600533" cy="2276307"/>
          </a:xfrm>
        </p:grpSpPr>
        <p:grpSp>
          <p:nvGrpSpPr>
            <p:cNvPr id="360" name="Google Shape;360;p24"/>
            <p:cNvGrpSpPr/>
            <p:nvPr/>
          </p:nvGrpSpPr>
          <p:grpSpPr>
            <a:xfrm>
              <a:off x="0" y="-384762"/>
              <a:ext cx="10600533" cy="2276307"/>
              <a:chOff x="0" y="-38100"/>
              <a:chExt cx="1049690" cy="225405"/>
            </a:xfrm>
          </p:grpSpPr>
          <p:sp>
            <p:nvSpPr>
              <p:cNvPr id="361" name="Google Shape;361;p2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62" name="Google Shape;362;p2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3" name="Google Shape;363;p2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4" name="Google Shape;364;p24"/>
          <p:cNvSpPr txBox="1"/>
          <p:nvPr/>
        </p:nvSpPr>
        <p:spPr>
          <a:xfrm>
            <a:off x="6298688" y="1809025"/>
            <a:ext cx="8241300" cy="9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Tell me what you see in the two pictures.</a:t>
            </a:r>
            <a:endParaRPr sz="3200">
              <a:solidFill>
                <a:schemeClr val="dk1"/>
              </a:solidFill>
              <a:latin typeface="Calibri"/>
              <a:ea typeface="Calibri"/>
              <a:cs typeface="Calibri"/>
              <a:sym typeface="Calibri"/>
            </a:endParaRPr>
          </a:p>
        </p:txBody>
      </p:sp>
      <p:pic>
        <p:nvPicPr>
          <p:cNvPr id="365" name="Google Shape;365;p24"/>
          <p:cNvPicPr preferRelativeResize="0"/>
          <p:nvPr/>
        </p:nvPicPr>
        <p:blipFill>
          <a:blip r:embed="rId4">
            <a:alphaModFix/>
          </a:blip>
          <a:stretch>
            <a:fillRect/>
          </a:stretch>
        </p:blipFill>
        <p:spPr>
          <a:xfrm>
            <a:off x="6299763" y="2603975"/>
            <a:ext cx="8239125" cy="2990850"/>
          </a:xfrm>
          <a:prstGeom prst="rect">
            <a:avLst/>
          </a:prstGeom>
          <a:noFill/>
          <a:ln>
            <a:noFill/>
          </a:ln>
        </p:spPr>
      </p:pic>
      <p:sp>
        <p:nvSpPr>
          <p:cNvPr id="366" name="Google Shape;366;p24"/>
          <p:cNvSpPr txBox="1"/>
          <p:nvPr/>
        </p:nvSpPr>
        <p:spPr>
          <a:xfrm>
            <a:off x="6299775" y="6006800"/>
            <a:ext cx="11590500" cy="4601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000">
                <a:solidFill>
                  <a:schemeClr val="dk1"/>
                </a:solidFill>
                <a:latin typeface="Calibri"/>
                <a:ea typeface="Calibri"/>
                <a:cs typeface="Calibri"/>
                <a:sym typeface="Calibri"/>
              </a:rPr>
              <a:t>Cấu trúc nên dùng:</a:t>
            </a:r>
            <a:endParaRPr b="1"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The photos depict two different types of … </a:t>
            </a:r>
            <a:r>
              <a:rPr lang="en-US" sz="3000">
                <a:solidFill>
                  <a:schemeClr val="dk1"/>
                </a:solidFill>
                <a:latin typeface="Calibri"/>
                <a:ea typeface="Calibri"/>
                <a:cs typeface="Calibri"/>
                <a:sym typeface="Calibri"/>
              </a:rPr>
              <a:t>(2 tranh mô tả về)</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In the first picture, I can see</a:t>
            </a:r>
            <a:r>
              <a:rPr b="1" lang="en-US" sz="3000">
                <a:solidFill>
                  <a:srgbClr val="018146"/>
                </a:solidFill>
                <a:latin typeface="Calibri"/>
                <a:ea typeface="Calibri"/>
                <a:cs typeface="Calibri"/>
                <a:sym typeface="Calibri"/>
              </a:rPr>
              <a:t> (that) … </a:t>
            </a:r>
            <a:r>
              <a:rPr lang="en-US" sz="3000">
                <a:solidFill>
                  <a:schemeClr val="dk1"/>
                </a:solidFill>
                <a:latin typeface="Calibri"/>
                <a:ea typeface="Calibri"/>
                <a:cs typeface="Calibri"/>
                <a:sym typeface="Calibri"/>
              </a:rPr>
              <a:t>(bức tranh đầu)</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They are/ He is/ She is … </a:t>
            </a:r>
            <a:r>
              <a:rPr lang="en-US" sz="3000">
                <a:solidFill>
                  <a:schemeClr val="dk1"/>
                </a:solidFill>
                <a:latin typeface="Calibri"/>
                <a:ea typeface="Calibri"/>
                <a:cs typeface="Calibri"/>
                <a:sym typeface="Calibri"/>
              </a:rPr>
              <a:t>(đang làm gì)</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In the background, there are …</a:t>
            </a:r>
            <a:r>
              <a:rPr lang="en-US" sz="3000">
                <a:solidFill>
                  <a:srgbClr val="018146"/>
                </a:solidFill>
                <a:latin typeface="Calibri"/>
                <a:ea typeface="Calibri"/>
                <a:cs typeface="Calibri"/>
                <a:sym typeface="Calibri"/>
              </a:rPr>
              <a:t> </a:t>
            </a:r>
            <a:r>
              <a:rPr lang="en-US" sz="3000">
                <a:solidFill>
                  <a:schemeClr val="dk1"/>
                </a:solidFill>
                <a:latin typeface="Calibri"/>
                <a:ea typeface="Calibri"/>
                <a:cs typeface="Calibri"/>
                <a:sym typeface="Calibri"/>
              </a:rPr>
              <a:t>(ở phía sau có …)</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In contrast, in the second picture, it shows …</a:t>
            </a:r>
            <a:r>
              <a:rPr b="1" lang="en-US" sz="3000">
                <a:solidFill>
                  <a:schemeClr val="dk1"/>
                </a:solidFill>
                <a:latin typeface="Calibri"/>
                <a:ea typeface="Calibri"/>
                <a:cs typeface="Calibri"/>
                <a:sym typeface="Calibri"/>
              </a:rPr>
              <a:t> </a:t>
            </a:r>
            <a:r>
              <a:rPr lang="en-US" sz="3000">
                <a:solidFill>
                  <a:schemeClr val="dk1"/>
                </a:solidFill>
                <a:latin typeface="Calibri"/>
                <a:ea typeface="Calibri"/>
                <a:cs typeface="Calibri"/>
                <a:sym typeface="Calibri"/>
              </a:rPr>
              <a:t>(tranh thể hiện)</a:t>
            </a:r>
            <a:endParaRPr sz="30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cxnSp>
        <p:nvCxnSpPr>
          <p:cNvPr id="372" name="Google Shape;372;p25"/>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373" name="Google Shape;373;p2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74" name="Google Shape;374;p25"/>
          <p:cNvGrpSpPr/>
          <p:nvPr/>
        </p:nvGrpSpPr>
        <p:grpSpPr>
          <a:xfrm rot="10800000">
            <a:off x="15785091" y="-536942"/>
            <a:ext cx="7681766" cy="4260610"/>
            <a:chOff x="0" y="-38100"/>
            <a:chExt cx="406400" cy="225405"/>
          </a:xfrm>
        </p:grpSpPr>
        <p:sp>
          <p:nvSpPr>
            <p:cNvPr id="375" name="Google Shape;375;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76" name="Google Shape;376;p2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7" name="Google Shape;377;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78" name="Google Shape;378;p25"/>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Ví dụ</a:t>
            </a:r>
            <a:endParaRPr b="1" sz="6000">
              <a:solidFill>
                <a:srgbClr val="018345"/>
              </a:solidFill>
              <a:latin typeface="Montserrat"/>
              <a:ea typeface="Montserrat"/>
              <a:cs typeface="Montserrat"/>
              <a:sym typeface="Montserrat"/>
            </a:endParaRPr>
          </a:p>
        </p:txBody>
      </p:sp>
      <p:grpSp>
        <p:nvGrpSpPr>
          <p:cNvPr id="379" name="Google Shape;379;p25"/>
          <p:cNvGrpSpPr/>
          <p:nvPr/>
        </p:nvGrpSpPr>
        <p:grpSpPr>
          <a:xfrm>
            <a:off x="-2718010" y="9274528"/>
            <a:ext cx="7950400" cy="1707231"/>
            <a:chOff x="0" y="-384762"/>
            <a:chExt cx="10600533" cy="2276307"/>
          </a:xfrm>
        </p:grpSpPr>
        <p:grpSp>
          <p:nvGrpSpPr>
            <p:cNvPr id="380" name="Google Shape;380;p25"/>
            <p:cNvGrpSpPr/>
            <p:nvPr/>
          </p:nvGrpSpPr>
          <p:grpSpPr>
            <a:xfrm>
              <a:off x="0" y="-384762"/>
              <a:ext cx="10600533" cy="2276307"/>
              <a:chOff x="0" y="-38100"/>
              <a:chExt cx="1049690" cy="225405"/>
            </a:xfrm>
          </p:grpSpPr>
          <p:sp>
            <p:nvSpPr>
              <p:cNvPr id="381" name="Google Shape;381;p2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82" name="Google Shape;382;p2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3" name="Google Shape;383;p2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4" name="Google Shape;384;p25"/>
          <p:cNvGrpSpPr/>
          <p:nvPr/>
        </p:nvGrpSpPr>
        <p:grpSpPr>
          <a:xfrm>
            <a:off x="6249675" y="2211371"/>
            <a:ext cx="11243700" cy="7062743"/>
            <a:chOff x="6209263" y="1662234"/>
            <a:chExt cx="11243700" cy="7005300"/>
          </a:xfrm>
        </p:grpSpPr>
        <p:sp>
          <p:nvSpPr>
            <p:cNvPr id="385" name="Google Shape;385;p25"/>
            <p:cNvSpPr/>
            <p:nvPr/>
          </p:nvSpPr>
          <p:spPr>
            <a:xfrm>
              <a:off x="6209263" y="1662234"/>
              <a:ext cx="11243700" cy="7005300"/>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
          <p:nvSpPr>
            <p:cNvPr id="386" name="Google Shape;386;p25"/>
            <p:cNvSpPr txBox="1"/>
            <p:nvPr/>
          </p:nvSpPr>
          <p:spPr>
            <a:xfrm>
              <a:off x="6788166" y="2078510"/>
              <a:ext cx="10005000" cy="62442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SzPts val="1100"/>
                <a:buNone/>
              </a:pPr>
              <a:r>
                <a:rPr b="1" lang="en-US" sz="3100">
                  <a:solidFill>
                    <a:schemeClr val="dk1"/>
                  </a:solidFill>
                  <a:latin typeface="Calibri"/>
                  <a:ea typeface="Calibri"/>
                  <a:cs typeface="Calibri"/>
                  <a:sym typeface="Calibri"/>
                </a:rPr>
                <a:t>Both of the photos depict two different types of</a:t>
              </a:r>
              <a:r>
                <a:rPr lang="en-US" sz="3100">
                  <a:solidFill>
                    <a:schemeClr val="dk1"/>
                  </a:solidFill>
                  <a:latin typeface="Calibri"/>
                  <a:ea typeface="Calibri"/>
                  <a:cs typeface="Calibri"/>
                  <a:sym typeface="Calibri"/>
                </a:rPr>
                <a:t> sports. </a:t>
              </a:r>
              <a:r>
                <a:rPr b="1" lang="en-US" sz="3100">
                  <a:solidFill>
                    <a:schemeClr val="dk1"/>
                  </a:solidFill>
                  <a:latin typeface="Calibri"/>
                  <a:ea typeface="Calibri"/>
                  <a:cs typeface="Calibri"/>
                  <a:sym typeface="Calibri"/>
                </a:rPr>
                <a:t>In the first picture, I can see that</a:t>
              </a:r>
              <a:r>
                <a:rPr lang="en-US" sz="3100">
                  <a:solidFill>
                    <a:schemeClr val="dk1"/>
                  </a:solidFill>
                  <a:latin typeface="Calibri"/>
                  <a:ea typeface="Calibri"/>
                  <a:cs typeface="Calibri"/>
                  <a:sym typeface="Calibri"/>
                </a:rPr>
                <a:t> a man is playing golf with a friend on a sunny day, surrounded by lush greenery and trees, highlighting a peaceful and relaxed atmosphere. </a:t>
              </a:r>
              <a:r>
                <a:rPr b="1" lang="en-US" sz="3100">
                  <a:solidFill>
                    <a:schemeClr val="dk1"/>
                  </a:solidFill>
                  <a:latin typeface="Calibri"/>
                  <a:ea typeface="Calibri"/>
                  <a:cs typeface="Calibri"/>
                  <a:sym typeface="Calibri"/>
                </a:rPr>
                <a:t>In contrast, in the second picture, it shows</a:t>
              </a:r>
              <a:r>
                <a:rPr lang="en-US" sz="3100">
                  <a:solidFill>
                    <a:schemeClr val="dk1"/>
                  </a:solidFill>
                  <a:latin typeface="Calibri"/>
                  <a:ea typeface="Calibri"/>
                  <a:cs typeface="Calibri"/>
                  <a:sym typeface="Calibri"/>
                </a:rPr>
                <a:t> a group playing basketball on an outdoor court, characterized by intense competition and dynamic movement. This contrast emphasizes the diverse nature of sports, from the calm of golf to the energetic excitement of basketball.</a:t>
              </a:r>
              <a:endParaRPr sz="31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500"/>
                                        <p:tgtEl>
                                          <p:spTgt spid="3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500"/>
                                        <p:tgtEl>
                                          <p:spTgt spid="3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cxnSp>
        <p:nvCxnSpPr>
          <p:cNvPr id="392" name="Google Shape;392;p26"/>
          <p:cNvCxnSpPr/>
          <p:nvPr/>
        </p:nvCxnSpPr>
        <p:spPr>
          <a:xfrm flipH="1" rot="10800000">
            <a:off x="6209270" y="23050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393" name="Google Shape;393;p2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94" name="Google Shape;394;p26"/>
          <p:cNvGrpSpPr/>
          <p:nvPr/>
        </p:nvGrpSpPr>
        <p:grpSpPr>
          <a:xfrm rot="10800000">
            <a:off x="15785091" y="-536942"/>
            <a:ext cx="7681766" cy="4260610"/>
            <a:chOff x="0" y="-38100"/>
            <a:chExt cx="406400" cy="225405"/>
          </a:xfrm>
        </p:grpSpPr>
        <p:sp>
          <p:nvSpPr>
            <p:cNvPr id="395" name="Google Shape;395;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96" name="Google Shape;396;p2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7" name="Google Shape;397;p2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98" name="Google Shape;398;p26"/>
          <p:cNvSpPr txBox="1"/>
          <p:nvPr/>
        </p:nvSpPr>
        <p:spPr>
          <a:xfrm>
            <a:off x="5571910" y="10869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Từ vựng</a:t>
            </a:r>
            <a:endParaRPr b="1" sz="6000">
              <a:solidFill>
                <a:srgbClr val="018345"/>
              </a:solidFill>
              <a:latin typeface="Montserrat"/>
              <a:ea typeface="Montserrat"/>
              <a:cs typeface="Montserrat"/>
              <a:sym typeface="Montserrat"/>
            </a:endParaRPr>
          </a:p>
        </p:txBody>
      </p:sp>
      <p:grpSp>
        <p:nvGrpSpPr>
          <p:cNvPr id="399" name="Google Shape;399;p26"/>
          <p:cNvGrpSpPr/>
          <p:nvPr/>
        </p:nvGrpSpPr>
        <p:grpSpPr>
          <a:xfrm>
            <a:off x="-2718010" y="9274528"/>
            <a:ext cx="7950400" cy="1707231"/>
            <a:chOff x="0" y="-384762"/>
            <a:chExt cx="10600533" cy="2276307"/>
          </a:xfrm>
        </p:grpSpPr>
        <p:grpSp>
          <p:nvGrpSpPr>
            <p:cNvPr id="400" name="Google Shape;400;p26"/>
            <p:cNvGrpSpPr/>
            <p:nvPr/>
          </p:nvGrpSpPr>
          <p:grpSpPr>
            <a:xfrm>
              <a:off x="0" y="-384762"/>
              <a:ext cx="10600533" cy="2276307"/>
              <a:chOff x="0" y="-38100"/>
              <a:chExt cx="1049690" cy="225405"/>
            </a:xfrm>
          </p:grpSpPr>
          <p:sp>
            <p:nvSpPr>
              <p:cNvPr id="401" name="Google Shape;401;p2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02" name="Google Shape;402;p2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3" name="Google Shape;403;p2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4" name="Google Shape;404;p26"/>
          <p:cNvSpPr txBox="1"/>
          <p:nvPr/>
        </p:nvSpPr>
        <p:spPr>
          <a:xfrm>
            <a:off x="6209275" y="2630175"/>
            <a:ext cx="11511300" cy="7296000"/>
          </a:xfrm>
          <a:prstGeom prst="rect">
            <a:avLst/>
          </a:prstGeom>
          <a:noFill/>
          <a:ln>
            <a:noFill/>
          </a:ln>
        </p:spPr>
        <p:txBody>
          <a:bodyPr anchorCtr="0" anchor="t" bIns="45700" lIns="91425" spcFirstLastPara="1" rIns="91425" wrap="square" tIns="45700">
            <a:spAutoFit/>
          </a:bodyPr>
          <a:lstStyle/>
          <a:p>
            <a:pPr indent="-457200" lvl="0" marL="457200" rtl="0" algn="l">
              <a:lnSpc>
                <a:spcPct val="150000"/>
              </a:lnSpc>
              <a:spcBef>
                <a:spcPts val="0"/>
              </a:spcBef>
              <a:spcAft>
                <a:spcPts val="0"/>
              </a:spcAft>
              <a:buClr>
                <a:srgbClr val="018345"/>
              </a:buClr>
              <a:buSzPts val="3600"/>
              <a:buChar char="•"/>
            </a:pPr>
            <a:r>
              <a:rPr lang="en-US" sz="3600">
                <a:solidFill>
                  <a:srgbClr val="018345"/>
                </a:solidFill>
                <a:latin typeface="Calibri"/>
                <a:ea typeface="Calibri"/>
                <a:cs typeface="Calibri"/>
                <a:sym typeface="Calibri"/>
              </a:rPr>
              <a:t>Depict: </a:t>
            </a:r>
            <a:r>
              <a:rPr lang="en-US" sz="3600">
                <a:solidFill>
                  <a:schemeClr val="dk1"/>
                </a:solidFill>
                <a:latin typeface="Calibri"/>
                <a:ea typeface="Calibri"/>
                <a:cs typeface="Calibri"/>
                <a:sym typeface="Calibri"/>
              </a:rPr>
              <a:t>Miêu tả</a:t>
            </a:r>
            <a:endParaRPr sz="3600">
              <a:solidFill>
                <a:schemeClr val="dk1"/>
              </a:solidFill>
              <a:latin typeface="Calibri"/>
              <a:ea typeface="Calibri"/>
              <a:cs typeface="Calibri"/>
              <a:sym typeface="Calibri"/>
            </a:endParaRPr>
          </a:p>
          <a:p>
            <a:pPr indent="-457200" lvl="0" marL="457200" rtl="0" algn="l">
              <a:lnSpc>
                <a:spcPct val="150000"/>
              </a:lnSpc>
              <a:spcBef>
                <a:spcPts val="0"/>
              </a:spcBef>
              <a:spcAft>
                <a:spcPts val="0"/>
              </a:spcAft>
              <a:buClr>
                <a:srgbClr val="018345"/>
              </a:buClr>
              <a:buSzPts val="3600"/>
              <a:buChar char="•"/>
            </a:pPr>
            <a:r>
              <a:rPr lang="en-US" sz="3600">
                <a:solidFill>
                  <a:srgbClr val="018345"/>
                </a:solidFill>
                <a:latin typeface="Calibri"/>
                <a:ea typeface="Calibri"/>
                <a:cs typeface="Calibri"/>
                <a:sym typeface="Calibri"/>
              </a:rPr>
              <a:t>Lush greenery and trees: </a:t>
            </a:r>
            <a:r>
              <a:rPr lang="en-US" sz="3600">
                <a:solidFill>
                  <a:schemeClr val="dk1"/>
                </a:solidFill>
                <a:latin typeface="Calibri"/>
                <a:ea typeface="Calibri"/>
                <a:cs typeface="Calibri"/>
                <a:sym typeface="Calibri"/>
              </a:rPr>
              <a:t>Cây cối xanh tươi và rậm rạp</a:t>
            </a:r>
            <a:endParaRPr sz="3600">
              <a:solidFill>
                <a:schemeClr val="dk1"/>
              </a:solidFill>
              <a:latin typeface="Calibri"/>
              <a:ea typeface="Calibri"/>
              <a:cs typeface="Calibri"/>
              <a:sym typeface="Calibri"/>
            </a:endParaRPr>
          </a:p>
          <a:p>
            <a:pPr indent="-457200" lvl="0" marL="457200" rtl="0" algn="l">
              <a:lnSpc>
                <a:spcPct val="150000"/>
              </a:lnSpc>
              <a:spcBef>
                <a:spcPts val="0"/>
              </a:spcBef>
              <a:spcAft>
                <a:spcPts val="0"/>
              </a:spcAft>
              <a:buClr>
                <a:srgbClr val="018345"/>
              </a:buClr>
              <a:buSzPts val="3600"/>
              <a:buChar char="•"/>
            </a:pPr>
            <a:r>
              <a:rPr lang="en-US" sz="3600">
                <a:solidFill>
                  <a:srgbClr val="018345"/>
                </a:solidFill>
                <a:latin typeface="Calibri"/>
                <a:ea typeface="Calibri"/>
                <a:cs typeface="Calibri"/>
                <a:sym typeface="Calibri"/>
              </a:rPr>
              <a:t>Peaceful and relaxed atmosphere: </a:t>
            </a:r>
            <a:r>
              <a:rPr lang="en-US" sz="3600">
                <a:solidFill>
                  <a:schemeClr val="dk1"/>
                </a:solidFill>
                <a:latin typeface="Calibri"/>
                <a:ea typeface="Calibri"/>
                <a:cs typeface="Calibri"/>
                <a:sym typeface="Calibri"/>
              </a:rPr>
              <a:t>Không khí yên bình và thư giãn</a:t>
            </a:r>
            <a:endParaRPr sz="3600">
              <a:solidFill>
                <a:schemeClr val="dk1"/>
              </a:solidFill>
              <a:latin typeface="Calibri"/>
              <a:ea typeface="Calibri"/>
              <a:cs typeface="Calibri"/>
              <a:sym typeface="Calibri"/>
            </a:endParaRPr>
          </a:p>
          <a:p>
            <a:pPr indent="-457200" lvl="0" marL="457200" rtl="0" algn="l">
              <a:lnSpc>
                <a:spcPct val="150000"/>
              </a:lnSpc>
              <a:spcBef>
                <a:spcPts val="0"/>
              </a:spcBef>
              <a:spcAft>
                <a:spcPts val="0"/>
              </a:spcAft>
              <a:buClr>
                <a:srgbClr val="018345"/>
              </a:buClr>
              <a:buSzPts val="3600"/>
              <a:buChar char="•"/>
            </a:pPr>
            <a:r>
              <a:rPr lang="en-US" sz="3600">
                <a:solidFill>
                  <a:srgbClr val="018345"/>
                </a:solidFill>
                <a:latin typeface="Calibri"/>
                <a:ea typeface="Calibri"/>
                <a:cs typeface="Calibri"/>
                <a:sym typeface="Calibri"/>
              </a:rPr>
              <a:t>Intense competition: </a:t>
            </a:r>
            <a:r>
              <a:rPr lang="en-US" sz="3600">
                <a:solidFill>
                  <a:schemeClr val="dk1"/>
                </a:solidFill>
                <a:latin typeface="Calibri"/>
                <a:ea typeface="Calibri"/>
                <a:cs typeface="Calibri"/>
                <a:sym typeface="Calibri"/>
              </a:rPr>
              <a:t>Cuộc cạnh tranh khốc liệt</a:t>
            </a:r>
            <a:endParaRPr sz="3600">
              <a:solidFill>
                <a:schemeClr val="dk1"/>
              </a:solidFill>
              <a:latin typeface="Calibri"/>
              <a:ea typeface="Calibri"/>
              <a:cs typeface="Calibri"/>
              <a:sym typeface="Calibri"/>
            </a:endParaRPr>
          </a:p>
          <a:p>
            <a:pPr indent="-457200" lvl="0" marL="457200" rtl="0" algn="l">
              <a:lnSpc>
                <a:spcPct val="150000"/>
              </a:lnSpc>
              <a:spcBef>
                <a:spcPts val="0"/>
              </a:spcBef>
              <a:spcAft>
                <a:spcPts val="0"/>
              </a:spcAft>
              <a:buClr>
                <a:srgbClr val="018345"/>
              </a:buClr>
              <a:buSzPts val="3600"/>
              <a:buChar char="•"/>
            </a:pPr>
            <a:r>
              <a:rPr lang="en-US" sz="3600">
                <a:solidFill>
                  <a:srgbClr val="018345"/>
                </a:solidFill>
                <a:latin typeface="Calibri"/>
                <a:ea typeface="Calibri"/>
                <a:cs typeface="Calibri"/>
                <a:sym typeface="Calibri"/>
              </a:rPr>
              <a:t>Dynamic: </a:t>
            </a:r>
            <a:r>
              <a:rPr lang="en-US" sz="3600">
                <a:solidFill>
                  <a:schemeClr val="dk1"/>
                </a:solidFill>
                <a:latin typeface="Calibri"/>
                <a:ea typeface="Calibri"/>
                <a:cs typeface="Calibri"/>
                <a:sym typeface="Calibri"/>
              </a:rPr>
              <a:t>Năng động</a:t>
            </a:r>
            <a:endParaRPr sz="3600">
              <a:solidFill>
                <a:schemeClr val="dk1"/>
              </a:solidFill>
              <a:latin typeface="Calibri"/>
              <a:ea typeface="Calibri"/>
              <a:cs typeface="Calibri"/>
              <a:sym typeface="Calibri"/>
            </a:endParaRPr>
          </a:p>
          <a:p>
            <a:pPr indent="-457200" lvl="0" marL="457200" rtl="0" algn="l">
              <a:lnSpc>
                <a:spcPct val="150000"/>
              </a:lnSpc>
              <a:spcBef>
                <a:spcPts val="0"/>
              </a:spcBef>
              <a:spcAft>
                <a:spcPts val="0"/>
              </a:spcAft>
              <a:buClr>
                <a:srgbClr val="018345"/>
              </a:buClr>
              <a:buSzPts val="3600"/>
              <a:buChar char="•"/>
            </a:pPr>
            <a:r>
              <a:rPr lang="en-US" sz="3600">
                <a:solidFill>
                  <a:srgbClr val="018345"/>
                </a:solidFill>
                <a:latin typeface="Calibri"/>
                <a:ea typeface="Calibri"/>
                <a:cs typeface="Calibri"/>
                <a:sym typeface="Calibri"/>
              </a:rPr>
              <a:t>Emphasize: </a:t>
            </a:r>
            <a:r>
              <a:rPr lang="en-US" sz="3600">
                <a:solidFill>
                  <a:schemeClr val="dk1"/>
                </a:solidFill>
                <a:latin typeface="Calibri"/>
                <a:ea typeface="Calibri"/>
                <a:cs typeface="Calibri"/>
                <a:sym typeface="Calibri"/>
              </a:rPr>
              <a:t>Nhấn mạnh</a:t>
            </a:r>
            <a:endParaRPr sz="3600">
              <a:solidFill>
                <a:schemeClr val="dk1"/>
              </a:solidFill>
              <a:latin typeface="Calibri"/>
              <a:ea typeface="Calibri"/>
              <a:cs typeface="Calibri"/>
              <a:sym typeface="Calibri"/>
            </a:endParaRPr>
          </a:p>
          <a:p>
            <a:pPr indent="-457200" lvl="0" marL="457200" rtl="0" algn="l">
              <a:lnSpc>
                <a:spcPct val="150000"/>
              </a:lnSpc>
              <a:spcBef>
                <a:spcPts val="0"/>
              </a:spcBef>
              <a:spcAft>
                <a:spcPts val="0"/>
              </a:spcAft>
              <a:buClr>
                <a:srgbClr val="018345"/>
              </a:buClr>
              <a:buSzPts val="3600"/>
              <a:buChar char="•"/>
            </a:pPr>
            <a:r>
              <a:rPr lang="en-US" sz="3600">
                <a:solidFill>
                  <a:srgbClr val="018345"/>
                </a:solidFill>
                <a:latin typeface="Calibri"/>
                <a:ea typeface="Calibri"/>
                <a:cs typeface="Calibri"/>
                <a:sym typeface="Calibri"/>
              </a:rPr>
              <a:t>Calm: </a:t>
            </a:r>
            <a:r>
              <a:rPr lang="en-US" sz="3600">
                <a:solidFill>
                  <a:schemeClr val="dk1"/>
                </a:solidFill>
                <a:latin typeface="Calibri"/>
                <a:ea typeface="Calibri"/>
                <a:cs typeface="Calibri"/>
                <a:sym typeface="Calibri"/>
              </a:rPr>
              <a:t>Sự điềm tĩnh</a:t>
            </a:r>
            <a:endParaRPr sz="3600">
              <a:solidFill>
                <a:schemeClr val="dk1"/>
              </a:solidFill>
              <a:latin typeface="Calibri"/>
              <a:ea typeface="Calibri"/>
              <a:cs typeface="Calibri"/>
              <a:sym typeface="Calibri"/>
            </a:endParaRPr>
          </a:p>
          <a:p>
            <a:pPr indent="-457200" lvl="0" marL="457200" rtl="0" algn="l">
              <a:lnSpc>
                <a:spcPct val="150000"/>
              </a:lnSpc>
              <a:spcBef>
                <a:spcPts val="0"/>
              </a:spcBef>
              <a:spcAft>
                <a:spcPts val="0"/>
              </a:spcAft>
              <a:buClr>
                <a:srgbClr val="018345"/>
              </a:buClr>
              <a:buSzPts val="3600"/>
              <a:buChar char="•"/>
            </a:pPr>
            <a:r>
              <a:rPr lang="en-US" sz="3600">
                <a:solidFill>
                  <a:srgbClr val="018345"/>
                </a:solidFill>
                <a:latin typeface="Calibri"/>
                <a:ea typeface="Calibri"/>
                <a:cs typeface="Calibri"/>
                <a:sym typeface="Calibri"/>
              </a:rPr>
              <a:t>Energetic excitement: </a:t>
            </a:r>
            <a:r>
              <a:rPr lang="en-US" sz="3600">
                <a:solidFill>
                  <a:schemeClr val="dk1"/>
                </a:solidFill>
                <a:latin typeface="Calibri"/>
                <a:ea typeface="Calibri"/>
                <a:cs typeface="Calibri"/>
                <a:sym typeface="Calibri"/>
              </a:rPr>
              <a:t>Sự hào hứng tràn đầy năng lượng</a:t>
            </a:r>
            <a:endParaRPr sz="36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cxnSp>
        <p:nvCxnSpPr>
          <p:cNvPr id="410" name="Google Shape;410;p27"/>
          <p:cNvCxnSpPr/>
          <p:nvPr/>
        </p:nvCxnSpPr>
        <p:spPr>
          <a:xfrm flipH="1" rot="10800000">
            <a:off x="6209270" y="161940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11" name="Google Shape;411;p27"/>
          <p:cNvGrpSpPr/>
          <p:nvPr/>
        </p:nvGrpSpPr>
        <p:grpSpPr>
          <a:xfrm rot="10800000">
            <a:off x="15785084" y="-536938"/>
            <a:ext cx="7681773" cy="4260605"/>
            <a:chOff x="0" y="-38100"/>
            <a:chExt cx="406400" cy="225405"/>
          </a:xfrm>
        </p:grpSpPr>
        <p:sp>
          <p:nvSpPr>
            <p:cNvPr id="412" name="Google Shape;412;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13" name="Google Shape;413;p2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4" name="Google Shape;414;p2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15" name="Google Shape;415;p27"/>
          <p:cNvSpPr txBox="1"/>
          <p:nvPr/>
        </p:nvSpPr>
        <p:spPr>
          <a:xfrm>
            <a:off x="5571910" y="401132"/>
            <a:ext cx="11880900" cy="8313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5400">
                <a:solidFill>
                  <a:srgbClr val="018345"/>
                </a:solidFill>
                <a:latin typeface="Montserrat"/>
                <a:ea typeface="Montserrat"/>
                <a:cs typeface="Montserrat"/>
                <a:sym typeface="Montserrat"/>
              </a:rPr>
              <a:t>Phần 2: Trả lời câu hỏi liên quan</a:t>
            </a:r>
            <a:endParaRPr b="1" sz="5400">
              <a:solidFill>
                <a:srgbClr val="018345"/>
              </a:solidFill>
              <a:latin typeface="Montserrat"/>
              <a:ea typeface="Montserrat"/>
              <a:cs typeface="Montserrat"/>
              <a:sym typeface="Montserrat"/>
            </a:endParaRPr>
          </a:p>
        </p:txBody>
      </p:sp>
      <p:grpSp>
        <p:nvGrpSpPr>
          <p:cNvPr id="416" name="Google Shape;416;p27"/>
          <p:cNvGrpSpPr/>
          <p:nvPr/>
        </p:nvGrpSpPr>
        <p:grpSpPr>
          <a:xfrm>
            <a:off x="-2718010" y="9274530"/>
            <a:ext cx="7950378" cy="1707223"/>
            <a:chOff x="0" y="-384760"/>
            <a:chExt cx="10600504" cy="2276297"/>
          </a:xfrm>
        </p:grpSpPr>
        <p:grpSp>
          <p:nvGrpSpPr>
            <p:cNvPr id="417" name="Google Shape;417;p27"/>
            <p:cNvGrpSpPr/>
            <p:nvPr/>
          </p:nvGrpSpPr>
          <p:grpSpPr>
            <a:xfrm>
              <a:off x="0" y="-384760"/>
              <a:ext cx="10600504" cy="2276297"/>
              <a:chOff x="0" y="-38100"/>
              <a:chExt cx="1049690" cy="225405"/>
            </a:xfrm>
          </p:grpSpPr>
          <p:sp>
            <p:nvSpPr>
              <p:cNvPr id="418" name="Google Shape;418;p2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19" name="Google Shape;419;p27"/>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0" name="Google Shape;420;p27"/>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1" name="Google Shape;421;p27"/>
          <p:cNvSpPr txBox="1"/>
          <p:nvPr/>
        </p:nvSpPr>
        <p:spPr>
          <a:xfrm>
            <a:off x="6209225" y="1809013"/>
            <a:ext cx="8239200" cy="10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300">
                <a:solidFill>
                  <a:schemeClr val="dk1"/>
                </a:solidFill>
                <a:latin typeface="Calibri"/>
                <a:ea typeface="Calibri"/>
                <a:cs typeface="Calibri"/>
                <a:sym typeface="Calibri"/>
              </a:rPr>
              <a:t>What kind of people play these two sports?</a:t>
            </a:r>
            <a:endParaRPr sz="3300">
              <a:solidFill>
                <a:schemeClr val="dk1"/>
              </a:solidFill>
              <a:latin typeface="Calibri"/>
              <a:ea typeface="Calibri"/>
              <a:cs typeface="Calibri"/>
              <a:sym typeface="Calibri"/>
            </a:endParaRPr>
          </a:p>
        </p:txBody>
      </p:sp>
      <p:pic>
        <p:nvPicPr>
          <p:cNvPr id="422" name="Google Shape;422;p27"/>
          <p:cNvPicPr preferRelativeResize="0"/>
          <p:nvPr/>
        </p:nvPicPr>
        <p:blipFill>
          <a:blip r:embed="rId4">
            <a:alphaModFix/>
          </a:blip>
          <a:stretch>
            <a:fillRect/>
          </a:stretch>
        </p:blipFill>
        <p:spPr>
          <a:xfrm>
            <a:off x="6209263" y="2756363"/>
            <a:ext cx="8239125" cy="2990850"/>
          </a:xfrm>
          <a:prstGeom prst="rect">
            <a:avLst/>
          </a:prstGeom>
          <a:noFill/>
          <a:ln>
            <a:noFill/>
          </a:ln>
        </p:spPr>
      </p:pic>
      <p:sp>
        <p:nvSpPr>
          <p:cNvPr id="423" name="Google Shape;423;p27"/>
          <p:cNvSpPr txBox="1"/>
          <p:nvPr/>
        </p:nvSpPr>
        <p:spPr>
          <a:xfrm>
            <a:off x="6299775" y="6006800"/>
            <a:ext cx="11590500" cy="3733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300">
                <a:solidFill>
                  <a:schemeClr val="dk1"/>
                </a:solidFill>
                <a:latin typeface="Calibri"/>
                <a:ea typeface="Calibri"/>
                <a:cs typeface="Calibri"/>
                <a:sym typeface="Calibri"/>
              </a:rPr>
              <a:t>Cách trả lời</a:t>
            </a:r>
            <a:endParaRPr b="1"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Char char="-"/>
            </a:pPr>
            <a:r>
              <a:rPr lang="en-US" sz="3300">
                <a:solidFill>
                  <a:schemeClr val="dk1"/>
                </a:solidFill>
                <a:latin typeface="Calibri"/>
                <a:ea typeface="Calibri"/>
                <a:cs typeface="Calibri"/>
                <a:sym typeface="Calibri"/>
              </a:rPr>
              <a:t>Trả lời ai thường chơi đánh golf</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300">
                <a:solidFill>
                  <a:srgbClr val="018146"/>
                </a:solidFill>
                <a:latin typeface="Calibri"/>
                <a:ea typeface="Calibri"/>
                <a:cs typeface="Calibri"/>
                <a:sym typeface="Calibri"/>
              </a:rPr>
              <a:t>Golf attracts … </a:t>
            </a:r>
            <a:r>
              <a:rPr lang="en-US" sz="3300">
                <a:solidFill>
                  <a:schemeClr val="dk1"/>
                </a:solidFill>
                <a:latin typeface="Calibri"/>
                <a:ea typeface="Calibri"/>
                <a:cs typeface="Calibri"/>
                <a:sym typeface="Calibri"/>
              </a:rPr>
              <a:t>(đánh golf thường thu hút …)</a:t>
            </a:r>
            <a:endParaRPr sz="3300">
              <a:solidFill>
                <a:schemeClr val="dk1"/>
              </a:solidFill>
              <a:latin typeface="Calibri"/>
              <a:ea typeface="Calibri"/>
              <a:cs typeface="Calibri"/>
              <a:sym typeface="Calibri"/>
            </a:endParaRPr>
          </a:p>
          <a:p>
            <a:pPr indent="-438150" lvl="0" marL="457200" rtl="0" algn="l">
              <a:lnSpc>
                <a:spcPct val="150000"/>
              </a:lnSpc>
              <a:spcBef>
                <a:spcPts val="0"/>
              </a:spcBef>
              <a:spcAft>
                <a:spcPts val="0"/>
              </a:spcAft>
              <a:buClr>
                <a:schemeClr val="dk1"/>
              </a:buClr>
              <a:buSzPts val="3300"/>
              <a:buFont typeface="Calibri"/>
              <a:buChar char="-"/>
            </a:pPr>
            <a:r>
              <a:rPr lang="en-US" sz="3300">
                <a:solidFill>
                  <a:schemeClr val="dk1"/>
                </a:solidFill>
                <a:latin typeface="Calibri"/>
                <a:ea typeface="Calibri"/>
                <a:cs typeface="Calibri"/>
                <a:sym typeface="Calibri"/>
              </a:rPr>
              <a:t>Trả lời ai thường đánh bóng rổ</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300">
                <a:solidFill>
                  <a:srgbClr val="018146"/>
                </a:solidFill>
                <a:latin typeface="Calibri"/>
                <a:ea typeface="Calibri"/>
                <a:cs typeface="Calibri"/>
                <a:sym typeface="Calibri"/>
              </a:rPr>
              <a:t>Basketball appeals to …</a:t>
            </a:r>
            <a:r>
              <a:rPr lang="en-US" sz="3300">
                <a:solidFill>
                  <a:schemeClr val="dk1"/>
                </a:solidFill>
                <a:latin typeface="Calibri"/>
                <a:ea typeface="Calibri"/>
                <a:cs typeface="Calibri"/>
                <a:sym typeface="Calibri"/>
              </a:rPr>
              <a:t> (bóng rổ thu hút …)</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3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33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500"/>
                                        <p:tgtEl>
                                          <p:spTgt spid="4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cxnSp>
        <p:nvCxnSpPr>
          <p:cNvPr id="429" name="Google Shape;429;p28"/>
          <p:cNvCxnSpPr/>
          <p:nvPr/>
        </p:nvCxnSpPr>
        <p:spPr>
          <a:xfrm flipH="1" rot="10800000">
            <a:off x="6209270" y="1619400"/>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430" name="Google Shape;430;p28"/>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431" name="Google Shape;431;p28"/>
          <p:cNvGrpSpPr/>
          <p:nvPr/>
        </p:nvGrpSpPr>
        <p:grpSpPr>
          <a:xfrm rot="10800000">
            <a:off x="15785084" y="-536938"/>
            <a:ext cx="7681773" cy="4260605"/>
            <a:chOff x="0" y="-38100"/>
            <a:chExt cx="406400" cy="225405"/>
          </a:xfrm>
        </p:grpSpPr>
        <p:sp>
          <p:nvSpPr>
            <p:cNvPr id="432" name="Google Shape;432;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33" name="Google Shape;433;p28"/>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4" name="Google Shape;434;p2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35" name="Google Shape;435;p28"/>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Ví dụ</a:t>
            </a:r>
            <a:endParaRPr b="1" sz="6000">
              <a:solidFill>
                <a:srgbClr val="018345"/>
              </a:solidFill>
              <a:latin typeface="Montserrat"/>
              <a:ea typeface="Montserrat"/>
              <a:cs typeface="Montserrat"/>
              <a:sym typeface="Montserrat"/>
            </a:endParaRPr>
          </a:p>
        </p:txBody>
      </p:sp>
      <p:grpSp>
        <p:nvGrpSpPr>
          <p:cNvPr id="436" name="Google Shape;436;p28"/>
          <p:cNvGrpSpPr/>
          <p:nvPr/>
        </p:nvGrpSpPr>
        <p:grpSpPr>
          <a:xfrm>
            <a:off x="-2718010" y="9274530"/>
            <a:ext cx="7950378" cy="1707223"/>
            <a:chOff x="0" y="-384760"/>
            <a:chExt cx="10600504" cy="2276297"/>
          </a:xfrm>
        </p:grpSpPr>
        <p:grpSp>
          <p:nvGrpSpPr>
            <p:cNvPr id="437" name="Google Shape;437;p28"/>
            <p:cNvGrpSpPr/>
            <p:nvPr/>
          </p:nvGrpSpPr>
          <p:grpSpPr>
            <a:xfrm>
              <a:off x="0" y="-384760"/>
              <a:ext cx="10600504" cy="2276297"/>
              <a:chOff x="0" y="-38100"/>
              <a:chExt cx="1049690" cy="225405"/>
            </a:xfrm>
          </p:grpSpPr>
          <p:sp>
            <p:nvSpPr>
              <p:cNvPr id="438" name="Google Shape;438;p2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39" name="Google Shape;439;p28"/>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0" name="Google Shape;440;p28"/>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1" name="Google Shape;441;p28"/>
          <p:cNvGrpSpPr/>
          <p:nvPr/>
        </p:nvGrpSpPr>
        <p:grpSpPr>
          <a:xfrm>
            <a:off x="6487450" y="3207699"/>
            <a:ext cx="11243700" cy="5737154"/>
            <a:chOff x="6447038" y="4050642"/>
            <a:chExt cx="11243700" cy="5926200"/>
          </a:xfrm>
        </p:grpSpPr>
        <p:sp>
          <p:nvSpPr>
            <p:cNvPr id="442" name="Google Shape;442;p28"/>
            <p:cNvSpPr/>
            <p:nvPr/>
          </p:nvSpPr>
          <p:spPr>
            <a:xfrm>
              <a:off x="6447038" y="4050642"/>
              <a:ext cx="11243700" cy="5926200"/>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
          <p:nvSpPr>
            <p:cNvPr id="443" name="Google Shape;443;p28"/>
            <p:cNvSpPr txBox="1"/>
            <p:nvPr/>
          </p:nvSpPr>
          <p:spPr>
            <a:xfrm>
              <a:off x="6962091" y="4507818"/>
              <a:ext cx="10005000" cy="50241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SzPts val="1100"/>
                <a:buNone/>
              </a:pPr>
              <a:r>
                <a:rPr b="1" lang="en-US" sz="3100">
                  <a:solidFill>
                    <a:schemeClr val="dk1"/>
                  </a:solidFill>
                  <a:latin typeface="Calibri"/>
                  <a:ea typeface="Calibri"/>
                  <a:cs typeface="Calibri"/>
                  <a:sym typeface="Calibri"/>
                </a:rPr>
                <a:t>Golf attracts</a:t>
              </a:r>
              <a:r>
                <a:rPr lang="en-US" sz="3100">
                  <a:solidFill>
                    <a:schemeClr val="dk1"/>
                  </a:solidFill>
                  <a:latin typeface="Calibri"/>
                  <a:ea typeface="Calibri"/>
                  <a:cs typeface="Calibri"/>
                  <a:sym typeface="Calibri"/>
                </a:rPr>
                <a:t> individuals who appreciate a peaceful environment, often older adults and business professionals. It values patience and precision. </a:t>
              </a:r>
              <a:endParaRPr sz="3100">
                <a:solidFill>
                  <a:schemeClr val="dk1"/>
                </a:solidFill>
                <a:latin typeface="Calibri"/>
                <a:ea typeface="Calibri"/>
                <a:cs typeface="Calibri"/>
                <a:sym typeface="Calibri"/>
              </a:endParaRPr>
            </a:p>
            <a:p>
              <a:pPr indent="0" lvl="0" marL="0" rtl="0" algn="just">
                <a:lnSpc>
                  <a:spcPct val="150000"/>
                </a:lnSpc>
                <a:spcBef>
                  <a:spcPts val="0"/>
                </a:spcBef>
                <a:spcAft>
                  <a:spcPts val="0"/>
                </a:spcAft>
                <a:buSzPts val="1100"/>
                <a:buNone/>
              </a:pPr>
              <a:r>
                <a:rPr b="1" lang="en-US" sz="3100">
                  <a:solidFill>
                    <a:schemeClr val="dk1"/>
                  </a:solidFill>
                  <a:latin typeface="Calibri"/>
                  <a:ea typeface="Calibri"/>
                  <a:cs typeface="Calibri"/>
                  <a:sym typeface="Calibri"/>
                </a:rPr>
                <a:t>Basketball appeals</a:t>
              </a:r>
              <a:r>
                <a:rPr lang="en-US" sz="3100">
                  <a:solidFill>
                    <a:schemeClr val="dk1"/>
                  </a:solidFill>
                  <a:latin typeface="Calibri"/>
                  <a:ea typeface="Calibri"/>
                  <a:cs typeface="Calibri"/>
                  <a:sym typeface="Calibri"/>
                </a:rPr>
                <a:t> to younger, athletic individuals who enjoy fast-paced, competitive settings. It requires physical fitness, teamwork, and quick reflexes, highlighting the distinct nature of each </a:t>
              </a:r>
              <a:r>
                <a:rPr lang="en-US" sz="3100">
                  <a:solidFill>
                    <a:schemeClr val="dk1"/>
                  </a:solidFill>
                  <a:latin typeface="Calibri"/>
                  <a:ea typeface="Calibri"/>
                  <a:cs typeface="Calibri"/>
                  <a:sym typeface="Calibri"/>
                </a:rPr>
                <a:t>sport</a:t>
              </a:r>
              <a:r>
                <a:rPr lang="en-US" sz="3100">
                  <a:solidFill>
                    <a:schemeClr val="dk1"/>
                  </a:solidFill>
                  <a:latin typeface="Calibri"/>
                  <a:ea typeface="Calibri"/>
                  <a:cs typeface="Calibri"/>
                  <a:sym typeface="Calibri"/>
                </a:rPr>
                <a:t> enthusiasts.</a:t>
              </a:r>
              <a:endParaRPr sz="3100">
                <a:solidFill>
                  <a:schemeClr val="dk1"/>
                </a:solidFill>
                <a:latin typeface="Calibri"/>
                <a:ea typeface="Calibri"/>
                <a:cs typeface="Calibri"/>
                <a:sym typeface="Calibri"/>
              </a:endParaRPr>
            </a:p>
          </p:txBody>
        </p:sp>
      </p:grpSp>
      <p:sp>
        <p:nvSpPr>
          <p:cNvPr id="444" name="Google Shape;444;p28"/>
          <p:cNvSpPr txBox="1"/>
          <p:nvPr/>
        </p:nvSpPr>
        <p:spPr>
          <a:xfrm>
            <a:off x="6308675" y="2116438"/>
            <a:ext cx="8239200" cy="10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300">
                <a:solidFill>
                  <a:schemeClr val="dk1"/>
                </a:solidFill>
                <a:latin typeface="Calibri"/>
                <a:ea typeface="Calibri"/>
                <a:cs typeface="Calibri"/>
                <a:sym typeface="Calibri"/>
              </a:rPr>
              <a:t>What kind of people play these two sports?</a:t>
            </a:r>
            <a:endParaRPr sz="33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500"/>
                                        <p:tgtEl>
                                          <p:spTgt spid="4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cxnSp>
        <p:nvCxnSpPr>
          <p:cNvPr id="450" name="Google Shape;450;p29"/>
          <p:cNvCxnSpPr/>
          <p:nvPr/>
        </p:nvCxnSpPr>
        <p:spPr>
          <a:xfrm flipH="1" rot="10800000">
            <a:off x="6209270" y="230520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51" name="Google Shape;451;p29"/>
          <p:cNvGrpSpPr/>
          <p:nvPr/>
        </p:nvGrpSpPr>
        <p:grpSpPr>
          <a:xfrm rot="10800000">
            <a:off x="15785084" y="-536938"/>
            <a:ext cx="7681773" cy="4260605"/>
            <a:chOff x="0" y="-38100"/>
            <a:chExt cx="406400" cy="225405"/>
          </a:xfrm>
        </p:grpSpPr>
        <p:sp>
          <p:nvSpPr>
            <p:cNvPr id="452" name="Google Shape;452;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53" name="Google Shape;453;p2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4" name="Google Shape;454;p2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55" name="Google Shape;455;p29"/>
          <p:cNvSpPr txBox="1"/>
          <p:nvPr/>
        </p:nvSpPr>
        <p:spPr>
          <a:xfrm>
            <a:off x="5571910" y="10869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Từ vựng</a:t>
            </a:r>
            <a:endParaRPr b="1" sz="6000">
              <a:solidFill>
                <a:srgbClr val="018345"/>
              </a:solidFill>
              <a:latin typeface="Montserrat"/>
              <a:ea typeface="Montserrat"/>
              <a:cs typeface="Montserrat"/>
              <a:sym typeface="Montserrat"/>
            </a:endParaRPr>
          </a:p>
        </p:txBody>
      </p:sp>
      <p:grpSp>
        <p:nvGrpSpPr>
          <p:cNvPr id="456" name="Google Shape;456;p29"/>
          <p:cNvGrpSpPr/>
          <p:nvPr/>
        </p:nvGrpSpPr>
        <p:grpSpPr>
          <a:xfrm>
            <a:off x="-2718010" y="9274530"/>
            <a:ext cx="7950378" cy="1707223"/>
            <a:chOff x="0" y="-384760"/>
            <a:chExt cx="10600504" cy="2276297"/>
          </a:xfrm>
        </p:grpSpPr>
        <p:grpSp>
          <p:nvGrpSpPr>
            <p:cNvPr id="457" name="Google Shape;457;p29"/>
            <p:cNvGrpSpPr/>
            <p:nvPr/>
          </p:nvGrpSpPr>
          <p:grpSpPr>
            <a:xfrm>
              <a:off x="0" y="-384760"/>
              <a:ext cx="10600504" cy="2276297"/>
              <a:chOff x="0" y="-38100"/>
              <a:chExt cx="1049690" cy="225405"/>
            </a:xfrm>
          </p:grpSpPr>
          <p:sp>
            <p:nvSpPr>
              <p:cNvPr id="458" name="Google Shape;458;p2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59" name="Google Shape;459;p29"/>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0" name="Google Shape;460;p29"/>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1" name="Google Shape;461;p29"/>
          <p:cNvSpPr txBox="1"/>
          <p:nvPr/>
        </p:nvSpPr>
        <p:spPr>
          <a:xfrm>
            <a:off x="7227575" y="3031425"/>
            <a:ext cx="10871700" cy="6731100"/>
          </a:xfrm>
          <a:prstGeom prst="rect">
            <a:avLst/>
          </a:prstGeom>
          <a:noFill/>
          <a:ln>
            <a:noFill/>
          </a:ln>
        </p:spPr>
        <p:txBody>
          <a:bodyPr anchorCtr="0" anchor="t" bIns="45700" lIns="91425" spcFirstLastPara="1" rIns="91425" wrap="square" tIns="45700">
            <a:spAutoFit/>
          </a:bodyPr>
          <a:lstStyle/>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Individual: </a:t>
            </a:r>
            <a:r>
              <a:rPr lang="en-US" sz="3800">
                <a:solidFill>
                  <a:schemeClr val="dk1"/>
                </a:solidFill>
                <a:latin typeface="Calibri"/>
                <a:ea typeface="Calibri"/>
                <a:cs typeface="Calibri"/>
                <a:sym typeface="Calibri"/>
              </a:rPr>
              <a:t>Cá nhân</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Appreciate: </a:t>
            </a:r>
            <a:r>
              <a:rPr lang="en-US" sz="3800">
                <a:solidFill>
                  <a:schemeClr val="dk1"/>
                </a:solidFill>
                <a:latin typeface="Calibri"/>
                <a:ea typeface="Calibri"/>
                <a:cs typeface="Calibri"/>
                <a:sym typeface="Calibri"/>
              </a:rPr>
              <a:t>Đánh giá cao</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Peaceful environment: </a:t>
            </a:r>
            <a:r>
              <a:rPr lang="en-US" sz="3800">
                <a:solidFill>
                  <a:schemeClr val="dk1"/>
                </a:solidFill>
                <a:latin typeface="Calibri"/>
                <a:ea typeface="Calibri"/>
                <a:cs typeface="Calibri"/>
                <a:sym typeface="Calibri"/>
              </a:rPr>
              <a:t>Môi trường yên bình</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Adult: </a:t>
            </a:r>
            <a:r>
              <a:rPr lang="en-US" sz="3800">
                <a:solidFill>
                  <a:schemeClr val="dk1"/>
                </a:solidFill>
                <a:latin typeface="Calibri"/>
                <a:ea typeface="Calibri"/>
                <a:cs typeface="Calibri"/>
                <a:sym typeface="Calibri"/>
              </a:rPr>
              <a:t>Người lớn</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Professional: </a:t>
            </a:r>
            <a:r>
              <a:rPr lang="en-US" sz="3800">
                <a:solidFill>
                  <a:schemeClr val="dk1"/>
                </a:solidFill>
                <a:latin typeface="Calibri"/>
                <a:ea typeface="Calibri"/>
                <a:cs typeface="Calibri"/>
                <a:sym typeface="Calibri"/>
              </a:rPr>
              <a:t>Chuyên gia</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Patience: </a:t>
            </a:r>
            <a:r>
              <a:rPr lang="en-US" sz="3800">
                <a:solidFill>
                  <a:schemeClr val="dk1"/>
                </a:solidFill>
                <a:latin typeface="Calibri"/>
                <a:ea typeface="Calibri"/>
                <a:cs typeface="Calibri"/>
                <a:sym typeface="Calibri"/>
              </a:rPr>
              <a:t>Sự kiên nhẫn</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Precision: </a:t>
            </a:r>
            <a:r>
              <a:rPr lang="en-US" sz="3800">
                <a:solidFill>
                  <a:schemeClr val="dk1"/>
                </a:solidFill>
                <a:latin typeface="Calibri"/>
                <a:ea typeface="Calibri"/>
                <a:cs typeface="Calibri"/>
                <a:sym typeface="Calibri"/>
              </a:rPr>
              <a:t>Sự chính xác</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Fast-paced, competitive settings: </a:t>
            </a:r>
            <a:r>
              <a:rPr lang="en-US" sz="3800">
                <a:solidFill>
                  <a:schemeClr val="dk1"/>
                </a:solidFill>
                <a:latin typeface="Calibri"/>
                <a:ea typeface="Calibri"/>
                <a:cs typeface="Calibri"/>
                <a:sym typeface="Calibri"/>
              </a:rPr>
              <a:t>Môi trường cạnh tranh, nhịp độ nhanh</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Sport enthusiast: </a:t>
            </a:r>
            <a:r>
              <a:rPr lang="en-US" sz="3800">
                <a:solidFill>
                  <a:schemeClr val="dk1"/>
                </a:solidFill>
                <a:latin typeface="Calibri"/>
                <a:ea typeface="Calibri"/>
                <a:cs typeface="Calibri"/>
                <a:sym typeface="Calibri"/>
              </a:rPr>
              <a:t>Người đam mê thể thao</a:t>
            </a:r>
            <a:endParaRPr sz="3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500"/>
                                        <p:tgtEl>
                                          <p:spTgt spid="4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cxnSp>
        <p:nvCxnSpPr>
          <p:cNvPr id="467" name="Google Shape;467;p30"/>
          <p:cNvCxnSpPr/>
          <p:nvPr/>
        </p:nvCxnSpPr>
        <p:spPr>
          <a:xfrm flipH="1" rot="10800000">
            <a:off x="6209270" y="161940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68" name="Google Shape;468;p30"/>
          <p:cNvGrpSpPr/>
          <p:nvPr/>
        </p:nvGrpSpPr>
        <p:grpSpPr>
          <a:xfrm rot="10800000">
            <a:off x="15785084" y="-536938"/>
            <a:ext cx="7681773" cy="4260605"/>
            <a:chOff x="0" y="-38100"/>
            <a:chExt cx="406400" cy="225405"/>
          </a:xfrm>
        </p:grpSpPr>
        <p:sp>
          <p:nvSpPr>
            <p:cNvPr id="469" name="Google Shape;469;p3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70" name="Google Shape;470;p3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1" name="Google Shape;471;p3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72" name="Google Shape;472;p30"/>
          <p:cNvSpPr txBox="1"/>
          <p:nvPr/>
        </p:nvSpPr>
        <p:spPr>
          <a:xfrm>
            <a:off x="5571910" y="401132"/>
            <a:ext cx="11880900" cy="8313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5400">
                <a:solidFill>
                  <a:srgbClr val="018345"/>
                </a:solidFill>
                <a:latin typeface="Montserrat"/>
                <a:ea typeface="Montserrat"/>
                <a:cs typeface="Montserrat"/>
                <a:sym typeface="Montserrat"/>
              </a:rPr>
              <a:t>Phần 2: Trả lời câu hỏi liên quan</a:t>
            </a:r>
            <a:endParaRPr b="1" sz="5400">
              <a:solidFill>
                <a:srgbClr val="018345"/>
              </a:solidFill>
              <a:latin typeface="Montserrat"/>
              <a:ea typeface="Montserrat"/>
              <a:cs typeface="Montserrat"/>
              <a:sym typeface="Montserrat"/>
            </a:endParaRPr>
          </a:p>
        </p:txBody>
      </p:sp>
      <p:grpSp>
        <p:nvGrpSpPr>
          <p:cNvPr id="473" name="Google Shape;473;p30"/>
          <p:cNvGrpSpPr/>
          <p:nvPr/>
        </p:nvGrpSpPr>
        <p:grpSpPr>
          <a:xfrm>
            <a:off x="-2718010" y="9274530"/>
            <a:ext cx="7950378" cy="1707223"/>
            <a:chOff x="0" y="-384760"/>
            <a:chExt cx="10600504" cy="2276297"/>
          </a:xfrm>
        </p:grpSpPr>
        <p:grpSp>
          <p:nvGrpSpPr>
            <p:cNvPr id="474" name="Google Shape;474;p30"/>
            <p:cNvGrpSpPr/>
            <p:nvPr/>
          </p:nvGrpSpPr>
          <p:grpSpPr>
            <a:xfrm>
              <a:off x="0" y="-384760"/>
              <a:ext cx="10600504" cy="2276297"/>
              <a:chOff x="0" y="-38100"/>
              <a:chExt cx="1049690" cy="225405"/>
            </a:xfrm>
          </p:grpSpPr>
          <p:sp>
            <p:nvSpPr>
              <p:cNvPr id="475" name="Google Shape;475;p3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76" name="Google Shape;476;p30"/>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7" name="Google Shape;477;p30"/>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8" name="Google Shape;478;p30"/>
          <p:cNvSpPr txBox="1"/>
          <p:nvPr/>
        </p:nvSpPr>
        <p:spPr>
          <a:xfrm>
            <a:off x="6209225" y="1809025"/>
            <a:ext cx="11109600" cy="10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300">
                <a:solidFill>
                  <a:schemeClr val="dk1"/>
                </a:solidFill>
                <a:latin typeface="Calibri"/>
                <a:ea typeface="Calibri"/>
                <a:cs typeface="Calibri"/>
                <a:sym typeface="Calibri"/>
              </a:rPr>
              <a:t>Which of these two sports is more difficult to play? Why?</a:t>
            </a:r>
            <a:endParaRPr sz="3300">
              <a:solidFill>
                <a:schemeClr val="dk1"/>
              </a:solidFill>
              <a:latin typeface="Calibri"/>
              <a:ea typeface="Calibri"/>
              <a:cs typeface="Calibri"/>
              <a:sym typeface="Calibri"/>
            </a:endParaRPr>
          </a:p>
        </p:txBody>
      </p:sp>
      <p:pic>
        <p:nvPicPr>
          <p:cNvPr id="479" name="Google Shape;479;p30"/>
          <p:cNvPicPr preferRelativeResize="0"/>
          <p:nvPr/>
        </p:nvPicPr>
        <p:blipFill>
          <a:blip r:embed="rId4">
            <a:alphaModFix/>
          </a:blip>
          <a:stretch>
            <a:fillRect/>
          </a:stretch>
        </p:blipFill>
        <p:spPr>
          <a:xfrm>
            <a:off x="6209263" y="2756363"/>
            <a:ext cx="8239125" cy="2990850"/>
          </a:xfrm>
          <a:prstGeom prst="rect">
            <a:avLst/>
          </a:prstGeom>
          <a:noFill/>
          <a:ln>
            <a:noFill/>
          </a:ln>
        </p:spPr>
      </p:pic>
      <p:sp>
        <p:nvSpPr>
          <p:cNvPr id="480" name="Google Shape;480;p30"/>
          <p:cNvSpPr txBox="1"/>
          <p:nvPr/>
        </p:nvSpPr>
        <p:spPr>
          <a:xfrm>
            <a:off x="6299775" y="6006800"/>
            <a:ext cx="11590500" cy="3981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3000">
                <a:solidFill>
                  <a:schemeClr val="dk1"/>
                </a:solidFill>
                <a:latin typeface="Calibri"/>
                <a:ea typeface="Calibri"/>
                <a:cs typeface="Calibri"/>
                <a:sym typeface="Calibri"/>
              </a:rPr>
              <a:t>Cấu trúc nên dùng:</a:t>
            </a:r>
            <a:endParaRPr b="1"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Personally, … is considered … </a:t>
            </a:r>
            <a:r>
              <a:rPr lang="en-US" sz="3000">
                <a:solidFill>
                  <a:schemeClr val="dk1"/>
                </a:solidFill>
                <a:latin typeface="Calibri"/>
                <a:ea typeface="Calibri"/>
                <a:cs typeface="Calibri"/>
                <a:sym typeface="Calibri"/>
              </a:rPr>
              <a:t>(theo cá nhân, … được cho là …)</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b="1" lang="en-US" sz="3000">
                <a:solidFill>
                  <a:srgbClr val="018146"/>
                </a:solidFill>
                <a:latin typeface="Calibri"/>
                <a:ea typeface="Calibri"/>
                <a:cs typeface="Calibri"/>
                <a:sym typeface="Calibri"/>
              </a:rPr>
              <a:t>Unlike … </a:t>
            </a:r>
            <a:r>
              <a:rPr lang="en-US" sz="3000">
                <a:solidFill>
                  <a:schemeClr val="dk1"/>
                </a:solidFill>
                <a:latin typeface="Calibri"/>
                <a:ea typeface="Calibri"/>
                <a:cs typeface="Calibri"/>
                <a:sym typeface="Calibri"/>
              </a:rPr>
              <a:t>(không giống như là …)</a:t>
            </a:r>
            <a:endParaRPr sz="30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b="1" sz="3000">
              <a:solidFill>
                <a:srgbClr val="018146"/>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500"/>
                                        <p:tgtEl>
                                          <p:spTgt spid="4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cxnSp>
        <p:nvCxnSpPr>
          <p:cNvPr id="486" name="Google Shape;486;p31"/>
          <p:cNvCxnSpPr/>
          <p:nvPr/>
        </p:nvCxnSpPr>
        <p:spPr>
          <a:xfrm flipH="1" rot="10800000">
            <a:off x="6209270" y="1619400"/>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487" name="Google Shape;487;p31"/>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488" name="Google Shape;488;p31"/>
          <p:cNvGrpSpPr/>
          <p:nvPr/>
        </p:nvGrpSpPr>
        <p:grpSpPr>
          <a:xfrm rot="10800000">
            <a:off x="15785084" y="-536938"/>
            <a:ext cx="7681773" cy="4260605"/>
            <a:chOff x="0" y="-38100"/>
            <a:chExt cx="406400" cy="225405"/>
          </a:xfrm>
        </p:grpSpPr>
        <p:sp>
          <p:nvSpPr>
            <p:cNvPr id="489" name="Google Shape;489;p3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90" name="Google Shape;490;p3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1" name="Google Shape;491;p3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92" name="Google Shape;492;p31"/>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Ví dụ</a:t>
            </a:r>
            <a:endParaRPr b="1" sz="6000">
              <a:solidFill>
                <a:srgbClr val="018345"/>
              </a:solidFill>
              <a:latin typeface="Montserrat"/>
              <a:ea typeface="Montserrat"/>
              <a:cs typeface="Montserrat"/>
              <a:sym typeface="Montserrat"/>
            </a:endParaRPr>
          </a:p>
        </p:txBody>
      </p:sp>
      <p:grpSp>
        <p:nvGrpSpPr>
          <p:cNvPr id="493" name="Google Shape;493;p31"/>
          <p:cNvGrpSpPr/>
          <p:nvPr/>
        </p:nvGrpSpPr>
        <p:grpSpPr>
          <a:xfrm>
            <a:off x="-2718010" y="9274530"/>
            <a:ext cx="7950378" cy="1707223"/>
            <a:chOff x="0" y="-384760"/>
            <a:chExt cx="10600504" cy="2276297"/>
          </a:xfrm>
        </p:grpSpPr>
        <p:grpSp>
          <p:nvGrpSpPr>
            <p:cNvPr id="494" name="Google Shape;494;p31"/>
            <p:cNvGrpSpPr/>
            <p:nvPr/>
          </p:nvGrpSpPr>
          <p:grpSpPr>
            <a:xfrm>
              <a:off x="0" y="-384760"/>
              <a:ext cx="10600504" cy="2276297"/>
              <a:chOff x="0" y="-38100"/>
              <a:chExt cx="1049690" cy="225405"/>
            </a:xfrm>
          </p:grpSpPr>
          <p:sp>
            <p:nvSpPr>
              <p:cNvPr id="495" name="Google Shape;495;p3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96" name="Google Shape;496;p31"/>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7" name="Google Shape;497;p31"/>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98" name="Google Shape;498;p31"/>
          <p:cNvGrpSpPr/>
          <p:nvPr/>
        </p:nvGrpSpPr>
        <p:grpSpPr>
          <a:xfrm>
            <a:off x="6487450" y="3207769"/>
            <a:ext cx="11243700" cy="5170017"/>
            <a:chOff x="6447038" y="4050642"/>
            <a:chExt cx="11243700" cy="5926200"/>
          </a:xfrm>
        </p:grpSpPr>
        <p:sp>
          <p:nvSpPr>
            <p:cNvPr id="499" name="Google Shape;499;p31"/>
            <p:cNvSpPr/>
            <p:nvPr/>
          </p:nvSpPr>
          <p:spPr>
            <a:xfrm>
              <a:off x="6447038" y="4050642"/>
              <a:ext cx="11243700" cy="5926200"/>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
          <p:nvSpPr>
            <p:cNvPr id="500" name="Google Shape;500;p31"/>
            <p:cNvSpPr txBox="1"/>
            <p:nvPr/>
          </p:nvSpPr>
          <p:spPr>
            <a:xfrm>
              <a:off x="6962091" y="4507818"/>
              <a:ext cx="10005000" cy="47550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SzPts val="1100"/>
                <a:buNone/>
              </a:pPr>
              <a:r>
                <a:rPr b="1" lang="en-US" sz="3100">
                  <a:solidFill>
                    <a:schemeClr val="dk1"/>
                  </a:solidFill>
                  <a:latin typeface="Calibri"/>
                  <a:ea typeface="Calibri"/>
                  <a:cs typeface="Calibri"/>
                  <a:sym typeface="Calibri"/>
                </a:rPr>
                <a:t>Personally</a:t>
              </a:r>
              <a:r>
                <a:rPr lang="en-US" sz="3100">
                  <a:solidFill>
                    <a:schemeClr val="dk1"/>
                  </a:solidFill>
                  <a:latin typeface="Calibri"/>
                  <a:ea typeface="Calibri"/>
                  <a:cs typeface="Calibri"/>
                  <a:sym typeface="Calibri"/>
                </a:rPr>
                <a:t>, b</a:t>
              </a:r>
              <a:r>
                <a:rPr lang="en-US" sz="3100">
                  <a:solidFill>
                    <a:schemeClr val="dk1"/>
                  </a:solidFill>
                  <a:latin typeface="Calibri"/>
                  <a:ea typeface="Calibri"/>
                  <a:cs typeface="Calibri"/>
                  <a:sym typeface="Calibri"/>
                </a:rPr>
                <a:t>asketball </a:t>
              </a:r>
              <a:r>
                <a:rPr b="1" lang="en-US" sz="3100">
                  <a:solidFill>
                    <a:schemeClr val="dk1"/>
                  </a:solidFill>
                  <a:latin typeface="Calibri"/>
                  <a:ea typeface="Calibri"/>
                  <a:cs typeface="Calibri"/>
                  <a:sym typeface="Calibri"/>
                </a:rPr>
                <a:t>is considered </a:t>
              </a:r>
              <a:r>
                <a:rPr lang="en-US" sz="3100">
                  <a:solidFill>
                    <a:schemeClr val="dk1"/>
                  </a:solidFill>
                  <a:latin typeface="Calibri"/>
                  <a:ea typeface="Calibri"/>
                  <a:cs typeface="Calibri"/>
                  <a:sym typeface="Calibri"/>
                </a:rPr>
                <a:t>more challenging due to its physical demands, fast-paced gameplay, and need for quick decision-making. Players must excel in shooting, dribbling, and defending, all while maintaining endurance throughout the game. </a:t>
              </a:r>
              <a:r>
                <a:rPr b="1" lang="en-US" sz="3100">
                  <a:solidFill>
                    <a:schemeClr val="dk1"/>
                  </a:solidFill>
                  <a:latin typeface="Calibri"/>
                  <a:ea typeface="Calibri"/>
                  <a:cs typeface="Calibri"/>
                  <a:sym typeface="Calibri"/>
                </a:rPr>
                <a:t>Unlike golf</a:t>
              </a:r>
              <a:r>
                <a:rPr lang="en-US" sz="3100">
                  <a:solidFill>
                    <a:schemeClr val="dk1"/>
                  </a:solidFill>
                  <a:latin typeface="Calibri"/>
                  <a:ea typeface="Calibri"/>
                  <a:cs typeface="Calibri"/>
                  <a:sym typeface="Calibri"/>
                </a:rPr>
                <a:t>, which prioritizes precision, basketball requires athleticism, endurance, and coordination.</a:t>
              </a:r>
              <a:endParaRPr sz="3100">
                <a:solidFill>
                  <a:schemeClr val="dk1"/>
                </a:solidFill>
                <a:latin typeface="Calibri"/>
                <a:ea typeface="Calibri"/>
                <a:cs typeface="Calibri"/>
                <a:sym typeface="Calibri"/>
              </a:endParaRPr>
            </a:p>
          </p:txBody>
        </p:sp>
      </p:grpSp>
      <p:sp>
        <p:nvSpPr>
          <p:cNvPr id="501" name="Google Shape;501;p31"/>
          <p:cNvSpPr txBox="1"/>
          <p:nvPr/>
        </p:nvSpPr>
        <p:spPr>
          <a:xfrm>
            <a:off x="6308675" y="2116450"/>
            <a:ext cx="10811400" cy="10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300">
                <a:solidFill>
                  <a:schemeClr val="dk1"/>
                </a:solidFill>
                <a:latin typeface="Calibri"/>
                <a:ea typeface="Calibri"/>
                <a:cs typeface="Calibri"/>
                <a:sym typeface="Calibri"/>
              </a:rPr>
              <a:t>Which of these two s</a:t>
            </a:r>
            <a:r>
              <a:rPr lang="en-US" sz="3300">
                <a:solidFill>
                  <a:schemeClr val="dk1"/>
                </a:solidFill>
                <a:latin typeface="Calibri"/>
                <a:ea typeface="Calibri"/>
                <a:cs typeface="Calibri"/>
                <a:sym typeface="Calibri"/>
              </a:rPr>
              <a:t>p</a:t>
            </a:r>
            <a:r>
              <a:rPr lang="en-US" sz="3300">
                <a:solidFill>
                  <a:schemeClr val="dk1"/>
                </a:solidFill>
                <a:latin typeface="Calibri"/>
                <a:ea typeface="Calibri"/>
                <a:cs typeface="Calibri"/>
                <a:sym typeface="Calibri"/>
              </a:rPr>
              <a:t>orts is more difficult to play? Why?</a:t>
            </a:r>
            <a:endParaRPr sz="3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3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33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500"/>
                                        <p:tgtEl>
                                          <p:spTgt spid="4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500"/>
                                        <p:tgtEl>
                                          <p:spTgt spid="4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cxnSp>
        <p:nvCxnSpPr>
          <p:cNvPr id="507" name="Google Shape;507;p32"/>
          <p:cNvCxnSpPr/>
          <p:nvPr/>
        </p:nvCxnSpPr>
        <p:spPr>
          <a:xfrm flipH="1" rot="10800000">
            <a:off x="6209270" y="230520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508" name="Google Shape;508;p32"/>
          <p:cNvGrpSpPr/>
          <p:nvPr/>
        </p:nvGrpSpPr>
        <p:grpSpPr>
          <a:xfrm rot="10800000">
            <a:off x="15785084" y="-536938"/>
            <a:ext cx="7681773" cy="4260605"/>
            <a:chOff x="0" y="-38100"/>
            <a:chExt cx="406400" cy="225405"/>
          </a:xfrm>
        </p:grpSpPr>
        <p:sp>
          <p:nvSpPr>
            <p:cNvPr id="509" name="Google Shape;509;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10" name="Google Shape;510;p3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1" name="Google Shape;511;p3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12" name="Google Shape;512;p32"/>
          <p:cNvSpPr txBox="1"/>
          <p:nvPr/>
        </p:nvSpPr>
        <p:spPr>
          <a:xfrm>
            <a:off x="5571910" y="10869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Từ vựng </a:t>
            </a:r>
            <a:endParaRPr b="1" sz="6000">
              <a:solidFill>
                <a:srgbClr val="018345"/>
              </a:solidFill>
              <a:latin typeface="Montserrat"/>
              <a:ea typeface="Montserrat"/>
              <a:cs typeface="Montserrat"/>
              <a:sym typeface="Montserrat"/>
            </a:endParaRPr>
          </a:p>
        </p:txBody>
      </p:sp>
      <p:grpSp>
        <p:nvGrpSpPr>
          <p:cNvPr id="513" name="Google Shape;513;p32"/>
          <p:cNvGrpSpPr/>
          <p:nvPr/>
        </p:nvGrpSpPr>
        <p:grpSpPr>
          <a:xfrm>
            <a:off x="-2718010" y="9274530"/>
            <a:ext cx="7950378" cy="1707223"/>
            <a:chOff x="0" y="-384760"/>
            <a:chExt cx="10600504" cy="2276297"/>
          </a:xfrm>
        </p:grpSpPr>
        <p:grpSp>
          <p:nvGrpSpPr>
            <p:cNvPr id="514" name="Google Shape;514;p32"/>
            <p:cNvGrpSpPr/>
            <p:nvPr/>
          </p:nvGrpSpPr>
          <p:grpSpPr>
            <a:xfrm>
              <a:off x="0" y="-384760"/>
              <a:ext cx="10600504" cy="2276297"/>
              <a:chOff x="0" y="-38100"/>
              <a:chExt cx="1049690" cy="225405"/>
            </a:xfrm>
          </p:grpSpPr>
          <p:sp>
            <p:nvSpPr>
              <p:cNvPr id="515" name="Google Shape;515;p3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16" name="Google Shape;516;p32"/>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7" name="Google Shape;517;p32"/>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8" name="Google Shape;518;p32"/>
          <p:cNvSpPr txBox="1"/>
          <p:nvPr/>
        </p:nvSpPr>
        <p:spPr>
          <a:xfrm>
            <a:off x="7227575" y="3031425"/>
            <a:ext cx="10871700" cy="6731100"/>
          </a:xfrm>
          <a:prstGeom prst="rect">
            <a:avLst/>
          </a:prstGeom>
          <a:noFill/>
          <a:ln>
            <a:noFill/>
          </a:ln>
        </p:spPr>
        <p:txBody>
          <a:bodyPr anchorCtr="0" anchor="t" bIns="45700" lIns="91425" spcFirstLastPara="1" rIns="91425" wrap="square" tIns="45700">
            <a:spAutoFit/>
          </a:bodyPr>
          <a:lstStyle/>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Challenging: </a:t>
            </a:r>
            <a:r>
              <a:rPr lang="en-US" sz="3800">
                <a:solidFill>
                  <a:schemeClr val="dk1"/>
                </a:solidFill>
                <a:latin typeface="Calibri"/>
                <a:ea typeface="Calibri"/>
                <a:cs typeface="Calibri"/>
                <a:sym typeface="Calibri"/>
              </a:rPr>
              <a:t>Thách thức</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Physical demands: </a:t>
            </a:r>
            <a:r>
              <a:rPr lang="en-US" sz="3800">
                <a:solidFill>
                  <a:schemeClr val="dk1"/>
                </a:solidFill>
                <a:latin typeface="Calibri"/>
                <a:ea typeface="Calibri"/>
                <a:cs typeface="Calibri"/>
                <a:sym typeface="Calibri"/>
              </a:rPr>
              <a:t>Yêu cầu về thể chất</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Decision-making:</a:t>
            </a:r>
            <a:r>
              <a:rPr lang="en-US" sz="3800">
                <a:solidFill>
                  <a:schemeClr val="dk1"/>
                </a:solidFill>
                <a:latin typeface="Calibri"/>
                <a:ea typeface="Calibri"/>
                <a:cs typeface="Calibri"/>
                <a:sym typeface="Calibri"/>
              </a:rPr>
              <a:t> </a:t>
            </a:r>
            <a:r>
              <a:rPr lang="en-US" sz="3800">
                <a:solidFill>
                  <a:schemeClr val="dk1"/>
                </a:solidFill>
                <a:latin typeface="Calibri"/>
                <a:ea typeface="Calibri"/>
                <a:cs typeface="Calibri"/>
                <a:sym typeface="Calibri"/>
              </a:rPr>
              <a:t>Quyết định</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Excel in: </a:t>
            </a:r>
            <a:r>
              <a:rPr lang="en-US" sz="3800">
                <a:solidFill>
                  <a:schemeClr val="dk1"/>
                </a:solidFill>
                <a:latin typeface="Calibri"/>
                <a:ea typeface="Calibri"/>
                <a:cs typeface="Calibri"/>
                <a:sym typeface="Calibri"/>
              </a:rPr>
              <a:t>Xuất sắc trong</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Shooting: </a:t>
            </a:r>
            <a:r>
              <a:rPr lang="en-US" sz="3800">
                <a:solidFill>
                  <a:schemeClr val="dk1"/>
                </a:solidFill>
                <a:latin typeface="Calibri"/>
                <a:ea typeface="Calibri"/>
                <a:cs typeface="Calibri"/>
                <a:sym typeface="Calibri"/>
              </a:rPr>
              <a:t>N</a:t>
            </a:r>
            <a:r>
              <a:rPr lang="en-US" sz="3800">
                <a:solidFill>
                  <a:schemeClr val="dk1"/>
                </a:solidFill>
                <a:latin typeface="Calibri"/>
                <a:ea typeface="Calibri"/>
                <a:cs typeface="Calibri"/>
                <a:sym typeface="Calibri"/>
              </a:rPr>
              <a:t>ém bóng</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Dribbling: </a:t>
            </a:r>
            <a:r>
              <a:rPr lang="en-US" sz="3800">
                <a:solidFill>
                  <a:schemeClr val="dk1"/>
                </a:solidFill>
                <a:latin typeface="Calibri"/>
                <a:ea typeface="Calibri"/>
                <a:cs typeface="Calibri"/>
                <a:sym typeface="Calibri"/>
              </a:rPr>
              <a:t>Rê bóng</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Defending: </a:t>
            </a:r>
            <a:r>
              <a:rPr lang="en-US" sz="3800">
                <a:solidFill>
                  <a:schemeClr val="dk1"/>
                </a:solidFill>
                <a:latin typeface="Calibri"/>
                <a:ea typeface="Calibri"/>
                <a:cs typeface="Calibri"/>
                <a:sym typeface="Calibri"/>
              </a:rPr>
              <a:t>Phòng thủ</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Endurance:</a:t>
            </a:r>
            <a:r>
              <a:rPr lang="en-US" sz="3800">
                <a:solidFill>
                  <a:schemeClr val="dk1"/>
                </a:solidFill>
                <a:latin typeface="Calibri"/>
                <a:ea typeface="Calibri"/>
                <a:cs typeface="Calibri"/>
                <a:sym typeface="Calibri"/>
              </a:rPr>
              <a:t> Sức bền</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Prioritize:</a:t>
            </a:r>
            <a:r>
              <a:rPr lang="en-US" sz="3800">
                <a:solidFill>
                  <a:schemeClr val="dk1"/>
                </a:solidFill>
                <a:latin typeface="Calibri"/>
                <a:ea typeface="Calibri"/>
                <a:cs typeface="Calibri"/>
                <a:sym typeface="Calibri"/>
              </a:rPr>
              <a:t> Ưu tiên</a:t>
            </a:r>
            <a:endParaRPr sz="3800">
              <a:solidFill>
                <a:schemeClr val="dk1"/>
              </a:solidFill>
              <a:latin typeface="Calibri"/>
              <a:ea typeface="Calibri"/>
              <a:cs typeface="Calibri"/>
              <a:sym typeface="Calibri"/>
            </a:endParaRPr>
          </a:p>
          <a:p>
            <a:pPr indent="-469900" lvl="0" marL="457200" rtl="0" algn="l">
              <a:lnSpc>
                <a:spcPct val="115000"/>
              </a:lnSpc>
              <a:spcBef>
                <a:spcPts val="0"/>
              </a:spcBef>
              <a:spcAft>
                <a:spcPts val="0"/>
              </a:spcAft>
              <a:buClr>
                <a:srgbClr val="018345"/>
              </a:buClr>
              <a:buSzPts val="3800"/>
              <a:buChar char="•"/>
            </a:pPr>
            <a:r>
              <a:rPr lang="en-US" sz="3800">
                <a:solidFill>
                  <a:srgbClr val="018345"/>
                </a:solidFill>
                <a:latin typeface="Calibri"/>
                <a:ea typeface="Calibri"/>
                <a:cs typeface="Calibri"/>
                <a:sym typeface="Calibri"/>
              </a:rPr>
              <a:t>Athleticism: </a:t>
            </a:r>
            <a:r>
              <a:rPr lang="en-US" sz="3800">
                <a:solidFill>
                  <a:schemeClr val="dk1"/>
                </a:solidFill>
                <a:latin typeface="Calibri"/>
                <a:ea typeface="Calibri"/>
                <a:cs typeface="Calibri"/>
                <a:sym typeface="Calibri"/>
              </a:rPr>
              <a:t>Tính thể thao</a:t>
            </a:r>
            <a:endParaRPr sz="3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500"/>
                                        <p:tgtEl>
                                          <p:spTgt spid="5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cxnSp>
        <p:nvCxnSpPr>
          <p:cNvPr id="523" name="Google Shape;523;p33"/>
          <p:cNvCxnSpPr/>
          <p:nvPr/>
        </p:nvCxnSpPr>
        <p:spPr>
          <a:xfrm>
            <a:off x="5693855" y="2235185"/>
            <a:ext cx="11307428" cy="0"/>
          </a:xfrm>
          <a:prstGeom prst="straightConnector1">
            <a:avLst/>
          </a:prstGeom>
          <a:noFill/>
          <a:ln cap="flat" cmpd="sng" w="38100">
            <a:solidFill>
              <a:srgbClr val="018345"/>
            </a:solidFill>
            <a:prstDash val="solid"/>
            <a:round/>
            <a:headEnd len="sm" w="sm" type="none"/>
            <a:tailEnd len="sm" w="sm" type="none"/>
          </a:ln>
        </p:spPr>
      </p:cxnSp>
      <p:cxnSp>
        <p:nvCxnSpPr>
          <p:cNvPr id="524" name="Google Shape;524;p33"/>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25" name="Google Shape;525;p33"/>
          <p:cNvGrpSpPr/>
          <p:nvPr/>
        </p:nvGrpSpPr>
        <p:grpSpPr>
          <a:xfrm rot="10800000">
            <a:off x="15044552" y="-741521"/>
            <a:ext cx="7681766" cy="4260610"/>
            <a:chOff x="0" y="-38100"/>
            <a:chExt cx="406400" cy="225405"/>
          </a:xfrm>
        </p:grpSpPr>
        <p:sp>
          <p:nvSpPr>
            <p:cNvPr id="526" name="Google Shape;526;p3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27" name="Google Shape;527;p33"/>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528" name="Google Shape;528;p33"/>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529" name="Google Shape;529;p33"/>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530" name="Google Shape;530;p33"/>
          <p:cNvSpPr txBox="1"/>
          <p:nvPr/>
        </p:nvSpPr>
        <p:spPr>
          <a:xfrm>
            <a:off x="6705600" y="2324100"/>
            <a:ext cx="9930052" cy="1266885"/>
          </a:xfrm>
          <a:prstGeom prst="rect">
            <a:avLst/>
          </a:prstGeom>
          <a:noFill/>
          <a:ln>
            <a:noFill/>
          </a:ln>
        </p:spPr>
        <p:txBody>
          <a:bodyPr anchorCtr="0" anchor="t" bIns="0" lIns="0" spcFirstLastPara="1" rIns="0" wrap="square" tIns="0">
            <a:spAutoFit/>
          </a:bodyPr>
          <a:lstStyle/>
          <a:p>
            <a:pPr indent="0" lvl="0" marL="0" marR="0" rtl="0" algn="ctr">
              <a:lnSpc>
                <a:spcPct val="150069"/>
              </a:lnSpc>
              <a:spcBef>
                <a:spcPts val="0"/>
              </a:spcBef>
              <a:spcAft>
                <a:spcPts val="0"/>
              </a:spcAft>
              <a:buNone/>
            </a:pPr>
            <a:r>
              <a:rPr b="1" lang="en-US" sz="7200">
                <a:solidFill>
                  <a:srgbClr val="018345"/>
                </a:solidFill>
                <a:latin typeface="Montserrat"/>
                <a:ea typeface="Montserrat"/>
                <a:cs typeface="Montserrat"/>
                <a:sym typeface="Montserrat"/>
              </a:rPr>
              <a:t>Luyện tập</a:t>
            </a:r>
            <a:endParaRPr b="1" sz="7200">
              <a:solidFill>
                <a:srgbClr val="018345"/>
              </a:solidFill>
              <a:latin typeface="Montserrat"/>
              <a:ea typeface="Montserrat"/>
              <a:cs typeface="Montserrat"/>
              <a:sym typeface="Montserrat"/>
            </a:endParaRPr>
          </a:p>
        </p:txBody>
      </p:sp>
      <p:sp>
        <p:nvSpPr>
          <p:cNvPr id="531" name="Google Shape;531;p33"/>
          <p:cNvSpPr txBox="1"/>
          <p:nvPr/>
        </p:nvSpPr>
        <p:spPr>
          <a:xfrm>
            <a:off x="10182106" y="339710"/>
            <a:ext cx="220273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05</a:t>
            </a:r>
            <a:endParaRPr/>
          </a:p>
        </p:txBody>
      </p:sp>
      <p:grpSp>
        <p:nvGrpSpPr>
          <p:cNvPr id="532" name="Google Shape;532;p33"/>
          <p:cNvGrpSpPr/>
          <p:nvPr/>
        </p:nvGrpSpPr>
        <p:grpSpPr>
          <a:xfrm>
            <a:off x="-2718010" y="9274528"/>
            <a:ext cx="7950400" cy="1707231"/>
            <a:chOff x="0" y="-384762"/>
            <a:chExt cx="10600533" cy="2276307"/>
          </a:xfrm>
        </p:grpSpPr>
        <p:grpSp>
          <p:nvGrpSpPr>
            <p:cNvPr id="533" name="Google Shape;533;p33"/>
            <p:cNvGrpSpPr/>
            <p:nvPr/>
          </p:nvGrpSpPr>
          <p:grpSpPr>
            <a:xfrm>
              <a:off x="0" y="-384762"/>
              <a:ext cx="10600533" cy="2276307"/>
              <a:chOff x="0" y="-38100"/>
              <a:chExt cx="1049690" cy="225405"/>
            </a:xfrm>
          </p:grpSpPr>
          <p:sp>
            <p:nvSpPr>
              <p:cNvPr id="534" name="Google Shape;534;p3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35" name="Google Shape;535;p33"/>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6" name="Google Shape;536;p33"/>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537" name="Google Shape;537;p33"/>
          <p:cNvPicPr preferRelativeResize="0"/>
          <p:nvPr/>
        </p:nvPicPr>
        <p:blipFill rotWithShape="1">
          <a:blip r:embed="rId5">
            <a:alphaModFix/>
          </a:blip>
          <a:srcRect b="0" l="0" r="0" t="0"/>
          <a:stretch/>
        </p:blipFill>
        <p:spPr>
          <a:xfrm>
            <a:off x="8915400" y="3956510"/>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31"/>
                                        </p:tgtEl>
                                        <p:attrNameLst>
                                          <p:attrName>style.visibility</p:attrName>
                                        </p:attrNameLst>
                                      </p:cBhvr>
                                      <p:to>
                                        <p:strVal val="visible"/>
                                      </p:to>
                                    </p:set>
                                    <p:anim calcmode="lin" valueType="num">
                                      <p:cBhvr additive="base">
                                        <p:cTn dur="500"/>
                                        <p:tgtEl>
                                          <p:spTgt spid="531"/>
                                        </p:tgtEl>
                                        <p:attrNameLst>
                                          <p:attrName>ppt_w</p:attrName>
                                        </p:attrNameLst>
                                      </p:cBhvr>
                                      <p:tavLst>
                                        <p:tav fmla="" tm="0">
                                          <p:val>
                                            <p:strVal val="0"/>
                                          </p:val>
                                        </p:tav>
                                        <p:tav fmla="" tm="100000">
                                          <p:val>
                                            <p:strVal val="#ppt_w"/>
                                          </p:val>
                                        </p:tav>
                                      </p:tavLst>
                                    </p:anim>
                                    <p:anim calcmode="lin" valueType="num">
                                      <p:cBhvr additive="base">
                                        <p:cTn dur="500"/>
                                        <p:tgtEl>
                                          <p:spTgt spid="53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30"/>
                                        </p:tgtEl>
                                        <p:attrNameLst>
                                          <p:attrName>style.visibility</p:attrName>
                                        </p:attrNameLst>
                                      </p:cBhvr>
                                      <p:to>
                                        <p:strVal val="visible"/>
                                      </p:to>
                                    </p:set>
                                    <p:anim calcmode="lin" valueType="num">
                                      <p:cBhvr additive="base">
                                        <p:cTn dur="500"/>
                                        <p:tgtEl>
                                          <p:spTgt spid="530"/>
                                        </p:tgtEl>
                                        <p:attrNameLst>
                                          <p:attrName>ppt_w</p:attrName>
                                        </p:attrNameLst>
                                      </p:cBhvr>
                                      <p:tavLst>
                                        <p:tav fmla="" tm="0">
                                          <p:val>
                                            <p:strVal val="0"/>
                                          </p:val>
                                        </p:tav>
                                        <p:tav fmla="" tm="100000">
                                          <p:val>
                                            <p:strVal val="#ppt_w"/>
                                          </p:val>
                                        </p:tav>
                                      </p:tavLst>
                                    </p:anim>
                                    <p:anim calcmode="lin" valueType="num">
                                      <p:cBhvr additive="base">
                                        <p:cTn dur="500"/>
                                        <p:tgtEl>
                                          <p:spTgt spid="53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cxnSp>
        <p:nvCxnSpPr>
          <p:cNvPr id="543" name="Google Shape;543;p34"/>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544" name="Google Shape;544;p34"/>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45" name="Google Shape;545;p34"/>
          <p:cNvGrpSpPr/>
          <p:nvPr/>
        </p:nvGrpSpPr>
        <p:grpSpPr>
          <a:xfrm rot="10800000">
            <a:off x="15044552" y="-741521"/>
            <a:ext cx="7681766" cy="4260610"/>
            <a:chOff x="0" y="-38100"/>
            <a:chExt cx="406400" cy="225405"/>
          </a:xfrm>
        </p:grpSpPr>
        <p:sp>
          <p:nvSpPr>
            <p:cNvPr id="546" name="Google Shape;546;p3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47" name="Google Shape;547;p3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548" name="Google Shape;548;p3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549" name="Google Shape;549;p34"/>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550" name="Google Shape;550;p34"/>
          <p:cNvGrpSpPr/>
          <p:nvPr/>
        </p:nvGrpSpPr>
        <p:grpSpPr>
          <a:xfrm rot="10800000">
            <a:off x="15828686" y="-13843"/>
            <a:ext cx="7681766" cy="4260610"/>
            <a:chOff x="0" y="-38100"/>
            <a:chExt cx="406400" cy="225405"/>
          </a:xfrm>
        </p:grpSpPr>
        <p:sp>
          <p:nvSpPr>
            <p:cNvPr id="551" name="Google Shape;551;p3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552" name="Google Shape;552;p3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3" name="Google Shape;553;p34"/>
          <p:cNvSpPr txBox="1"/>
          <p:nvPr/>
        </p:nvSpPr>
        <p:spPr>
          <a:xfrm>
            <a:off x="5696245" y="2603735"/>
            <a:ext cx="11565445" cy="5114861"/>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None/>
            </a:pPr>
            <a:r>
              <a:rPr b="1" lang="en-US" sz="10003">
                <a:solidFill>
                  <a:srgbClr val="018345"/>
                </a:solidFill>
                <a:latin typeface="Roboto"/>
                <a:ea typeface="Roboto"/>
                <a:cs typeface="Roboto"/>
                <a:sym typeface="Roboto"/>
              </a:rPr>
              <a:t>Cảm ơn các bạn đã chú ý theo dõi!</a:t>
            </a:r>
            <a:endParaRPr/>
          </a:p>
          <a:p>
            <a:pPr indent="0" lvl="0" marL="0" marR="0" rtl="0" algn="ctr">
              <a:lnSpc>
                <a:spcPct val="134999"/>
              </a:lnSpc>
              <a:spcBef>
                <a:spcPts val="0"/>
              </a:spcBef>
              <a:spcAft>
                <a:spcPts val="0"/>
              </a:spcAft>
              <a:buNone/>
            </a:pPr>
            <a:r>
              <a:t/>
            </a:r>
            <a:endParaRPr b="1" sz="10003">
              <a:solidFill>
                <a:srgbClr val="018345"/>
              </a:solidFill>
              <a:latin typeface="Roboto"/>
              <a:ea typeface="Roboto"/>
              <a:cs typeface="Roboto"/>
              <a:sym typeface="Roboto"/>
            </a:endParaRPr>
          </a:p>
        </p:txBody>
      </p:sp>
      <p:grpSp>
        <p:nvGrpSpPr>
          <p:cNvPr id="554" name="Google Shape;554;p34"/>
          <p:cNvGrpSpPr/>
          <p:nvPr/>
        </p:nvGrpSpPr>
        <p:grpSpPr>
          <a:xfrm>
            <a:off x="5693855" y="6543482"/>
            <a:ext cx="11567835" cy="1261722"/>
            <a:chOff x="5693855" y="7590172"/>
            <a:chExt cx="11567835" cy="1261722"/>
          </a:xfrm>
        </p:grpSpPr>
        <p:grpSp>
          <p:nvGrpSpPr>
            <p:cNvPr id="555" name="Google Shape;555;p34"/>
            <p:cNvGrpSpPr/>
            <p:nvPr/>
          </p:nvGrpSpPr>
          <p:grpSpPr>
            <a:xfrm>
              <a:off x="5693855" y="7590172"/>
              <a:ext cx="11567834" cy="1261722"/>
              <a:chOff x="0" y="-38100"/>
              <a:chExt cx="3046672" cy="332305"/>
            </a:xfrm>
          </p:grpSpPr>
          <p:sp>
            <p:nvSpPr>
              <p:cNvPr id="556" name="Google Shape;556;p34"/>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557" name="Google Shape;557;p34"/>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8" name="Google Shape;558;p34"/>
            <p:cNvSpPr txBox="1"/>
            <p:nvPr/>
          </p:nvSpPr>
          <p:spPr>
            <a:xfrm>
              <a:off x="5696245" y="7961575"/>
              <a:ext cx="11565445" cy="59690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499">
                  <a:solidFill>
                    <a:srgbClr val="FFFFFF"/>
                  </a:solidFill>
                  <a:latin typeface="Roboto"/>
                  <a:ea typeface="Roboto"/>
                  <a:cs typeface="Roboto"/>
                  <a:sym typeface="Roboto"/>
                </a:rPr>
                <a:t>Hẹn gặp lại các bạn ở những bài học tiếp theo</a:t>
              </a:r>
              <a:endParaRPr sz="3499">
                <a:solidFill>
                  <a:srgbClr val="FFFFFF"/>
                </a:solidFill>
                <a:latin typeface="Roboto"/>
                <a:ea typeface="Roboto"/>
                <a:cs typeface="Roboto"/>
                <a:sym typeface="Roboto"/>
              </a:endParaRPr>
            </a:p>
          </p:txBody>
        </p:sp>
      </p:grpSp>
      <p:grpSp>
        <p:nvGrpSpPr>
          <p:cNvPr id="559" name="Google Shape;559;p34"/>
          <p:cNvGrpSpPr/>
          <p:nvPr/>
        </p:nvGrpSpPr>
        <p:grpSpPr>
          <a:xfrm>
            <a:off x="-2718010" y="9274528"/>
            <a:ext cx="7950400" cy="1707231"/>
            <a:chOff x="0" y="-384762"/>
            <a:chExt cx="10600533" cy="2276307"/>
          </a:xfrm>
        </p:grpSpPr>
        <p:grpSp>
          <p:nvGrpSpPr>
            <p:cNvPr id="560" name="Google Shape;560;p34"/>
            <p:cNvGrpSpPr/>
            <p:nvPr/>
          </p:nvGrpSpPr>
          <p:grpSpPr>
            <a:xfrm>
              <a:off x="0" y="-384762"/>
              <a:ext cx="10600533" cy="2276307"/>
              <a:chOff x="0" y="-38100"/>
              <a:chExt cx="1049690" cy="225405"/>
            </a:xfrm>
          </p:grpSpPr>
          <p:sp>
            <p:nvSpPr>
              <p:cNvPr id="561" name="Google Shape;561;p3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62" name="Google Shape;562;p3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3" name="Google Shape;563;p3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53"/>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553"/>
                                        </p:tgtEl>
                                        <p:attrNameLst>
                                          <p:attrName>style.visibility</p:attrName>
                                        </p:attrNameLst>
                                      </p:cBhvr>
                                      <p:to>
                                        <p:strVal val="visible"/>
                                      </p:to>
                                    </p:set>
                                    <p:anim calcmode="lin" valueType="num">
                                      <p:cBhvr additive="base">
                                        <p:cTn dur="500"/>
                                        <p:tgtEl>
                                          <p:spTgt spid="553"/>
                                        </p:tgtEl>
                                        <p:attrNameLst>
                                          <p:attrName>ppt_w</p:attrName>
                                        </p:attrNameLst>
                                      </p:cBhvr>
                                      <p:tavLst>
                                        <p:tav fmla="" tm="0">
                                          <p:val>
                                            <p:strVal val="0"/>
                                          </p:val>
                                        </p:tav>
                                        <p:tav fmla="" tm="100000">
                                          <p:val>
                                            <p:strVal val="#ppt_w"/>
                                          </p:val>
                                        </p:tav>
                                      </p:tavLst>
                                    </p:anim>
                                    <p:anim calcmode="lin" valueType="num">
                                      <p:cBhvr additive="base">
                                        <p:cTn dur="500"/>
                                        <p:tgtEl>
                                          <p:spTgt spid="55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554"/>
                                        </p:tgtEl>
                                        <p:attrNameLst>
                                          <p:attrName>style.visibility</p:attrName>
                                        </p:attrNameLst>
                                      </p:cBhvr>
                                      <p:to>
                                        <p:strVal val="visible"/>
                                      </p:to>
                                    </p:set>
                                    <p:animEffect filter="fade" transition="in">
                                      <p:cBhvr>
                                        <p:cTn dur="500"/>
                                        <p:tgtEl>
                                          <p:spTgt spid="5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