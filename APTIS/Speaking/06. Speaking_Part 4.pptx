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10287000" cx="18288000"/>
  <p:notesSz cx="6858000" cy="9144000"/>
  <p:embeddedFontLst>
    <p:embeddedFont>
      <p:font typeface="Roboto"/>
      <p:regular r:id="rId23"/>
      <p:bold r:id="rId24"/>
      <p:italic r:id="rId25"/>
      <p:boldItalic r:id="rId26"/>
    </p:embeddedFont>
    <p:embeddedFont>
      <p:font typeface="Montserra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Montserra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e7155f7b55_2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g2e7155f7b55_2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Phần lưu ý tương tự như part 1. </a:t>
            </a:r>
            <a:r>
              <a:rPr lang="en-US"/>
              <a:t>Thí sinh sẽ mô tả một bức ảnh và sau đó sẽ trả lời hai câu hỏi có liên quan tới chủ đề được minh họa trong bức ảnh đó</a:t>
            </a:r>
            <a:r>
              <a:rPr lang="en-US" sz="1200">
                <a:latin typeface="Calibri"/>
                <a:ea typeface="Calibri"/>
                <a:cs typeface="Calibri"/>
                <a:sym typeface="Calibri"/>
              </a:rPr>
              <a:t>. Hãy lắng nghe hướng dẫn và nói rõ ràng vào micrô khi bạn nghe thấy tín hiệu. Mỗi phần của bài kiểm tra sẽ tự động xuất hiện. Bạn có thể dừng ghi âm phản hồi của mình trước khi hết giờ bằng cách nhấn vào nút dừng, nhưng </a:t>
            </a:r>
            <a:r>
              <a:rPr lang="en-US"/>
              <a:t>cô </a:t>
            </a:r>
            <a:r>
              <a:rPr lang="en-US" sz="1200">
                <a:latin typeface="Calibri"/>
                <a:ea typeface="Calibri"/>
                <a:cs typeface="Calibri"/>
                <a:sym typeface="Calibri"/>
              </a:rPr>
              <a:t>khuyên bạn nên cố gắng nói trong toàn bộ thời gian có sẵn để tối đa hóa điểm số của mình.</a:t>
            </a:r>
            <a:endParaRPr/>
          </a:p>
        </p:txBody>
      </p:sp>
      <p:sp>
        <p:nvSpPr>
          <p:cNvPr id="222" name="Google Shape;2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571500" lvl="0" marL="571500" rtl="0" algn="l">
              <a:lnSpc>
                <a:spcPct val="150000"/>
              </a:lnSpc>
              <a:spcBef>
                <a:spcPts val="0"/>
              </a:spcBef>
              <a:spcAft>
                <a:spcPts val="0"/>
              </a:spcAft>
              <a:buClr>
                <a:schemeClr val="dk1"/>
              </a:buClr>
              <a:buSzPts val="1200"/>
              <a:buFont typeface="Noto Sans Symbols"/>
              <a:buChar char="⮚"/>
            </a:pPr>
            <a:r>
              <a:rPr lang="en-US" sz="1200">
                <a:latin typeface="Calibri"/>
                <a:ea typeface="Calibri"/>
                <a:cs typeface="Calibri"/>
                <a:sym typeface="Calibri"/>
              </a:rPr>
              <a:t>Khi đến thời gian ghi âm, bộ đếm thời gian sẽ bắt đầu.</a:t>
            </a:r>
            <a:endParaRPr sz="1200">
              <a:latin typeface="Calibri"/>
              <a:ea typeface="Calibri"/>
              <a:cs typeface="Calibri"/>
              <a:sym typeface="Calibri"/>
            </a:endParaRPr>
          </a:p>
          <a:p>
            <a:pPr indent="-571500" lvl="0" marL="571500" rtl="0" algn="l">
              <a:lnSpc>
                <a:spcPct val="150000"/>
              </a:lnSpc>
              <a:spcBef>
                <a:spcPts val="0"/>
              </a:spcBef>
              <a:spcAft>
                <a:spcPts val="0"/>
              </a:spcAft>
              <a:buClr>
                <a:schemeClr val="dk1"/>
              </a:buClr>
              <a:buSzPts val="1200"/>
              <a:buFont typeface="Noto Sans Symbols"/>
              <a:buChar char="⮚"/>
            </a:pPr>
            <a:r>
              <a:rPr lang="en-US" sz="1200">
                <a:latin typeface="Calibri"/>
                <a:ea typeface="Calibri"/>
                <a:cs typeface="Calibri"/>
                <a:sym typeface="Calibri"/>
              </a:rPr>
              <a:t>Nội dung này cho bạn biết bạn đã ghi âm được bao lâu (trên màn hình hiển thị bên dưới bộ đếm thời gian cho thấy bạn đã ghi âm được 25 giây).</a:t>
            </a:r>
            <a:endParaRPr sz="1200">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1200"/>
              <a:buFont typeface="Noto Sans Symbols"/>
              <a:buChar char="⮚"/>
            </a:pPr>
            <a:r>
              <a:rPr lang="en-US" sz="1200">
                <a:latin typeface="Calibri"/>
                <a:ea typeface="Calibri"/>
                <a:cs typeface="Calibri"/>
                <a:sym typeface="Calibri"/>
              </a:rPr>
              <a:t>Mỗi khi một câu hỏi mới xuất hiện, quy trình tương tự sẽ được lặp lại.</a:t>
            </a:r>
            <a:endParaRPr sz="1200">
              <a:latin typeface="Calibri"/>
              <a:ea typeface="Calibri"/>
              <a:cs typeface="Calibri"/>
              <a:sym typeface="Calibri"/>
            </a:endParaRPr>
          </a:p>
          <a:p>
            <a:pPr indent="-495300" lvl="0" marL="571500" rtl="0" algn="l">
              <a:lnSpc>
                <a:spcPct val="150000"/>
              </a:lnSpc>
              <a:spcBef>
                <a:spcPts val="0"/>
              </a:spcBef>
              <a:spcAft>
                <a:spcPts val="0"/>
              </a:spcAft>
              <a:buClr>
                <a:schemeClr val="dk1"/>
              </a:buClr>
              <a:buSzPts val="1200"/>
              <a:buFont typeface="Noto Sans Symbols"/>
              <a:buNone/>
            </a:pPr>
            <a:r>
              <a:t/>
            </a:r>
            <a:endParaRPr sz="1200">
              <a:latin typeface="Calibri"/>
              <a:ea typeface="Calibri"/>
              <a:cs typeface="Calibri"/>
              <a:sym typeface="Calibri"/>
            </a:endParaRPr>
          </a:p>
          <a:p>
            <a:pPr indent="0" lvl="0" marL="0" rtl="0" algn="l">
              <a:spcBef>
                <a:spcPts val="0"/>
              </a:spcBef>
              <a:spcAft>
                <a:spcPts val="0"/>
              </a:spcAft>
              <a:buNone/>
            </a:pPr>
            <a:r>
              <a:t/>
            </a:r>
            <a:endParaRPr/>
          </a:p>
        </p:txBody>
      </p:sp>
      <p:sp>
        <p:nvSpPr>
          <p:cNvPr id="240" name="Google Shape;24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Giữ bình tĩnh và tự tin:</a:t>
            </a:r>
            <a:r>
              <a:rPr lang="en-US"/>
              <a:t> Điều quan trọng nhất là bạn phải giữ bình tĩnh và tự tin khi làm bài thi. Hãy hít thở sâu và tập trung vào việc trả lời các câu hỏi.</a:t>
            </a:r>
            <a:endParaRPr/>
          </a:p>
          <a:p>
            <a:pPr indent="0" lvl="0" marL="0" rtl="0" algn="l">
              <a:spcBef>
                <a:spcPts val="0"/>
              </a:spcBef>
              <a:spcAft>
                <a:spcPts val="0"/>
              </a:spcAft>
              <a:buNone/>
            </a:pPr>
            <a:r>
              <a:rPr b="1" lang="en-US"/>
              <a:t>Nghe kỹ hướng dẫn:</a:t>
            </a:r>
            <a:r>
              <a:rPr lang="en-US"/>
              <a:t> Hãy nghe kỹ hướng dẫn trước khi bắt đầu trả lời mỗi câu hỏi. Hãy chắc chắn rằng bạn hiểu rõ câu hỏi trước khi trả lời.</a:t>
            </a:r>
            <a:endParaRPr/>
          </a:p>
          <a:p>
            <a:pPr indent="0" lvl="0" marL="0" rtl="0" algn="l">
              <a:spcBef>
                <a:spcPts val="0"/>
              </a:spcBef>
              <a:spcAft>
                <a:spcPts val="0"/>
              </a:spcAft>
              <a:buNone/>
            </a:pPr>
            <a:r>
              <a:rPr b="1" lang="en-US"/>
              <a:t>Dùng đúng ngữ pháp:</a:t>
            </a:r>
            <a:r>
              <a:rPr lang="en-US"/>
              <a:t> sử dụng các câu đơn, câu ghép và câu phức chính xác</a:t>
            </a:r>
            <a:endParaRPr/>
          </a:p>
          <a:p>
            <a:pPr indent="0" lvl="0" marL="0" rtl="0" algn="l">
              <a:spcBef>
                <a:spcPts val="0"/>
              </a:spcBef>
              <a:spcAft>
                <a:spcPts val="0"/>
              </a:spcAft>
              <a:buNone/>
            </a:pPr>
            <a:r>
              <a:rPr b="1" lang="en-US"/>
              <a:t>Nếu đầy đủ thông tin:</a:t>
            </a:r>
            <a:r>
              <a:rPr lang="en-US"/>
              <a:t> Trả lời đủ các câu hỏi của đề bài đưa ra</a:t>
            </a:r>
            <a:endParaRPr/>
          </a:p>
          <a:p>
            <a:pPr indent="0" lvl="0" marL="0" rtl="0" algn="l">
              <a:spcBef>
                <a:spcPts val="0"/>
              </a:spcBef>
              <a:spcAft>
                <a:spcPts val="0"/>
              </a:spcAft>
              <a:buNone/>
            </a:pPr>
            <a:r>
              <a:rPr b="1" lang="en-US"/>
              <a:t>Sử dụng thời gian hợp lý</a:t>
            </a:r>
            <a:r>
              <a:rPr b="1" lang="en-US"/>
              <a:t>:</a:t>
            </a:r>
            <a:r>
              <a:rPr lang="en-US"/>
              <a:t> Trong 1 phút chuẩn bị cần lên được ý tưởng để trả lời và nói thông tin đầy đủ trong 2 phút đã có.</a:t>
            </a:r>
            <a:endParaRPr/>
          </a:p>
        </p:txBody>
      </p:sp>
      <p:sp>
        <p:nvSpPr>
          <p:cNvPr id="258" name="Google Shape;25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e10642e1dc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2e10642e1dc_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đề mẫu giải thích yêu cầu đề bài</a:t>
            </a:r>
            <a:endParaRPr/>
          </a:p>
        </p:txBody>
      </p:sp>
      <p:sp>
        <p:nvSpPr>
          <p:cNvPr id="311" name="Google Shape;311;g2e10642e1dc_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f8fda985f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g2f8fda985f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đề mẫu giải thích yêu cầu đề bài</a:t>
            </a:r>
            <a:endParaRPr/>
          </a:p>
        </p:txBody>
      </p:sp>
      <p:sp>
        <p:nvSpPr>
          <p:cNvPr id="329" name="Google Shape;329;g2f8fda985f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900" cy="160320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0" i="0" lang="en-US" sz="10416" u="none" cap="none" strike="noStrike">
                <a:solidFill>
                  <a:srgbClr val="FFFFFF"/>
                </a:solidFill>
                <a:latin typeface="Arial"/>
                <a:ea typeface="Arial"/>
                <a:cs typeface="Arial"/>
                <a:sym typeface="Arial"/>
              </a:rPr>
              <a:t>APTIS</a:t>
            </a:r>
            <a:endParaRPr/>
          </a:p>
        </p:txBody>
      </p:sp>
      <p:grpSp>
        <p:nvGrpSpPr>
          <p:cNvPr id="89" name="Google Shape;89;p13"/>
          <p:cNvGrpSpPr/>
          <p:nvPr/>
        </p:nvGrpSpPr>
        <p:grpSpPr>
          <a:xfrm>
            <a:off x="7338936" y="4396612"/>
            <a:ext cx="8594227" cy="2222588"/>
            <a:chOff x="0" y="-192881"/>
            <a:chExt cx="11458969" cy="2963451"/>
          </a:xfrm>
        </p:grpSpPr>
        <p:grpSp>
          <p:nvGrpSpPr>
            <p:cNvPr id="90" name="Google Shape;90;p13"/>
            <p:cNvGrpSpPr/>
            <p:nvPr/>
          </p:nvGrpSpPr>
          <p:grpSpPr>
            <a:xfrm>
              <a:off x="0" y="-192881"/>
              <a:ext cx="11458969" cy="2963451"/>
              <a:chOff x="0" y="-38100"/>
              <a:chExt cx="2263500"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txBox="1"/>
              <p:nvPr/>
            </p:nvSpPr>
            <p:spPr>
              <a:xfrm>
                <a:off x="0" y="-38100"/>
                <a:ext cx="2263500" cy="585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793233" y="91935"/>
              <a:ext cx="9871800" cy="2557200"/>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None/>
              </a:pPr>
              <a:r>
                <a:rPr b="0" i="0" lang="en-US" sz="12460" u="none" cap="none" strike="noStrike">
                  <a:solidFill>
                    <a:srgbClr val="018345"/>
                  </a:solidFill>
                  <a:latin typeface="Arial"/>
                  <a:ea typeface="Arial"/>
                  <a:cs typeface="Arial"/>
                  <a:sym typeface="Arial"/>
                </a:rPr>
                <a:t>Speaking</a:t>
              </a:r>
              <a:endParaRPr/>
            </a:p>
          </p:txBody>
        </p:sp>
      </p:grpSp>
      <p:cxnSp>
        <p:nvCxnSpPr>
          <p:cNvPr id="94" name="Google Shape;94;p13"/>
          <p:cNvCxnSpPr/>
          <p:nvPr/>
        </p:nvCxnSpPr>
        <p:spPr>
          <a:xfrm>
            <a:off x="5559805" y="3724211"/>
            <a:ext cx="116994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00" cy="1473300"/>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None/>
            </a:pPr>
            <a:r>
              <a:rPr b="0" i="0" lang="en-US" sz="10264" u="none" cap="none" strike="noStrike">
                <a:solidFill>
                  <a:srgbClr val="018345"/>
                </a:solidFill>
                <a:latin typeface="Arial"/>
                <a:ea typeface="Arial"/>
                <a:cs typeface="Arial"/>
                <a:sym typeface="Arial"/>
              </a:rPr>
              <a:t>Table of contents</a:t>
            </a:r>
            <a:endParaRPr/>
          </a:p>
        </p:txBody>
      </p:sp>
      <p:cxnSp>
        <p:nvCxnSpPr>
          <p:cNvPr id="101" name="Google Shape;101;p14"/>
          <p:cNvCxnSpPr/>
          <p:nvPr/>
        </p:nvCxnSpPr>
        <p:spPr>
          <a:xfrm>
            <a:off x="5943600" y="2152650"/>
            <a:ext cx="11579700"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196" y="-741517"/>
            <a:ext cx="7681773" cy="4260605"/>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106" name="Google Shape;106;p14"/>
          <p:cNvGrpSpPr/>
          <p:nvPr/>
        </p:nvGrpSpPr>
        <p:grpSpPr>
          <a:xfrm>
            <a:off x="6890434" y="2552819"/>
            <a:ext cx="10092911" cy="1384957"/>
            <a:chOff x="6375842" y="6151456"/>
            <a:chExt cx="10542000" cy="1434000"/>
          </a:xfrm>
        </p:grpSpPr>
        <p:sp>
          <p:nvSpPr>
            <p:cNvPr id="107" name="Google Shape;107;p14"/>
            <p:cNvSpPr/>
            <p:nvPr/>
          </p:nvSpPr>
          <p:spPr>
            <a:xfrm>
              <a:off x="6375842" y="6278356"/>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08" name="Google Shape;108;p14"/>
            <p:cNvSpPr txBox="1"/>
            <p:nvPr/>
          </p:nvSpPr>
          <p:spPr>
            <a:xfrm>
              <a:off x="6375842" y="6151456"/>
              <a:ext cx="10542000" cy="14340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1"/>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txBox="1"/>
            <p:nvPr/>
          </p:nvSpPr>
          <p:spPr>
            <a:xfrm>
              <a:off x="7917301" y="6581020"/>
              <a:ext cx="8651100" cy="510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3200" u="none" cap="none" strike="noStrike">
                  <a:solidFill>
                    <a:srgbClr val="FFFFFF"/>
                  </a:solidFill>
                  <a:latin typeface="Montserrat"/>
                  <a:ea typeface="Montserrat"/>
                  <a:cs typeface="Montserrat"/>
                  <a:sym typeface="Montserrat"/>
                </a:rPr>
                <a:t>Bài nói APTIS part</a:t>
              </a:r>
              <a:r>
                <a:rPr b="1" lang="en-US" sz="3200">
                  <a:solidFill>
                    <a:srgbClr val="FFFFFF"/>
                  </a:solidFill>
                  <a:latin typeface="Montserrat"/>
                  <a:ea typeface="Montserrat"/>
                  <a:cs typeface="Montserrat"/>
                  <a:sym typeface="Montserrat"/>
                </a:rPr>
                <a:t> 4</a:t>
              </a:r>
              <a:endParaRPr/>
            </a:p>
          </p:txBody>
        </p:sp>
        <p:sp>
          <p:nvSpPr>
            <p:cNvPr descr="Books with solid fill" id="111" name="Google Shape;11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2" name="Google Shape;112;p14"/>
          <p:cNvSpPr txBox="1"/>
          <p:nvPr/>
        </p:nvSpPr>
        <p:spPr>
          <a:xfrm>
            <a:off x="6487860" y="5519116"/>
            <a:ext cx="10092900" cy="13848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13" name="Google Shape;113;p14"/>
          <p:cNvSpPr txBox="1"/>
          <p:nvPr/>
        </p:nvSpPr>
        <p:spPr>
          <a:xfrm>
            <a:off x="-10653311" y="9715322"/>
            <a:ext cx="13923300" cy="285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b="0" i="0" lang="en-US" sz="1876" u="none" cap="none" strike="noStrike">
                <a:solidFill>
                  <a:srgbClr val="FEFEFE"/>
                </a:solidFill>
                <a:latin typeface="Roboto"/>
                <a:ea typeface="Roboto"/>
                <a:cs typeface="Roboto"/>
                <a:sym typeface="Roboto"/>
              </a:rPr>
              <a:t>https://edulife.com.vn/</a:t>
            </a:r>
            <a:endParaRPr/>
          </a:p>
        </p:txBody>
      </p:sp>
      <p:grpSp>
        <p:nvGrpSpPr>
          <p:cNvPr id="114" name="Google Shape;114;p14"/>
          <p:cNvGrpSpPr/>
          <p:nvPr/>
        </p:nvGrpSpPr>
        <p:grpSpPr>
          <a:xfrm>
            <a:off x="-2718010" y="9274530"/>
            <a:ext cx="7950378" cy="1707223"/>
            <a:chOff x="0" y="-384760"/>
            <a:chExt cx="10600504" cy="2276297"/>
          </a:xfrm>
        </p:grpSpPr>
        <p:grpSp>
          <p:nvGrpSpPr>
            <p:cNvPr id="115" name="Google Shape;115;p14"/>
            <p:cNvGrpSpPr/>
            <p:nvPr/>
          </p:nvGrpSpPr>
          <p:grpSpPr>
            <a:xfrm>
              <a:off x="0" y="-384760"/>
              <a:ext cx="10600504" cy="2276297"/>
              <a:chOff x="0" y="-38100"/>
              <a:chExt cx="1049690" cy="225405"/>
            </a:xfrm>
          </p:grpSpPr>
          <p:sp>
            <p:nvSpPr>
              <p:cNvPr id="116" name="Google Shape;116;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200" cy="5295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14"/>
          <p:cNvGrpSpPr/>
          <p:nvPr/>
        </p:nvGrpSpPr>
        <p:grpSpPr>
          <a:xfrm>
            <a:off x="6934400" y="4203458"/>
            <a:ext cx="10121692" cy="1245030"/>
            <a:chOff x="6934120" y="7048419"/>
            <a:chExt cx="9882535" cy="1159030"/>
          </a:xfrm>
        </p:grpSpPr>
        <p:grpSp>
          <p:nvGrpSpPr>
            <p:cNvPr id="120" name="Google Shape;120;p14"/>
            <p:cNvGrpSpPr/>
            <p:nvPr/>
          </p:nvGrpSpPr>
          <p:grpSpPr>
            <a:xfrm>
              <a:off x="6934120" y="7048419"/>
              <a:ext cx="9882535" cy="1159030"/>
              <a:chOff x="6487861" y="7950596"/>
              <a:chExt cx="10571817" cy="1289100"/>
            </a:xfrm>
          </p:grpSpPr>
          <p:sp>
            <p:nvSpPr>
              <p:cNvPr id="121" name="Google Shape;121;p14"/>
              <p:cNvSpPr/>
              <p:nvPr/>
            </p:nvSpPr>
            <p:spPr>
              <a:xfrm>
                <a:off x="6517678" y="7950596"/>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3" name="Google Shape;123;p14"/>
              <p:cNvSpPr txBox="1"/>
              <p:nvPr/>
            </p:nvSpPr>
            <p:spPr>
              <a:xfrm>
                <a:off x="8010142" y="8239170"/>
                <a:ext cx="7896000" cy="510000"/>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None/>
                </a:pPr>
                <a:r>
                  <a:rPr b="1" lang="en-US" sz="3200">
                    <a:solidFill>
                      <a:schemeClr val="lt1"/>
                    </a:solidFill>
                    <a:latin typeface="Montserrat"/>
                    <a:ea typeface="Montserrat"/>
                    <a:cs typeface="Montserrat"/>
                    <a:sym typeface="Montserrat"/>
                  </a:rPr>
                  <a:t>Những lưu ý khi làm bài nói Aptis</a:t>
                </a:r>
                <a:endParaRPr b="1" sz="3200">
                  <a:solidFill>
                    <a:schemeClr val="lt1"/>
                  </a:solidFill>
                  <a:latin typeface="Montserrat"/>
                  <a:ea typeface="Montserrat"/>
                  <a:cs typeface="Montserrat"/>
                  <a:sym typeface="Montserrat"/>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962357" y="5727617"/>
            <a:ext cx="10150411" cy="1245213"/>
            <a:chOff x="6962073" y="8572500"/>
            <a:chExt cx="9910575" cy="1159200"/>
          </a:xfrm>
        </p:grpSpPr>
        <p:sp>
          <p:nvSpPr>
            <p:cNvPr id="126" name="Google Shape;126;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27" name="Google Shape;127;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8" name="Google Shape;128;p14"/>
            <p:cNvSpPr txBox="1"/>
            <p:nvPr/>
          </p:nvSpPr>
          <p:spPr>
            <a:xfrm>
              <a:off x="8403048" y="8840948"/>
              <a:ext cx="8469600" cy="524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Đề mẫu</a:t>
              </a:r>
              <a:endParaRPr b="1" sz="3200">
                <a:solidFill>
                  <a:srgbClr val="FFFFFF"/>
                </a:solidFill>
                <a:latin typeface="Montserrat"/>
                <a:ea typeface="Montserrat"/>
                <a:cs typeface="Montserrat"/>
                <a:sym typeface="Montserrat"/>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30" name="Google Shape;130;p14"/>
          <p:cNvGrpSpPr/>
          <p:nvPr/>
        </p:nvGrpSpPr>
        <p:grpSpPr>
          <a:xfrm>
            <a:off x="6947647" y="7174698"/>
            <a:ext cx="10121659" cy="1245114"/>
            <a:chOff x="6947521" y="8856561"/>
            <a:chExt cx="9366703" cy="1016502"/>
          </a:xfrm>
        </p:grpSpPr>
        <p:grpSp>
          <p:nvGrpSpPr>
            <p:cNvPr id="131" name="Google Shape;131;p14"/>
            <p:cNvGrpSpPr/>
            <p:nvPr/>
          </p:nvGrpSpPr>
          <p:grpSpPr>
            <a:xfrm>
              <a:off x="6947521" y="8856561"/>
              <a:ext cx="9366703" cy="1016502"/>
              <a:chOff x="6962073" y="8572500"/>
              <a:chExt cx="9882573" cy="1159200"/>
            </a:xfrm>
          </p:grpSpPr>
          <p:sp>
            <p:nvSpPr>
              <p:cNvPr id="132" name="Google Shape;132;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3" name="Google Shape;133;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34" name="Google Shape;134;p14"/>
              <p:cNvSpPr txBox="1"/>
              <p:nvPr/>
            </p:nvSpPr>
            <p:spPr>
              <a:xfrm>
                <a:off x="8459833" y="8840948"/>
                <a:ext cx="8087400" cy="536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Hướng dẫn trả lời</a:t>
                </a:r>
                <a:endParaRPr b="1" sz="3200">
                  <a:solidFill>
                    <a:srgbClr val="FFFFFF"/>
                  </a:solidFill>
                  <a:latin typeface="Montserrat"/>
                  <a:ea typeface="Montserrat"/>
                  <a:cs typeface="Montserrat"/>
                  <a:sym typeface="Montserrat"/>
                </a:endParaRPr>
              </a:p>
            </p:txBody>
          </p:sp>
        </p:grpSp>
        <p:pic>
          <p:nvPicPr>
            <p:cNvPr descr="Books on shelf with solid fill" id="135" name="Google Shape;135;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grpSp>
        <p:nvGrpSpPr>
          <p:cNvPr id="136" name="Google Shape;136;p14"/>
          <p:cNvGrpSpPr/>
          <p:nvPr/>
        </p:nvGrpSpPr>
        <p:grpSpPr>
          <a:xfrm>
            <a:off x="7010637" y="8669603"/>
            <a:ext cx="10121659" cy="1245114"/>
            <a:chOff x="6947521" y="8856561"/>
            <a:chExt cx="9366703" cy="1016502"/>
          </a:xfrm>
        </p:grpSpPr>
        <p:grpSp>
          <p:nvGrpSpPr>
            <p:cNvPr id="137" name="Google Shape;137;p14"/>
            <p:cNvGrpSpPr/>
            <p:nvPr/>
          </p:nvGrpSpPr>
          <p:grpSpPr>
            <a:xfrm>
              <a:off x="6947521" y="8856561"/>
              <a:ext cx="9366703" cy="1016502"/>
              <a:chOff x="6962073" y="8572500"/>
              <a:chExt cx="9882573" cy="1159200"/>
            </a:xfrm>
          </p:grpSpPr>
          <p:sp>
            <p:nvSpPr>
              <p:cNvPr id="138" name="Google Shape;138;p14"/>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9" name="Google Shape;139;p14"/>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40" name="Google Shape;140;p14"/>
              <p:cNvSpPr txBox="1"/>
              <p:nvPr/>
            </p:nvSpPr>
            <p:spPr>
              <a:xfrm>
                <a:off x="8459833" y="8840948"/>
                <a:ext cx="8087400" cy="536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Luyện tập</a:t>
                </a:r>
                <a:endParaRPr b="1" sz="3200">
                  <a:solidFill>
                    <a:srgbClr val="FFFFFF"/>
                  </a:solidFill>
                  <a:latin typeface="Montserrat"/>
                  <a:ea typeface="Montserrat"/>
                  <a:cs typeface="Montserrat"/>
                  <a:sym typeface="Montserrat"/>
                </a:endParaRPr>
              </a:p>
            </p:txBody>
          </p:sp>
        </p:grpSp>
        <p:pic>
          <p:nvPicPr>
            <p:cNvPr descr="Books on shelf with solid fill" id="141" name="Google Shape;141;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5"/>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47" name="Google Shape;147;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48" name="Google Shape;148;p15"/>
          <p:cNvGrpSpPr/>
          <p:nvPr/>
        </p:nvGrpSpPr>
        <p:grpSpPr>
          <a:xfrm rot="10800000">
            <a:off x="15044552" y="-741521"/>
            <a:ext cx="7681766" cy="4260610"/>
            <a:chOff x="0" y="-38100"/>
            <a:chExt cx="406400" cy="225405"/>
          </a:xfrm>
        </p:grpSpPr>
        <p:sp>
          <p:nvSpPr>
            <p:cNvPr id="149" name="Google Shape;14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51" name="Google Shape;15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52" name="Google Shape;152;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53" name="Google Shape;153;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54" name="Google Shape;154;p15"/>
          <p:cNvSpPr txBox="1"/>
          <p:nvPr/>
        </p:nvSpPr>
        <p:spPr>
          <a:xfrm>
            <a:off x="7315200" y="2540878"/>
            <a:ext cx="8643900" cy="2851500"/>
          </a:xfrm>
          <a:prstGeom prst="rect">
            <a:avLst/>
          </a:prstGeom>
          <a:noFill/>
          <a:ln>
            <a:noFill/>
          </a:ln>
        </p:spPr>
        <p:txBody>
          <a:bodyPr anchorCtr="0" anchor="t" bIns="0" lIns="0" spcFirstLastPara="1" rIns="0" wrap="square" tIns="0">
            <a:spAutoFit/>
          </a:bodyPr>
          <a:lstStyle/>
          <a:p>
            <a:pPr indent="0" lvl="0" marL="0" marR="0" rtl="0" algn="ctr">
              <a:lnSpc>
                <a:spcPct val="110511"/>
              </a:lnSpc>
              <a:spcBef>
                <a:spcPts val="0"/>
              </a:spcBef>
              <a:spcAft>
                <a:spcPts val="0"/>
              </a:spcAft>
              <a:buNone/>
            </a:pPr>
            <a:r>
              <a:rPr b="1" lang="en-US" sz="8800">
                <a:solidFill>
                  <a:srgbClr val="018345"/>
                </a:solidFill>
                <a:latin typeface="Montserrat"/>
                <a:ea typeface="Montserrat"/>
                <a:cs typeface="Montserrat"/>
                <a:sym typeface="Montserrat"/>
              </a:rPr>
              <a:t>Bài nói APTIS part 4</a:t>
            </a:r>
            <a:endParaRPr/>
          </a:p>
        </p:txBody>
      </p:sp>
      <p:sp>
        <p:nvSpPr>
          <p:cNvPr id="155" name="Google Shape;155;p15"/>
          <p:cNvSpPr txBox="1"/>
          <p:nvPr/>
        </p:nvSpPr>
        <p:spPr>
          <a:xfrm>
            <a:off x="10210111" y="339710"/>
            <a:ext cx="214672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01</a:t>
            </a:r>
            <a:endParaRPr/>
          </a:p>
        </p:txBody>
      </p:sp>
      <p:sp>
        <p:nvSpPr>
          <p:cNvPr id="156" name="Google Shape;156;p15"/>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157" name="Google Shape;157;p15"/>
          <p:cNvGrpSpPr/>
          <p:nvPr/>
        </p:nvGrpSpPr>
        <p:grpSpPr>
          <a:xfrm>
            <a:off x="-2718010" y="9274528"/>
            <a:ext cx="7950400" cy="1707231"/>
            <a:chOff x="0" y="-384762"/>
            <a:chExt cx="10600533" cy="2276307"/>
          </a:xfrm>
        </p:grpSpPr>
        <p:grpSp>
          <p:nvGrpSpPr>
            <p:cNvPr id="158" name="Google Shape;158;p15"/>
            <p:cNvGrpSpPr/>
            <p:nvPr/>
          </p:nvGrpSpPr>
          <p:grpSpPr>
            <a:xfrm>
              <a:off x="0" y="-384762"/>
              <a:ext cx="10600533" cy="2276307"/>
              <a:chOff x="0" y="-38100"/>
              <a:chExt cx="1049690" cy="225405"/>
            </a:xfrm>
          </p:grpSpPr>
          <p:sp>
            <p:nvSpPr>
              <p:cNvPr id="159" name="Google Shape;159;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16"/>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cxnSp>
        <p:nvCxnSpPr>
          <p:cNvPr id="168" name="Google Shape;168;p1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69" name="Google Shape;169;p16"/>
          <p:cNvGrpSpPr/>
          <p:nvPr/>
        </p:nvGrpSpPr>
        <p:grpSpPr>
          <a:xfrm rot="10800000">
            <a:off x="15785091" y="-536942"/>
            <a:ext cx="7681766" cy="4260610"/>
            <a:chOff x="0" y="-38100"/>
            <a:chExt cx="406400" cy="225405"/>
          </a:xfrm>
        </p:grpSpPr>
        <p:sp>
          <p:nvSpPr>
            <p:cNvPr id="170" name="Google Shape;170;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1" name="Google Shape;171;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2" name="Google Shape;172;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73" name="Google Shape;173;p16"/>
          <p:cNvGrpSpPr/>
          <p:nvPr/>
        </p:nvGrpSpPr>
        <p:grpSpPr>
          <a:xfrm>
            <a:off x="-2718010" y="9274528"/>
            <a:ext cx="7950400" cy="1707231"/>
            <a:chOff x="0" y="-384762"/>
            <a:chExt cx="10600533" cy="2276307"/>
          </a:xfrm>
        </p:grpSpPr>
        <p:grpSp>
          <p:nvGrpSpPr>
            <p:cNvPr id="174" name="Google Shape;174;p16"/>
            <p:cNvGrpSpPr/>
            <p:nvPr/>
          </p:nvGrpSpPr>
          <p:grpSpPr>
            <a:xfrm>
              <a:off x="0" y="-384762"/>
              <a:ext cx="10600533" cy="2276307"/>
              <a:chOff x="0" y="-38100"/>
              <a:chExt cx="1049690" cy="225405"/>
            </a:xfrm>
          </p:grpSpPr>
          <p:sp>
            <p:nvSpPr>
              <p:cNvPr id="175" name="Google Shape;175;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76" name="Google Shape;176;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7" name="Google Shape;177;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8" name="Google Shape;178;p16"/>
          <p:cNvSpPr txBox="1"/>
          <p:nvPr/>
        </p:nvSpPr>
        <p:spPr>
          <a:xfrm>
            <a:off x="6293296" y="622074"/>
            <a:ext cx="118809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Part 4 Speaking Aptis</a:t>
            </a:r>
            <a:endParaRPr b="1" sz="4800">
              <a:solidFill>
                <a:srgbClr val="018345"/>
              </a:solidFill>
              <a:latin typeface="Montserrat"/>
              <a:ea typeface="Montserrat"/>
              <a:cs typeface="Montserrat"/>
              <a:sym typeface="Montserrat"/>
            </a:endParaRPr>
          </a:p>
        </p:txBody>
      </p:sp>
      <p:grpSp>
        <p:nvGrpSpPr>
          <p:cNvPr id="179" name="Google Shape;179;p16"/>
          <p:cNvGrpSpPr/>
          <p:nvPr/>
        </p:nvGrpSpPr>
        <p:grpSpPr>
          <a:xfrm>
            <a:off x="7810381" y="1809050"/>
            <a:ext cx="9412781" cy="6801294"/>
            <a:chOff x="7810502" y="2279932"/>
            <a:chExt cx="7889348" cy="6330318"/>
          </a:xfrm>
        </p:grpSpPr>
        <p:grpSp>
          <p:nvGrpSpPr>
            <p:cNvPr id="180" name="Google Shape;180;p16"/>
            <p:cNvGrpSpPr/>
            <p:nvPr/>
          </p:nvGrpSpPr>
          <p:grpSpPr>
            <a:xfrm>
              <a:off x="7810502" y="2279932"/>
              <a:ext cx="7889348" cy="6330318"/>
              <a:chOff x="695515" y="76899"/>
              <a:chExt cx="7889348" cy="6330318"/>
            </a:xfrm>
          </p:grpSpPr>
          <p:sp>
            <p:nvSpPr>
              <p:cNvPr id="181" name="Google Shape;181;p16"/>
              <p:cNvSpPr/>
              <p:nvPr/>
            </p:nvSpPr>
            <p:spPr>
              <a:xfrm>
                <a:off x="2991522" y="365952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a:off x="2791890" y="397944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2553972" y="4256426"/>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2838380"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31428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3446391" y="7689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p:cNvSpPr/>
              <p:nvPr/>
            </p:nvSpPr>
            <p:spPr>
              <a:xfrm>
                <a:off x="37499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4054402"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3446391" y="459715"/>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3446391" y="842531"/>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1592275" y="5088831"/>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txBox="1"/>
              <p:nvPr/>
            </p:nvSpPr>
            <p:spPr>
              <a:xfrm>
                <a:off x="1656633" y="5153189"/>
                <a:ext cx="4786423" cy="118967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3700">
                    <a:solidFill>
                      <a:schemeClr val="lt1"/>
                    </a:solidFill>
                    <a:latin typeface="Roboto"/>
                    <a:ea typeface="Roboto"/>
                    <a:cs typeface="Roboto"/>
                    <a:sym typeface="Roboto"/>
                  </a:rPr>
                  <a:t>1 phút chuẩn bị, 2 phút trả lời</a:t>
                </a:r>
                <a:endParaRPr b="1" sz="3700">
                  <a:solidFill>
                    <a:schemeClr val="lt1"/>
                  </a:solidFill>
                  <a:latin typeface="Roboto"/>
                  <a:ea typeface="Roboto"/>
                  <a:cs typeface="Roboto"/>
                  <a:sym typeface="Roboto"/>
                </a:endParaRPr>
              </a:p>
            </p:txBody>
          </p:sp>
          <p:sp>
            <p:nvSpPr>
              <p:cNvPr id="193" name="Google Shape;193;p16"/>
              <p:cNvSpPr/>
              <p:nvPr/>
            </p:nvSpPr>
            <p:spPr>
              <a:xfrm>
                <a:off x="695515" y="4108036"/>
                <a:ext cx="1676384" cy="1630492"/>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p:nvPr/>
            </p:nvSpPr>
            <p:spPr>
              <a:xfrm>
                <a:off x="3669724" y="2510116"/>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
              <p:cNvSpPr txBox="1"/>
              <p:nvPr/>
            </p:nvSpPr>
            <p:spPr>
              <a:xfrm>
                <a:off x="3446386" y="2516919"/>
                <a:ext cx="4786500" cy="1189800"/>
              </a:xfrm>
              <a:prstGeom prst="rect">
                <a:avLst/>
              </a:prstGeom>
              <a:noFill/>
              <a:ln>
                <a:noFill/>
              </a:ln>
            </p:spPr>
            <p:txBody>
              <a:bodyPr anchorCtr="0" anchor="ctr" bIns="182875" lIns="1040350" spcFirstLastPara="1" rIns="182875" wrap="square" tIns="182875">
                <a:noAutofit/>
              </a:bodyPr>
              <a:lstStyle/>
              <a:p>
                <a:pPr indent="0" lvl="0" marL="0" rtl="0" algn="l">
                  <a:lnSpc>
                    <a:spcPct val="90000"/>
                  </a:lnSpc>
                  <a:spcBef>
                    <a:spcPts val="0"/>
                  </a:spcBef>
                  <a:spcAft>
                    <a:spcPts val="0"/>
                  </a:spcAft>
                  <a:buClr>
                    <a:schemeClr val="dk1"/>
                  </a:buClr>
                  <a:buSzPts val="1100"/>
                  <a:buFont typeface="Arial"/>
                  <a:buNone/>
                </a:pPr>
                <a:r>
                  <a:rPr b="1" lang="en-US" sz="3700">
                    <a:solidFill>
                      <a:schemeClr val="lt1"/>
                    </a:solidFill>
                    <a:latin typeface="Roboto"/>
                    <a:ea typeface="Roboto"/>
                    <a:cs typeface="Roboto"/>
                    <a:sym typeface="Roboto"/>
                  </a:rPr>
                  <a:t>Trả lời 3 câu hỏi liên quan đến một chủ đề</a:t>
                </a:r>
                <a:endParaRPr b="1" sz="3700">
                  <a:solidFill>
                    <a:schemeClr val="lt1"/>
                  </a:solidFill>
                  <a:latin typeface="Roboto"/>
                  <a:ea typeface="Roboto"/>
                  <a:cs typeface="Roboto"/>
                  <a:sym typeface="Roboto"/>
                </a:endParaRPr>
              </a:p>
            </p:txBody>
          </p:sp>
          <p:sp>
            <p:nvSpPr>
              <p:cNvPr id="196" name="Google Shape;196;p16"/>
              <p:cNvSpPr/>
              <p:nvPr/>
            </p:nvSpPr>
            <p:spPr>
              <a:xfrm>
                <a:off x="2564182" y="1520638"/>
                <a:ext cx="1764418" cy="1674153"/>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Bullseye with solid fill" id="197" name="Google Shape;197;p16"/>
            <p:cNvPicPr preferRelativeResize="0"/>
            <p:nvPr/>
          </p:nvPicPr>
          <p:blipFill rotWithShape="1">
            <a:blip r:embed="rId4">
              <a:alphaModFix/>
            </a:blip>
            <a:srcRect b="0" l="0" r="0" t="0"/>
            <a:stretch/>
          </p:blipFill>
          <p:spPr>
            <a:xfrm>
              <a:off x="8077200" y="6515100"/>
              <a:ext cx="1219200" cy="1219200"/>
            </a:xfrm>
            <a:prstGeom prst="rect">
              <a:avLst/>
            </a:prstGeom>
            <a:noFill/>
            <a:ln>
              <a:noFill/>
            </a:ln>
          </p:spPr>
        </p:pic>
        <p:pic>
          <p:nvPicPr>
            <p:cNvPr descr="Lightbulb and gear with solid fill" id="198" name="Google Shape;198;p16"/>
            <p:cNvPicPr preferRelativeResize="0"/>
            <p:nvPr/>
          </p:nvPicPr>
          <p:blipFill rotWithShape="1">
            <a:blip r:embed="rId5">
              <a:alphaModFix/>
            </a:blip>
            <a:srcRect b="0" l="0" r="0" t="0"/>
            <a:stretch/>
          </p:blipFill>
          <p:spPr>
            <a:xfrm>
              <a:off x="10001250" y="3943350"/>
              <a:ext cx="1200150" cy="12001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cxnSp>
        <p:nvCxnSpPr>
          <p:cNvPr id="203" name="Google Shape;203;p17"/>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04" name="Google Shape;204;p1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05" name="Google Shape;205;p17"/>
          <p:cNvGrpSpPr/>
          <p:nvPr/>
        </p:nvGrpSpPr>
        <p:grpSpPr>
          <a:xfrm rot="10800000">
            <a:off x="15044552" y="-741521"/>
            <a:ext cx="7681766" cy="4260610"/>
            <a:chOff x="0" y="-38100"/>
            <a:chExt cx="406400" cy="225405"/>
          </a:xfrm>
        </p:grpSpPr>
        <p:sp>
          <p:nvSpPr>
            <p:cNvPr id="206" name="Google Shape;206;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07" name="Google Shape;207;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08" name="Google Shape;208;p1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09" name="Google Shape;209;p17"/>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10" name="Google Shape;210;p17"/>
          <p:cNvSpPr txBox="1"/>
          <p:nvPr/>
        </p:nvSpPr>
        <p:spPr>
          <a:xfrm>
            <a:off x="5511794" y="2502271"/>
            <a:ext cx="11760209" cy="2385974"/>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Lưu ý khi làm bài nói APTIS</a:t>
            </a:r>
            <a:endParaRPr/>
          </a:p>
        </p:txBody>
      </p:sp>
      <p:sp>
        <p:nvSpPr>
          <p:cNvPr id="211" name="Google Shape;211;p17"/>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02</a:t>
            </a:r>
            <a:endParaRPr/>
          </a:p>
        </p:txBody>
      </p:sp>
      <p:sp>
        <p:nvSpPr>
          <p:cNvPr id="212" name="Google Shape;212;p17"/>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13" name="Google Shape;213;p17"/>
          <p:cNvGrpSpPr/>
          <p:nvPr/>
        </p:nvGrpSpPr>
        <p:grpSpPr>
          <a:xfrm>
            <a:off x="-2718010" y="9274528"/>
            <a:ext cx="7950400" cy="1707231"/>
            <a:chOff x="0" y="-384762"/>
            <a:chExt cx="10600533" cy="2276307"/>
          </a:xfrm>
        </p:grpSpPr>
        <p:grpSp>
          <p:nvGrpSpPr>
            <p:cNvPr id="214" name="Google Shape;214;p17"/>
            <p:cNvGrpSpPr/>
            <p:nvPr/>
          </p:nvGrpSpPr>
          <p:grpSpPr>
            <a:xfrm>
              <a:off x="0" y="-384762"/>
              <a:ext cx="10600533" cy="2276307"/>
              <a:chOff x="0" y="-38100"/>
              <a:chExt cx="1049690" cy="225405"/>
            </a:xfrm>
          </p:grpSpPr>
          <p:sp>
            <p:nvSpPr>
              <p:cNvPr id="215" name="Google Shape;215;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16" name="Google Shape;216;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7" name="Google Shape;217;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Stressed Out Woman Cartoon Images – Browse 1,008 Stock Photos, Vectors, and  Video | Adobe Stock" id="218" name="Google Shape;218;p17"/>
          <p:cNvPicPr preferRelativeResize="0"/>
          <p:nvPr/>
        </p:nvPicPr>
        <p:blipFill rotWithShape="1">
          <a:blip r:embed="rId5">
            <a:alphaModFix/>
          </a:blip>
          <a:srcRect b="0" l="0" r="0" t="0"/>
          <a:stretch/>
        </p:blipFill>
        <p:spPr>
          <a:xfrm>
            <a:off x="8305800" y="4969014"/>
            <a:ext cx="7127824" cy="3990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11"/>
                                        </p:tgtEl>
                                        <p:attrNameLst>
                                          <p:attrName>style.visibility</p:attrName>
                                        </p:attrNameLst>
                                      </p:cBhvr>
                                      <p:to>
                                        <p:strVal val="visible"/>
                                      </p:to>
                                    </p:set>
                                    <p:anim calcmode="lin" valueType="num">
                                      <p:cBhvr additive="base">
                                        <p:cTn dur="500"/>
                                        <p:tgtEl>
                                          <p:spTgt spid="211"/>
                                        </p:tgtEl>
                                        <p:attrNameLst>
                                          <p:attrName>ppt_w</p:attrName>
                                        </p:attrNameLst>
                                      </p:cBhvr>
                                      <p:tavLst>
                                        <p:tav fmla="" tm="0">
                                          <p:val>
                                            <p:strVal val="0"/>
                                          </p:val>
                                        </p:tav>
                                        <p:tav fmla="" tm="100000">
                                          <p:val>
                                            <p:strVal val="#ppt_w"/>
                                          </p:val>
                                        </p:tav>
                                      </p:tavLst>
                                    </p:anim>
                                    <p:anim calcmode="lin" valueType="num">
                                      <p:cBhvr additive="base">
                                        <p:cTn dur="500"/>
                                        <p:tgtEl>
                                          <p:spTgt spid="21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10"/>
                                        </p:tgtEl>
                                        <p:attrNameLst>
                                          <p:attrName>style.visibility</p:attrName>
                                        </p:attrNameLst>
                                      </p:cBhvr>
                                      <p:to>
                                        <p:strVal val="visible"/>
                                      </p:to>
                                    </p:set>
                                    <p:anim calcmode="lin" valueType="num">
                                      <p:cBhvr additive="base">
                                        <p:cTn dur="500"/>
                                        <p:tgtEl>
                                          <p:spTgt spid="210"/>
                                        </p:tgtEl>
                                        <p:attrNameLst>
                                          <p:attrName>ppt_w</p:attrName>
                                        </p:attrNameLst>
                                      </p:cBhvr>
                                      <p:tavLst>
                                        <p:tav fmla="" tm="0">
                                          <p:val>
                                            <p:strVal val="0"/>
                                          </p:val>
                                        </p:tav>
                                        <p:tav fmla="" tm="100000">
                                          <p:val>
                                            <p:strVal val="#ppt_w"/>
                                          </p:val>
                                        </p:tav>
                                      </p:tavLst>
                                    </p:anim>
                                    <p:anim calcmode="lin" valueType="num">
                                      <p:cBhvr additive="base">
                                        <p:cTn dur="500"/>
                                        <p:tgtEl>
                                          <p:spTgt spid="21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cxnSp>
        <p:nvCxnSpPr>
          <p:cNvPr id="224" name="Google Shape;224;p18"/>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25" name="Google Shape;225;p18"/>
          <p:cNvGrpSpPr/>
          <p:nvPr/>
        </p:nvGrpSpPr>
        <p:grpSpPr>
          <a:xfrm rot="10800000">
            <a:off x="15785091" y="-536942"/>
            <a:ext cx="7681766" cy="4260610"/>
            <a:chOff x="0" y="-38100"/>
            <a:chExt cx="406400" cy="225405"/>
          </a:xfrm>
        </p:grpSpPr>
        <p:sp>
          <p:nvSpPr>
            <p:cNvPr id="226" name="Google Shape;226;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27" name="Google Shape;227;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8" name="Google Shape;228;p18"/>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29" name="Google Shape;229;p18"/>
          <p:cNvSpPr txBox="1"/>
          <p:nvPr/>
        </p:nvSpPr>
        <p:spPr>
          <a:xfrm>
            <a:off x="3359002" y="401132"/>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nói APTIS</a:t>
            </a:r>
            <a:endParaRPr/>
          </a:p>
        </p:txBody>
      </p:sp>
      <p:grpSp>
        <p:nvGrpSpPr>
          <p:cNvPr id="230" name="Google Shape;230;p18"/>
          <p:cNvGrpSpPr/>
          <p:nvPr/>
        </p:nvGrpSpPr>
        <p:grpSpPr>
          <a:xfrm>
            <a:off x="-2718010" y="9274528"/>
            <a:ext cx="7950400" cy="1707231"/>
            <a:chOff x="0" y="-384762"/>
            <a:chExt cx="10600533" cy="2276307"/>
          </a:xfrm>
        </p:grpSpPr>
        <p:grpSp>
          <p:nvGrpSpPr>
            <p:cNvPr id="231" name="Google Shape;231;p18"/>
            <p:cNvGrpSpPr/>
            <p:nvPr/>
          </p:nvGrpSpPr>
          <p:grpSpPr>
            <a:xfrm>
              <a:off x="0" y="-384762"/>
              <a:ext cx="10600533" cy="2276307"/>
              <a:chOff x="0" y="-38100"/>
              <a:chExt cx="1049690" cy="225405"/>
            </a:xfrm>
          </p:grpSpPr>
          <p:sp>
            <p:nvSpPr>
              <p:cNvPr id="232" name="Google Shape;232;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33" name="Google Shape;233;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4" name="Google Shape;234;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5" name="Google Shape;235;p18"/>
          <p:cNvSpPr txBox="1"/>
          <p:nvPr/>
        </p:nvSpPr>
        <p:spPr>
          <a:xfrm>
            <a:off x="930043" y="2095500"/>
            <a:ext cx="17255599" cy="3690241"/>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Hãy lắng nghe hướng dẫn và nói rõ ràng vào micrô khi bạn nghe thấy tín hiệu.</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Mỗi phần của bài kiểm tra sẽ tự động xuất hiện. </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Bạn có thể dừng ghi âm phản hồi của mình trước khi hết giờ.</a:t>
            </a:r>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Nên nói trong toàn bộ thời gian để tối đa hóa điểm số của mình.</a:t>
            </a:r>
            <a:endParaRPr/>
          </a:p>
        </p:txBody>
      </p:sp>
      <p:pic>
        <p:nvPicPr>
          <p:cNvPr id="236" name="Google Shape;236;p18"/>
          <p:cNvPicPr preferRelativeResize="0"/>
          <p:nvPr/>
        </p:nvPicPr>
        <p:blipFill rotWithShape="1">
          <a:blip r:embed="rId4">
            <a:alphaModFix/>
          </a:blip>
          <a:srcRect b="68141" l="0" r="0" t="0"/>
          <a:stretch/>
        </p:blipFill>
        <p:spPr>
          <a:xfrm>
            <a:off x="4007925" y="5667775"/>
            <a:ext cx="10272150" cy="39090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cxnSp>
        <p:nvCxnSpPr>
          <p:cNvPr id="242" name="Google Shape;242;p19"/>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43" name="Google Shape;243;p19"/>
          <p:cNvGrpSpPr/>
          <p:nvPr/>
        </p:nvGrpSpPr>
        <p:grpSpPr>
          <a:xfrm rot="10800000">
            <a:off x="15785091" y="-536942"/>
            <a:ext cx="7681766" cy="4260610"/>
            <a:chOff x="0" y="-38100"/>
            <a:chExt cx="406400" cy="225405"/>
          </a:xfrm>
        </p:grpSpPr>
        <p:sp>
          <p:nvSpPr>
            <p:cNvPr id="244" name="Google Shape;244;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45" name="Google Shape;245;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6" name="Google Shape;246;p19"/>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47" name="Google Shape;247;p19"/>
          <p:cNvSpPr txBox="1"/>
          <p:nvPr/>
        </p:nvSpPr>
        <p:spPr>
          <a:xfrm>
            <a:off x="3359002" y="401132"/>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nói APTIS</a:t>
            </a:r>
            <a:endParaRPr/>
          </a:p>
        </p:txBody>
      </p:sp>
      <p:grpSp>
        <p:nvGrpSpPr>
          <p:cNvPr id="248" name="Google Shape;248;p19"/>
          <p:cNvGrpSpPr/>
          <p:nvPr/>
        </p:nvGrpSpPr>
        <p:grpSpPr>
          <a:xfrm>
            <a:off x="-2718010" y="9274528"/>
            <a:ext cx="7950400" cy="1707231"/>
            <a:chOff x="0" y="-384762"/>
            <a:chExt cx="10600533" cy="2276307"/>
          </a:xfrm>
        </p:grpSpPr>
        <p:grpSp>
          <p:nvGrpSpPr>
            <p:cNvPr id="249" name="Google Shape;249;p19"/>
            <p:cNvGrpSpPr/>
            <p:nvPr/>
          </p:nvGrpSpPr>
          <p:grpSpPr>
            <a:xfrm>
              <a:off x="0" y="-384762"/>
              <a:ext cx="10600533" cy="2276307"/>
              <a:chOff x="0" y="-38100"/>
              <a:chExt cx="1049690" cy="225405"/>
            </a:xfrm>
          </p:grpSpPr>
          <p:sp>
            <p:nvSpPr>
              <p:cNvPr id="250" name="Google Shape;250;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1" name="Google Shape;251;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2" name="Google Shape;252;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3" name="Google Shape;253;p19"/>
          <p:cNvSpPr txBox="1"/>
          <p:nvPr/>
        </p:nvSpPr>
        <p:spPr>
          <a:xfrm>
            <a:off x="1600200" y="2200508"/>
            <a:ext cx="15938100" cy="255510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Khi đến thời gian ghi âm, bộ đếm thời gian sẽ bắt đầu.</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Nội dung này cho bạn biết bạn đã ghi âm được bao lâu.</a:t>
            </a:r>
            <a:endParaRPr/>
          </a:p>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Mỗi khi một câu hỏi mới xuất hiện, quy trình tương tự sẽ được lặp lại.</a:t>
            </a:r>
            <a:endParaRPr sz="4000">
              <a:solidFill>
                <a:schemeClr val="dk1"/>
              </a:solidFill>
              <a:latin typeface="Calibri"/>
              <a:ea typeface="Calibri"/>
              <a:cs typeface="Calibri"/>
              <a:sym typeface="Calibri"/>
            </a:endParaRPr>
          </a:p>
        </p:txBody>
      </p:sp>
      <p:pic>
        <p:nvPicPr>
          <p:cNvPr id="254" name="Google Shape;254;p19"/>
          <p:cNvPicPr preferRelativeResize="0"/>
          <p:nvPr/>
        </p:nvPicPr>
        <p:blipFill rotWithShape="1">
          <a:blip r:embed="rId4">
            <a:alphaModFix/>
          </a:blip>
          <a:srcRect b="68141" l="0" r="0" t="0"/>
          <a:stretch/>
        </p:blipFill>
        <p:spPr>
          <a:xfrm>
            <a:off x="3972413" y="5317800"/>
            <a:ext cx="10654175" cy="4054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cxnSp>
        <p:nvCxnSpPr>
          <p:cNvPr id="260" name="Google Shape;260;p20"/>
          <p:cNvCxnSpPr/>
          <p:nvPr/>
        </p:nvCxnSpPr>
        <p:spPr>
          <a:xfrm>
            <a:off x="3154"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61" name="Google Shape;261;p20"/>
          <p:cNvGrpSpPr/>
          <p:nvPr/>
        </p:nvGrpSpPr>
        <p:grpSpPr>
          <a:xfrm rot="10800000">
            <a:off x="15785091" y="-536942"/>
            <a:ext cx="7681766" cy="4260610"/>
            <a:chOff x="0" y="-38100"/>
            <a:chExt cx="406400" cy="225405"/>
          </a:xfrm>
        </p:grpSpPr>
        <p:sp>
          <p:nvSpPr>
            <p:cNvPr id="262" name="Google Shape;262;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63" name="Google Shape;263;p2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4" name="Google Shape;264;p20"/>
          <p:cNvSpPr txBox="1"/>
          <p:nvPr/>
        </p:nvSpPr>
        <p:spPr>
          <a:xfrm>
            <a:off x="5571910" y="401132"/>
            <a:ext cx="11880998" cy="863826"/>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a:t>
            </a:r>
            <a:endParaRPr/>
          </a:p>
        </p:txBody>
      </p:sp>
      <p:grpSp>
        <p:nvGrpSpPr>
          <p:cNvPr id="265" name="Google Shape;265;p20"/>
          <p:cNvGrpSpPr/>
          <p:nvPr/>
        </p:nvGrpSpPr>
        <p:grpSpPr>
          <a:xfrm>
            <a:off x="-2718010" y="9274528"/>
            <a:ext cx="7950400" cy="1707231"/>
            <a:chOff x="0" y="-384762"/>
            <a:chExt cx="10600533" cy="2276307"/>
          </a:xfrm>
        </p:grpSpPr>
        <p:grpSp>
          <p:nvGrpSpPr>
            <p:cNvPr id="266" name="Google Shape;266;p20"/>
            <p:cNvGrpSpPr/>
            <p:nvPr/>
          </p:nvGrpSpPr>
          <p:grpSpPr>
            <a:xfrm>
              <a:off x="0" y="-384762"/>
              <a:ext cx="10600533" cy="2276307"/>
              <a:chOff x="0" y="-38100"/>
              <a:chExt cx="1049690" cy="225405"/>
            </a:xfrm>
          </p:grpSpPr>
          <p:sp>
            <p:nvSpPr>
              <p:cNvPr id="267" name="Google Shape;267;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68" name="Google Shape;268;p2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9" name="Google Shape;269;p2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0" name="Google Shape;270;p20"/>
          <p:cNvSpPr/>
          <p:nvPr/>
        </p:nvSpPr>
        <p:spPr>
          <a:xfrm>
            <a:off x="7720637" y="2270061"/>
            <a:ext cx="10186363" cy="70044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0"/>
          <p:cNvSpPr/>
          <p:nvPr/>
        </p:nvSpPr>
        <p:spPr>
          <a:xfrm>
            <a:off x="-52203" y="1059893"/>
            <a:ext cx="9424803" cy="9424803"/>
          </a:xfrm>
          <a:prstGeom prst="blockArc">
            <a:avLst>
              <a:gd fmla="val 18900000" name="adj1"/>
              <a:gd fmla="val 2700000" name="adj2"/>
              <a:gd fmla="val 229" name="adj3"/>
            </a:avLst>
          </a:prstGeom>
          <a:no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2" name="Google Shape;272;p20"/>
          <p:cNvCxnSpPr/>
          <p:nvPr/>
        </p:nvCxnSpPr>
        <p:spPr>
          <a:xfrm flipH="1" rot="10800000">
            <a:off x="6209271" y="1632998"/>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73" name="Google Shape;273;p20"/>
          <p:cNvGrpSpPr/>
          <p:nvPr/>
        </p:nvGrpSpPr>
        <p:grpSpPr>
          <a:xfrm>
            <a:off x="8158730" y="2598220"/>
            <a:ext cx="8684450" cy="1094798"/>
            <a:chOff x="7100641" y="2598220"/>
            <a:chExt cx="8684450" cy="1094798"/>
          </a:xfrm>
        </p:grpSpPr>
        <p:sp>
          <p:nvSpPr>
            <p:cNvPr id="274" name="Google Shape;274;p20"/>
            <p:cNvSpPr/>
            <p:nvPr/>
          </p:nvSpPr>
          <p:spPr>
            <a:xfrm>
              <a:off x="7648040" y="2707700"/>
              <a:ext cx="8137051" cy="875838"/>
            </a:xfrm>
            <a:custGeom>
              <a:rect b="b" l="l" r="r" t="t"/>
              <a:pathLst>
                <a:path extrusionOk="0" h="875838" w="9428479">
                  <a:moveTo>
                    <a:pt x="0" y="0"/>
                  </a:moveTo>
                  <a:lnTo>
                    <a:pt x="9428479" y="0"/>
                  </a:lnTo>
                  <a:lnTo>
                    <a:pt x="94284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Giữ bình tĩnh và tự tin</a:t>
              </a:r>
              <a:endParaRPr sz="4600">
                <a:solidFill>
                  <a:schemeClr val="lt1"/>
                </a:solidFill>
                <a:latin typeface="Calibri"/>
                <a:ea typeface="Calibri"/>
                <a:cs typeface="Calibri"/>
                <a:sym typeface="Calibri"/>
              </a:endParaRPr>
            </a:p>
          </p:txBody>
        </p:sp>
        <p:sp>
          <p:nvSpPr>
            <p:cNvPr id="275" name="Google Shape;275;p20"/>
            <p:cNvSpPr/>
            <p:nvPr/>
          </p:nvSpPr>
          <p:spPr>
            <a:xfrm>
              <a:off x="7100641" y="2598220"/>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20"/>
          <p:cNvGrpSpPr/>
          <p:nvPr/>
        </p:nvGrpSpPr>
        <p:grpSpPr>
          <a:xfrm>
            <a:off x="8786330" y="3911557"/>
            <a:ext cx="8056850" cy="1094798"/>
            <a:chOff x="7728241" y="3911557"/>
            <a:chExt cx="8056850" cy="1094798"/>
          </a:xfrm>
        </p:grpSpPr>
        <p:sp>
          <p:nvSpPr>
            <p:cNvPr id="277" name="Google Shape;277;p20"/>
            <p:cNvSpPr/>
            <p:nvPr/>
          </p:nvSpPr>
          <p:spPr>
            <a:xfrm>
              <a:off x="8275640" y="4021037"/>
              <a:ext cx="7509451" cy="875838"/>
            </a:xfrm>
            <a:custGeom>
              <a:rect b="b" l="l" r="r" t="t"/>
              <a:pathLst>
                <a:path extrusionOk="0" h="875838" w="8800879">
                  <a:moveTo>
                    <a:pt x="0" y="0"/>
                  </a:moveTo>
                  <a:lnTo>
                    <a:pt x="8800879" y="0"/>
                  </a:lnTo>
                  <a:lnTo>
                    <a:pt x="88008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Nghe kỹ hướng dẫn</a:t>
              </a:r>
              <a:endParaRPr sz="4600">
                <a:solidFill>
                  <a:schemeClr val="lt1"/>
                </a:solidFill>
                <a:latin typeface="Calibri"/>
                <a:ea typeface="Calibri"/>
                <a:cs typeface="Calibri"/>
                <a:sym typeface="Calibri"/>
              </a:endParaRPr>
            </a:p>
          </p:txBody>
        </p:sp>
        <p:sp>
          <p:nvSpPr>
            <p:cNvPr id="278" name="Google Shape;278;p20"/>
            <p:cNvSpPr/>
            <p:nvPr/>
          </p:nvSpPr>
          <p:spPr>
            <a:xfrm>
              <a:off x="7728241" y="3911557"/>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 name="Google Shape;279;p20"/>
          <p:cNvGrpSpPr/>
          <p:nvPr/>
        </p:nvGrpSpPr>
        <p:grpSpPr>
          <a:xfrm>
            <a:off x="8978953" y="5224895"/>
            <a:ext cx="7864227" cy="1094798"/>
            <a:chOff x="7920864" y="5224895"/>
            <a:chExt cx="7864227" cy="1094798"/>
          </a:xfrm>
        </p:grpSpPr>
        <p:sp>
          <p:nvSpPr>
            <p:cNvPr id="280" name="Google Shape;280;p20"/>
            <p:cNvSpPr/>
            <p:nvPr/>
          </p:nvSpPr>
          <p:spPr>
            <a:xfrm>
              <a:off x="8468263" y="5334375"/>
              <a:ext cx="7316828" cy="875838"/>
            </a:xfrm>
            <a:custGeom>
              <a:rect b="b" l="l" r="r" t="t"/>
              <a:pathLst>
                <a:path extrusionOk="0" h="875838" w="8608256">
                  <a:moveTo>
                    <a:pt x="0" y="0"/>
                  </a:moveTo>
                  <a:lnTo>
                    <a:pt x="8608256" y="0"/>
                  </a:lnTo>
                  <a:lnTo>
                    <a:pt x="8608256"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Dùng đúng ngữ pháp</a:t>
              </a:r>
              <a:endParaRPr sz="4600">
                <a:solidFill>
                  <a:schemeClr val="lt1"/>
                </a:solidFill>
                <a:latin typeface="Calibri"/>
                <a:ea typeface="Calibri"/>
                <a:cs typeface="Calibri"/>
                <a:sym typeface="Calibri"/>
              </a:endParaRPr>
            </a:p>
          </p:txBody>
        </p:sp>
        <p:sp>
          <p:nvSpPr>
            <p:cNvPr id="281" name="Google Shape;281;p20"/>
            <p:cNvSpPr/>
            <p:nvPr/>
          </p:nvSpPr>
          <p:spPr>
            <a:xfrm>
              <a:off x="7920864" y="5224895"/>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 name="Google Shape;282;p20"/>
          <p:cNvGrpSpPr/>
          <p:nvPr/>
        </p:nvGrpSpPr>
        <p:grpSpPr>
          <a:xfrm>
            <a:off x="8786330" y="6538232"/>
            <a:ext cx="8056850" cy="1094798"/>
            <a:chOff x="7728241" y="6538232"/>
            <a:chExt cx="8056850" cy="1094798"/>
          </a:xfrm>
        </p:grpSpPr>
        <p:sp>
          <p:nvSpPr>
            <p:cNvPr id="283" name="Google Shape;283;p20"/>
            <p:cNvSpPr/>
            <p:nvPr/>
          </p:nvSpPr>
          <p:spPr>
            <a:xfrm>
              <a:off x="8275640" y="6647712"/>
              <a:ext cx="7509451" cy="875838"/>
            </a:xfrm>
            <a:custGeom>
              <a:rect b="b" l="l" r="r" t="t"/>
              <a:pathLst>
                <a:path extrusionOk="0" h="875838" w="8800879">
                  <a:moveTo>
                    <a:pt x="0" y="0"/>
                  </a:moveTo>
                  <a:lnTo>
                    <a:pt x="8800879" y="0"/>
                  </a:lnTo>
                  <a:lnTo>
                    <a:pt x="88008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Nêu đầy đủ thông tin</a:t>
              </a:r>
              <a:endParaRPr sz="4600">
                <a:solidFill>
                  <a:schemeClr val="lt1"/>
                </a:solidFill>
                <a:latin typeface="Calibri"/>
                <a:ea typeface="Calibri"/>
                <a:cs typeface="Calibri"/>
                <a:sym typeface="Calibri"/>
              </a:endParaRPr>
            </a:p>
          </p:txBody>
        </p:sp>
        <p:sp>
          <p:nvSpPr>
            <p:cNvPr id="284" name="Google Shape;284;p20"/>
            <p:cNvSpPr/>
            <p:nvPr/>
          </p:nvSpPr>
          <p:spPr>
            <a:xfrm>
              <a:off x="7728241" y="6538232"/>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20"/>
          <p:cNvGrpSpPr/>
          <p:nvPr/>
        </p:nvGrpSpPr>
        <p:grpSpPr>
          <a:xfrm>
            <a:off x="8158730" y="7851570"/>
            <a:ext cx="8684450" cy="1094798"/>
            <a:chOff x="7100641" y="7851570"/>
            <a:chExt cx="8684450" cy="1094798"/>
          </a:xfrm>
        </p:grpSpPr>
        <p:sp>
          <p:nvSpPr>
            <p:cNvPr id="286" name="Google Shape;286;p20"/>
            <p:cNvSpPr/>
            <p:nvPr/>
          </p:nvSpPr>
          <p:spPr>
            <a:xfrm>
              <a:off x="7648040" y="7961050"/>
              <a:ext cx="8137051" cy="875838"/>
            </a:xfrm>
            <a:custGeom>
              <a:rect b="b" l="l" r="r" t="t"/>
              <a:pathLst>
                <a:path extrusionOk="0" h="875838" w="9428479">
                  <a:moveTo>
                    <a:pt x="0" y="0"/>
                  </a:moveTo>
                  <a:lnTo>
                    <a:pt x="9428479" y="0"/>
                  </a:lnTo>
                  <a:lnTo>
                    <a:pt x="94284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Calibri"/>
                  <a:ea typeface="Calibri"/>
                  <a:cs typeface="Calibri"/>
                  <a:sym typeface="Calibri"/>
                </a:rPr>
                <a:t>Sử dụng thời gian hợp lý</a:t>
              </a:r>
              <a:endParaRPr sz="4600">
                <a:solidFill>
                  <a:schemeClr val="lt1"/>
                </a:solidFill>
                <a:latin typeface="Calibri"/>
                <a:ea typeface="Calibri"/>
                <a:cs typeface="Calibri"/>
                <a:sym typeface="Calibri"/>
              </a:endParaRPr>
            </a:p>
          </p:txBody>
        </p:sp>
        <p:sp>
          <p:nvSpPr>
            <p:cNvPr id="287" name="Google Shape;287;p20"/>
            <p:cNvSpPr/>
            <p:nvPr/>
          </p:nvSpPr>
          <p:spPr>
            <a:xfrm>
              <a:off x="7100641" y="7851570"/>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cxnSp>
        <p:nvCxnSpPr>
          <p:cNvPr id="292" name="Google Shape;292;p21"/>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93" name="Google Shape;293;p21"/>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94" name="Google Shape;294;p21"/>
          <p:cNvGrpSpPr/>
          <p:nvPr/>
        </p:nvGrpSpPr>
        <p:grpSpPr>
          <a:xfrm rot="10800000">
            <a:off x="15044552" y="-741521"/>
            <a:ext cx="7681766" cy="4260610"/>
            <a:chOff x="0" y="-38100"/>
            <a:chExt cx="406400" cy="225405"/>
          </a:xfrm>
        </p:grpSpPr>
        <p:sp>
          <p:nvSpPr>
            <p:cNvPr id="295" name="Google Shape;295;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96" name="Google Shape;296;p2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97" name="Google Shape;297;p21"/>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98" name="Google Shape;298;p21"/>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99" name="Google Shape;299;p21"/>
          <p:cNvSpPr txBox="1"/>
          <p:nvPr/>
        </p:nvSpPr>
        <p:spPr>
          <a:xfrm>
            <a:off x="5511794" y="2502271"/>
            <a:ext cx="11760209" cy="1142044"/>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Đề mẫu</a:t>
            </a:r>
            <a:endParaRPr b="1" sz="6600">
              <a:solidFill>
                <a:srgbClr val="018345"/>
              </a:solidFill>
              <a:latin typeface="Montserrat"/>
              <a:ea typeface="Montserrat"/>
              <a:cs typeface="Montserrat"/>
              <a:sym typeface="Montserrat"/>
            </a:endParaRPr>
          </a:p>
        </p:txBody>
      </p:sp>
      <p:sp>
        <p:nvSpPr>
          <p:cNvPr id="300" name="Google Shape;300;p21"/>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03</a:t>
            </a:r>
            <a:endParaRPr/>
          </a:p>
        </p:txBody>
      </p:sp>
      <p:sp>
        <p:nvSpPr>
          <p:cNvPr id="301" name="Google Shape;301;p21"/>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02" name="Google Shape;302;p21"/>
          <p:cNvGrpSpPr/>
          <p:nvPr/>
        </p:nvGrpSpPr>
        <p:grpSpPr>
          <a:xfrm>
            <a:off x="-2718010" y="9274528"/>
            <a:ext cx="7950400" cy="1707231"/>
            <a:chOff x="0" y="-384762"/>
            <a:chExt cx="10600533" cy="2276307"/>
          </a:xfrm>
        </p:grpSpPr>
        <p:grpSp>
          <p:nvGrpSpPr>
            <p:cNvPr id="303" name="Google Shape;303;p21"/>
            <p:cNvGrpSpPr/>
            <p:nvPr/>
          </p:nvGrpSpPr>
          <p:grpSpPr>
            <a:xfrm>
              <a:off x="0" y="-384762"/>
              <a:ext cx="10600533" cy="2276307"/>
              <a:chOff x="0" y="-38100"/>
              <a:chExt cx="1049690" cy="225405"/>
            </a:xfrm>
          </p:grpSpPr>
          <p:sp>
            <p:nvSpPr>
              <p:cNvPr id="304" name="Google Shape;304;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05" name="Google Shape;305;p2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6" name="Google Shape;306;p2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307" name="Google Shape;307;p21"/>
          <p:cNvPicPr preferRelativeResize="0"/>
          <p:nvPr/>
        </p:nvPicPr>
        <p:blipFill rotWithShape="1">
          <a:blip r:embed="rId5">
            <a:alphaModFix/>
          </a:blip>
          <a:srcRect b="10096" l="0" r="0" t="10547"/>
          <a:stretch/>
        </p:blipFill>
        <p:spPr>
          <a:xfrm>
            <a:off x="7772400" y="4099418"/>
            <a:ext cx="6391277" cy="5071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500"/>
                                        <p:tgtEl>
                                          <p:spTgt spid="300"/>
                                        </p:tgtEl>
                                        <p:attrNameLst>
                                          <p:attrName>ppt_w</p:attrName>
                                        </p:attrNameLst>
                                      </p:cBhvr>
                                      <p:tavLst>
                                        <p:tav fmla="" tm="0">
                                          <p:val>
                                            <p:strVal val="0"/>
                                          </p:val>
                                        </p:tav>
                                        <p:tav fmla="" tm="100000">
                                          <p:val>
                                            <p:strVal val="#ppt_w"/>
                                          </p:val>
                                        </p:tav>
                                      </p:tavLst>
                                    </p:anim>
                                    <p:anim calcmode="lin" valueType="num">
                                      <p:cBhvr additive="base">
                                        <p:cTn dur="500"/>
                                        <p:tgtEl>
                                          <p:spTgt spid="30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99"/>
                                        </p:tgtEl>
                                        <p:attrNameLst>
                                          <p:attrName>style.visibility</p:attrName>
                                        </p:attrNameLst>
                                      </p:cBhvr>
                                      <p:to>
                                        <p:strVal val="visible"/>
                                      </p:to>
                                    </p:set>
                                    <p:anim calcmode="lin" valueType="num">
                                      <p:cBhvr additive="base">
                                        <p:cTn dur="500"/>
                                        <p:tgtEl>
                                          <p:spTgt spid="299"/>
                                        </p:tgtEl>
                                        <p:attrNameLst>
                                          <p:attrName>ppt_w</p:attrName>
                                        </p:attrNameLst>
                                      </p:cBhvr>
                                      <p:tavLst>
                                        <p:tav fmla="" tm="0">
                                          <p:val>
                                            <p:strVal val="0"/>
                                          </p:val>
                                        </p:tav>
                                        <p:tav fmla="" tm="100000">
                                          <p:val>
                                            <p:strVal val="#ppt_w"/>
                                          </p:val>
                                        </p:tav>
                                      </p:tavLst>
                                    </p:anim>
                                    <p:anim calcmode="lin" valueType="num">
                                      <p:cBhvr additive="base">
                                        <p:cTn dur="500"/>
                                        <p:tgtEl>
                                          <p:spTgt spid="29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cxnSp>
        <p:nvCxnSpPr>
          <p:cNvPr id="313" name="Google Shape;313;p22"/>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314" name="Google Shape;314;p22"/>
          <p:cNvGrpSpPr/>
          <p:nvPr/>
        </p:nvGrpSpPr>
        <p:grpSpPr>
          <a:xfrm rot="10800000">
            <a:off x="15785084" y="-536938"/>
            <a:ext cx="7681773" cy="4260605"/>
            <a:chOff x="0" y="-38100"/>
            <a:chExt cx="406400" cy="225405"/>
          </a:xfrm>
        </p:grpSpPr>
        <p:sp>
          <p:nvSpPr>
            <p:cNvPr id="315" name="Google Shape;315;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16" name="Google Shape;316;p2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7" name="Google Shape;317;p2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18" name="Google Shape;318;p22"/>
          <p:cNvGrpSpPr/>
          <p:nvPr/>
        </p:nvGrpSpPr>
        <p:grpSpPr>
          <a:xfrm>
            <a:off x="-2718010" y="9274530"/>
            <a:ext cx="7950378" cy="1707223"/>
            <a:chOff x="0" y="-384760"/>
            <a:chExt cx="10600504" cy="2276297"/>
          </a:xfrm>
        </p:grpSpPr>
        <p:grpSp>
          <p:nvGrpSpPr>
            <p:cNvPr id="319" name="Google Shape;319;p22"/>
            <p:cNvGrpSpPr/>
            <p:nvPr/>
          </p:nvGrpSpPr>
          <p:grpSpPr>
            <a:xfrm>
              <a:off x="0" y="-384760"/>
              <a:ext cx="10600504" cy="2276297"/>
              <a:chOff x="0" y="-38100"/>
              <a:chExt cx="1049690" cy="225405"/>
            </a:xfrm>
          </p:grpSpPr>
          <p:sp>
            <p:nvSpPr>
              <p:cNvPr id="320" name="Google Shape;320;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21" name="Google Shape;321;p22"/>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2" name="Google Shape;322;p22"/>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3" name="Google Shape;323;p22"/>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324" name="Google Shape;324;p22"/>
          <p:cNvSpPr txBox="1"/>
          <p:nvPr/>
        </p:nvSpPr>
        <p:spPr>
          <a:xfrm>
            <a:off x="7543800" y="6976825"/>
            <a:ext cx="10265100" cy="2981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400">
                <a:solidFill>
                  <a:schemeClr val="dk1"/>
                </a:solidFill>
                <a:latin typeface="Calibri"/>
                <a:ea typeface="Calibri"/>
                <a:cs typeface="Calibri"/>
                <a:sym typeface="Calibri"/>
              </a:rPr>
              <a:t>Tell me a time when you were on your own.</a:t>
            </a:r>
            <a:endParaRPr sz="34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400">
                <a:solidFill>
                  <a:schemeClr val="dk1"/>
                </a:solidFill>
                <a:latin typeface="Calibri"/>
                <a:ea typeface="Calibri"/>
                <a:cs typeface="Calibri"/>
                <a:sym typeface="Calibri"/>
              </a:rPr>
              <a:t>How did you feel about it?</a:t>
            </a:r>
            <a:endParaRPr sz="34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400">
                <a:solidFill>
                  <a:schemeClr val="dk1"/>
                </a:solidFill>
                <a:latin typeface="Calibri"/>
                <a:ea typeface="Calibri"/>
                <a:cs typeface="Calibri"/>
                <a:sym typeface="Calibri"/>
              </a:rPr>
              <a:t>What are some of the ways of passing time on your own?</a:t>
            </a:r>
            <a:endParaRPr sz="3400">
              <a:solidFill>
                <a:schemeClr val="dk1"/>
              </a:solidFill>
              <a:latin typeface="Calibri"/>
              <a:ea typeface="Calibri"/>
              <a:cs typeface="Calibri"/>
              <a:sym typeface="Calibri"/>
            </a:endParaRPr>
          </a:p>
        </p:txBody>
      </p:sp>
      <p:pic>
        <p:nvPicPr>
          <p:cNvPr id="325" name="Google Shape;325;p22"/>
          <p:cNvPicPr preferRelativeResize="0"/>
          <p:nvPr/>
        </p:nvPicPr>
        <p:blipFill>
          <a:blip r:embed="rId4">
            <a:alphaModFix/>
          </a:blip>
          <a:stretch>
            <a:fillRect/>
          </a:stretch>
        </p:blipFill>
        <p:spPr>
          <a:xfrm>
            <a:off x="7543800" y="3010075"/>
            <a:ext cx="5019675" cy="3352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cxnSp>
        <p:nvCxnSpPr>
          <p:cNvPr id="331" name="Google Shape;331;p23"/>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332" name="Google Shape;332;p23"/>
          <p:cNvGrpSpPr/>
          <p:nvPr/>
        </p:nvGrpSpPr>
        <p:grpSpPr>
          <a:xfrm rot="10800000">
            <a:off x="15785084" y="-536938"/>
            <a:ext cx="7681773" cy="4260605"/>
            <a:chOff x="0" y="-38100"/>
            <a:chExt cx="406400" cy="225405"/>
          </a:xfrm>
        </p:grpSpPr>
        <p:sp>
          <p:nvSpPr>
            <p:cNvPr id="333" name="Google Shape;333;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34" name="Google Shape;334;p2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5" name="Google Shape;335;p2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36" name="Google Shape;336;p23"/>
          <p:cNvGrpSpPr/>
          <p:nvPr/>
        </p:nvGrpSpPr>
        <p:grpSpPr>
          <a:xfrm>
            <a:off x="-2718010" y="9274530"/>
            <a:ext cx="7950378" cy="1707223"/>
            <a:chOff x="0" y="-384760"/>
            <a:chExt cx="10600504" cy="2276297"/>
          </a:xfrm>
        </p:grpSpPr>
        <p:grpSp>
          <p:nvGrpSpPr>
            <p:cNvPr id="337" name="Google Shape;337;p23"/>
            <p:cNvGrpSpPr/>
            <p:nvPr/>
          </p:nvGrpSpPr>
          <p:grpSpPr>
            <a:xfrm>
              <a:off x="0" y="-384760"/>
              <a:ext cx="10600504" cy="2276297"/>
              <a:chOff x="0" y="-38100"/>
              <a:chExt cx="1049690" cy="225405"/>
            </a:xfrm>
          </p:grpSpPr>
          <p:sp>
            <p:nvSpPr>
              <p:cNvPr id="338" name="Google Shape;338;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39" name="Google Shape;339;p23"/>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0" name="Google Shape;340;p23"/>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1" name="Google Shape;341;p23"/>
          <p:cNvSpPr txBox="1"/>
          <p:nvPr/>
        </p:nvSpPr>
        <p:spPr>
          <a:xfrm>
            <a:off x="6592847" y="660250"/>
            <a:ext cx="11880900" cy="7233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4700">
                <a:solidFill>
                  <a:srgbClr val="018345"/>
                </a:solidFill>
                <a:latin typeface="Montserrat"/>
                <a:ea typeface="Montserrat"/>
                <a:cs typeface="Montserrat"/>
                <a:sym typeface="Montserrat"/>
              </a:rPr>
              <a:t>CÁCH KẾT NỐI CÁC CÂU TRẢ LỜI</a:t>
            </a:r>
            <a:endParaRPr b="1" sz="4700">
              <a:solidFill>
                <a:srgbClr val="018345"/>
              </a:solidFill>
              <a:latin typeface="Montserrat"/>
              <a:ea typeface="Montserrat"/>
              <a:cs typeface="Montserrat"/>
              <a:sym typeface="Montserrat"/>
            </a:endParaRPr>
          </a:p>
        </p:txBody>
      </p:sp>
      <p:sp>
        <p:nvSpPr>
          <p:cNvPr id="342" name="Google Shape;342;p23"/>
          <p:cNvSpPr txBox="1"/>
          <p:nvPr/>
        </p:nvSpPr>
        <p:spPr>
          <a:xfrm>
            <a:off x="7543800" y="2299850"/>
            <a:ext cx="10265100" cy="2281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400">
                <a:solidFill>
                  <a:schemeClr val="dk1"/>
                </a:solidFill>
                <a:latin typeface="Calibri"/>
                <a:ea typeface="Calibri"/>
                <a:cs typeface="Calibri"/>
                <a:sym typeface="Calibri"/>
              </a:rPr>
              <a:t>Tell me a time when you were on your own.</a:t>
            </a:r>
            <a:endParaRPr sz="34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400">
                <a:solidFill>
                  <a:schemeClr val="dk1"/>
                </a:solidFill>
                <a:latin typeface="Calibri"/>
                <a:ea typeface="Calibri"/>
                <a:cs typeface="Calibri"/>
                <a:sym typeface="Calibri"/>
              </a:rPr>
              <a:t>How did you feel about it?</a:t>
            </a:r>
            <a:endParaRPr sz="34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400">
                <a:solidFill>
                  <a:schemeClr val="dk1"/>
                </a:solidFill>
                <a:latin typeface="Calibri"/>
                <a:ea typeface="Calibri"/>
                <a:cs typeface="Calibri"/>
                <a:sym typeface="Calibri"/>
              </a:rPr>
              <a:t>What are some of the ways of passing time on your own?</a:t>
            </a:r>
            <a:endParaRPr sz="3400">
              <a:solidFill>
                <a:schemeClr val="dk1"/>
              </a:solidFill>
              <a:latin typeface="Calibri"/>
              <a:ea typeface="Calibri"/>
              <a:cs typeface="Calibri"/>
              <a:sym typeface="Calibri"/>
            </a:endParaRPr>
          </a:p>
        </p:txBody>
      </p:sp>
      <p:sp>
        <p:nvSpPr>
          <p:cNvPr id="343" name="Google Shape;343;p23"/>
          <p:cNvSpPr txBox="1"/>
          <p:nvPr/>
        </p:nvSpPr>
        <p:spPr>
          <a:xfrm>
            <a:off x="843400" y="4730925"/>
            <a:ext cx="19412100" cy="4543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I am going to talk about + [</a:t>
            </a:r>
            <a:r>
              <a:rPr lang="en-US" sz="3200">
                <a:solidFill>
                  <a:srgbClr val="FF0000"/>
                </a:solidFill>
                <a:latin typeface="Calibri"/>
                <a:ea typeface="Calibri"/>
                <a:cs typeface="Calibri"/>
                <a:sym typeface="Calibri"/>
              </a:rPr>
              <a:t>chủ đề của câu hỏi 1 = a time when I was on my own</a:t>
            </a:r>
            <a:r>
              <a:rPr lang="en-US" sz="3200">
                <a:solidFill>
                  <a:schemeClr val="dk1"/>
                </a:solidFill>
                <a:latin typeface="Calibri"/>
                <a:ea typeface="Calibri"/>
                <a:cs typeface="Calibri"/>
                <a:sym typeface="Calibri"/>
              </a:rPr>
              <a:t>]. Well  + [trả lời câu hỏi].</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The reason was because + [phát triển ý = why/what/how].</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Moving on to the second question + [</a:t>
            </a:r>
            <a:r>
              <a:rPr lang="en-US" sz="3200">
                <a:solidFill>
                  <a:srgbClr val="FF0000"/>
                </a:solidFill>
                <a:latin typeface="Calibri"/>
                <a:ea typeface="Calibri"/>
                <a:cs typeface="Calibri"/>
                <a:sym typeface="Calibri"/>
              </a:rPr>
              <a:t>đọc câu hỏi 2 - nhớ thay you = I; your = my</a:t>
            </a:r>
            <a:r>
              <a:rPr lang="en-US" sz="3200">
                <a:solidFill>
                  <a:schemeClr val="dk1"/>
                </a:solidFill>
                <a:latin typeface="Calibri"/>
                <a:ea typeface="Calibri"/>
                <a:cs typeface="Calibri"/>
                <a:sym typeface="Calibri"/>
              </a:rPr>
              <a:t>]. Actually, + [trả lời câu hỏi] + [phát triển thêm ý = so sánh]</a:t>
            </a:r>
            <a:endParaRPr sz="32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200">
                <a:solidFill>
                  <a:schemeClr val="dk1"/>
                </a:solidFill>
                <a:latin typeface="Calibri"/>
                <a:ea typeface="Calibri"/>
                <a:cs typeface="Calibri"/>
                <a:sym typeface="Calibri"/>
              </a:rPr>
              <a:t>Regarding the last question + [</a:t>
            </a:r>
            <a:r>
              <a:rPr lang="en-US" sz="3200">
                <a:solidFill>
                  <a:srgbClr val="FF0000"/>
                </a:solidFill>
                <a:latin typeface="Calibri"/>
                <a:ea typeface="Calibri"/>
                <a:cs typeface="Calibri"/>
                <a:sym typeface="Calibri"/>
              </a:rPr>
              <a:t>đọc câu hỏi 3 - </a:t>
            </a:r>
            <a:r>
              <a:rPr lang="en-US" sz="3200">
                <a:solidFill>
                  <a:srgbClr val="FF0000"/>
                </a:solidFill>
                <a:latin typeface="Calibri"/>
                <a:ea typeface="Calibri"/>
                <a:cs typeface="Calibri"/>
                <a:sym typeface="Calibri"/>
              </a:rPr>
              <a:t>nhớ thay you = I; your = my </a:t>
            </a:r>
            <a:r>
              <a:rPr lang="en-US" sz="3200">
                <a:solidFill>
                  <a:schemeClr val="dk1"/>
                </a:solidFill>
                <a:latin typeface="Calibri"/>
                <a:ea typeface="Calibri"/>
                <a:cs typeface="Calibri"/>
                <a:sym typeface="Calibri"/>
              </a:rPr>
              <a:t>] + Honestly, + [trả lời câu hỏi] + [phát triển thêm ý]</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cxnSp>
        <p:nvCxnSpPr>
          <p:cNvPr id="348" name="Google Shape;348;p24"/>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349" name="Google Shape;349;p24"/>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50" name="Google Shape;350;p24"/>
          <p:cNvGrpSpPr/>
          <p:nvPr/>
        </p:nvGrpSpPr>
        <p:grpSpPr>
          <a:xfrm rot="10800000">
            <a:off x="15044552" y="-741521"/>
            <a:ext cx="7681766" cy="4260610"/>
            <a:chOff x="0" y="-38100"/>
            <a:chExt cx="406400" cy="225405"/>
          </a:xfrm>
        </p:grpSpPr>
        <p:sp>
          <p:nvSpPr>
            <p:cNvPr id="351" name="Google Shape;351;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52" name="Google Shape;352;p2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353" name="Google Shape;353;p2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54" name="Google Shape;354;p24"/>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55" name="Google Shape;355;p24"/>
          <p:cNvSpPr txBox="1"/>
          <p:nvPr/>
        </p:nvSpPr>
        <p:spPr>
          <a:xfrm>
            <a:off x="5232390" y="2564021"/>
            <a:ext cx="11760209" cy="1104085"/>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Hướng dẫn trả lời</a:t>
            </a:r>
            <a:endParaRPr/>
          </a:p>
        </p:txBody>
      </p:sp>
      <p:sp>
        <p:nvSpPr>
          <p:cNvPr id="356" name="Google Shape;356;p24"/>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04</a:t>
            </a:r>
            <a:endParaRPr/>
          </a:p>
        </p:txBody>
      </p:sp>
      <p:sp>
        <p:nvSpPr>
          <p:cNvPr id="357" name="Google Shape;357;p24"/>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58" name="Google Shape;358;p24"/>
          <p:cNvGrpSpPr/>
          <p:nvPr/>
        </p:nvGrpSpPr>
        <p:grpSpPr>
          <a:xfrm>
            <a:off x="-2718010" y="9274528"/>
            <a:ext cx="7950400" cy="1707231"/>
            <a:chOff x="0" y="-384762"/>
            <a:chExt cx="10600533" cy="2276307"/>
          </a:xfrm>
        </p:grpSpPr>
        <p:grpSp>
          <p:nvGrpSpPr>
            <p:cNvPr id="359" name="Google Shape;359;p24"/>
            <p:cNvGrpSpPr/>
            <p:nvPr/>
          </p:nvGrpSpPr>
          <p:grpSpPr>
            <a:xfrm>
              <a:off x="0" y="-384762"/>
              <a:ext cx="10600533" cy="2276307"/>
              <a:chOff x="0" y="-38100"/>
              <a:chExt cx="1049690" cy="225405"/>
            </a:xfrm>
          </p:grpSpPr>
          <p:sp>
            <p:nvSpPr>
              <p:cNvPr id="360" name="Google Shape;360;p2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61" name="Google Shape;361;p2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2" name="Google Shape;362;p2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3" name="Google Shape;363;p24"/>
          <p:cNvSpPr/>
          <p:nvPr/>
        </p:nvSpPr>
        <p:spPr>
          <a:xfrm>
            <a:off x="9563099" y="4749873"/>
            <a:ext cx="3276055" cy="3301942"/>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56"/>
                                        </p:tgtEl>
                                        <p:attrNameLst>
                                          <p:attrName>style.visibility</p:attrName>
                                        </p:attrNameLst>
                                      </p:cBhvr>
                                      <p:to>
                                        <p:strVal val="visible"/>
                                      </p:to>
                                    </p:set>
                                    <p:anim calcmode="lin" valueType="num">
                                      <p:cBhvr additive="base">
                                        <p:cTn dur="500"/>
                                        <p:tgtEl>
                                          <p:spTgt spid="356"/>
                                        </p:tgtEl>
                                        <p:attrNameLst>
                                          <p:attrName>ppt_w</p:attrName>
                                        </p:attrNameLst>
                                      </p:cBhvr>
                                      <p:tavLst>
                                        <p:tav fmla="" tm="0">
                                          <p:val>
                                            <p:strVal val="0"/>
                                          </p:val>
                                        </p:tav>
                                        <p:tav fmla="" tm="100000">
                                          <p:val>
                                            <p:strVal val="#ppt_w"/>
                                          </p:val>
                                        </p:tav>
                                      </p:tavLst>
                                    </p:anim>
                                    <p:anim calcmode="lin" valueType="num">
                                      <p:cBhvr additive="base">
                                        <p:cTn dur="500"/>
                                        <p:tgtEl>
                                          <p:spTgt spid="35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55"/>
                                        </p:tgtEl>
                                        <p:attrNameLst>
                                          <p:attrName>style.visibility</p:attrName>
                                        </p:attrNameLst>
                                      </p:cBhvr>
                                      <p:to>
                                        <p:strVal val="visible"/>
                                      </p:to>
                                    </p:set>
                                    <p:anim calcmode="lin" valueType="num">
                                      <p:cBhvr additive="base">
                                        <p:cTn dur="500"/>
                                        <p:tgtEl>
                                          <p:spTgt spid="355"/>
                                        </p:tgtEl>
                                        <p:attrNameLst>
                                          <p:attrName>ppt_w</p:attrName>
                                        </p:attrNameLst>
                                      </p:cBhvr>
                                      <p:tavLst>
                                        <p:tav fmla="" tm="0">
                                          <p:val>
                                            <p:strVal val="0"/>
                                          </p:val>
                                        </p:tav>
                                        <p:tav fmla="" tm="100000">
                                          <p:val>
                                            <p:strVal val="#ppt_w"/>
                                          </p:val>
                                        </p:tav>
                                      </p:tavLst>
                                    </p:anim>
                                    <p:anim calcmode="lin" valueType="num">
                                      <p:cBhvr additive="base">
                                        <p:cTn dur="500"/>
                                        <p:tgtEl>
                                          <p:spTgt spid="35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cxnSp>
        <p:nvCxnSpPr>
          <p:cNvPr id="369" name="Google Shape;369;p25"/>
          <p:cNvCxnSpPr/>
          <p:nvPr/>
        </p:nvCxnSpPr>
        <p:spPr>
          <a:xfrm flipH="1" rot="10800000">
            <a:off x="6209270" y="1619250"/>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370" name="Google Shape;370;p2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71" name="Google Shape;371;p25"/>
          <p:cNvGrpSpPr/>
          <p:nvPr/>
        </p:nvGrpSpPr>
        <p:grpSpPr>
          <a:xfrm rot="10800000">
            <a:off x="15785091" y="-536942"/>
            <a:ext cx="7681766" cy="4260610"/>
            <a:chOff x="0" y="-38100"/>
            <a:chExt cx="406400" cy="225405"/>
          </a:xfrm>
        </p:grpSpPr>
        <p:sp>
          <p:nvSpPr>
            <p:cNvPr id="372" name="Google Shape;372;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73" name="Google Shape;373;p2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4" name="Google Shape;374;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75" name="Google Shape;375;p25"/>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Chuẩn bị: 1 phút</a:t>
            </a:r>
            <a:endParaRPr b="1" sz="6000">
              <a:solidFill>
                <a:srgbClr val="018345"/>
              </a:solidFill>
              <a:latin typeface="Montserrat"/>
              <a:ea typeface="Montserrat"/>
              <a:cs typeface="Montserrat"/>
              <a:sym typeface="Montserrat"/>
            </a:endParaRPr>
          </a:p>
        </p:txBody>
      </p:sp>
      <p:grpSp>
        <p:nvGrpSpPr>
          <p:cNvPr id="376" name="Google Shape;376;p25"/>
          <p:cNvGrpSpPr/>
          <p:nvPr/>
        </p:nvGrpSpPr>
        <p:grpSpPr>
          <a:xfrm>
            <a:off x="-2718010" y="9274528"/>
            <a:ext cx="7950400" cy="1707231"/>
            <a:chOff x="0" y="-384762"/>
            <a:chExt cx="10600533" cy="2276307"/>
          </a:xfrm>
        </p:grpSpPr>
        <p:grpSp>
          <p:nvGrpSpPr>
            <p:cNvPr id="377" name="Google Shape;377;p25"/>
            <p:cNvGrpSpPr/>
            <p:nvPr/>
          </p:nvGrpSpPr>
          <p:grpSpPr>
            <a:xfrm>
              <a:off x="0" y="-384762"/>
              <a:ext cx="10600533" cy="2276307"/>
              <a:chOff x="0" y="-38100"/>
              <a:chExt cx="1049690" cy="225405"/>
            </a:xfrm>
          </p:grpSpPr>
          <p:sp>
            <p:nvSpPr>
              <p:cNvPr id="378" name="Google Shape;378;p2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79" name="Google Shape;379;p2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0" name="Google Shape;380;p2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1" name="Google Shape;381;p25"/>
          <p:cNvSpPr txBox="1"/>
          <p:nvPr/>
        </p:nvSpPr>
        <p:spPr>
          <a:xfrm>
            <a:off x="1540575" y="1698925"/>
            <a:ext cx="10265100" cy="196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3200">
                <a:solidFill>
                  <a:schemeClr val="dk1"/>
                </a:solidFill>
                <a:latin typeface="Calibri"/>
                <a:ea typeface="Calibri"/>
                <a:cs typeface="Calibri"/>
                <a:sym typeface="Calibri"/>
              </a:rPr>
              <a:t>Tell me a time when you were on your own.</a:t>
            </a:r>
            <a:endParaRPr sz="3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3200">
                <a:solidFill>
                  <a:schemeClr val="dk1"/>
                </a:solidFill>
                <a:latin typeface="Calibri"/>
                <a:ea typeface="Calibri"/>
                <a:cs typeface="Calibri"/>
                <a:sym typeface="Calibri"/>
              </a:rPr>
              <a:t>How did you feel about it?</a:t>
            </a:r>
            <a:endParaRPr sz="3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3200">
                <a:solidFill>
                  <a:schemeClr val="dk1"/>
                </a:solidFill>
                <a:latin typeface="Calibri"/>
                <a:ea typeface="Calibri"/>
                <a:cs typeface="Calibri"/>
                <a:sym typeface="Calibri"/>
              </a:rPr>
              <a:t>What are some of the ways of passing time on your own?</a:t>
            </a:r>
            <a:endParaRPr sz="3200">
              <a:solidFill>
                <a:schemeClr val="dk1"/>
              </a:solidFill>
              <a:latin typeface="Calibri"/>
              <a:ea typeface="Calibri"/>
              <a:cs typeface="Calibri"/>
              <a:sym typeface="Calibri"/>
            </a:endParaRPr>
          </a:p>
        </p:txBody>
      </p:sp>
      <p:sp>
        <p:nvSpPr>
          <p:cNvPr id="382" name="Google Shape;382;p25"/>
          <p:cNvSpPr/>
          <p:nvPr/>
        </p:nvSpPr>
        <p:spPr>
          <a:xfrm>
            <a:off x="1540575" y="3723675"/>
            <a:ext cx="16449600" cy="6439200"/>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
        <p:nvSpPr>
          <p:cNvPr id="383" name="Google Shape;383;p25"/>
          <p:cNvSpPr txBox="1"/>
          <p:nvPr/>
        </p:nvSpPr>
        <p:spPr>
          <a:xfrm>
            <a:off x="1943800" y="3803600"/>
            <a:ext cx="15673200" cy="6249300"/>
          </a:xfrm>
          <a:prstGeom prst="rect">
            <a:avLst/>
          </a:prstGeom>
          <a:noFill/>
          <a:ln>
            <a:noFill/>
          </a:ln>
        </p:spPr>
        <p:txBody>
          <a:bodyPr anchorCtr="0" anchor="t" bIns="45700" lIns="91425" spcFirstLastPara="1" rIns="91425" wrap="square" tIns="45700">
            <a:spAutoFit/>
          </a:bodyPr>
          <a:lstStyle/>
          <a:p>
            <a:pPr indent="-203200" lvl="0" marL="171450" rtl="0" algn="just">
              <a:lnSpc>
                <a:spcPct val="115000"/>
              </a:lnSpc>
              <a:spcBef>
                <a:spcPts val="0"/>
              </a:spcBef>
              <a:spcAft>
                <a:spcPts val="0"/>
              </a:spcAft>
              <a:buClr>
                <a:schemeClr val="dk1"/>
              </a:buClr>
              <a:buSzPts val="3200"/>
              <a:buFont typeface="Calibri"/>
              <a:buAutoNum type="arabicPeriod"/>
            </a:pPr>
            <a:r>
              <a:rPr b="1" lang="en-US" sz="3200">
                <a:solidFill>
                  <a:schemeClr val="dk1"/>
                </a:solidFill>
                <a:latin typeface="Calibri"/>
                <a:ea typeface="Calibri"/>
                <a:cs typeface="Calibri"/>
                <a:sym typeface="Calibri"/>
              </a:rPr>
              <a:t> Lên ý tưởng bằng cách trả lời các câu hỏi (what, why, how long, when, where)</a:t>
            </a:r>
            <a:endParaRPr b="1" sz="32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3200">
                <a:solidFill>
                  <a:schemeClr val="dk1"/>
                </a:solidFill>
                <a:latin typeface="Calibri"/>
                <a:ea typeface="Calibri"/>
                <a:cs typeface="Calibri"/>
                <a:sym typeface="Calibri"/>
              </a:rPr>
              <a:t>- What: solo hiking trip =&gt; Activities: reading, reflecting, and photographing</a:t>
            </a:r>
            <a:endParaRPr sz="32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3200">
                <a:solidFill>
                  <a:schemeClr val="dk1"/>
                </a:solidFill>
                <a:latin typeface="Calibri"/>
                <a:ea typeface="Calibri"/>
                <a:cs typeface="Calibri"/>
                <a:sym typeface="Calibri"/>
              </a:rPr>
              <a:t>- Why: escape from the hustle and bustle of city life</a:t>
            </a:r>
            <a:endParaRPr sz="32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3200">
                <a:solidFill>
                  <a:schemeClr val="dk1"/>
                </a:solidFill>
                <a:latin typeface="Calibri"/>
                <a:ea typeface="Calibri"/>
                <a:cs typeface="Calibri"/>
                <a:sym typeface="Calibri"/>
              </a:rPr>
              <a:t>- How long: During the 6-day trip</a:t>
            </a:r>
            <a:endParaRPr sz="3200">
              <a:solidFill>
                <a:schemeClr val="dk1"/>
              </a:solidFill>
              <a:latin typeface="Calibri"/>
              <a:ea typeface="Calibri"/>
              <a:cs typeface="Calibri"/>
              <a:sym typeface="Calibri"/>
            </a:endParaRPr>
          </a:p>
          <a:p>
            <a:pPr indent="0" lvl="0" marL="0" rtl="0" algn="just">
              <a:lnSpc>
                <a:spcPct val="115000"/>
              </a:lnSpc>
              <a:spcBef>
                <a:spcPts val="0"/>
              </a:spcBef>
              <a:spcAft>
                <a:spcPts val="0"/>
              </a:spcAft>
              <a:buSzPts val="1100"/>
              <a:buNone/>
            </a:pPr>
            <a:r>
              <a:rPr lang="en-US" sz="3200">
                <a:solidFill>
                  <a:schemeClr val="dk1"/>
                </a:solidFill>
                <a:latin typeface="Calibri"/>
                <a:ea typeface="Calibri"/>
                <a:cs typeface="Calibri"/>
                <a:sym typeface="Calibri"/>
              </a:rPr>
              <a:t>- When: last month</a:t>
            </a:r>
            <a:endParaRPr sz="3200">
              <a:solidFill>
                <a:schemeClr val="dk1"/>
              </a:solidFill>
              <a:latin typeface="Calibri"/>
              <a:ea typeface="Calibri"/>
              <a:cs typeface="Calibri"/>
              <a:sym typeface="Calibri"/>
            </a:endParaRPr>
          </a:p>
          <a:p>
            <a:pPr indent="0" lvl="0" marL="0" rtl="0" algn="just">
              <a:lnSpc>
                <a:spcPct val="115000"/>
              </a:lnSpc>
              <a:spcBef>
                <a:spcPts val="0"/>
              </a:spcBef>
              <a:spcAft>
                <a:spcPts val="0"/>
              </a:spcAft>
              <a:buSzPts val="1100"/>
              <a:buNone/>
            </a:pPr>
            <a:r>
              <a:rPr lang="en-US" sz="3200">
                <a:solidFill>
                  <a:schemeClr val="dk1"/>
                </a:solidFill>
                <a:latin typeface="Calibri"/>
                <a:ea typeface="Calibri"/>
                <a:cs typeface="Calibri"/>
                <a:sym typeface="Calibri"/>
              </a:rPr>
              <a:t>- Where: to Ha Giang</a:t>
            </a:r>
            <a:endParaRPr sz="3200">
              <a:solidFill>
                <a:schemeClr val="dk1"/>
              </a:solidFill>
              <a:latin typeface="Calibri"/>
              <a:ea typeface="Calibri"/>
              <a:cs typeface="Calibri"/>
              <a:sym typeface="Calibri"/>
            </a:endParaRPr>
          </a:p>
          <a:p>
            <a:pPr indent="0" lvl="0" marL="0" rtl="0" algn="just">
              <a:lnSpc>
                <a:spcPct val="115000"/>
              </a:lnSpc>
              <a:spcBef>
                <a:spcPts val="0"/>
              </a:spcBef>
              <a:spcAft>
                <a:spcPts val="0"/>
              </a:spcAft>
              <a:buSzPts val="1100"/>
              <a:buNone/>
            </a:pPr>
            <a:r>
              <a:rPr b="1" lang="en-US" sz="3200">
                <a:solidFill>
                  <a:schemeClr val="dk1"/>
                </a:solidFill>
                <a:latin typeface="Calibri"/>
                <a:ea typeface="Calibri"/>
                <a:cs typeface="Calibri"/>
                <a:sym typeface="Calibri"/>
              </a:rPr>
              <a:t>2. How did you feel about it?</a:t>
            </a:r>
            <a:endParaRPr b="1" sz="3200">
              <a:solidFill>
                <a:schemeClr val="dk1"/>
              </a:solidFill>
              <a:latin typeface="Calibri"/>
              <a:ea typeface="Calibri"/>
              <a:cs typeface="Calibri"/>
              <a:sym typeface="Calibri"/>
            </a:endParaRPr>
          </a:p>
          <a:p>
            <a:pPr indent="-431800" lvl="0" marL="228600" rtl="0" algn="just">
              <a:lnSpc>
                <a:spcPct val="115000"/>
              </a:lnSpc>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Excitement and apprehension, freedom and self-discovery</a:t>
            </a:r>
            <a:endParaRPr sz="3200">
              <a:solidFill>
                <a:schemeClr val="dk1"/>
              </a:solidFill>
              <a:latin typeface="Calibri"/>
              <a:ea typeface="Calibri"/>
              <a:cs typeface="Calibri"/>
              <a:sym typeface="Calibri"/>
            </a:endParaRPr>
          </a:p>
          <a:p>
            <a:pPr indent="-431800" lvl="0" marL="228600" rtl="0" algn="just">
              <a:lnSpc>
                <a:spcPct val="115000"/>
              </a:lnSpc>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Connect deeply with my thoughts and emotions, fostering a profound sense of inner peace.</a:t>
            </a:r>
            <a:endParaRPr sz="32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b="1" lang="en-US" sz="3200">
                <a:solidFill>
                  <a:schemeClr val="dk1"/>
                </a:solidFill>
                <a:latin typeface="Calibri"/>
                <a:ea typeface="Calibri"/>
                <a:cs typeface="Calibri"/>
                <a:sym typeface="Calibri"/>
              </a:rPr>
              <a:t>3. What are some of the ways of passing time on your own?</a:t>
            </a:r>
            <a:endParaRPr b="1" sz="32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3200">
                <a:solidFill>
                  <a:schemeClr val="dk1"/>
                </a:solidFill>
                <a:latin typeface="Calibri"/>
                <a:ea typeface="Calibri"/>
                <a:cs typeface="Calibri"/>
                <a:sym typeface="Calibri"/>
              </a:rPr>
              <a:t>-  Wrote in my journal, documenting my experiences and reflections</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6"/>
          <p:cNvSpPr/>
          <p:nvPr/>
        </p:nvSpPr>
        <p:spPr>
          <a:xfrm>
            <a:off x="4572000" y="6998750"/>
            <a:ext cx="13286100" cy="2990100"/>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cxnSp>
        <p:nvCxnSpPr>
          <p:cNvPr id="390" name="Google Shape;390;p26"/>
          <p:cNvCxnSpPr/>
          <p:nvPr/>
        </p:nvCxnSpPr>
        <p:spPr>
          <a:xfrm flipH="1" rot="10800000">
            <a:off x="6249707" y="144260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391" name="Google Shape;391;p26"/>
          <p:cNvGrpSpPr/>
          <p:nvPr/>
        </p:nvGrpSpPr>
        <p:grpSpPr>
          <a:xfrm rot="10800000">
            <a:off x="15785091" y="-536942"/>
            <a:ext cx="7681766" cy="4260610"/>
            <a:chOff x="0" y="-38100"/>
            <a:chExt cx="406400" cy="225405"/>
          </a:xfrm>
        </p:grpSpPr>
        <p:sp>
          <p:nvSpPr>
            <p:cNvPr id="392" name="Google Shape;392;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93" name="Google Shape;393;p2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4" name="Google Shape;394;p2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95" name="Google Shape;395;p26"/>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Trình bày 2 phút</a:t>
            </a:r>
            <a:endParaRPr b="1" sz="6000">
              <a:solidFill>
                <a:srgbClr val="018345"/>
              </a:solidFill>
              <a:latin typeface="Montserrat"/>
              <a:ea typeface="Montserrat"/>
              <a:cs typeface="Montserrat"/>
              <a:sym typeface="Montserrat"/>
            </a:endParaRPr>
          </a:p>
        </p:txBody>
      </p:sp>
      <p:grpSp>
        <p:nvGrpSpPr>
          <p:cNvPr id="396" name="Google Shape;396;p26"/>
          <p:cNvGrpSpPr/>
          <p:nvPr/>
        </p:nvGrpSpPr>
        <p:grpSpPr>
          <a:xfrm>
            <a:off x="-2718010" y="9274528"/>
            <a:ext cx="7950400" cy="1707231"/>
            <a:chOff x="0" y="-384762"/>
            <a:chExt cx="10600533" cy="2276307"/>
          </a:xfrm>
        </p:grpSpPr>
        <p:grpSp>
          <p:nvGrpSpPr>
            <p:cNvPr id="397" name="Google Shape;397;p26"/>
            <p:cNvGrpSpPr/>
            <p:nvPr/>
          </p:nvGrpSpPr>
          <p:grpSpPr>
            <a:xfrm>
              <a:off x="0" y="-384762"/>
              <a:ext cx="10600533" cy="2276307"/>
              <a:chOff x="0" y="-38100"/>
              <a:chExt cx="1049690" cy="225405"/>
            </a:xfrm>
          </p:grpSpPr>
          <p:sp>
            <p:nvSpPr>
              <p:cNvPr id="398" name="Google Shape;398;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99" name="Google Shape;399;p2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0" name="Google Shape;400;p2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01" name="Google Shape;401;p26"/>
          <p:cNvGrpSpPr/>
          <p:nvPr/>
        </p:nvGrpSpPr>
        <p:grpSpPr>
          <a:xfrm>
            <a:off x="4571908" y="1586825"/>
            <a:ext cx="13285556" cy="3507906"/>
            <a:chOff x="6209260" y="1267087"/>
            <a:chExt cx="11243700" cy="3161700"/>
          </a:xfrm>
        </p:grpSpPr>
        <p:sp>
          <p:nvSpPr>
            <p:cNvPr id="402" name="Google Shape;402;p26"/>
            <p:cNvSpPr/>
            <p:nvPr/>
          </p:nvSpPr>
          <p:spPr>
            <a:xfrm>
              <a:off x="6209260" y="1267087"/>
              <a:ext cx="11243700" cy="3161700"/>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600" u="none" cap="none" strike="noStrike">
                <a:solidFill>
                  <a:schemeClr val="dk1"/>
                </a:solidFill>
                <a:latin typeface="Calibri"/>
                <a:ea typeface="Calibri"/>
                <a:cs typeface="Calibri"/>
                <a:sym typeface="Calibri"/>
              </a:endParaRPr>
            </a:p>
          </p:txBody>
        </p:sp>
        <p:sp>
          <p:nvSpPr>
            <p:cNvPr id="403" name="Google Shape;403;p26"/>
            <p:cNvSpPr txBox="1"/>
            <p:nvPr/>
          </p:nvSpPr>
          <p:spPr>
            <a:xfrm>
              <a:off x="6416601" y="1428669"/>
              <a:ext cx="10740300" cy="28023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SzPts val="1100"/>
                <a:buNone/>
              </a:pPr>
              <a:r>
                <a:rPr lang="en-US" sz="2800">
                  <a:solidFill>
                    <a:schemeClr val="dk1"/>
                  </a:solidFill>
                  <a:latin typeface="Calibri"/>
                  <a:ea typeface="Calibri"/>
                  <a:cs typeface="Calibri"/>
                  <a:sym typeface="Calibri"/>
                </a:rPr>
                <a:t>I found myself surrounded by nature's tranquility during a solo hiking trip to Ha Giang last month. The journey was an escape from the hustle and bustle of city life, offering a refreshing change of pace. </a:t>
              </a:r>
              <a:r>
                <a:rPr lang="en-US" sz="2800">
                  <a:solidFill>
                    <a:schemeClr val="dk1"/>
                  </a:solidFill>
                  <a:latin typeface="Calibri"/>
                  <a:ea typeface="Calibri"/>
                  <a:cs typeface="Calibri"/>
                  <a:sym typeface="Calibri"/>
                </a:rPr>
                <a:t>During the 6-day trip alone in the forest, I immersed myself in reading, reflecting, and photographing, losing track of time in creative pursuits.</a:t>
              </a:r>
              <a:endParaRPr sz="2800">
                <a:solidFill>
                  <a:schemeClr val="dk1"/>
                </a:solidFill>
                <a:latin typeface="Calibri"/>
                <a:ea typeface="Calibri"/>
                <a:cs typeface="Calibri"/>
                <a:sym typeface="Calibri"/>
              </a:endParaRPr>
            </a:p>
          </p:txBody>
        </p:sp>
      </p:grpSp>
      <p:sp>
        <p:nvSpPr>
          <p:cNvPr id="404" name="Google Shape;404;p26"/>
          <p:cNvSpPr/>
          <p:nvPr/>
        </p:nvSpPr>
        <p:spPr>
          <a:xfrm>
            <a:off x="248476" y="2618550"/>
            <a:ext cx="3989700" cy="1620900"/>
          </a:xfrm>
          <a:prstGeom prst="rightArrow">
            <a:avLst>
              <a:gd fmla="val 50000" name="adj1"/>
              <a:gd fmla="val 50000" name="adj2"/>
            </a:avLst>
          </a:prstGeom>
          <a:solidFill>
            <a:srgbClr val="8AF9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100">
                <a:latin typeface="Calibri"/>
                <a:ea typeface="Calibri"/>
                <a:cs typeface="Calibri"/>
                <a:sym typeface="Calibri"/>
              </a:rPr>
              <a:t>Trọng tâm</a:t>
            </a:r>
            <a:endParaRPr sz="3100">
              <a:latin typeface="Calibri"/>
              <a:ea typeface="Calibri"/>
              <a:cs typeface="Calibri"/>
              <a:sym typeface="Calibri"/>
            </a:endParaRPr>
          </a:p>
        </p:txBody>
      </p:sp>
      <p:sp>
        <p:nvSpPr>
          <p:cNvPr id="405" name="Google Shape;405;p26"/>
          <p:cNvSpPr/>
          <p:nvPr/>
        </p:nvSpPr>
        <p:spPr>
          <a:xfrm>
            <a:off x="291057" y="5316975"/>
            <a:ext cx="3905100" cy="1620900"/>
          </a:xfrm>
          <a:prstGeom prst="rightArrow">
            <a:avLst>
              <a:gd fmla="val 50000" name="adj1"/>
              <a:gd fmla="val 50000" name="adj2"/>
            </a:avLst>
          </a:prstGeom>
          <a:solidFill>
            <a:srgbClr val="8AF9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100">
                <a:latin typeface="Calibri"/>
                <a:ea typeface="Calibri"/>
                <a:cs typeface="Calibri"/>
                <a:sym typeface="Calibri"/>
              </a:rPr>
              <a:t>Chi tiết cảm xúc</a:t>
            </a:r>
            <a:endParaRPr sz="3100">
              <a:latin typeface="Calibri"/>
              <a:ea typeface="Calibri"/>
              <a:cs typeface="Calibri"/>
              <a:sym typeface="Calibri"/>
            </a:endParaRPr>
          </a:p>
        </p:txBody>
      </p:sp>
      <p:sp>
        <p:nvSpPr>
          <p:cNvPr id="406" name="Google Shape;406;p26"/>
          <p:cNvSpPr/>
          <p:nvPr/>
        </p:nvSpPr>
        <p:spPr>
          <a:xfrm>
            <a:off x="333639" y="7330100"/>
            <a:ext cx="3989700" cy="2136900"/>
          </a:xfrm>
          <a:prstGeom prst="rightArrow">
            <a:avLst>
              <a:gd fmla="val 50000" name="adj1"/>
              <a:gd fmla="val 50000" name="adj2"/>
            </a:avLst>
          </a:prstGeom>
          <a:solidFill>
            <a:srgbClr val="8AF9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100">
                <a:latin typeface="Calibri"/>
                <a:ea typeface="Calibri"/>
                <a:cs typeface="Calibri"/>
                <a:sym typeface="Calibri"/>
              </a:rPr>
              <a:t>Hoạt động để giết thời gian</a:t>
            </a:r>
            <a:endParaRPr sz="3100">
              <a:latin typeface="Calibri"/>
              <a:ea typeface="Calibri"/>
              <a:cs typeface="Calibri"/>
              <a:sym typeface="Calibri"/>
            </a:endParaRPr>
          </a:p>
        </p:txBody>
      </p:sp>
      <p:grpSp>
        <p:nvGrpSpPr>
          <p:cNvPr id="407" name="Google Shape;407;p26"/>
          <p:cNvGrpSpPr/>
          <p:nvPr/>
        </p:nvGrpSpPr>
        <p:grpSpPr>
          <a:xfrm>
            <a:off x="4571889" y="5094910"/>
            <a:ext cx="13285556" cy="1903849"/>
            <a:chOff x="6209265" y="2728235"/>
            <a:chExt cx="11243700" cy="2358000"/>
          </a:xfrm>
        </p:grpSpPr>
        <p:sp>
          <p:nvSpPr>
            <p:cNvPr id="408" name="Google Shape;408;p26"/>
            <p:cNvSpPr/>
            <p:nvPr/>
          </p:nvSpPr>
          <p:spPr>
            <a:xfrm>
              <a:off x="6209265" y="2728235"/>
              <a:ext cx="11243700" cy="2358000"/>
            </a:xfrm>
            <a:prstGeom prst="rect">
              <a:avLst/>
            </a:prstGeom>
            <a:solidFill>
              <a:srgbClr val="ECFFE5"/>
            </a:solidFill>
            <a:ln cap="flat" cmpd="sng" w="25400">
              <a:solidFill>
                <a:srgbClr val="00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
          <p:nvSpPr>
            <p:cNvPr id="409" name="Google Shape;409;p26"/>
            <p:cNvSpPr txBox="1"/>
            <p:nvPr/>
          </p:nvSpPr>
          <p:spPr>
            <a:xfrm>
              <a:off x="6390177" y="2805122"/>
              <a:ext cx="10881900" cy="22494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SzPts val="1100"/>
                <a:buNone/>
              </a:pPr>
              <a:r>
                <a:rPr lang="en-US" sz="2800">
                  <a:solidFill>
                    <a:schemeClr val="dk1"/>
                  </a:solidFill>
                  <a:latin typeface="Calibri"/>
                  <a:ea typeface="Calibri"/>
                  <a:cs typeface="Calibri"/>
                  <a:sym typeface="Calibri"/>
                </a:rPr>
                <a:t>Initially, I felt a mix of excitement and apprehension, but soon, a sense of freedom and self-discovery enveloped me.  The absence of distractions allowed me to connect deeply with my thoughts and emotions, fostering a profound sense of inner peace.</a:t>
              </a:r>
              <a:endParaRPr sz="2800">
                <a:solidFill>
                  <a:schemeClr val="dk1"/>
                </a:solidFill>
                <a:latin typeface="Calibri"/>
                <a:ea typeface="Calibri"/>
                <a:cs typeface="Calibri"/>
                <a:sym typeface="Calibri"/>
              </a:endParaRPr>
            </a:p>
          </p:txBody>
        </p:sp>
      </p:grpSp>
      <p:sp>
        <p:nvSpPr>
          <p:cNvPr id="410" name="Google Shape;410;p26"/>
          <p:cNvSpPr txBox="1"/>
          <p:nvPr/>
        </p:nvSpPr>
        <p:spPr>
          <a:xfrm>
            <a:off x="4785516" y="7262451"/>
            <a:ext cx="12858300" cy="24627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SzPts val="1100"/>
              <a:buNone/>
            </a:pPr>
            <a:r>
              <a:rPr lang="en-US" sz="2800">
                <a:solidFill>
                  <a:schemeClr val="dk1"/>
                </a:solidFill>
                <a:latin typeface="Calibri"/>
                <a:ea typeface="Calibri"/>
                <a:cs typeface="Calibri"/>
                <a:sym typeface="Calibri"/>
              </a:rPr>
              <a:t>To pass the time, I usually wrote in my journal, documenting my experiences and reflections. Long walks through the dense forest became a daily ritual, offering endless opportunities to observe the intricate beauty of nature. I also brought along my painting supplies, spending hours capturing the serene beauty around me on canvas.</a:t>
            </a:r>
            <a:endParaRPr sz="2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cxnSp>
        <p:nvCxnSpPr>
          <p:cNvPr id="416" name="Google Shape;416;p27"/>
          <p:cNvCxnSpPr/>
          <p:nvPr/>
        </p:nvCxnSpPr>
        <p:spPr>
          <a:xfrm flipH="1" rot="10800000">
            <a:off x="6209270" y="23050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417" name="Google Shape;417;p27"/>
          <p:cNvGrpSpPr/>
          <p:nvPr/>
        </p:nvGrpSpPr>
        <p:grpSpPr>
          <a:xfrm rot="10800000">
            <a:off x="15785091" y="-536942"/>
            <a:ext cx="7681766" cy="4260610"/>
            <a:chOff x="0" y="-38100"/>
            <a:chExt cx="406400" cy="225405"/>
          </a:xfrm>
        </p:grpSpPr>
        <p:sp>
          <p:nvSpPr>
            <p:cNvPr id="418" name="Google Shape;418;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19" name="Google Shape;419;p2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0" name="Google Shape;420;p2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21" name="Google Shape;421;p27"/>
          <p:cNvSpPr txBox="1"/>
          <p:nvPr/>
        </p:nvSpPr>
        <p:spPr>
          <a:xfrm>
            <a:off x="5571910" y="1086932"/>
            <a:ext cx="11880998" cy="912045"/>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Từ vựng và cấu trúc</a:t>
            </a:r>
            <a:endParaRPr b="1" sz="6000">
              <a:solidFill>
                <a:srgbClr val="018345"/>
              </a:solidFill>
              <a:latin typeface="Montserrat"/>
              <a:ea typeface="Montserrat"/>
              <a:cs typeface="Montserrat"/>
              <a:sym typeface="Montserrat"/>
            </a:endParaRPr>
          </a:p>
        </p:txBody>
      </p:sp>
      <p:grpSp>
        <p:nvGrpSpPr>
          <p:cNvPr id="422" name="Google Shape;422;p27"/>
          <p:cNvGrpSpPr/>
          <p:nvPr/>
        </p:nvGrpSpPr>
        <p:grpSpPr>
          <a:xfrm>
            <a:off x="-2718010" y="9274528"/>
            <a:ext cx="7950400" cy="1707231"/>
            <a:chOff x="0" y="-384762"/>
            <a:chExt cx="10600533" cy="2276307"/>
          </a:xfrm>
        </p:grpSpPr>
        <p:grpSp>
          <p:nvGrpSpPr>
            <p:cNvPr id="423" name="Google Shape;423;p27"/>
            <p:cNvGrpSpPr/>
            <p:nvPr/>
          </p:nvGrpSpPr>
          <p:grpSpPr>
            <a:xfrm>
              <a:off x="0" y="-384762"/>
              <a:ext cx="10600533" cy="2276307"/>
              <a:chOff x="0" y="-38100"/>
              <a:chExt cx="1049690" cy="225405"/>
            </a:xfrm>
          </p:grpSpPr>
          <p:sp>
            <p:nvSpPr>
              <p:cNvPr id="424" name="Google Shape;424;p2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25" name="Google Shape;425;p2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6" name="Google Shape;426;p2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7" name="Google Shape;427;p27"/>
          <p:cNvSpPr txBox="1"/>
          <p:nvPr/>
        </p:nvSpPr>
        <p:spPr>
          <a:xfrm>
            <a:off x="6209275" y="2630175"/>
            <a:ext cx="11511300" cy="7480800"/>
          </a:xfrm>
          <a:prstGeom prst="rect">
            <a:avLst/>
          </a:prstGeom>
          <a:noFill/>
          <a:ln>
            <a:noFill/>
          </a:ln>
        </p:spPr>
        <p:txBody>
          <a:bodyPr anchorCtr="0" anchor="t" bIns="45700" lIns="91425" spcFirstLastPara="1" rIns="91425" wrap="square" tIns="45700">
            <a:spAutoFit/>
          </a:bodyPr>
          <a:lstStyle/>
          <a:p>
            <a:pPr indent="-419100" lvl="0" marL="457200" rtl="0" algn="l">
              <a:lnSpc>
                <a:spcPct val="150000"/>
              </a:lnSpc>
              <a:spcBef>
                <a:spcPts val="0"/>
              </a:spcBef>
              <a:spcAft>
                <a:spcPts val="0"/>
              </a:spcAft>
              <a:buClr>
                <a:srgbClr val="018345"/>
              </a:buClr>
              <a:buSzPts val="3000"/>
              <a:buChar char="•"/>
            </a:pPr>
            <a:r>
              <a:rPr lang="en-US" sz="3000">
                <a:solidFill>
                  <a:srgbClr val="018345"/>
                </a:solidFill>
                <a:latin typeface="Calibri"/>
                <a:ea typeface="Calibri"/>
                <a:cs typeface="Calibri"/>
                <a:sym typeface="Calibri"/>
              </a:rPr>
              <a:t>Surround: </a:t>
            </a:r>
            <a:r>
              <a:rPr lang="en-US" sz="3000">
                <a:solidFill>
                  <a:schemeClr val="dk1"/>
                </a:solidFill>
                <a:latin typeface="Calibri"/>
                <a:ea typeface="Calibri"/>
                <a:cs typeface="Calibri"/>
                <a:sym typeface="Calibri"/>
              </a:rPr>
              <a:t>Bao quanh</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rgbClr val="018345"/>
              </a:buClr>
              <a:buSzPts val="3000"/>
              <a:buChar char="•"/>
            </a:pPr>
            <a:r>
              <a:rPr lang="en-US" sz="3000">
                <a:solidFill>
                  <a:srgbClr val="018345"/>
                </a:solidFill>
                <a:latin typeface="Calibri"/>
                <a:ea typeface="Calibri"/>
                <a:cs typeface="Calibri"/>
                <a:sym typeface="Calibri"/>
              </a:rPr>
              <a:t>Nature's tranquility: </a:t>
            </a:r>
            <a:r>
              <a:rPr lang="en-US" sz="3000">
                <a:solidFill>
                  <a:schemeClr val="dk1"/>
                </a:solidFill>
                <a:latin typeface="Calibri"/>
                <a:ea typeface="Calibri"/>
                <a:cs typeface="Calibri"/>
                <a:sym typeface="Calibri"/>
              </a:rPr>
              <a:t>Bình yên của tự nhiên</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rgbClr val="018345"/>
              </a:buClr>
              <a:buSzPts val="3000"/>
              <a:buChar char="•"/>
            </a:pPr>
            <a:r>
              <a:rPr lang="en-US" sz="3000">
                <a:solidFill>
                  <a:srgbClr val="018345"/>
                </a:solidFill>
                <a:latin typeface="Calibri"/>
                <a:ea typeface="Calibri"/>
                <a:cs typeface="Calibri"/>
                <a:sym typeface="Calibri"/>
              </a:rPr>
              <a:t>So</a:t>
            </a:r>
            <a:r>
              <a:rPr lang="en-US" sz="3000">
                <a:solidFill>
                  <a:srgbClr val="018345"/>
                </a:solidFill>
                <a:latin typeface="Calibri"/>
                <a:ea typeface="Calibri"/>
                <a:cs typeface="Calibri"/>
                <a:sym typeface="Calibri"/>
              </a:rPr>
              <a:t>lo hiking trip: </a:t>
            </a:r>
            <a:r>
              <a:rPr lang="en-US" sz="3000">
                <a:solidFill>
                  <a:schemeClr val="dk1"/>
                </a:solidFill>
                <a:latin typeface="Calibri"/>
                <a:ea typeface="Calibri"/>
                <a:cs typeface="Calibri"/>
                <a:sym typeface="Calibri"/>
              </a:rPr>
              <a:t>Chuyến leo núi một mình</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rgbClr val="018345"/>
              </a:buClr>
              <a:buSzPts val="3000"/>
              <a:buChar char="•"/>
            </a:pPr>
            <a:r>
              <a:rPr lang="en-US" sz="3000">
                <a:solidFill>
                  <a:srgbClr val="018345"/>
                </a:solidFill>
                <a:latin typeface="Calibri"/>
                <a:ea typeface="Calibri"/>
                <a:cs typeface="Calibri"/>
                <a:sym typeface="Calibri"/>
              </a:rPr>
              <a:t>H</a:t>
            </a:r>
            <a:r>
              <a:rPr lang="en-US" sz="3000">
                <a:solidFill>
                  <a:srgbClr val="018345"/>
                </a:solidFill>
                <a:latin typeface="Calibri"/>
                <a:ea typeface="Calibri"/>
                <a:cs typeface="Calibri"/>
                <a:sym typeface="Calibri"/>
              </a:rPr>
              <a:t>ustle and bustle: </a:t>
            </a:r>
            <a:r>
              <a:rPr lang="en-US" sz="3000">
                <a:solidFill>
                  <a:schemeClr val="dk1"/>
                </a:solidFill>
                <a:latin typeface="Calibri"/>
                <a:ea typeface="Calibri"/>
                <a:cs typeface="Calibri"/>
                <a:sym typeface="Calibri"/>
              </a:rPr>
              <a:t>Hối hả và nhộn nhịp</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rgbClr val="018345"/>
              </a:buClr>
              <a:buSzPts val="3000"/>
              <a:buChar char="•"/>
            </a:pPr>
            <a:r>
              <a:rPr lang="en-US" sz="3000">
                <a:solidFill>
                  <a:srgbClr val="018345"/>
                </a:solidFill>
                <a:latin typeface="Calibri"/>
                <a:ea typeface="Calibri"/>
                <a:cs typeface="Calibri"/>
                <a:sym typeface="Calibri"/>
              </a:rPr>
              <a:t>Immersed myself in: </a:t>
            </a:r>
            <a:r>
              <a:rPr lang="en-US" sz="3000">
                <a:solidFill>
                  <a:schemeClr val="dk1"/>
                </a:solidFill>
                <a:latin typeface="Calibri"/>
                <a:ea typeface="Calibri"/>
                <a:cs typeface="Calibri"/>
                <a:sym typeface="Calibri"/>
              </a:rPr>
              <a:t>Mắc kẹt/ chìm đắm trong</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rgbClr val="018345"/>
              </a:buClr>
              <a:buSzPts val="3000"/>
              <a:buChar char="•"/>
            </a:pPr>
            <a:r>
              <a:rPr lang="en-US" sz="3000">
                <a:solidFill>
                  <a:srgbClr val="018345"/>
                </a:solidFill>
                <a:latin typeface="Calibri"/>
                <a:ea typeface="Calibri"/>
                <a:cs typeface="Calibri"/>
                <a:sym typeface="Calibri"/>
              </a:rPr>
              <a:t>Apprehension: </a:t>
            </a:r>
            <a:r>
              <a:rPr lang="en-US" sz="3000">
                <a:solidFill>
                  <a:schemeClr val="dk1"/>
                </a:solidFill>
                <a:latin typeface="Calibri"/>
                <a:ea typeface="Calibri"/>
                <a:cs typeface="Calibri"/>
                <a:sym typeface="Calibri"/>
              </a:rPr>
              <a:t>Sự lo lắng</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rgbClr val="018345"/>
              </a:buClr>
              <a:buSzPts val="3000"/>
              <a:buChar char="•"/>
            </a:pPr>
            <a:r>
              <a:rPr lang="en-US" sz="3000">
                <a:solidFill>
                  <a:srgbClr val="018345"/>
                </a:solidFill>
                <a:latin typeface="Calibri"/>
                <a:ea typeface="Calibri"/>
                <a:cs typeface="Calibri"/>
                <a:sym typeface="Calibri"/>
              </a:rPr>
              <a:t>Absence of distractions: </a:t>
            </a:r>
            <a:r>
              <a:rPr lang="en-US" sz="3000">
                <a:solidFill>
                  <a:schemeClr val="dk1"/>
                </a:solidFill>
                <a:latin typeface="Calibri"/>
                <a:ea typeface="Calibri"/>
                <a:cs typeface="Calibri"/>
                <a:sym typeface="Calibri"/>
              </a:rPr>
              <a:t>Không bị làm phiền</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rgbClr val="018345"/>
              </a:buClr>
              <a:buSzPts val="3000"/>
              <a:buChar char="•"/>
            </a:pPr>
            <a:r>
              <a:rPr lang="en-US" sz="3000">
                <a:solidFill>
                  <a:srgbClr val="018345"/>
                </a:solidFill>
                <a:latin typeface="Calibri"/>
                <a:ea typeface="Calibri"/>
                <a:cs typeface="Calibri"/>
                <a:sym typeface="Calibri"/>
              </a:rPr>
              <a:t>To pass the time: </a:t>
            </a:r>
            <a:r>
              <a:rPr lang="en-US" sz="3000">
                <a:solidFill>
                  <a:schemeClr val="dk1"/>
                </a:solidFill>
                <a:latin typeface="Calibri"/>
                <a:ea typeface="Calibri"/>
                <a:cs typeface="Calibri"/>
                <a:sym typeface="Calibri"/>
              </a:rPr>
              <a:t>Để giết thời gian</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rgbClr val="018345"/>
              </a:buClr>
              <a:buSzPts val="3000"/>
              <a:buChar char="•"/>
            </a:pPr>
            <a:r>
              <a:rPr lang="en-US" sz="3000">
                <a:solidFill>
                  <a:srgbClr val="018345"/>
                </a:solidFill>
                <a:latin typeface="Calibri"/>
                <a:ea typeface="Calibri"/>
                <a:cs typeface="Calibri"/>
                <a:sym typeface="Calibri"/>
              </a:rPr>
              <a:t>Opportunities: </a:t>
            </a:r>
            <a:r>
              <a:rPr lang="en-US" sz="3000">
                <a:solidFill>
                  <a:schemeClr val="dk1"/>
                </a:solidFill>
                <a:latin typeface="Calibri"/>
                <a:ea typeface="Calibri"/>
                <a:cs typeface="Calibri"/>
                <a:sym typeface="Calibri"/>
              </a:rPr>
              <a:t>Nhiều cơ hội</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rgbClr val="018345"/>
              </a:buClr>
              <a:buSzPts val="3000"/>
              <a:buChar char="•"/>
            </a:pPr>
            <a:r>
              <a:rPr lang="en-US" sz="3000">
                <a:solidFill>
                  <a:srgbClr val="018345"/>
                </a:solidFill>
                <a:latin typeface="Calibri"/>
                <a:ea typeface="Calibri"/>
                <a:cs typeface="Calibri"/>
                <a:sym typeface="Calibri"/>
              </a:rPr>
              <a:t>Journal: </a:t>
            </a:r>
            <a:r>
              <a:rPr lang="en-US" sz="3000">
                <a:solidFill>
                  <a:schemeClr val="dk1"/>
                </a:solidFill>
                <a:latin typeface="Calibri"/>
                <a:ea typeface="Calibri"/>
                <a:cs typeface="Calibri"/>
                <a:sym typeface="Calibri"/>
              </a:rPr>
              <a:t>Nhật ký</a:t>
            </a:r>
            <a:endParaRPr sz="3000">
              <a:solidFill>
                <a:schemeClr val="dk1"/>
              </a:solidFill>
              <a:latin typeface="Calibri"/>
              <a:ea typeface="Calibri"/>
              <a:cs typeface="Calibri"/>
              <a:sym typeface="Calibri"/>
            </a:endParaRPr>
          </a:p>
          <a:p>
            <a:pPr indent="-419100" lvl="0" marL="457200" rtl="0" algn="l">
              <a:lnSpc>
                <a:spcPct val="150000"/>
              </a:lnSpc>
              <a:spcBef>
                <a:spcPts val="0"/>
              </a:spcBef>
              <a:spcAft>
                <a:spcPts val="0"/>
              </a:spcAft>
              <a:buClr>
                <a:srgbClr val="018345"/>
              </a:buClr>
              <a:buSzPts val="3000"/>
              <a:buChar char="•"/>
            </a:pPr>
            <a:r>
              <a:rPr lang="en-US" sz="3000">
                <a:solidFill>
                  <a:srgbClr val="018345"/>
                </a:solidFill>
                <a:latin typeface="Calibri"/>
                <a:ea typeface="Calibri"/>
                <a:cs typeface="Calibri"/>
                <a:sym typeface="Calibri"/>
              </a:rPr>
              <a:t>Serene beauty: </a:t>
            </a:r>
            <a:r>
              <a:rPr lang="en-US" sz="3000">
                <a:solidFill>
                  <a:schemeClr val="dk1"/>
                </a:solidFill>
                <a:latin typeface="Calibri"/>
                <a:ea typeface="Calibri"/>
                <a:cs typeface="Calibri"/>
                <a:sym typeface="Calibri"/>
              </a:rPr>
              <a:t>Vẻ đẹp thanh bình</a:t>
            </a:r>
            <a:endParaRPr sz="30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500"/>
                                        <p:tgtEl>
                                          <p:spTgt spid="4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cxnSp>
        <p:nvCxnSpPr>
          <p:cNvPr id="432" name="Google Shape;432;p28"/>
          <p:cNvCxnSpPr/>
          <p:nvPr/>
        </p:nvCxnSpPr>
        <p:spPr>
          <a:xfrm>
            <a:off x="5693855"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433" name="Google Shape;433;p28"/>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34" name="Google Shape;434;p28"/>
          <p:cNvGrpSpPr/>
          <p:nvPr/>
        </p:nvGrpSpPr>
        <p:grpSpPr>
          <a:xfrm rot="10800000">
            <a:off x="15044552" y="-741521"/>
            <a:ext cx="7681766" cy="4260610"/>
            <a:chOff x="0" y="-38100"/>
            <a:chExt cx="406400" cy="225405"/>
          </a:xfrm>
        </p:grpSpPr>
        <p:sp>
          <p:nvSpPr>
            <p:cNvPr id="435" name="Google Shape;435;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36" name="Google Shape;436;p2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437" name="Google Shape;437;p28"/>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38" name="Google Shape;438;p28"/>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439" name="Google Shape;439;p28"/>
          <p:cNvSpPr txBox="1"/>
          <p:nvPr/>
        </p:nvSpPr>
        <p:spPr>
          <a:xfrm>
            <a:off x="6705600" y="2324100"/>
            <a:ext cx="9930052" cy="1266885"/>
          </a:xfrm>
          <a:prstGeom prst="rect">
            <a:avLst/>
          </a:prstGeom>
          <a:noFill/>
          <a:ln>
            <a:noFill/>
          </a:ln>
        </p:spPr>
        <p:txBody>
          <a:bodyPr anchorCtr="0" anchor="t" bIns="0" lIns="0" spcFirstLastPara="1" rIns="0" wrap="square" tIns="0">
            <a:spAutoFit/>
          </a:bodyPr>
          <a:lstStyle/>
          <a:p>
            <a:pPr indent="0" lvl="0" marL="0" marR="0" rtl="0" algn="ctr">
              <a:lnSpc>
                <a:spcPct val="150069"/>
              </a:lnSpc>
              <a:spcBef>
                <a:spcPts val="0"/>
              </a:spcBef>
              <a:spcAft>
                <a:spcPts val="0"/>
              </a:spcAft>
              <a:buNone/>
            </a:pPr>
            <a:r>
              <a:rPr b="1" lang="en-US" sz="7200">
                <a:solidFill>
                  <a:srgbClr val="018345"/>
                </a:solidFill>
                <a:latin typeface="Montserrat"/>
                <a:ea typeface="Montserrat"/>
                <a:cs typeface="Montserrat"/>
                <a:sym typeface="Montserrat"/>
              </a:rPr>
              <a:t>Luyện tập</a:t>
            </a:r>
            <a:endParaRPr b="1" sz="7200">
              <a:solidFill>
                <a:srgbClr val="018345"/>
              </a:solidFill>
              <a:latin typeface="Montserrat"/>
              <a:ea typeface="Montserrat"/>
              <a:cs typeface="Montserrat"/>
              <a:sym typeface="Montserrat"/>
            </a:endParaRPr>
          </a:p>
        </p:txBody>
      </p:sp>
      <p:sp>
        <p:nvSpPr>
          <p:cNvPr id="440" name="Google Shape;440;p28"/>
          <p:cNvSpPr txBox="1"/>
          <p:nvPr/>
        </p:nvSpPr>
        <p:spPr>
          <a:xfrm>
            <a:off x="10182106" y="339710"/>
            <a:ext cx="220273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05</a:t>
            </a:r>
            <a:endParaRPr/>
          </a:p>
        </p:txBody>
      </p:sp>
      <p:grpSp>
        <p:nvGrpSpPr>
          <p:cNvPr id="441" name="Google Shape;441;p28"/>
          <p:cNvGrpSpPr/>
          <p:nvPr/>
        </p:nvGrpSpPr>
        <p:grpSpPr>
          <a:xfrm>
            <a:off x="-2718010" y="9274528"/>
            <a:ext cx="7950400" cy="1707231"/>
            <a:chOff x="0" y="-384762"/>
            <a:chExt cx="10600533" cy="2276307"/>
          </a:xfrm>
        </p:grpSpPr>
        <p:grpSp>
          <p:nvGrpSpPr>
            <p:cNvPr id="442" name="Google Shape;442;p28"/>
            <p:cNvGrpSpPr/>
            <p:nvPr/>
          </p:nvGrpSpPr>
          <p:grpSpPr>
            <a:xfrm>
              <a:off x="0" y="-384762"/>
              <a:ext cx="10600533" cy="2276307"/>
              <a:chOff x="0" y="-38100"/>
              <a:chExt cx="1049690" cy="225405"/>
            </a:xfrm>
          </p:grpSpPr>
          <p:sp>
            <p:nvSpPr>
              <p:cNvPr id="443" name="Google Shape;443;p2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44" name="Google Shape;444;p2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5" name="Google Shape;445;p2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446" name="Google Shape;446;p28"/>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40"/>
                                        </p:tgtEl>
                                        <p:attrNameLst>
                                          <p:attrName>style.visibility</p:attrName>
                                        </p:attrNameLst>
                                      </p:cBhvr>
                                      <p:to>
                                        <p:strVal val="visible"/>
                                      </p:to>
                                    </p:set>
                                    <p:anim calcmode="lin" valueType="num">
                                      <p:cBhvr additive="base">
                                        <p:cTn dur="500"/>
                                        <p:tgtEl>
                                          <p:spTgt spid="440"/>
                                        </p:tgtEl>
                                        <p:attrNameLst>
                                          <p:attrName>ppt_w</p:attrName>
                                        </p:attrNameLst>
                                      </p:cBhvr>
                                      <p:tavLst>
                                        <p:tav fmla="" tm="0">
                                          <p:val>
                                            <p:strVal val="0"/>
                                          </p:val>
                                        </p:tav>
                                        <p:tav fmla="" tm="100000">
                                          <p:val>
                                            <p:strVal val="#ppt_w"/>
                                          </p:val>
                                        </p:tav>
                                      </p:tavLst>
                                    </p:anim>
                                    <p:anim calcmode="lin" valueType="num">
                                      <p:cBhvr additive="base">
                                        <p:cTn dur="500"/>
                                        <p:tgtEl>
                                          <p:spTgt spid="44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39"/>
                                        </p:tgtEl>
                                        <p:attrNameLst>
                                          <p:attrName>style.visibility</p:attrName>
                                        </p:attrNameLst>
                                      </p:cBhvr>
                                      <p:to>
                                        <p:strVal val="visible"/>
                                      </p:to>
                                    </p:set>
                                    <p:anim calcmode="lin" valueType="num">
                                      <p:cBhvr additive="base">
                                        <p:cTn dur="500"/>
                                        <p:tgtEl>
                                          <p:spTgt spid="439"/>
                                        </p:tgtEl>
                                        <p:attrNameLst>
                                          <p:attrName>ppt_w</p:attrName>
                                        </p:attrNameLst>
                                      </p:cBhvr>
                                      <p:tavLst>
                                        <p:tav fmla="" tm="0">
                                          <p:val>
                                            <p:strVal val="0"/>
                                          </p:val>
                                        </p:tav>
                                        <p:tav fmla="" tm="100000">
                                          <p:val>
                                            <p:strVal val="#ppt_w"/>
                                          </p:val>
                                        </p:tav>
                                      </p:tavLst>
                                    </p:anim>
                                    <p:anim calcmode="lin" valueType="num">
                                      <p:cBhvr additive="base">
                                        <p:cTn dur="500"/>
                                        <p:tgtEl>
                                          <p:spTgt spid="43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cxnSp>
        <p:nvCxnSpPr>
          <p:cNvPr id="452" name="Google Shape;452;p29"/>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453" name="Google Shape;453;p29"/>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54" name="Google Shape;454;p29"/>
          <p:cNvGrpSpPr/>
          <p:nvPr/>
        </p:nvGrpSpPr>
        <p:grpSpPr>
          <a:xfrm rot="10800000">
            <a:off x="15044552" y="-741521"/>
            <a:ext cx="7681766" cy="4260610"/>
            <a:chOff x="0" y="-38100"/>
            <a:chExt cx="406400" cy="225405"/>
          </a:xfrm>
        </p:grpSpPr>
        <p:sp>
          <p:nvSpPr>
            <p:cNvPr id="455" name="Google Shape;455;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56" name="Google Shape;456;p2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457" name="Google Shape;457;p29"/>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58" name="Google Shape;458;p29"/>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459" name="Google Shape;459;p29"/>
          <p:cNvGrpSpPr/>
          <p:nvPr/>
        </p:nvGrpSpPr>
        <p:grpSpPr>
          <a:xfrm rot="10800000">
            <a:off x="15828686" y="-13843"/>
            <a:ext cx="7681766" cy="4260610"/>
            <a:chOff x="0" y="-38100"/>
            <a:chExt cx="406400" cy="225405"/>
          </a:xfrm>
        </p:grpSpPr>
        <p:sp>
          <p:nvSpPr>
            <p:cNvPr id="460" name="Google Shape;460;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461" name="Google Shape;461;p2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2" name="Google Shape;462;p29"/>
          <p:cNvSpPr txBox="1"/>
          <p:nvPr/>
        </p:nvSpPr>
        <p:spPr>
          <a:xfrm>
            <a:off x="5696245" y="2603735"/>
            <a:ext cx="11565445" cy="5114861"/>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None/>
            </a:pPr>
            <a:r>
              <a:rPr b="1" lang="en-US" sz="10003">
                <a:solidFill>
                  <a:srgbClr val="018345"/>
                </a:solidFill>
                <a:latin typeface="Roboto"/>
                <a:ea typeface="Roboto"/>
                <a:cs typeface="Roboto"/>
                <a:sym typeface="Roboto"/>
              </a:rPr>
              <a:t>Cảm ơn các bạn đã chú ý theo dõi!</a:t>
            </a:r>
            <a:endParaRPr/>
          </a:p>
          <a:p>
            <a:pPr indent="0" lvl="0" marL="0" marR="0" rtl="0" algn="ctr">
              <a:lnSpc>
                <a:spcPct val="134999"/>
              </a:lnSpc>
              <a:spcBef>
                <a:spcPts val="0"/>
              </a:spcBef>
              <a:spcAft>
                <a:spcPts val="0"/>
              </a:spcAft>
              <a:buNone/>
            </a:pPr>
            <a:r>
              <a:t/>
            </a:r>
            <a:endParaRPr b="1" sz="10003">
              <a:solidFill>
                <a:srgbClr val="018345"/>
              </a:solidFill>
              <a:latin typeface="Roboto"/>
              <a:ea typeface="Roboto"/>
              <a:cs typeface="Roboto"/>
              <a:sym typeface="Roboto"/>
            </a:endParaRPr>
          </a:p>
        </p:txBody>
      </p:sp>
      <p:grpSp>
        <p:nvGrpSpPr>
          <p:cNvPr id="463" name="Google Shape;463;p29"/>
          <p:cNvGrpSpPr/>
          <p:nvPr/>
        </p:nvGrpSpPr>
        <p:grpSpPr>
          <a:xfrm>
            <a:off x="5693855" y="6543482"/>
            <a:ext cx="11567835" cy="1261722"/>
            <a:chOff x="5693855" y="7590172"/>
            <a:chExt cx="11567835" cy="1261722"/>
          </a:xfrm>
        </p:grpSpPr>
        <p:grpSp>
          <p:nvGrpSpPr>
            <p:cNvPr id="464" name="Google Shape;464;p29"/>
            <p:cNvGrpSpPr/>
            <p:nvPr/>
          </p:nvGrpSpPr>
          <p:grpSpPr>
            <a:xfrm>
              <a:off x="5693855" y="7590172"/>
              <a:ext cx="11567834" cy="1261722"/>
              <a:chOff x="0" y="-38100"/>
              <a:chExt cx="3046672" cy="332305"/>
            </a:xfrm>
          </p:grpSpPr>
          <p:sp>
            <p:nvSpPr>
              <p:cNvPr id="465" name="Google Shape;465;p29"/>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466" name="Google Shape;466;p29"/>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7" name="Google Shape;467;p29"/>
            <p:cNvSpPr txBox="1"/>
            <p:nvPr/>
          </p:nvSpPr>
          <p:spPr>
            <a:xfrm>
              <a:off x="5696245" y="7961575"/>
              <a:ext cx="11565445" cy="59690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499">
                  <a:solidFill>
                    <a:srgbClr val="FFFFFF"/>
                  </a:solidFill>
                  <a:latin typeface="Roboto"/>
                  <a:ea typeface="Roboto"/>
                  <a:cs typeface="Roboto"/>
                  <a:sym typeface="Roboto"/>
                </a:rPr>
                <a:t>Hẹn gặp lại các bạn ở những bài học tiếp theo</a:t>
              </a:r>
              <a:endParaRPr sz="3499">
                <a:solidFill>
                  <a:srgbClr val="FFFFFF"/>
                </a:solidFill>
                <a:latin typeface="Roboto"/>
                <a:ea typeface="Roboto"/>
                <a:cs typeface="Roboto"/>
                <a:sym typeface="Roboto"/>
              </a:endParaRPr>
            </a:p>
          </p:txBody>
        </p:sp>
      </p:grpSp>
      <p:grpSp>
        <p:nvGrpSpPr>
          <p:cNvPr id="468" name="Google Shape;468;p29"/>
          <p:cNvGrpSpPr/>
          <p:nvPr/>
        </p:nvGrpSpPr>
        <p:grpSpPr>
          <a:xfrm>
            <a:off x="-2718010" y="9274528"/>
            <a:ext cx="7950400" cy="1707231"/>
            <a:chOff x="0" y="-384762"/>
            <a:chExt cx="10600533" cy="2276307"/>
          </a:xfrm>
        </p:grpSpPr>
        <p:grpSp>
          <p:nvGrpSpPr>
            <p:cNvPr id="469" name="Google Shape;469;p29"/>
            <p:cNvGrpSpPr/>
            <p:nvPr/>
          </p:nvGrpSpPr>
          <p:grpSpPr>
            <a:xfrm>
              <a:off x="0" y="-384762"/>
              <a:ext cx="10600533" cy="2276307"/>
              <a:chOff x="0" y="-38100"/>
              <a:chExt cx="1049690" cy="225405"/>
            </a:xfrm>
          </p:grpSpPr>
          <p:sp>
            <p:nvSpPr>
              <p:cNvPr id="470" name="Google Shape;470;p2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71" name="Google Shape;471;p2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2" name="Google Shape;472;p2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462"/>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462"/>
                                        </p:tgtEl>
                                        <p:attrNameLst>
                                          <p:attrName>style.visibility</p:attrName>
                                        </p:attrNameLst>
                                      </p:cBhvr>
                                      <p:to>
                                        <p:strVal val="visible"/>
                                      </p:to>
                                    </p:set>
                                    <p:anim calcmode="lin" valueType="num">
                                      <p:cBhvr additive="base">
                                        <p:cTn dur="500"/>
                                        <p:tgtEl>
                                          <p:spTgt spid="462"/>
                                        </p:tgtEl>
                                        <p:attrNameLst>
                                          <p:attrName>ppt_w</p:attrName>
                                        </p:attrNameLst>
                                      </p:cBhvr>
                                      <p:tavLst>
                                        <p:tav fmla="" tm="0">
                                          <p:val>
                                            <p:strVal val="0"/>
                                          </p:val>
                                        </p:tav>
                                        <p:tav fmla="" tm="100000">
                                          <p:val>
                                            <p:strVal val="#ppt_w"/>
                                          </p:val>
                                        </p:tav>
                                      </p:tavLst>
                                    </p:anim>
                                    <p:anim calcmode="lin" valueType="num">
                                      <p:cBhvr additive="base">
                                        <p:cTn dur="500"/>
                                        <p:tgtEl>
                                          <p:spTgt spid="462"/>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463"/>
                                        </p:tgtEl>
                                        <p:attrNameLst>
                                          <p:attrName>style.visibility</p:attrName>
                                        </p:attrNameLst>
                                      </p:cBhvr>
                                      <p:to>
                                        <p:strVal val="visible"/>
                                      </p:to>
                                    </p:set>
                                    <p:animEffect filter="fade" transition="in">
                                      <p:cBhvr>
                                        <p:cTn dur="500"/>
                                        <p:tgtEl>
                                          <p:spTgt spid="4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