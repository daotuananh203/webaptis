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34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788018" y="1722907"/>
            <a:ext cx="13410874" cy="179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16"/>
              <a:buFont typeface="Arial"/>
              <a:buNone/>
            </a:pPr>
            <a:r>
              <a:rPr b="0" i="0" lang="en-US" sz="104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APTIS GENERAL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7338936" y="4396612"/>
            <a:ext cx="8593708" cy="2361123"/>
            <a:chOff x="0" y="-192881"/>
            <a:chExt cx="11458277" cy="3148163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-192881"/>
              <a:ext cx="11458277" cy="2963451"/>
              <a:chOff x="0" y="-38100"/>
              <a:chExt cx="2263363" cy="585373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2263363" cy="547273"/>
              </a:xfrm>
              <a:custGeom>
                <a:rect b="b" l="l" r="r" t="t"/>
                <a:pathLst>
                  <a:path extrusionOk="0" h="547273" w="2263363">
                    <a:moveTo>
                      <a:pt x="45945" y="0"/>
                    </a:moveTo>
                    <a:lnTo>
                      <a:pt x="2217418" y="0"/>
                    </a:lnTo>
                    <a:cubicBezTo>
                      <a:pt x="2242793" y="0"/>
                      <a:pt x="2263363" y="20570"/>
                      <a:pt x="2263363" y="45945"/>
                    </a:cubicBezTo>
                    <a:lnTo>
                      <a:pt x="2263363" y="501328"/>
                    </a:lnTo>
                    <a:cubicBezTo>
                      <a:pt x="2263363" y="526703"/>
                      <a:pt x="2242793" y="547273"/>
                      <a:pt x="2217418" y="547273"/>
                    </a:cubicBezTo>
                    <a:lnTo>
                      <a:pt x="45945" y="547273"/>
                    </a:lnTo>
                    <a:cubicBezTo>
                      <a:pt x="20570" y="547273"/>
                      <a:pt x="0" y="526703"/>
                      <a:pt x="0" y="501328"/>
                    </a:cubicBezTo>
                    <a:lnTo>
                      <a:pt x="0" y="45945"/>
                    </a:lnTo>
                    <a:cubicBezTo>
                      <a:pt x="0" y="20570"/>
                      <a:pt x="20570" y="0"/>
                      <a:pt x="45945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2263363" cy="585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 txBox="1"/>
            <p:nvPr/>
          </p:nvSpPr>
          <p:spPr>
            <a:xfrm>
              <a:off x="793233" y="91935"/>
              <a:ext cx="9871810" cy="28633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0"/>
                <a:buFont typeface="Arial"/>
                <a:buNone/>
              </a:pPr>
              <a:r>
                <a:rPr b="0" i="0" lang="en-US" sz="12460" u="none" cap="none" strike="noStrike">
                  <a:solidFill>
                    <a:srgbClr val="018345"/>
                  </a:solidFill>
                  <a:latin typeface="Calibri"/>
                  <a:ea typeface="Calibri"/>
                  <a:cs typeface="Calibri"/>
                  <a:sym typeface="Calibri"/>
                </a:rPr>
                <a:t>READING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5559805" y="3724211"/>
            <a:ext cx="1169949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67241" y="698293"/>
            <a:ext cx="13215313" cy="1769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4"/>
              <a:buFont typeface="Arial"/>
              <a:buNone/>
            </a:pPr>
            <a:r>
              <a:rPr b="0" i="0" lang="en-US" sz="10264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4"/>
          <p:cNvCxnSpPr/>
          <p:nvPr/>
        </p:nvCxnSpPr>
        <p:spPr>
          <a:xfrm>
            <a:off x="5943600" y="2152650"/>
            <a:ext cx="1157973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4"/>
          <p:cNvGrpSpPr/>
          <p:nvPr/>
        </p:nvGrpSpPr>
        <p:grpSpPr>
          <a:xfrm rot="10800000">
            <a:off x="14951203" y="-741521"/>
            <a:ext cx="7681766" cy="4260610"/>
            <a:chOff x="0" y="-38100"/>
            <a:chExt cx="406400" cy="225405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05" name="Google Shape;105;p1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14"/>
          <p:cNvGrpSpPr/>
          <p:nvPr/>
        </p:nvGrpSpPr>
        <p:grpSpPr>
          <a:xfrm>
            <a:off x="6890415" y="2552700"/>
            <a:ext cx="10092845" cy="1384799"/>
            <a:chOff x="6375842" y="6151456"/>
            <a:chExt cx="10541964" cy="1433865"/>
          </a:xfrm>
        </p:grpSpPr>
        <p:sp>
          <p:nvSpPr>
            <p:cNvPr id="107" name="Google Shape;107;p14"/>
            <p:cNvSpPr/>
            <p:nvPr/>
          </p:nvSpPr>
          <p:spPr>
            <a:xfrm>
              <a:off x="6375842" y="6278356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375842" y="6151456"/>
              <a:ext cx="10541964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38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375842" y="6296117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7917301" y="6581020"/>
              <a:ext cx="8651214" cy="764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đọc APTIS part 2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Books with solid fill" id="111" name="Google Shape;111;p14"/>
            <p:cNvSpPr/>
            <p:nvPr/>
          </p:nvSpPr>
          <p:spPr>
            <a:xfrm>
              <a:off x="6604212" y="6517439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2" name="Google Shape;112;p14"/>
          <p:cNvSpPr txBox="1"/>
          <p:nvPr/>
        </p:nvSpPr>
        <p:spPr>
          <a:xfrm>
            <a:off x="6487860" y="5519116"/>
            <a:ext cx="10092845" cy="138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7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15" name="Google Shape;115;p1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16" name="Google Shape;116;p1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17" name="Google Shape;117;p1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" name="Google Shape;118;p1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6934201" y="4203213"/>
            <a:ext cx="10121389" cy="1245090"/>
            <a:chOff x="6934200" y="7048500"/>
            <a:chExt cx="9882630" cy="1159137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6934200" y="7048500"/>
              <a:ext cx="9882630" cy="1159137"/>
              <a:chOff x="6487861" y="7950596"/>
              <a:chExt cx="10571780" cy="1289204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6517678" y="7950596"/>
                <a:ext cx="10541963" cy="1289204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6487861" y="7968363"/>
                <a:ext cx="1253681" cy="1253680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7825740" y="8347042"/>
                <a:ext cx="78960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30390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Những lưu ý khi làm bài</a:t>
                </a:r>
                <a:endParaRPr b="1" i="0" sz="3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Envelope with solid fill" id="124" name="Google Shape;12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7192" y="7214481"/>
              <a:ext cx="773941" cy="773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4"/>
          <p:cNvGrpSpPr/>
          <p:nvPr/>
        </p:nvGrpSpPr>
        <p:grpSpPr>
          <a:xfrm>
            <a:off x="6962074" y="5727211"/>
            <a:ext cx="10149936" cy="1245089"/>
            <a:chOff x="6962073" y="8572500"/>
            <a:chExt cx="9910504" cy="1159136"/>
          </a:xfrm>
        </p:grpSpPr>
        <p:sp>
          <p:nvSpPr>
            <p:cNvPr id="126" name="Google Shape;126;p14"/>
            <p:cNvSpPr/>
            <p:nvPr/>
          </p:nvSpPr>
          <p:spPr>
            <a:xfrm>
              <a:off x="6989946" y="8572500"/>
              <a:ext cx="9854758" cy="1159136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962073" y="8588470"/>
              <a:ext cx="1171956" cy="1127196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8403048" y="8840948"/>
              <a:ext cx="8469529" cy="524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Đề mẫu</a:t>
              </a:r>
              <a:endParaRPr b="1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Pencil with solid fill"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974" y="8738481"/>
              <a:ext cx="797413" cy="7974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4"/>
          <p:cNvGrpSpPr/>
          <p:nvPr/>
        </p:nvGrpSpPr>
        <p:grpSpPr>
          <a:xfrm>
            <a:off x="6947410" y="7175011"/>
            <a:ext cx="10121390" cy="1245089"/>
            <a:chOff x="6947410" y="8856876"/>
            <a:chExt cx="9366600" cy="1016489"/>
          </a:xfrm>
        </p:grpSpPr>
        <p:grpSp>
          <p:nvGrpSpPr>
            <p:cNvPr id="131" name="Google Shape;131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2" name="Google Shape;132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Hướng dẫn trả lời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35" name="Google Shape;13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4"/>
          <p:cNvGrpSpPr/>
          <p:nvPr/>
        </p:nvGrpSpPr>
        <p:grpSpPr>
          <a:xfrm>
            <a:off x="7010400" y="8669916"/>
            <a:ext cx="10121390" cy="1245089"/>
            <a:chOff x="6947410" y="8856876"/>
            <a:chExt cx="9366600" cy="1016489"/>
          </a:xfrm>
        </p:grpSpPr>
        <p:grpSp>
          <p:nvGrpSpPr>
            <p:cNvPr id="137" name="Google Shape;137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Luyện tập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41" name="Google Shape;14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5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51" name="Google Shape;151;p1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9121603" y="5737772"/>
            <a:ext cx="5199117" cy="4549228"/>
          </a:xfrm>
          <a:custGeom>
            <a:rect b="b" l="l" r="r" t="t"/>
            <a:pathLst>
              <a:path extrusionOk="0" h="4549228" w="5199117">
                <a:moveTo>
                  <a:pt x="0" y="0"/>
                </a:moveTo>
                <a:lnTo>
                  <a:pt x="5199117" y="0"/>
                </a:lnTo>
                <a:lnTo>
                  <a:pt x="5199117" y="4549228"/>
                </a:lnTo>
                <a:lnTo>
                  <a:pt x="0" y="45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7315200" y="2540878"/>
            <a:ext cx="8643753" cy="3006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đọc APTIS part 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0210111" y="339710"/>
            <a:ext cx="214672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1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58" name="Google Shape;158;p1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60" name="Google Shape;160;p1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" name="Google Shape;161;p1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6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p1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70" name="Google Shape;170;p1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6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1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73" name="Google Shape;173;p1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74" name="Google Shape;174;p1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75" name="Google Shape;175;p1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1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6"/>
          <p:cNvSpPr txBox="1"/>
          <p:nvPr/>
        </p:nvSpPr>
        <p:spPr>
          <a:xfrm>
            <a:off x="6293296" y="622074"/>
            <a:ext cx="1188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viết APTIS part </a:t>
            </a: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6"/>
          <p:cNvGrpSpPr/>
          <p:nvPr/>
        </p:nvGrpSpPr>
        <p:grpSpPr>
          <a:xfrm>
            <a:off x="7143130" y="2894022"/>
            <a:ext cx="10211760" cy="1699733"/>
            <a:chOff x="7143130" y="2894022"/>
            <a:chExt cx="10211760" cy="1699733"/>
          </a:xfrm>
        </p:grpSpPr>
        <p:sp>
          <p:nvSpPr>
            <p:cNvPr id="179" name="Google Shape;179;p16"/>
            <p:cNvSpPr/>
            <p:nvPr/>
          </p:nvSpPr>
          <p:spPr>
            <a:xfrm>
              <a:off x="9677763" y="2894022"/>
              <a:ext cx="7677127" cy="1699733"/>
            </a:xfrm>
            <a:prstGeom prst="roundRect">
              <a:avLst>
                <a:gd fmla="val 16667" name="adj"/>
              </a:avLst>
            </a:prstGeom>
            <a:solidFill>
              <a:srgbClr val="4CB487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Sắp xếp câu theo thứ tự đúng để hoàn thành đoạn văn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List with solid fill" id="180" name="Google Shape;18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130" y="2894022"/>
              <a:ext cx="1611038" cy="16110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16"/>
          <p:cNvGrpSpPr/>
          <p:nvPr/>
        </p:nvGrpSpPr>
        <p:grpSpPr>
          <a:xfrm>
            <a:off x="7337971" y="5237421"/>
            <a:ext cx="10016920" cy="1663867"/>
            <a:chOff x="7337971" y="5237421"/>
            <a:chExt cx="10016920" cy="1663867"/>
          </a:xfrm>
        </p:grpSpPr>
        <p:sp>
          <p:nvSpPr>
            <p:cNvPr id="182" name="Google Shape;182;p16"/>
            <p:cNvSpPr/>
            <p:nvPr/>
          </p:nvSpPr>
          <p:spPr>
            <a:xfrm>
              <a:off x="9673125" y="5237421"/>
              <a:ext cx="7681766" cy="1663867"/>
            </a:xfrm>
            <a:prstGeom prst="roundRect">
              <a:avLst>
                <a:gd fmla="val 16667" name="adj"/>
              </a:avLst>
            </a:prstGeom>
            <a:solidFill>
              <a:srgbClr val="02D06E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 bài tập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Pencil with solid fill" id="183" name="Google Shape;18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7971" y="5347592"/>
              <a:ext cx="1443524" cy="14435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6"/>
          <p:cNvGrpSpPr/>
          <p:nvPr/>
        </p:nvGrpSpPr>
        <p:grpSpPr>
          <a:xfrm>
            <a:off x="7321038" y="7562692"/>
            <a:ext cx="12922040" cy="1771808"/>
            <a:chOff x="7321038" y="7562692"/>
            <a:chExt cx="12922040" cy="1771808"/>
          </a:xfrm>
        </p:grpSpPr>
        <p:grpSp>
          <p:nvGrpSpPr>
            <p:cNvPr id="185" name="Google Shape;185;p16"/>
            <p:cNvGrpSpPr/>
            <p:nvPr/>
          </p:nvGrpSpPr>
          <p:grpSpPr>
            <a:xfrm>
              <a:off x="9673125" y="7562692"/>
              <a:ext cx="10569953" cy="1771808"/>
              <a:chOff x="9673125" y="7562692"/>
              <a:chExt cx="10569953" cy="1771808"/>
            </a:xfrm>
          </p:grpSpPr>
          <p:cxnSp>
            <p:nvCxnSpPr>
              <p:cNvPr id="186" name="Google Shape;186;p16"/>
              <p:cNvCxnSpPr/>
              <p:nvPr/>
            </p:nvCxnSpPr>
            <p:spPr>
              <a:xfrm>
                <a:off x="14939558" y="9274528"/>
                <a:ext cx="530352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7" name="Google Shape;187;p16"/>
              <p:cNvSpPr/>
              <p:nvPr/>
            </p:nvSpPr>
            <p:spPr>
              <a:xfrm>
                <a:off x="9673125" y="7562692"/>
                <a:ext cx="7681766" cy="1771808"/>
              </a:xfrm>
              <a:prstGeom prst="roundRect">
                <a:avLst>
                  <a:gd fmla="val 16667" name="adj"/>
                </a:avLst>
              </a:prstGeom>
              <a:solidFill>
                <a:srgbClr val="41774D"/>
              </a:solidFill>
              <a:ln cap="flat" cmpd="sng" w="25400">
                <a:solidFill>
                  <a:srgbClr val="01834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chemeClr val="lt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Mỗi bài 6 câu được xáo trộn thứ tự</a:t>
                </a:r>
                <a:endParaRPr b="1" i="0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</p:txBody>
          </p:sp>
        </p:grpSp>
        <p:pic>
          <p:nvPicPr>
            <p:cNvPr descr="Bullseye with solid fill" id="188" name="Google Shape;18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21038" y="7606982"/>
              <a:ext cx="1611037" cy="1611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17"/>
          <p:cNvCxnSpPr/>
          <p:nvPr/>
        </p:nvCxnSpPr>
        <p:spPr>
          <a:xfrm>
            <a:off x="6807199" y="2573852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7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17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97" name="Google Shape;197;p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98" name="Google Shape;198;p17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7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7"/>
          <p:cNvSpPr txBox="1"/>
          <p:nvPr/>
        </p:nvSpPr>
        <p:spPr>
          <a:xfrm>
            <a:off x="6040887" y="2637624"/>
            <a:ext cx="11760209" cy="149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Những 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10312399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1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04" name="Google Shape;204;p1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06" name="Google Shape;206;p1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" name="Google Shape;207;p1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Stressed Out Woman Cartoon Images – Browse 1,008 Stock Photos, Vectors, and  Video | Adobe Stock"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584" y="4536263"/>
            <a:ext cx="7208814" cy="4353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18"/>
          <p:cNvCxnSpPr/>
          <p:nvPr/>
        </p:nvCxnSpPr>
        <p:spPr>
          <a:xfrm flipH="1" rot="10800000">
            <a:off x="7315293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" name="Google Shape;215;p1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17" name="Google Shape;217;p1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8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8"/>
          <p:cNvSpPr txBox="1"/>
          <p:nvPr/>
        </p:nvSpPr>
        <p:spPr>
          <a:xfrm>
            <a:off x="6677933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22" name="Google Shape;222;p1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23" name="Google Shape;223;p1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1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8"/>
          <p:cNvGrpSpPr/>
          <p:nvPr/>
        </p:nvGrpSpPr>
        <p:grpSpPr>
          <a:xfrm>
            <a:off x="8529663" y="2121408"/>
            <a:ext cx="9259434" cy="7569721"/>
            <a:chOff x="0" y="61594"/>
            <a:chExt cx="9259434" cy="7569721"/>
          </a:xfrm>
        </p:grpSpPr>
        <p:sp>
          <p:nvSpPr>
            <p:cNvPr id="226" name="Google Shape;226;p18"/>
            <p:cNvSpPr/>
            <p:nvPr/>
          </p:nvSpPr>
          <p:spPr>
            <a:xfrm>
              <a:off x="0" y="696274"/>
              <a:ext cx="9259434" cy="1083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62971" y="61594"/>
              <a:ext cx="6481604" cy="126936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524936" y="123559"/>
              <a:ext cx="6357674" cy="1145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Đọc kỹ tất cả các câu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0" y="2646754"/>
              <a:ext cx="9259434" cy="1083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BB2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62971" y="2012075"/>
              <a:ext cx="6481604" cy="1269360"/>
            </a:xfrm>
            <a:prstGeom prst="roundRect">
              <a:avLst>
                <a:gd fmla="val 16667" name="adj"/>
              </a:avLst>
            </a:prstGeom>
            <a:solidFill>
              <a:srgbClr val="5BB27B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524936" y="2074040"/>
              <a:ext cx="6357674" cy="1145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Chú ý đến các từ nhận biết, từ chỉ thứ tự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0" y="4597235"/>
              <a:ext cx="9259434" cy="1083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F8AA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462971" y="3962554"/>
              <a:ext cx="6481604" cy="1269360"/>
            </a:xfrm>
            <a:prstGeom prst="roundRect">
              <a:avLst>
                <a:gd fmla="val 16667" name="adj"/>
              </a:avLst>
            </a:prstGeom>
            <a:solidFill>
              <a:srgbClr val="5F8AA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524936" y="4024519"/>
              <a:ext cx="6357674" cy="1145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Câu đầu tiên của đoạn được sắp xếp sẵn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0" y="6547715"/>
              <a:ext cx="9259434" cy="1083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7F63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462971" y="5913034"/>
              <a:ext cx="6481604" cy="1269360"/>
            </a:xfrm>
            <a:prstGeom prst="roundRect">
              <a:avLst>
                <a:gd fmla="val 16667" name="adj"/>
              </a:avLst>
            </a:prstGeom>
            <a:solidFill>
              <a:srgbClr val="7F63A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524936" y="5974999"/>
              <a:ext cx="6357674" cy="1145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Kiểm tra sau khi làm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19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9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44" name="Google Shape;244;p1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45" name="Google Shape;245;p1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246" name="Google Shape;246;p19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9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9"/>
          <p:cNvSpPr txBox="1"/>
          <p:nvPr/>
        </p:nvSpPr>
        <p:spPr>
          <a:xfrm>
            <a:off x="5511794" y="2502271"/>
            <a:ext cx="1176020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6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1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52" name="Google Shape;252;p1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53" name="Google Shape;253;p1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54" name="Google Shape;254;p1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" name="Google Shape;255;p1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6" name="Google Shape;256;p19"/>
          <p:cNvPicPr preferRelativeResize="0"/>
          <p:nvPr/>
        </p:nvPicPr>
        <p:blipFill rotWithShape="1">
          <a:blip r:embed="rId5">
            <a:alphaModFix/>
          </a:blip>
          <a:srcRect b="10096" l="0" r="0" t="10547"/>
          <a:stretch/>
        </p:blipFill>
        <p:spPr>
          <a:xfrm>
            <a:off x="7772400" y="4099418"/>
            <a:ext cx="6391277" cy="507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0"/>
          <p:cNvCxnSpPr/>
          <p:nvPr/>
        </p:nvCxnSpPr>
        <p:spPr>
          <a:xfrm flipH="1" rot="10800000">
            <a:off x="3801534" y="1435162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2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64" name="Google Shape;264;p2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65" name="Google Shape;265;p2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67" name="Google Shape;267;p2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68" name="Google Shape;268;p2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69" name="Google Shape;269;p2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" name="Google Shape;270;p2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20"/>
          <p:cNvSpPr txBox="1"/>
          <p:nvPr/>
        </p:nvSpPr>
        <p:spPr>
          <a:xfrm>
            <a:off x="2613932" y="213713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0"/>
          <p:cNvSpPr/>
          <p:nvPr/>
        </p:nvSpPr>
        <p:spPr>
          <a:xfrm>
            <a:off x="2874486" y="1774118"/>
            <a:ext cx="13855648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3619552" y="1942464"/>
            <a:ext cx="12824232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a report. Put the sentences in the right order. The first sentence is done for you.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3619552" y="3549306"/>
            <a:ext cx="12347624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report gives information about the traffic problems on the coast road. </a:t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3619552" y="4569467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reason it is easy for them to take a wrong turn and get lost.</a:t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3643339" y="5534769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will help visitors to find their way to our beautiful town.</a:t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3649135" y="6541864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road is busy during the summer when tourists visit the area.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3643339" y="7565158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don’t know the road because many of them are here for the first time.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3619552" y="8601138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why we think there should be more signs along the road.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21"/>
          <p:cNvCxnSpPr/>
          <p:nvPr/>
        </p:nvCxnSpPr>
        <p:spPr>
          <a:xfrm flipH="1" rot="10800000">
            <a:off x="3801534" y="1435162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7" name="Google Shape;287;p21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89" name="Google Shape;289;p2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2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91" name="Google Shape;291;p2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93" name="Google Shape;293;p2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" name="Google Shape;294;p2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21"/>
          <p:cNvSpPr txBox="1"/>
          <p:nvPr/>
        </p:nvSpPr>
        <p:spPr>
          <a:xfrm>
            <a:off x="2613932" y="213713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1"/>
          <p:cNvSpPr/>
          <p:nvPr/>
        </p:nvSpPr>
        <p:spPr>
          <a:xfrm>
            <a:off x="2320824" y="1774118"/>
            <a:ext cx="14409310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210087" y="1942464"/>
            <a:ext cx="13233697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some instructions. Put the sentences in the right order. The first sentence is done for you.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3210087" y="3549306"/>
            <a:ext cx="12757089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visiting our office for the first time, please follow these instructions.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3210087" y="4569467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member of staff will write this information in the visitor’s book. </a:t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3233874" y="5534769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you leave, please return the card to a member of staff at the front desk.</a:t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3239670" y="6541864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then use the card to enter through the security gate.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3233874" y="7565158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he or she will give you a visitor’s identity card.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3210087" y="8601138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go to the front desk upon arrival and give your name and address.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22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2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" name="Google Shape;311;p22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13" name="Google Shape;313;p2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14" name="Google Shape;314;p22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2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2"/>
          <p:cNvSpPr txBox="1"/>
          <p:nvPr/>
        </p:nvSpPr>
        <p:spPr>
          <a:xfrm>
            <a:off x="5232390" y="2564021"/>
            <a:ext cx="11760209" cy="1495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Hướng dẫn trả lời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2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20" name="Google Shape;320;p2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21" name="Google Shape;321;p2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22" name="Google Shape;322;p2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3" name="Google Shape;323;p2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22"/>
          <p:cNvSpPr/>
          <p:nvPr/>
        </p:nvSpPr>
        <p:spPr>
          <a:xfrm>
            <a:off x="9563099" y="4749873"/>
            <a:ext cx="3276055" cy="3301942"/>
          </a:xfrm>
          <a:custGeom>
            <a:rect b="b" l="l" r="r" t="t"/>
            <a:pathLst>
              <a:path extrusionOk="0" h="4310632" w="4025053">
                <a:moveTo>
                  <a:pt x="0" y="0"/>
                </a:moveTo>
                <a:lnTo>
                  <a:pt x="4025053" y="0"/>
                </a:lnTo>
                <a:lnTo>
                  <a:pt x="4025053" y="4310632"/>
                </a:lnTo>
                <a:lnTo>
                  <a:pt x="0" y="4310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23"/>
          <p:cNvCxnSpPr/>
          <p:nvPr/>
        </p:nvCxnSpPr>
        <p:spPr>
          <a:xfrm flipH="1" rot="10800000">
            <a:off x="4189446" y="1387040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1" name="Google Shape;331;p23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32" name="Google Shape;332;p2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33" name="Google Shape;333;p2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2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35" name="Google Shape;335;p2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36" name="Google Shape;336;p2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37" name="Google Shape;337;p2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8" name="Google Shape;338;p23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23"/>
          <p:cNvSpPr txBox="1"/>
          <p:nvPr/>
        </p:nvSpPr>
        <p:spPr>
          <a:xfrm>
            <a:off x="3619552" y="201411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23"/>
          <p:cNvSpPr/>
          <p:nvPr/>
        </p:nvSpPr>
        <p:spPr>
          <a:xfrm>
            <a:off x="2874486" y="1774118"/>
            <a:ext cx="13855648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3619552" y="1942464"/>
            <a:ext cx="12824232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a report. Put the sentences in the right order. The first sentence is done for you.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3619552" y="3549306"/>
            <a:ext cx="12347624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report gives information about the traffic problems on the coast road. </a:t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3619552" y="4569467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reason it is easy for them to take a wrong turn and get lost.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643339" y="5534769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will help visitors to find their way to our beautiful town.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3649135" y="6541864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road is busy during the summer when tourists visit the area.</a:t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3643339" y="7565158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don’t know the road because many of them are here for the first time.</a:t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3619552" y="8601138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why we think there should be more signs along the road.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24"/>
          <p:cNvCxnSpPr/>
          <p:nvPr/>
        </p:nvCxnSpPr>
        <p:spPr>
          <a:xfrm flipH="1" rot="10800000">
            <a:off x="4675708" y="1393315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5" name="Google Shape;355;p24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56" name="Google Shape;356;p2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57" name="Google Shape;357;p2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2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61" name="Google Shape;361;p2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2" name="Google Shape;362;p2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24"/>
          <p:cNvSpPr txBox="1"/>
          <p:nvPr/>
        </p:nvSpPr>
        <p:spPr>
          <a:xfrm>
            <a:off x="3252101" y="146925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Đáp án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24"/>
          <p:cNvSpPr/>
          <p:nvPr/>
        </p:nvSpPr>
        <p:spPr>
          <a:xfrm>
            <a:off x="2874486" y="1774118"/>
            <a:ext cx="13855648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3619552" y="1942464"/>
            <a:ext cx="12824232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a report. Put the sentences in the right order. The first sentence is done for you.</a:t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3619552" y="3549306"/>
            <a:ext cx="12347624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report gives information about the traffic problems on </a:t>
            </a: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coast road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3619552" y="6505471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this reason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easy for them to take a wrong turn and get lost.</a:t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3628498" y="8607989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help visitors to find their way to our beautiful town.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3628498" y="4538331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road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busy during the summer when </a:t>
            </a:r>
            <a:r>
              <a:rPr b="0" i="0" lang="en-US" sz="3000" u="sng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tourists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visit the area.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628498" y="5513910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They</a:t>
            </a:r>
            <a:r>
              <a:rPr b="0" i="0" lang="en-US" sz="30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know the road </a:t>
            </a: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because many of them are here for the first time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3619552" y="7548206"/>
            <a:ext cx="12347624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why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think there should be more signs along the road.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Google Shape;378;p25"/>
          <p:cNvCxnSpPr/>
          <p:nvPr/>
        </p:nvCxnSpPr>
        <p:spPr>
          <a:xfrm flipH="1" rot="10800000">
            <a:off x="7803639" y="1809027"/>
            <a:ext cx="10227633" cy="54826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0" name="Google Shape;380;p25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81" name="Google Shape;381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82" name="Google Shape;382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25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25"/>
          <p:cNvSpPr txBox="1"/>
          <p:nvPr/>
        </p:nvSpPr>
        <p:spPr>
          <a:xfrm>
            <a:off x="6541892" y="440959"/>
            <a:ext cx="11880998" cy="91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Từ vựng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5" name="Google Shape;385;p2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86" name="Google Shape;386;p2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87" name="Google Shape;387;p2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88" name="Google Shape;388;p2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" name="Google Shape;389;p25"/>
            <p:cNvSpPr txBox="1"/>
            <p:nvPr/>
          </p:nvSpPr>
          <p:spPr>
            <a:xfrm>
              <a:off x="4182979" y="666743"/>
              <a:ext cx="3721151" cy="47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25"/>
          <p:cNvSpPr txBox="1"/>
          <p:nvPr/>
        </p:nvSpPr>
        <p:spPr>
          <a:xfrm>
            <a:off x="8404525" y="2319876"/>
            <a:ext cx="9025859" cy="646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Report: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báo cáo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Traffic problems: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các vấn đề giao thông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Coast road: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đường bờ biển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Tourists: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khách du lịch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Reason: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lý do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Signs: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dấu hiệu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Visitors: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khách thăm quan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26"/>
          <p:cNvCxnSpPr/>
          <p:nvPr/>
        </p:nvCxnSpPr>
        <p:spPr>
          <a:xfrm flipH="1" rot="10800000">
            <a:off x="4543036" y="1402876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7" name="Google Shape;397;p2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98" name="Google Shape;398;p2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99" name="Google Shape;399;p2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2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01" name="Google Shape;401;p2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02" name="Google Shape;402;p2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03" name="Google Shape;403;p2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4" name="Google Shape;404;p2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26"/>
          <p:cNvSpPr txBox="1"/>
          <p:nvPr/>
        </p:nvSpPr>
        <p:spPr>
          <a:xfrm>
            <a:off x="3886436" y="299952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6"/>
          <p:cNvSpPr/>
          <p:nvPr/>
        </p:nvSpPr>
        <p:spPr>
          <a:xfrm>
            <a:off x="2320824" y="1774118"/>
            <a:ext cx="14409310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3210087" y="1942464"/>
            <a:ext cx="13233697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some instructions. Put the sentences in the right order. The first sentence is done for you.</a:t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3210087" y="3549306"/>
            <a:ext cx="12757089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visiting our office for the first time, please follow these instructions.</a:t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3210087" y="4569467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member of staff will write this information in the visitor’s book. </a:t>
            </a:r>
            <a:endParaRPr/>
          </a:p>
        </p:txBody>
      </p:sp>
      <p:sp>
        <p:nvSpPr>
          <p:cNvPr id="411" name="Google Shape;411;p26"/>
          <p:cNvSpPr/>
          <p:nvPr/>
        </p:nvSpPr>
        <p:spPr>
          <a:xfrm>
            <a:off x="3233874" y="5534769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you leave, please return the card to a member of staff at the front desk.</a:t>
            </a: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3239670" y="6541864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then use the card to enter through the security gate.</a:t>
            </a:r>
            <a:endParaRPr/>
          </a:p>
        </p:txBody>
      </p:sp>
      <p:sp>
        <p:nvSpPr>
          <p:cNvPr id="413" name="Google Shape;413;p26"/>
          <p:cNvSpPr/>
          <p:nvPr/>
        </p:nvSpPr>
        <p:spPr>
          <a:xfrm>
            <a:off x="3233874" y="7565158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he or she will give you a visitor’s identity card.</a:t>
            </a: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3210087" y="8601138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go to the front desk upon arrival and give your name and address.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0" name="Google Shape;420;p27"/>
          <p:cNvCxnSpPr/>
          <p:nvPr/>
        </p:nvCxnSpPr>
        <p:spPr>
          <a:xfrm flipH="1" rot="10800000">
            <a:off x="4543036" y="1402876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1" name="Google Shape;421;p27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22" name="Google Shape;422;p2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23" name="Google Shape;423;p2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25" name="Google Shape;425;p2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26" name="Google Shape;426;p2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27" name="Google Shape;427;p2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" name="Google Shape;428;p2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27"/>
          <p:cNvSpPr txBox="1"/>
          <p:nvPr/>
        </p:nvSpPr>
        <p:spPr>
          <a:xfrm>
            <a:off x="3886436" y="29995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Đáp án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27"/>
          <p:cNvSpPr/>
          <p:nvPr/>
        </p:nvSpPr>
        <p:spPr>
          <a:xfrm>
            <a:off x="2320824" y="1774118"/>
            <a:ext cx="14409310" cy="80137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3210087" y="1942464"/>
            <a:ext cx="13233697" cy="140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sentences below are from some instructions. Put the sentences in the right order. The first sentence is done for you.</a:t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3210087" y="3549306"/>
            <a:ext cx="12757089" cy="80245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visiting our office for the first time, please follow these instructions.</a:t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3210086" y="5664335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member of staff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</a:t>
            </a:r>
            <a:r>
              <a:rPr b="0" i="0" lang="en-US" sz="3000" u="sng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write this information</a:t>
            </a:r>
            <a:r>
              <a:rPr b="0" i="0" lang="en-US" sz="3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visitor’s book. </a:t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3210085" y="8791030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Before you leave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please return </a:t>
            </a:r>
            <a:r>
              <a:rPr b="0" i="0" lang="en-US" sz="3000" u="sng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the card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 member of staff at the front desk.</a:t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3210085" y="7743380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then use </a:t>
            </a:r>
            <a:r>
              <a:rPr b="0" i="0" lang="en-US" sz="3000" u="sng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the card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enter through the security gate.</a:t>
            </a: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3210086" y="6702311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30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 or she</a:t>
            </a:r>
            <a:r>
              <a:rPr b="0" i="0" lang="en-US" sz="3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give you a visitor’s </a:t>
            </a:r>
            <a:r>
              <a:rPr b="0" i="0" lang="en-US" sz="3000" u="sng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identity card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3210087" y="4620372"/>
            <a:ext cx="12757089" cy="802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should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 to the front desk upon arrival and give </a:t>
            </a:r>
            <a:r>
              <a:rPr b="0" i="0" lang="en-US" sz="3000" u="sng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your name and address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28"/>
          <p:cNvCxnSpPr/>
          <p:nvPr/>
        </p:nvCxnSpPr>
        <p:spPr>
          <a:xfrm flipH="1" rot="10800000">
            <a:off x="7803639" y="1809027"/>
            <a:ext cx="10227633" cy="54826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28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6" name="Google Shape;446;p2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47" name="Google Shape;447;p2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48" name="Google Shape;448;p2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28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28"/>
          <p:cNvSpPr txBox="1"/>
          <p:nvPr/>
        </p:nvSpPr>
        <p:spPr>
          <a:xfrm>
            <a:off x="6541892" y="440959"/>
            <a:ext cx="11880998" cy="91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Từ vựng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51" name="Google Shape;451;p2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52" name="Google Shape;452;p2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53" name="Google Shape;453;p2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54" name="Google Shape;454;p2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5" name="Google Shape;455;p28"/>
            <p:cNvSpPr txBox="1"/>
            <p:nvPr/>
          </p:nvSpPr>
          <p:spPr>
            <a:xfrm>
              <a:off x="4182979" y="666743"/>
              <a:ext cx="3721151" cy="47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6" name="Google Shape;456;p28"/>
          <p:cNvSpPr txBox="1"/>
          <p:nvPr/>
        </p:nvSpPr>
        <p:spPr>
          <a:xfrm>
            <a:off x="8404525" y="2319876"/>
            <a:ext cx="9025859" cy="5065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Instructions: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hướng dẫn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Address: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địa chỉ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Staff: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nhân viên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Identity card: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chứng minh nhân dân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Security gate: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cổng an ninh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1" name="Google Shape;461;p29"/>
          <p:cNvCxnSpPr/>
          <p:nvPr/>
        </p:nvCxnSpPr>
        <p:spPr>
          <a:xfrm>
            <a:off x="5693855" y="2235185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29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3" name="Google Shape;463;p29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464" name="Google Shape;464;p2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65" name="Google Shape;465;p2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466" name="Google Shape;466;p29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29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29"/>
          <p:cNvSpPr txBox="1"/>
          <p:nvPr/>
        </p:nvSpPr>
        <p:spPr>
          <a:xfrm>
            <a:off x="6705600" y="2324100"/>
            <a:ext cx="9930052" cy="1266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Luyện tập</a:t>
            </a:r>
            <a:endParaRPr b="1" i="0" sz="72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29"/>
          <p:cNvSpPr txBox="1"/>
          <p:nvPr/>
        </p:nvSpPr>
        <p:spPr>
          <a:xfrm>
            <a:off x="10182106" y="339710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2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71" name="Google Shape;471;p2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72" name="Google Shape;472;p2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73" name="Google Shape;473;p2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4" name="Google Shape;474;p2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5" name="Google Shape;47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5400" y="3956510"/>
            <a:ext cx="5962650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1" name="Google Shape;481;p30"/>
          <p:cNvCxnSpPr/>
          <p:nvPr/>
        </p:nvCxnSpPr>
        <p:spPr>
          <a:xfrm>
            <a:off x="5693855" y="2057171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30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3" name="Google Shape;483;p30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484" name="Google Shape;484;p3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85" name="Google Shape;485;p3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486" name="Google Shape;486;p30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7" name="Google Shape;487;p30"/>
          <p:cNvSpPr/>
          <p:nvPr/>
        </p:nvSpPr>
        <p:spPr>
          <a:xfrm>
            <a:off x="18157088" y="171450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8" name="Google Shape;488;p30"/>
          <p:cNvGrpSpPr/>
          <p:nvPr/>
        </p:nvGrpSpPr>
        <p:grpSpPr>
          <a:xfrm rot="10800000">
            <a:off x="15828686" y="-13843"/>
            <a:ext cx="7681766" cy="4260610"/>
            <a:chOff x="0" y="-38100"/>
            <a:chExt cx="406400" cy="225405"/>
          </a:xfrm>
        </p:grpSpPr>
        <p:sp>
          <p:nvSpPr>
            <p:cNvPr id="489" name="Google Shape;489;p3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146">
                <a:alpha val="80000"/>
              </a:srgbClr>
            </a:solidFill>
            <a:ln>
              <a:noFill/>
            </a:ln>
          </p:spPr>
        </p:sp>
        <p:sp>
          <p:nvSpPr>
            <p:cNvPr id="490" name="Google Shape;490;p3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30"/>
          <p:cNvSpPr txBox="1"/>
          <p:nvPr/>
        </p:nvSpPr>
        <p:spPr>
          <a:xfrm>
            <a:off x="5696245" y="2603735"/>
            <a:ext cx="11565445" cy="623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rPr b="1" i="0" lang="en-US" sz="10003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Cảm ơn các bạn đã chú ý theo dõi!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t/>
            </a:r>
            <a:endParaRPr b="1" i="0" sz="10003" u="none" cap="none" strike="noStrike">
              <a:solidFill>
                <a:srgbClr val="01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2" name="Google Shape;492;p30"/>
          <p:cNvGrpSpPr/>
          <p:nvPr/>
        </p:nvGrpSpPr>
        <p:grpSpPr>
          <a:xfrm>
            <a:off x="5693855" y="6543482"/>
            <a:ext cx="11567835" cy="1261722"/>
            <a:chOff x="5693855" y="7590172"/>
            <a:chExt cx="11567835" cy="1261722"/>
          </a:xfrm>
        </p:grpSpPr>
        <p:grpSp>
          <p:nvGrpSpPr>
            <p:cNvPr id="493" name="Google Shape;493;p30"/>
            <p:cNvGrpSpPr/>
            <p:nvPr/>
          </p:nvGrpSpPr>
          <p:grpSpPr>
            <a:xfrm>
              <a:off x="5693855" y="7590172"/>
              <a:ext cx="11567834" cy="1261722"/>
              <a:chOff x="0" y="-38100"/>
              <a:chExt cx="3046672" cy="332305"/>
            </a:xfrm>
          </p:grpSpPr>
          <p:sp>
            <p:nvSpPr>
              <p:cNvPr id="494" name="Google Shape;494;p30"/>
              <p:cNvSpPr/>
              <p:nvPr/>
            </p:nvSpPr>
            <p:spPr>
              <a:xfrm>
                <a:off x="0" y="0"/>
                <a:ext cx="3046672" cy="294205"/>
              </a:xfrm>
              <a:custGeom>
                <a:rect b="b" l="l" r="r" t="t"/>
                <a:pathLst>
                  <a:path extrusionOk="0" h="294205" w="3046672">
                    <a:moveTo>
                      <a:pt x="0" y="0"/>
                    </a:moveTo>
                    <a:lnTo>
                      <a:pt x="3046672" y="0"/>
                    </a:lnTo>
                    <a:lnTo>
                      <a:pt x="3046672" y="294205"/>
                    </a:lnTo>
                    <a:lnTo>
                      <a:pt x="0" y="294205"/>
                    </a:lnTo>
                    <a:close/>
                  </a:path>
                </a:pathLst>
              </a:custGeom>
              <a:solidFill>
                <a:srgbClr val="006B37"/>
              </a:solidFill>
              <a:ln>
                <a:noFill/>
              </a:ln>
            </p:spPr>
          </p:sp>
          <p:sp>
            <p:nvSpPr>
              <p:cNvPr id="495" name="Google Shape;495;p30"/>
              <p:cNvSpPr txBox="1"/>
              <p:nvPr/>
            </p:nvSpPr>
            <p:spPr>
              <a:xfrm>
                <a:off x="0" y="-38100"/>
                <a:ext cx="3046672" cy="332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6" name="Google Shape;496;p30"/>
            <p:cNvSpPr txBox="1"/>
            <p:nvPr/>
          </p:nvSpPr>
          <p:spPr>
            <a:xfrm>
              <a:off x="5696245" y="7961575"/>
              <a:ext cx="11565445" cy="75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99"/>
                <a:buFont typeface="Arial"/>
                <a:buNone/>
              </a:pPr>
              <a:r>
                <a:rPr b="0" i="0" lang="en-US" sz="3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Hẹn gặp lại các bạn ở những bài học tiếp theo</a:t>
              </a:r>
              <a:endParaRPr b="0" i="0" sz="34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3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98" name="Google Shape;498;p3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99" name="Google Shape;499;p3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500" name="Google Shape;500;p3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1" name="Google Shape;501;p3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