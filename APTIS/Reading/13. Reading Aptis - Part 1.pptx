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834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4788018" y="1722907"/>
            <a:ext cx="13410874" cy="179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16"/>
              <a:buFont typeface="Arial"/>
              <a:buNone/>
            </a:pPr>
            <a:r>
              <a:rPr b="0" i="0" lang="en-US" sz="104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APTIS GENERAL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7338936" y="4396612"/>
            <a:ext cx="8593708" cy="2361123"/>
            <a:chOff x="0" y="-192881"/>
            <a:chExt cx="11458277" cy="3148163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0" y="-192881"/>
              <a:ext cx="11458277" cy="2963451"/>
              <a:chOff x="0" y="-38100"/>
              <a:chExt cx="2263363" cy="585373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2263363" cy="547273"/>
              </a:xfrm>
              <a:custGeom>
                <a:rect b="b" l="l" r="r" t="t"/>
                <a:pathLst>
                  <a:path extrusionOk="0" h="547273" w="2263363">
                    <a:moveTo>
                      <a:pt x="45945" y="0"/>
                    </a:moveTo>
                    <a:lnTo>
                      <a:pt x="2217418" y="0"/>
                    </a:lnTo>
                    <a:cubicBezTo>
                      <a:pt x="2242793" y="0"/>
                      <a:pt x="2263363" y="20570"/>
                      <a:pt x="2263363" y="45945"/>
                    </a:cubicBezTo>
                    <a:lnTo>
                      <a:pt x="2263363" y="501328"/>
                    </a:lnTo>
                    <a:cubicBezTo>
                      <a:pt x="2263363" y="526703"/>
                      <a:pt x="2242793" y="547273"/>
                      <a:pt x="2217418" y="547273"/>
                    </a:cubicBezTo>
                    <a:lnTo>
                      <a:pt x="45945" y="547273"/>
                    </a:lnTo>
                    <a:cubicBezTo>
                      <a:pt x="20570" y="547273"/>
                      <a:pt x="0" y="526703"/>
                      <a:pt x="0" y="501328"/>
                    </a:cubicBezTo>
                    <a:lnTo>
                      <a:pt x="0" y="45945"/>
                    </a:lnTo>
                    <a:cubicBezTo>
                      <a:pt x="0" y="20570"/>
                      <a:pt x="20570" y="0"/>
                      <a:pt x="45945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0" y="-38100"/>
                <a:ext cx="2263363" cy="585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3"/>
            <p:cNvSpPr txBox="1"/>
            <p:nvPr/>
          </p:nvSpPr>
          <p:spPr>
            <a:xfrm>
              <a:off x="793233" y="91935"/>
              <a:ext cx="9871810" cy="28633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2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460"/>
                <a:buFont typeface="Arial"/>
                <a:buNone/>
              </a:pPr>
              <a:r>
                <a:rPr b="0" i="0" lang="en-US" sz="12460" u="none" cap="none" strike="noStrike">
                  <a:solidFill>
                    <a:srgbClr val="018345"/>
                  </a:solidFill>
                  <a:latin typeface="Calibri"/>
                  <a:ea typeface="Calibri"/>
                  <a:cs typeface="Calibri"/>
                  <a:sym typeface="Calibri"/>
                </a:rPr>
                <a:t>READING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3"/>
          <p:cNvCxnSpPr/>
          <p:nvPr/>
        </p:nvCxnSpPr>
        <p:spPr>
          <a:xfrm>
            <a:off x="5559805" y="3724211"/>
            <a:ext cx="1169949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4867241" y="698293"/>
            <a:ext cx="13215313" cy="1769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64"/>
              <a:buFont typeface="Arial"/>
              <a:buNone/>
            </a:pPr>
            <a:r>
              <a:rPr b="0" i="0" lang="en-US" sz="10264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4"/>
          <p:cNvCxnSpPr/>
          <p:nvPr/>
        </p:nvCxnSpPr>
        <p:spPr>
          <a:xfrm>
            <a:off x="5943600" y="2152650"/>
            <a:ext cx="1157973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14"/>
          <p:cNvGrpSpPr/>
          <p:nvPr/>
        </p:nvGrpSpPr>
        <p:grpSpPr>
          <a:xfrm rot="10800000">
            <a:off x="14951203" y="-741521"/>
            <a:ext cx="7681766" cy="4260610"/>
            <a:chOff x="0" y="-38100"/>
            <a:chExt cx="406400" cy="225405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05" name="Google Shape;105;p14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" name="Google Shape;106;p14"/>
          <p:cNvGrpSpPr/>
          <p:nvPr/>
        </p:nvGrpSpPr>
        <p:grpSpPr>
          <a:xfrm>
            <a:off x="6890415" y="2552700"/>
            <a:ext cx="10092845" cy="1384799"/>
            <a:chOff x="6375842" y="6151456"/>
            <a:chExt cx="10541964" cy="1433865"/>
          </a:xfrm>
        </p:grpSpPr>
        <p:sp>
          <p:nvSpPr>
            <p:cNvPr id="107" name="Google Shape;107;p14"/>
            <p:cNvSpPr/>
            <p:nvPr/>
          </p:nvSpPr>
          <p:spPr>
            <a:xfrm>
              <a:off x="6375842" y="6278356"/>
              <a:ext cx="10541964" cy="1289204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6375842" y="6151456"/>
              <a:ext cx="10541964" cy="1433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386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6375842" y="6296117"/>
              <a:ext cx="1253681" cy="1253680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7917301" y="6581020"/>
              <a:ext cx="8651214" cy="764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Bài đọc APTIS part 1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Books with solid fill" id="111" name="Google Shape;111;p14"/>
            <p:cNvSpPr/>
            <p:nvPr/>
          </p:nvSpPr>
          <p:spPr>
            <a:xfrm>
              <a:off x="6604212" y="6517439"/>
              <a:ext cx="796998" cy="796998"/>
            </a:xfrm>
            <a:custGeom>
              <a:rect b="b" l="l" r="r" t="t"/>
              <a:pathLst>
                <a:path extrusionOk="0" h="1062664" w="1062664">
                  <a:moveTo>
                    <a:pt x="0" y="0"/>
                  </a:moveTo>
                  <a:lnTo>
                    <a:pt x="1062664" y="0"/>
                  </a:lnTo>
                  <a:lnTo>
                    <a:pt x="1062664" y="1062664"/>
                  </a:lnTo>
                  <a:lnTo>
                    <a:pt x="0" y="1062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2" name="Google Shape;112;p14"/>
          <p:cNvSpPr txBox="1"/>
          <p:nvPr/>
        </p:nvSpPr>
        <p:spPr>
          <a:xfrm>
            <a:off x="6487860" y="5519116"/>
            <a:ext cx="10092845" cy="138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7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15" name="Google Shape;115;p1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16" name="Google Shape;116;p1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17" name="Google Shape;117;p1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" name="Google Shape;118;p1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6934482" y="4203547"/>
            <a:ext cx="10121790" cy="1245145"/>
            <a:chOff x="6934200" y="7048500"/>
            <a:chExt cx="9882630" cy="1159137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6934200" y="7048500"/>
              <a:ext cx="9882630" cy="1159137"/>
              <a:chOff x="6487861" y="7950596"/>
              <a:chExt cx="10571780" cy="1289204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6517678" y="7950596"/>
                <a:ext cx="10541963" cy="1289204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6487861" y="7968363"/>
                <a:ext cx="1253681" cy="1253680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4"/>
              <p:cNvSpPr txBox="1"/>
              <p:nvPr/>
            </p:nvSpPr>
            <p:spPr>
              <a:xfrm>
                <a:off x="7905394" y="8359454"/>
                <a:ext cx="7896000" cy="51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30390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Những lưu ý khi làm bài</a:t>
                </a:r>
                <a:endParaRPr b="1" i="0" sz="3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Envelope with solid fill" id="124" name="Google Shape;12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67192" y="7214481"/>
              <a:ext cx="773941" cy="7739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4"/>
          <p:cNvGrpSpPr/>
          <p:nvPr/>
        </p:nvGrpSpPr>
        <p:grpSpPr>
          <a:xfrm>
            <a:off x="6962074" y="5727211"/>
            <a:ext cx="10149936" cy="1245089"/>
            <a:chOff x="6962073" y="8572500"/>
            <a:chExt cx="9910504" cy="1159136"/>
          </a:xfrm>
        </p:grpSpPr>
        <p:sp>
          <p:nvSpPr>
            <p:cNvPr id="126" name="Google Shape;126;p14"/>
            <p:cNvSpPr/>
            <p:nvPr/>
          </p:nvSpPr>
          <p:spPr>
            <a:xfrm>
              <a:off x="6989946" y="8572500"/>
              <a:ext cx="9854758" cy="1159136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962073" y="8588470"/>
              <a:ext cx="1171956" cy="1127196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8403048" y="8840948"/>
              <a:ext cx="8469529" cy="524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Đề mẫu</a:t>
              </a:r>
              <a:endParaRPr b="1" i="0" sz="3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Pencil with solid fill" id="129" name="Google Shape;12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7974" y="8738481"/>
              <a:ext cx="797413" cy="7974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14"/>
          <p:cNvGrpSpPr/>
          <p:nvPr/>
        </p:nvGrpSpPr>
        <p:grpSpPr>
          <a:xfrm>
            <a:off x="6947410" y="7175011"/>
            <a:ext cx="10121390" cy="1245089"/>
            <a:chOff x="6947410" y="8856876"/>
            <a:chExt cx="9366600" cy="1016489"/>
          </a:xfrm>
        </p:grpSpPr>
        <p:grpSp>
          <p:nvGrpSpPr>
            <p:cNvPr id="131" name="Google Shape;131;p14"/>
            <p:cNvGrpSpPr/>
            <p:nvPr/>
          </p:nvGrpSpPr>
          <p:grpSpPr>
            <a:xfrm>
              <a:off x="6947410" y="8856876"/>
              <a:ext cx="9366600" cy="1016489"/>
              <a:chOff x="6962073" y="8572500"/>
              <a:chExt cx="9882631" cy="1159136"/>
            </a:xfrm>
          </p:grpSpPr>
          <p:sp>
            <p:nvSpPr>
              <p:cNvPr id="132" name="Google Shape;132;p14"/>
              <p:cNvSpPr/>
              <p:nvPr/>
            </p:nvSpPr>
            <p:spPr>
              <a:xfrm>
                <a:off x="6989946" y="8572500"/>
                <a:ext cx="9854758" cy="1159136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6962073" y="8588470"/>
                <a:ext cx="1171956" cy="1127196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4"/>
              <p:cNvSpPr txBox="1"/>
              <p:nvPr/>
            </p:nvSpPr>
            <p:spPr>
              <a:xfrm>
                <a:off x="8459833" y="8840948"/>
                <a:ext cx="8087261" cy="535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Hướng dẫn trả lời</a:t>
                </a:r>
                <a:endParaRPr b="1" i="0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Books on shelf with solid fill" id="135" name="Google Shape;135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56012" y="8963133"/>
              <a:ext cx="753302" cy="75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14"/>
          <p:cNvGrpSpPr/>
          <p:nvPr/>
        </p:nvGrpSpPr>
        <p:grpSpPr>
          <a:xfrm>
            <a:off x="7010400" y="8669916"/>
            <a:ext cx="10121390" cy="1245089"/>
            <a:chOff x="6947410" y="8856876"/>
            <a:chExt cx="9366600" cy="1016489"/>
          </a:xfrm>
        </p:grpSpPr>
        <p:grpSp>
          <p:nvGrpSpPr>
            <p:cNvPr id="137" name="Google Shape;137;p14"/>
            <p:cNvGrpSpPr/>
            <p:nvPr/>
          </p:nvGrpSpPr>
          <p:grpSpPr>
            <a:xfrm>
              <a:off x="6947410" y="8856876"/>
              <a:ext cx="9366600" cy="1016489"/>
              <a:chOff x="6962073" y="8572500"/>
              <a:chExt cx="9882631" cy="1159136"/>
            </a:xfrm>
          </p:grpSpPr>
          <p:sp>
            <p:nvSpPr>
              <p:cNvPr id="138" name="Google Shape;138;p14"/>
              <p:cNvSpPr/>
              <p:nvPr/>
            </p:nvSpPr>
            <p:spPr>
              <a:xfrm>
                <a:off x="6989946" y="8572500"/>
                <a:ext cx="9854758" cy="1159136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6962073" y="8588470"/>
                <a:ext cx="1171956" cy="1127196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4"/>
              <p:cNvSpPr txBox="1"/>
              <p:nvPr/>
            </p:nvSpPr>
            <p:spPr>
              <a:xfrm>
                <a:off x="8459833" y="8840948"/>
                <a:ext cx="8087261" cy="535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i="0" lang="en-US" sz="3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Luyện tập</a:t>
                </a:r>
                <a:endParaRPr b="1" i="0" sz="3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Books on shelf with solid fill" id="141" name="Google Shape;141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56012" y="8963133"/>
              <a:ext cx="753302" cy="7533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15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15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51" name="Google Shape;151;p15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5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>
            <a:off x="9121603" y="5737772"/>
            <a:ext cx="5199117" cy="4549228"/>
          </a:xfrm>
          <a:custGeom>
            <a:rect b="b" l="l" r="r" t="t"/>
            <a:pathLst>
              <a:path extrusionOk="0" h="4549228" w="5199117">
                <a:moveTo>
                  <a:pt x="0" y="0"/>
                </a:moveTo>
                <a:lnTo>
                  <a:pt x="5199117" y="0"/>
                </a:lnTo>
                <a:lnTo>
                  <a:pt x="5199117" y="4549228"/>
                </a:lnTo>
                <a:lnTo>
                  <a:pt x="0" y="4549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7315200" y="2540878"/>
            <a:ext cx="8643753" cy="3006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5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đọc APTIS part 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0210111" y="339710"/>
            <a:ext cx="214672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1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58" name="Google Shape;158;p1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59" name="Google Shape;159;p1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60" name="Google Shape;160;p1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" name="Google Shape;161;p1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16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" name="Google Shape;168;p16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169" name="Google Shape;169;p16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70" name="Google Shape;170;p16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6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2" name="Google Shape;172;p16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73" name="Google Shape;173;p16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74" name="Google Shape;174;p16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75" name="Google Shape;175;p16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" name="Google Shape;176;p16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6"/>
          <p:cNvSpPr txBox="1"/>
          <p:nvPr/>
        </p:nvSpPr>
        <p:spPr>
          <a:xfrm>
            <a:off x="6293296" y="622074"/>
            <a:ext cx="11880998" cy="819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5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viết APTIS part 1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16"/>
          <p:cNvGrpSpPr/>
          <p:nvPr/>
        </p:nvGrpSpPr>
        <p:grpSpPr>
          <a:xfrm>
            <a:off x="7007666" y="2894022"/>
            <a:ext cx="9756334" cy="1699733"/>
            <a:chOff x="7007666" y="2894022"/>
            <a:chExt cx="9756334" cy="1699733"/>
          </a:xfrm>
        </p:grpSpPr>
        <p:sp>
          <p:nvSpPr>
            <p:cNvPr id="179" name="Google Shape;179;p16"/>
            <p:cNvSpPr/>
            <p:nvPr/>
          </p:nvSpPr>
          <p:spPr>
            <a:xfrm>
              <a:off x="9677764" y="2894022"/>
              <a:ext cx="7086236" cy="1699733"/>
            </a:xfrm>
            <a:prstGeom prst="roundRect">
              <a:avLst>
                <a:gd fmla="val 16667" name="adj"/>
              </a:avLst>
            </a:prstGeom>
            <a:solidFill>
              <a:srgbClr val="4CB487"/>
            </a:solidFill>
            <a:ln cap="flat" cmpd="sng" w="25400">
              <a:solidFill>
                <a:srgbClr val="00BF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Chọn một từ (trong số ba từ) để hoàn thiện một câu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descr="List with solid fill" id="180" name="Google Shape;18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07666" y="2894022"/>
              <a:ext cx="1611038" cy="161103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16"/>
          <p:cNvGrpSpPr/>
          <p:nvPr/>
        </p:nvGrpSpPr>
        <p:grpSpPr>
          <a:xfrm>
            <a:off x="7337971" y="5237421"/>
            <a:ext cx="9426029" cy="1663867"/>
            <a:chOff x="7337971" y="5237421"/>
            <a:chExt cx="9426029" cy="1663867"/>
          </a:xfrm>
        </p:grpSpPr>
        <p:sp>
          <p:nvSpPr>
            <p:cNvPr id="182" name="Google Shape;182;p16"/>
            <p:cNvSpPr/>
            <p:nvPr/>
          </p:nvSpPr>
          <p:spPr>
            <a:xfrm>
              <a:off x="9673125" y="5237421"/>
              <a:ext cx="7090875" cy="1663867"/>
            </a:xfrm>
            <a:prstGeom prst="roundRect">
              <a:avLst>
                <a:gd fmla="val 16667" name="adj"/>
              </a:avLst>
            </a:prstGeom>
            <a:solidFill>
              <a:srgbClr val="02D06E"/>
            </a:solidFill>
            <a:ln cap="flat" cmpd="sng" w="25400">
              <a:solidFill>
                <a:srgbClr val="00BF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Sẽ có 5 câu cần hoàn thiện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descr="Pencil with solid fill" id="183" name="Google Shape;18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7971" y="5347592"/>
              <a:ext cx="1443524" cy="14435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16"/>
          <p:cNvGrpSpPr/>
          <p:nvPr/>
        </p:nvGrpSpPr>
        <p:grpSpPr>
          <a:xfrm>
            <a:off x="7337971" y="7542778"/>
            <a:ext cx="12905107" cy="1812183"/>
            <a:chOff x="7337971" y="7522317"/>
            <a:chExt cx="12905107" cy="1812183"/>
          </a:xfrm>
        </p:grpSpPr>
        <p:grpSp>
          <p:nvGrpSpPr>
            <p:cNvPr id="185" name="Google Shape;185;p16"/>
            <p:cNvGrpSpPr/>
            <p:nvPr/>
          </p:nvGrpSpPr>
          <p:grpSpPr>
            <a:xfrm>
              <a:off x="9673125" y="7562692"/>
              <a:ext cx="10569953" cy="1771808"/>
              <a:chOff x="9673125" y="7562692"/>
              <a:chExt cx="10569953" cy="1771808"/>
            </a:xfrm>
          </p:grpSpPr>
          <p:cxnSp>
            <p:nvCxnSpPr>
              <p:cNvPr id="186" name="Google Shape;186;p16"/>
              <p:cNvCxnSpPr/>
              <p:nvPr/>
            </p:nvCxnSpPr>
            <p:spPr>
              <a:xfrm>
                <a:off x="14939558" y="9274528"/>
                <a:ext cx="530352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87" name="Google Shape;187;p16"/>
              <p:cNvSpPr/>
              <p:nvPr/>
            </p:nvSpPr>
            <p:spPr>
              <a:xfrm>
                <a:off x="9673125" y="7562692"/>
                <a:ext cx="7090875" cy="1771808"/>
              </a:xfrm>
              <a:prstGeom prst="roundRect">
                <a:avLst>
                  <a:gd fmla="val 16667" name="adj"/>
                </a:avLst>
              </a:prstGeom>
              <a:solidFill>
                <a:srgbClr val="41774D"/>
              </a:solidFill>
              <a:ln cap="flat" cmpd="sng" w="25400">
                <a:solidFill>
                  <a:srgbClr val="01834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rPr b="1" i="0" lang="en-US" sz="3600" u="none" cap="none" strike="noStrike">
                    <a:solidFill>
                      <a:schemeClr val="lt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Mỗi câu trong đoạn văn đều đứng độc lập</a:t>
                </a:r>
                <a:endParaRPr b="1" i="0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</p:txBody>
          </p:sp>
        </p:grpSp>
        <p:pic>
          <p:nvPicPr>
            <p:cNvPr descr="Bullseye with solid fill" id="188" name="Google Shape;18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37971" y="7522317"/>
              <a:ext cx="1611037" cy="1611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17"/>
          <p:cNvCxnSpPr/>
          <p:nvPr/>
        </p:nvCxnSpPr>
        <p:spPr>
          <a:xfrm>
            <a:off x="6807199" y="2573852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17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17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96" name="Google Shape;196;p17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97" name="Google Shape;197;p1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98" name="Google Shape;198;p17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7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7"/>
          <p:cNvSpPr txBox="1"/>
          <p:nvPr/>
        </p:nvSpPr>
        <p:spPr>
          <a:xfrm>
            <a:off x="6040887" y="2637624"/>
            <a:ext cx="11760209" cy="149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Những lưu ý khi làm bài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10312399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17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04" name="Google Shape;204;p17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05" name="Google Shape;205;p17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06" name="Google Shape;206;p17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7" name="Google Shape;207;p17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Stressed Out Woman Cartoon Images – Browse 1,008 Stock Photos, Vectors, and  Video | Adobe Stock" id="208" name="Google Shape;2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584" y="4536263"/>
            <a:ext cx="7208814" cy="4353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18"/>
          <p:cNvCxnSpPr/>
          <p:nvPr/>
        </p:nvCxnSpPr>
        <p:spPr>
          <a:xfrm flipH="1" rot="10800000">
            <a:off x="7315293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5" name="Google Shape;215;p18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16" name="Google Shape;216;p18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17" name="Google Shape;217;p18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8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8"/>
          <p:cNvSpPr txBox="1"/>
          <p:nvPr/>
        </p:nvSpPr>
        <p:spPr>
          <a:xfrm>
            <a:off x="6677933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22" name="Google Shape;222;p18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23" name="Google Shape;223;p18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18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8"/>
          <p:cNvGrpSpPr/>
          <p:nvPr/>
        </p:nvGrpSpPr>
        <p:grpSpPr>
          <a:xfrm>
            <a:off x="8469764" y="3078453"/>
            <a:ext cx="9259434" cy="5457241"/>
            <a:chOff x="0" y="1148053"/>
            <a:chExt cx="9259434" cy="5457241"/>
          </a:xfrm>
        </p:grpSpPr>
        <p:sp>
          <p:nvSpPr>
            <p:cNvPr id="226" name="Google Shape;226;p18"/>
            <p:cNvSpPr/>
            <p:nvPr/>
          </p:nvSpPr>
          <p:spPr>
            <a:xfrm>
              <a:off x="0" y="1605613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62971" y="1148053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507643" y="1192725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Đọc và hiểu đúng câu hỏi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0" y="3011774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5BB2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462971" y="2554213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rgbClr val="5BB27B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 txBox="1"/>
            <p:nvPr/>
          </p:nvSpPr>
          <p:spPr>
            <a:xfrm>
              <a:off x="507643" y="2598885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Đọc kĩ các phương án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0" y="4417934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5F8AA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462971" y="3960374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rgbClr val="5F8AA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507643" y="4005046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Kiểm tra ngữ pháp, ý nghĩa khi chọn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0" y="5824094"/>
              <a:ext cx="9259434" cy="781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7F63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462971" y="5366534"/>
              <a:ext cx="6481604" cy="915120"/>
            </a:xfrm>
            <a:prstGeom prst="roundRect">
              <a:avLst>
                <a:gd fmla="val 16667" name="adj"/>
              </a:avLst>
            </a:prstGeom>
            <a:solidFill>
              <a:srgbClr val="7F63A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507643" y="5411206"/>
              <a:ext cx="6392260" cy="825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44975" spcFirstLastPara="1" rIns="244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b="1" i="0" lang="en-US" sz="3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Không bỏ qua câu nào</a:t>
              </a:r>
              <a:endParaRPr b="1" i="0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19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" name="Google Shape;243;p19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244" name="Google Shape;244;p19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45" name="Google Shape;245;p19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246" name="Google Shape;246;p19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9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9"/>
          <p:cNvSpPr txBox="1"/>
          <p:nvPr/>
        </p:nvSpPr>
        <p:spPr>
          <a:xfrm>
            <a:off x="5511794" y="2502271"/>
            <a:ext cx="1176020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6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9601200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" name="Google Shape;251;p19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52" name="Google Shape;252;p19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53" name="Google Shape;253;p19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54" name="Google Shape;254;p19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" name="Google Shape;255;p19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6" name="Google Shape;256;p19"/>
          <p:cNvPicPr preferRelativeResize="0"/>
          <p:nvPr/>
        </p:nvPicPr>
        <p:blipFill rotWithShape="1">
          <a:blip r:embed="rId5">
            <a:alphaModFix/>
          </a:blip>
          <a:srcRect b="10096" l="0" r="0" t="10547"/>
          <a:stretch/>
        </p:blipFill>
        <p:spPr>
          <a:xfrm>
            <a:off x="7772400" y="4099418"/>
            <a:ext cx="6391277" cy="507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20"/>
          <p:cNvCxnSpPr/>
          <p:nvPr/>
        </p:nvCxnSpPr>
        <p:spPr>
          <a:xfrm flipH="1" rot="10800000">
            <a:off x="3801534" y="1435162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3" name="Google Shape;263;p20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64" name="Google Shape;264;p2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65" name="Google Shape;265;p2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20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67" name="Google Shape;267;p20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68" name="Google Shape;268;p20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69" name="Google Shape;269;p20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" name="Google Shape;270;p20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20"/>
          <p:cNvSpPr txBox="1"/>
          <p:nvPr/>
        </p:nvSpPr>
        <p:spPr>
          <a:xfrm>
            <a:off x="2613932" y="213713"/>
            <a:ext cx="11880998" cy="9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20"/>
          <p:cNvSpPr/>
          <p:nvPr/>
        </p:nvSpPr>
        <p:spPr>
          <a:xfrm>
            <a:off x="2184399" y="1969101"/>
            <a:ext cx="13885333" cy="7572567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2874485" y="2145662"/>
            <a:ext cx="10685939" cy="713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 the word that fits in the gap. The first one is done for you.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2806751" y="2809622"/>
            <a:ext cx="12754981" cy="625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Hey Lewis,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you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(do)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a favour?.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have a work meeting (on/ until/ to) 6:00pm.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won't be home on time to (do/ make/ find) dinner.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you want to (take/ pick/ get) pizza for dinner?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could also eat (out/ up/ down) at that new Greek restaurant.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 me (know/ think/ say) what you decide.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Love,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Helen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" name="Google Shape;280;p21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21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2" name="Google Shape;282;p21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283" name="Google Shape;283;p21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84" name="Google Shape;284;p21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285" name="Google Shape;285;p21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21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21"/>
          <p:cNvSpPr txBox="1"/>
          <p:nvPr/>
        </p:nvSpPr>
        <p:spPr>
          <a:xfrm>
            <a:off x="5232390" y="2564021"/>
            <a:ext cx="11760209" cy="1495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Hướng dẫn trả lời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9601200" y="339710"/>
            <a:ext cx="2755633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-10653311" y="9715322"/>
            <a:ext cx="13923203" cy="3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6"/>
              <a:buFont typeface="Arial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https://edulife.com.vn/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" name="Google Shape;290;p21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91" name="Google Shape;291;p21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92" name="Google Shape;292;p21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93" name="Google Shape;293;p21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" name="Google Shape;294;p21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21"/>
          <p:cNvSpPr/>
          <p:nvPr/>
        </p:nvSpPr>
        <p:spPr>
          <a:xfrm>
            <a:off x="9563099" y="4749873"/>
            <a:ext cx="3276055" cy="3301942"/>
          </a:xfrm>
          <a:custGeom>
            <a:rect b="b" l="l" r="r" t="t"/>
            <a:pathLst>
              <a:path extrusionOk="0" h="4310632" w="4025053">
                <a:moveTo>
                  <a:pt x="0" y="0"/>
                </a:moveTo>
                <a:lnTo>
                  <a:pt x="4025053" y="0"/>
                </a:lnTo>
                <a:lnTo>
                  <a:pt x="4025053" y="4310632"/>
                </a:lnTo>
                <a:lnTo>
                  <a:pt x="0" y="4310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Google Shape;301;p22"/>
          <p:cNvCxnSpPr/>
          <p:nvPr/>
        </p:nvCxnSpPr>
        <p:spPr>
          <a:xfrm flipH="1" rot="10800000">
            <a:off x="3801534" y="1435162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2" name="Google Shape;302;p22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03" name="Google Shape;303;p22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04" name="Google Shape;304;p22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06" name="Google Shape;306;p22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07" name="Google Shape;307;p22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08" name="Google Shape;308;p22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" name="Google Shape;309;p22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22"/>
          <p:cNvSpPr txBox="1"/>
          <p:nvPr/>
        </p:nvSpPr>
        <p:spPr>
          <a:xfrm>
            <a:off x="2613932" y="213713"/>
            <a:ext cx="11880998" cy="9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22"/>
          <p:cNvSpPr/>
          <p:nvPr/>
        </p:nvSpPr>
        <p:spPr>
          <a:xfrm>
            <a:off x="2184400" y="1969101"/>
            <a:ext cx="13600692" cy="7572567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2874485" y="2145662"/>
            <a:ext cx="10685939" cy="713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 the word that fits in the gap. The first one is done for you.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2806751" y="2809622"/>
            <a:ext cx="12754981" cy="625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Hey Lewis,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you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(do)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a favour?.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have a work meeting (on/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until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 to) 6:00pm.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won't be home on time to (do/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make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 find) dinner.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you want to (take/ pick/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pizza for dinner?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could also eat (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 up/ down) at that new Greek restaurant.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 me (</a:t>
            </a:r>
            <a:r>
              <a:rPr b="0" i="0" lang="en-US" sz="3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know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 think/ say) what you decide.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Love,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Helen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0" name="Google Shape;320;p23"/>
          <p:cNvCxnSpPr/>
          <p:nvPr/>
        </p:nvCxnSpPr>
        <p:spPr>
          <a:xfrm flipH="1" rot="10800000">
            <a:off x="7828449" y="2185562"/>
            <a:ext cx="10227633" cy="54826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23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2" name="Google Shape;322;p23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23" name="Google Shape;323;p23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24" name="Google Shape;324;p23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23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23"/>
          <p:cNvSpPr txBox="1"/>
          <p:nvPr/>
        </p:nvSpPr>
        <p:spPr>
          <a:xfrm>
            <a:off x="6865513" y="872321"/>
            <a:ext cx="11880998" cy="91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Từ vựng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7" name="Google Shape;327;p23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28" name="Google Shape;328;p23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29" name="Google Shape;329;p23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30" name="Google Shape;330;p23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23"/>
            <p:cNvSpPr txBox="1"/>
            <p:nvPr/>
          </p:nvSpPr>
          <p:spPr>
            <a:xfrm>
              <a:off x="4182979" y="666743"/>
              <a:ext cx="3721151" cy="47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0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23"/>
          <p:cNvSpPr txBox="1"/>
          <p:nvPr/>
        </p:nvSpPr>
        <p:spPr>
          <a:xfrm>
            <a:off x="9397031" y="3086065"/>
            <a:ext cx="90258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oto Sans Symbols"/>
              <a:buChar char="⮚"/>
            </a:pPr>
            <a:r>
              <a:rPr b="0" i="0" lang="en-US" sz="48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Until: </a:t>
            </a: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 đến khi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oto Sans Symbols"/>
              <a:buChar char="⮚"/>
            </a:pPr>
            <a:r>
              <a:rPr b="0" i="0" lang="en-US" sz="48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On time: </a:t>
            </a: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đúng giờ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oto Sans Symbols"/>
              <a:buChar char="⮚"/>
            </a:pPr>
            <a:r>
              <a:rPr b="0" i="0" lang="en-US" sz="48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Restaurant: </a:t>
            </a: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nhà hàng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Noto Sans Symbols"/>
              <a:buChar char="⮚"/>
            </a:pPr>
            <a:r>
              <a:rPr b="0" i="0" lang="en-US" sz="4800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Decide: </a:t>
            </a: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quyết định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24"/>
          <p:cNvCxnSpPr/>
          <p:nvPr/>
        </p:nvCxnSpPr>
        <p:spPr>
          <a:xfrm>
            <a:off x="5693855" y="2235185"/>
            <a:ext cx="11307428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24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9" name="Google Shape;339;p24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340" name="Google Shape;340;p2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41" name="Google Shape;341;p2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42" name="Google Shape;342;p24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24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24"/>
          <p:cNvSpPr txBox="1"/>
          <p:nvPr/>
        </p:nvSpPr>
        <p:spPr>
          <a:xfrm>
            <a:off x="6705600" y="2324100"/>
            <a:ext cx="9930052" cy="1266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Luyện tập</a:t>
            </a:r>
            <a:endParaRPr b="1" i="0" sz="72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24"/>
          <p:cNvSpPr txBox="1"/>
          <p:nvPr/>
        </p:nvSpPr>
        <p:spPr>
          <a:xfrm>
            <a:off x="10182106" y="339710"/>
            <a:ext cx="220273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6" name="Google Shape;346;p2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47" name="Google Shape;347;p2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48" name="Google Shape;348;p2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49" name="Google Shape;349;p2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0" name="Google Shape;350;p2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1" name="Google Shape;35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5400" y="3956510"/>
            <a:ext cx="5962650" cy="596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7" name="Google Shape;357;p25"/>
          <p:cNvCxnSpPr/>
          <p:nvPr/>
        </p:nvCxnSpPr>
        <p:spPr>
          <a:xfrm>
            <a:off x="5693855" y="2057171"/>
            <a:ext cx="11307428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5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9" name="Google Shape;359;p25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360" name="Google Shape;360;p2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61" name="Google Shape;361;p2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62" name="Google Shape;362;p25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5"/>
          <p:cNvSpPr/>
          <p:nvPr/>
        </p:nvSpPr>
        <p:spPr>
          <a:xfrm>
            <a:off x="18157088" y="171450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5"/>
          <p:cNvGrpSpPr/>
          <p:nvPr/>
        </p:nvGrpSpPr>
        <p:grpSpPr>
          <a:xfrm rot="10800000">
            <a:off x="15828686" y="-13843"/>
            <a:ext cx="7681766" cy="4260610"/>
            <a:chOff x="0" y="-38100"/>
            <a:chExt cx="406400" cy="225405"/>
          </a:xfrm>
        </p:grpSpPr>
        <p:sp>
          <p:nvSpPr>
            <p:cNvPr id="365" name="Google Shape;365;p2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146">
                <a:alpha val="80000"/>
              </a:srgbClr>
            </a:solidFill>
            <a:ln>
              <a:noFill/>
            </a:ln>
          </p:spPr>
        </p:sp>
        <p:sp>
          <p:nvSpPr>
            <p:cNvPr id="366" name="Google Shape;366;p2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25"/>
          <p:cNvSpPr txBox="1"/>
          <p:nvPr/>
        </p:nvSpPr>
        <p:spPr>
          <a:xfrm>
            <a:off x="5696245" y="2603735"/>
            <a:ext cx="11565445" cy="623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3"/>
              <a:buFont typeface="Arial"/>
              <a:buNone/>
            </a:pPr>
            <a:r>
              <a:rPr b="1" i="0" lang="en-US" sz="10003" u="none" cap="none" strike="noStrike">
                <a:solidFill>
                  <a:srgbClr val="018345"/>
                </a:solidFill>
                <a:latin typeface="Calibri"/>
                <a:ea typeface="Calibri"/>
                <a:cs typeface="Calibri"/>
                <a:sym typeface="Calibri"/>
              </a:rPr>
              <a:t>Cảm ơn các bạn đã chú ý theo dõi!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3"/>
              <a:buFont typeface="Arial"/>
              <a:buNone/>
            </a:pPr>
            <a:r>
              <a:t/>
            </a:r>
            <a:endParaRPr b="1" i="0" sz="10003" u="none" cap="none" strike="noStrike">
              <a:solidFill>
                <a:srgbClr val="0183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25"/>
          <p:cNvGrpSpPr/>
          <p:nvPr/>
        </p:nvGrpSpPr>
        <p:grpSpPr>
          <a:xfrm>
            <a:off x="5693855" y="6543482"/>
            <a:ext cx="11567835" cy="1261722"/>
            <a:chOff x="5693855" y="7590172"/>
            <a:chExt cx="11567835" cy="1261722"/>
          </a:xfrm>
        </p:grpSpPr>
        <p:grpSp>
          <p:nvGrpSpPr>
            <p:cNvPr id="369" name="Google Shape;369;p25"/>
            <p:cNvGrpSpPr/>
            <p:nvPr/>
          </p:nvGrpSpPr>
          <p:grpSpPr>
            <a:xfrm>
              <a:off x="5693855" y="7590172"/>
              <a:ext cx="11567834" cy="1261722"/>
              <a:chOff x="0" y="-38100"/>
              <a:chExt cx="3046672" cy="332305"/>
            </a:xfrm>
          </p:grpSpPr>
          <p:sp>
            <p:nvSpPr>
              <p:cNvPr id="370" name="Google Shape;370;p25"/>
              <p:cNvSpPr/>
              <p:nvPr/>
            </p:nvSpPr>
            <p:spPr>
              <a:xfrm>
                <a:off x="0" y="0"/>
                <a:ext cx="3046672" cy="294205"/>
              </a:xfrm>
              <a:custGeom>
                <a:rect b="b" l="l" r="r" t="t"/>
                <a:pathLst>
                  <a:path extrusionOk="0" h="294205" w="3046672">
                    <a:moveTo>
                      <a:pt x="0" y="0"/>
                    </a:moveTo>
                    <a:lnTo>
                      <a:pt x="3046672" y="0"/>
                    </a:lnTo>
                    <a:lnTo>
                      <a:pt x="3046672" y="294205"/>
                    </a:lnTo>
                    <a:lnTo>
                      <a:pt x="0" y="294205"/>
                    </a:lnTo>
                    <a:close/>
                  </a:path>
                </a:pathLst>
              </a:custGeom>
              <a:solidFill>
                <a:srgbClr val="006B37"/>
              </a:solidFill>
              <a:ln>
                <a:noFill/>
              </a:ln>
            </p:spPr>
          </p:sp>
          <p:sp>
            <p:nvSpPr>
              <p:cNvPr id="371" name="Google Shape;371;p25"/>
              <p:cNvSpPr txBox="1"/>
              <p:nvPr/>
            </p:nvSpPr>
            <p:spPr>
              <a:xfrm>
                <a:off x="0" y="-38100"/>
                <a:ext cx="3046672" cy="3323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25"/>
            <p:cNvSpPr txBox="1"/>
            <p:nvPr/>
          </p:nvSpPr>
          <p:spPr>
            <a:xfrm>
              <a:off x="5696245" y="7961575"/>
              <a:ext cx="11565445" cy="753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99"/>
                <a:buFont typeface="Arial"/>
                <a:buNone/>
              </a:pPr>
              <a:r>
                <a:rPr b="0" i="0" lang="en-US" sz="34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Hẹn gặp lại các bạn ở những bài học tiếp theo</a:t>
              </a:r>
              <a:endParaRPr b="0" i="0" sz="34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2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74" name="Google Shape;374;p2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75" name="Google Shape;375;p2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76" name="Google Shape;376;p2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7" name="Google Shape;377;p2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