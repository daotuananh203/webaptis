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y="10287000" cx="18288000"/>
  <p:notesSz cx="6858000" cy="9144000"/>
  <p:embeddedFontLst>
    <p:embeddedFont>
      <p:font typeface="Roboto"/>
      <p:regular r:id="rId45"/>
      <p:bold r:id="rId46"/>
      <p:italic r:id="rId47"/>
      <p:boldItalic r:id="rId48"/>
    </p:embeddedFont>
    <p:embeddedFont>
      <p:font typeface="Montserrat"/>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Roboto-bold.fntdata"/><Relationship Id="rId45" Type="http://schemas.openxmlformats.org/officeDocument/2006/relationships/font" Target="fonts/Robo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boldItalic.fntdata"/><Relationship Id="rId47" Type="http://schemas.openxmlformats.org/officeDocument/2006/relationships/font" Target="fonts/Roboto-italic.fntdata"/><Relationship Id="rId49" Type="http://schemas.openxmlformats.org/officeDocument/2006/relationships/font" Target="fonts/Montserrat-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Montserrat-italic.fntdata"/><Relationship Id="rId50" Type="http://schemas.openxmlformats.org/officeDocument/2006/relationships/font" Target="fonts/Montserrat-bold.fntdata"/><Relationship Id="rId52" Type="http://schemas.openxmlformats.org/officeDocument/2006/relationships/font" Target="fonts/Montserrat-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3" name="Google Shape;153;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Phần 4	</a:t>
            </a:r>
            <a:endParaRPr/>
          </a:p>
          <a:p>
            <a:pPr indent="0" lvl="0" marL="0" rtl="0" algn="l">
              <a:spcBef>
                <a:spcPts val="0"/>
              </a:spcBef>
              <a:spcAft>
                <a:spcPts val="0"/>
              </a:spcAft>
              <a:buNone/>
            </a:pPr>
            <a:r>
              <a:rPr lang="en-US"/>
              <a:t>Nội dung: Đọc hiểu đoạn văn	</a:t>
            </a:r>
            <a:endParaRPr/>
          </a:p>
          <a:p>
            <a:pPr indent="0" lvl="0" marL="0" rtl="0" algn="l">
              <a:spcBef>
                <a:spcPts val="0"/>
              </a:spcBef>
              <a:spcAft>
                <a:spcPts val="0"/>
              </a:spcAft>
              <a:buNone/>
            </a:pPr>
            <a:r>
              <a:rPr lang="en-US"/>
              <a:t>Dạng bài: Tìm tiêu đề phù hợp với từng đoạn văn.	</a:t>
            </a:r>
            <a:endParaRPr/>
          </a:p>
          <a:p>
            <a:pPr indent="0" lvl="0" marL="0" rtl="0" algn="l">
              <a:spcBef>
                <a:spcPts val="0"/>
              </a:spcBef>
              <a:spcAft>
                <a:spcPts val="0"/>
              </a:spcAft>
              <a:buNone/>
            </a:pPr>
            <a:r>
              <a:rPr lang="en-US"/>
              <a:t>Yêu cầu: Chọn 1 bài văn dài gồm 7 đoạn văn nhỏ, và 8 tiêu đề. Nối tiêu đề thích hợp cho 7 đoạn văn nhỏ.</a:t>
            </a:r>
            <a:endParaRPr/>
          </a:p>
        </p:txBody>
      </p:sp>
      <p:sp>
        <p:nvSpPr>
          <p:cNvPr id="154" name="Google Shape;154;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0" name="Google Shape;21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Lưu ý về thời gian: </a:t>
            </a:r>
            <a:endParaRPr/>
          </a:p>
          <a:p>
            <a:pPr indent="0" lvl="0" marL="0" rtl="0" algn="l">
              <a:spcBef>
                <a:spcPts val="0"/>
              </a:spcBef>
              <a:spcAft>
                <a:spcPts val="0"/>
              </a:spcAft>
              <a:buClr>
                <a:schemeClr val="dk1"/>
              </a:buClr>
              <a:buSzPts val="1100"/>
              <a:buFont typeface="Arial"/>
              <a:buNone/>
            </a:pPr>
            <a:r>
              <a:rPr lang="en-US"/>
              <a:t>- </a:t>
            </a:r>
            <a:r>
              <a:rPr lang="en-US"/>
              <a:t>Đừng dành quá nhiều thời gian cho một câu hỏi. Học cách "tự điều chỉnh" bằng cách luyện tập làm bài kiểm tra sử dụng đồng hồ đếm giờ. Đánh dấu câu hỏi để xem lại sau nếu không chắc chắn.</a:t>
            </a:r>
            <a:endParaRPr/>
          </a:p>
          <a:p>
            <a:pPr indent="0" lvl="0" marL="0" rtl="0" algn="l">
              <a:spcBef>
                <a:spcPts val="0"/>
              </a:spcBef>
              <a:spcAft>
                <a:spcPts val="0"/>
              </a:spcAft>
              <a:buClr>
                <a:schemeClr val="dk1"/>
              </a:buClr>
              <a:buSzPts val="1100"/>
              <a:buFont typeface="Arial"/>
              <a:buNone/>
            </a:pPr>
            <a:r>
              <a:rPr lang="en-US"/>
              <a:t>- Đừng để bất kỳ câu trả lời nào trống: Kiểm tra trang tóm tắt để xem có bỏ sót câu hỏi nào không vì nếu trả lời sai cũng không bị mất điểm.</a:t>
            </a:r>
            <a:endParaRPr/>
          </a:p>
          <a:p>
            <a:pPr indent="0" lvl="0" marL="0" rtl="0" algn="l">
              <a:spcBef>
                <a:spcPts val="0"/>
              </a:spcBef>
              <a:spcAft>
                <a:spcPts val="0"/>
              </a:spcAft>
              <a:buClr>
                <a:schemeClr val="dk1"/>
              </a:buClr>
              <a:buSzPts val="1100"/>
              <a:buFont typeface="Arial"/>
              <a:buNone/>
            </a:pPr>
            <a:r>
              <a:rPr lang="en-US"/>
              <a:t>- Đừng mong đợi hiểu mọi từ: vốn từ vựng rộng là rất quan trọng để đạt điểm cao trong bài kiểm tra, tuy nhiên cần ưu tiên hiểu ý của tác giả chứ không phải tập trung vào những từ khó, điều đó sẽ làm mất thời gian.</a:t>
            </a:r>
            <a:endParaRPr/>
          </a:p>
          <a:p>
            <a:pPr indent="0" lvl="0" marL="0" rtl="0" algn="l">
              <a:spcBef>
                <a:spcPts val="0"/>
              </a:spcBef>
              <a:spcAft>
                <a:spcPts val="0"/>
              </a:spcAft>
              <a:buClr>
                <a:schemeClr val="dk1"/>
              </a:buClr>
              <a:buSzPts val="1100"/>
              <a:buFont typeface="Arial"/>
              <a:buNone/>
            </a:pPr>
            <a:r>
              <a:rPr lang="en-US"/>
              <a:t>- Làm câu dễ trước câu khó sau: Điều đó tránh lãng phí thời gian làm bài thi quý giá. Bằng cách này, bạn có thể tập trung vào tất cả những câu hỏi mà bạn biết câu trả lời. Bạn có thể quay lại những câu hỏi khó ở cuối nếu bạn có thời gian.</a:t>
            </a:r>
            <a:endParaRPr/>
          </a:p>
          <a:p>
            <a:pPr indent="0" lvl="0" marL="0" marR="0" rtl="0" algn="l">
              <a:lnSpc>
                <a:spcPct val="100000"/>
              </a:lnSpc>
              <a:spcBef>
                <a:spcPts val="0"/>
              </a:spcBef>
              <a:spcAft>
                <a:spcPts val="0"/>
              </a:spcAft>
              <a:buClr>
                <a:schemeClr val="dk1"/>
              </a:buClr>
              <a:buSzPts val="1200"/>
              <a:buFont typeface="Calibri"/>
              <a:buNone/>
            </a:pPr>
            <a:r>
              <a:rPr lang="en-US"/>
              <a:t>- Đọc câu hỏi trước và đoạn văn sau: để hiểu được yêu cầu đề bài, từ đó việc đọc và tìm thông tin sẽ dễ dàng hơn</a:t>
            </a:r>
            <a:endParaRPr/>
          </a:p>
        </p:txBody>
      </p:sp>
      <p:sp>
        <p:nvSpPr>
          <p:cNvPr id="211" name="Google Shape;21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e10642e1dc_1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g2e10642e1dc_1_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đọc đề mẫu giải thích yêu cầu đề bài</a:t>
            </a:r>
            <a:endParaRPr/>
          </a:p>
        </p:txBody>
      </p:sp>
      <p:sp>
        <p:nvSpPr>
          <p:cNvPr id="248" name="Google Shape;248;g2e10642e1dc_1_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4" name="Google Shape;26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272a6e38b79_0_2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g272a6e38b79_0_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4" name="Google Shape;30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2e1ad9d99f0_0_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 name="Google Shape;334;g2e1ad9d99f0_0_5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hướng dẫn HS đọc hiểu câu đầu và câu cuối đoạn</a:t>
            </a:r>
            <a:endParaRPr/>
          </a:p>
          <a:p>
            <a:pPr indent="0" lvl="0" marL="0" rtl="0" algn="l">
              <a:spcBef>
                <a:spcPts val="0"/>
              </a:spcBef>
              <a:spcAft>
                <a:spcPts val="0"/>
              </a:spcAft>
              <a:buNone/>
            </a:pPr>
            <a:r>
              <a:rPr lang="en-US"/>
              <a:t>GV dịch cho HV câu đầu và câu cuối</a:t>
            </a:r>
            <a:endParaRPr/>
          </a:p>
          <a:p>
            <a:pPr indent="0" lvl="0" marL="0" rtl="0" algn="l">
              <a:spcBef>
                <a:spcPts val="0"/>
              </a:spcBef>
              <a:spcAft>
                <a:spcPts val="0"/>
              </a:spcAft>
              <a:buNone/>
            </a:pPr>
            <a:r>
              <a:rPr lang="en-US"/>
              <a:t>GV hướng dẫn và chọn đáp án cho HV</a:t>
            </a:r>
            <a:endParaRPr/>
          </a:p>
        </p:txBody>
      </p:sp>
      <p:sp>
        <p:nvSpPr>
          <p:cNvPr id="335" name="Google Shape;335;g2e1ad9d99f0_0_5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2e1ad9d99f0_0_1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2" name="Google Shape;352;g2e1ad9d99f0_0_13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hướng dẫn HS đọc hiểu câu đầu và câu cuối đoạn</a:t>
            </a:r>
            <a:endParaRPr/>
          </a:p>
          <a:p>
            <a:pPr indent="0" lvl="0" marL="0" rtl="0" algn="l">
              <a:spcBef>
                <a:spcPts val="0"/>
              </a:spcBef>
              <a:spcAft>
                <a:spcPts val="0"/>
              </a:spcAft>
              <a:buNone/>
            </a:pPr>
            <a:r>
              <a:rPr lang="en-US"/>
              <a:t>GV dịch cho HV câu đầu và câu cuối</a:t>
            </a:r>
            <a:endParaRPr/>
          </a:p>
          <a:p>
            <a:pPr indent="0" lvl="0" marL="0" rtl="0" algn="l">
              <a:spcBef>
                <a:spcPts val="0"/>
              </a:spcBef>
              <a:spcAft>
                <a:spcPts val="0"/>
              </a:spcAft>
              <a:buNone/>
            </a:pPr>
            <a:r>
              <a:rPr lang="en-US"/>
              <a:t>GV hướng dẫn và chọn đáp án cho HV</a:t>
            </a:r>
            <a:endParaRPr/>
          </a:p>
        </p:txBody>
      </p:sp>
      <p:sp>
        <p:nvSpPr>
          <p:cNvPr id="353" name="Google Shape;353;g2e1ad9d99f0_0_13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2e1ad9d99f0_0_1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 name="Google Shape;371;g2e1ad9d99f0_0_11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g2e1ad9d99f0_0_11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2e1ad9d99f0_0_17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3" name="Google Shape;383;g2e1ad9d99f0_0_1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2e1ad9d99f0_0_19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3" name="Google Shape;403;g2e1ad9d99f0_0_19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hướng dẫn HS đọc hiểu câu đầu và câu cuối đoạn</a:t>
            </a:r>
            <a:endParaRPr/>
          </a:p>
          <a:p>
            <a:pPr indent="0" lvl="0" marL="0" rtl="0" algn="l">
              <a:spcBef>
                <a:spcPts val="0"/>
              </a:spcBef>
              <a:spcAft>
                <a:spcPts val="0"/>
              </a:spcAft>
              <a:buNone/>
            </a:pPr>
            <a:r>
              <a:rPr lang="en-US"/>
              <a:t>GV dịch cho HV câu đầu và câu cuối</a:t>
            </a:r>
            <a:endParaRPr/>
          </a:p>
          <a:p>
            <a:pPr indent="0" lvl="0" marL="0" rtl="0" algn="l">
              <a:spcBef>
                <a:spcPts val="0"/>
              </a:spcBef>
              <a:spcAft>
                <a:spcPts val="0"/>
              </a:spcAft>
              <a:buNone/>
            </a:pPr>
            <a:r>
              <a:rPr lang="en-US"/>
              <a:t>GV hướng dẫn và chọn đáp án cho HV</a:t>
            </a:r>
            <a:endParaRPr/>
          </a:p>
        </p:txBody>
      </p:sp>
      <p:sp>
        <p:nvSpPr>
          <p:cNvPr id="404" name="Google Shape;404;g2e1ad9d99f0_0_19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2e1ad9d99f0_0_2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2" name="Google Shape;422;g2e1ad9d99f0_0_21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hướng dẫn HS đọc hiểu câu đầu và câu cuối đoạn</a:t>
            </a:r>
            <a:endParaRPr/>
          </a:p>
          <a:p>
            <a:pPr indent="0" lvl="0" marL="0" rtl="0" algn="l">
              <a:spcBef>
                <a:spcPts val="0"/>
              </a:spcBef>
              <a:spcAft>
                <a:spcPts val="0"/>
              </a:spcAft>
              <a:buNone/>
            </a:pPr>
            <a:r>
              <a:rPr lang="en-US"/>
              <a:t>GV dịch cho HV câu đầu và câu cuối</a:t>
            </a:r>
            <a:endParaRPr/>
          </a:p>
          <a:p>
            <a:pPr indent="0" lvl="0" marL="0" rtl="0" algn="l">
              <a:spcBef>
                <a:spcPts val="0"/>
              </a:spcBef>
              <a:spcAft>
                <a:spcPts val="0"/>
              </a:spcAft>
              <a:buNone/>
            </a:pPr>
            <a:r>
              <a:rPr lang="en-US"/>
              <a:t>GV hướng dẫn và chọn đáp án cho HV</a:t>
            </a:r>
            <a:endParaRPr/>
          </a:p>
        </p:txBody>
      </p:sp>
      <p:sp>
        <p:nvSpPr>
          <p:cNvPr id="423" name="Google Shape;423;g2e1ad9d99f0_0_21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2e1ad9d99f0_0_2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2" name="Google Shape;442;g2e1ad9d99f0_0_23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3" name="Google Shape;443;g2e1ad9d99f0_0_23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2e1ad9d99f0_0_25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4" name="Google Shape;454;g2e1ad9d99f0_0_2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2e1ad9d99f0_0_2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4" name="Google Shape;474;g2e1ad9d99f0_0_27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hướng dẫn HS đọc hiểu câu đầu và câu cuối đoạn</a:t>
            </a:r>
            <a:endParaRPr/>
          </a:p>
          <a:p>
            <a:pPr indent="0" lvl="0" marL="0" rtl="0" algn="l">
              <a:spcBef>
                <a:spcPts val="0"/>
              </a:spcBef>
              <a:spcAft>
                <a:spcPts val="0"/>
              </a:spcAft>
              <a:buNone/>
            </a:pPr>
            <a:r>
              <a:rPr lang="en-US"/>
              <a:t>GV dịch cho HV câu đầu và câu cuối</a:t>
            </a:r>
            <a:endParaRPr/>
          </a:p>
          <a:p>
            <a:pPr indent="0" lvl="0" marL="0" rtl="0" algn="l">
              <a:spcBef>
                <a:spcPts val="0"/>
              </a:spcBef>
              <a:spcAft>
                <a:spcPts val="0"/>
              </a:spcAft>
              <a:buNone/>
            </a:pPr>
            <a:r>
              <a:rPr lang="en-US"/>
              <a:t>GV hướng dẫn và chọn đáp án cho HV</a:t>
            </a:r>
            <a:endParaRPr/>
          </a:p>
        </p:txBody>
      </p:sp>
      <p:sp>
        <p:nvSpPr>
          <p:cNvPr id="475" name="Google Shape;475;g2e1ad9d99f0_0_27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2e1ad9d99f0_0_2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 name="Google Shape;494;g2e1ad9d99f0_0_2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hướng dẫn HS đọc hiểu câu đầu và câu cuối đoạn</a:t>
            </a:r>
            <a:endParaRPr/>
          </a:p>
          <a:p>
            <a:pPr indent="0" lvl="0" marL="0" rtl="0" algn="l">
              <a:spcBef>
                <a:spcPts val="0"/>
              </a:spcBef>
              <a:spcAft>
                <a:spcPts val="0"/>
              </a:spcAft>
              <a:buNone/>
            </a:pPr>
            <a:r>
              <a:rPr lang="en-US"/>
              <a:t>GV dịch cho HV câu đầu và câu cuối</a:t>
            </a:r>
            <a:endParaRPr/>
          </a:p>
          <a:p>
            <a:pPr indent="0" lvl="0" marL="0" rtl="0" algn="l">
              <a:spcBef>
                <a:spcPts val="0"/>
              </a:spcBef>
              <a:spcAft>
                <a:spcPts val="0"/>
              </a:spcAft>
              <a:buNone/>
            </a:pPr>
            <a:r>
              <a:rPr lang="en-US"/>
              <a:t>GV hướng dẫn và chọn đáp án cho HV</a:t>
            </a:r>
            <a:endParaRPr/>
          </a:p>
        </p:txBody>
      </p:sp>
      <p:sp>
        <p:nvSpPr>
          <p:cNvPr id="495" name="Google Shape;495;g2e1ad9d99f0_0_2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g2e1ad9d99f0_0_3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5" name="Google Shape;515;g2e1ad9d99f0_0_31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6" name="Google Shape;516;g2e1ad9d99f0_0_31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2e1ad9d99f0_0_3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7" name="Google Shape;527;g2e1ad9d99f0_0_3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2e1ad9d99f0_0_3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7" name="Google Shape;547;g2e1ad9d99f0_0_35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hướng dẫn HS đọc hiểu câu đầu và câu cuối đoạn</a:t>
            </a:r>
            <a:endParaRPr/>
          </a:p>
          <a:p>
            <a:pPr indent="0" lvl="0" marL="0" rtl="0" algn="l">
              <a:spcBef>
                <a:spcPts val="0"/>
              </a:spcBef>
              <a:spcAft>
                <a:spcPts val="0"/>
              </a:spcAft>
              <a:buNone/>
            </a:pPr>
            <a:r>
              <a:rPr lang="en-US"/>
              <a:t>GV dịch cho HV câu đầu và câu cuối</a:t>
            </a:r>
            <a:endParaRPr/>
          </a:p>
          <a:p>
            <a:pPr indent="0" lvl="0" marL="0" rtl="0" algn="l">
              <a:spcBef>
                <a:spcPts val="0"/>
              </a:spcBef>
              <a:spcAft>
                <a:spcPts val="0"/>
              </a:spcAft>
              <a:buNone/>
            </a:pPr>
            <a:r>
              <a:rPr lang="en-US"/>
              <a:t>GV hướng dẫn và chọn đáp án cho HV</a:t>
            </a:r>
            <a:endParaRPr/>
          </a:p>
        </p:txBody>
      </p:sp>
      <p:sp>
        <p:nvSpPr>
          <p:cNvPr id="548" name="Google Shape;548;g2e1ad9d99f0_0_35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2e1ad9d99f0_0_3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5" name="Google Shape;565;g2e1ad9d99f0_0_3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hướng dẫn HS đọc hiểu câu đầu và câu cuối đoạn</a:t>
            </a:r>
            <a:endParaRPr/>
          </a:p>
          <a:p>
            <a:pPr indent="0" lvl="0" marL="0" rtl="0" algn="l">
              <a:spcBef>
                <a:spcPts val="0"/>
              </a:spcBef>
              <a:spcAft>
                <a:spcPts val="0"/>
              </a:spcAft>
              <a:buNone/>
            </a:pPr>
            <a:r>
              <a:rPr lang="en-US"/>
              <a:t>GV dịch cho HV câu đầu và câu cuối</a:t>
            </a:r>
            <a:endParaRPr/>
          </a:p>
          <a:p>
            <a:pPr indent="0" lvl="0" marL="0" rtl="0" algn="l">
              <a:spcBef>
                <a:spcPts val="0"/>
              </a:spcBef>
              <a:spcAft>
                <a:spcPts val="0"/>
              </a:spcAft>
              <a:buNone/>
            </a:pPr>
            <a:r>
              <a:rPr lang="en-US"/>
              <a:t>GV hướng dẫn và chọn đáp án cho HV</a:t>
            </a:r>
            <a:endParaRPr/>
          </a:p>
        </p:txBody>
      </p:sp>
      <p:sp>
        <p:nvSpPr>
          <p:cNvPr id="566" name="Google Shape;566;g2e1ad9d99f0_0_3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2e1ad9d99f0_0_3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4" name="Google Shape;584;g2e1ad9d99f0_0_38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5" name="Google Shape;585;g2e1ad9d99f0_0_38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2e1ad9d99f0_0_40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96" name="Google Shape;596;g2e1ad9d99f0_0_40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2e1ad9d99f0_0_4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6" name="Google Shape;616;g2e1ad9d99f0_0_42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hướng dẫn HS đọc hiểu câu đầu và câu cuối đoạn</a:t>
            </a:r>
            <a:endParaRPr/>
          </a:p>
          <a:p>
            <a:pPr indent="0" lvl="0" marL="0" rtl="0" algn="l">
              <a:spcBef>
                <a:spcPts val="0"/>
              </a:spcBef>
              <a:spcAft>
                <a:spcPts val="0"/>
              </a:spcAft>
              <a:buNone/>
            </a:pPr>
            <a:r>
              <a:rPr lang="en-US"/>
              <a:t>GV dịch cho HV câu đầu và câu cuối</a:t>
            </a:r>
            <a:endParaRPr/>
          </a:p>
          <a:p>
            <a:pPr indent="0" lvl="0" marL="0" rtl="0" algn="l">
              <a:spcBef>
                <a:spcPts val="0"/>
              </a:spcBef>
              <a:spcAft>
                <a:spcPts val="0"/>
              </a:spcAft>
              <a:buNone/>
            </a:pPr>
            <a:r>
              <a:rPr lang="en-US"/>
              <a:t>GV hướng dẫn và chọn đáp án cho HV</a:t>
            </a:r>
            <a:endParaRPr/>
          </a:p>
        </p:txBody>
      </p:sp>
      <p:sp>
        <p:nvSpPr>
          <p:cNvPr id="617" name="Google Shape;617;g2e1ad9d99f0_0_42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2e1ad9d99f0_0_4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5" name="Google Shape;635;g2e1ad9d99f0_0_44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hướng dẫn HS đọc hiểu câu đầu và câu cuối đoạn</a:t>
            </a:r>
            <a:endParaRPr/>
          </a:p>
          <a:p>
            <a:pPr indent="0" lvl="0" marL="0" rtl="0" algn="l">
              <a:spcBef>
                <a:spcPts val="0"/>
              </a:spcBef>
              <a:spcAft>
                <a:spcPts val="0"/>
              </a:spcAft>
              <a:buNone/>
            </a:pPr>
            <a:r>
              <a:rPr lang="en-US"/>
              <a:t>GV dịch cho HV câu đầu và câu cuối</a:t>
            </a:r>
            <a:endParaRPr/>
          </a:p>
          <a:p>
            <a:pPr indent="0" lvl="0" marL="0" rtl="0" algn="l">
              <a:spcBef>
                <a:spcPts val="0"/>
              </a:spcBef>
              <a:spcAft>
                <a:spcPts val="0"/>
              </a:spcAft>
              <a:buNone/>
            </a:pPr>
            <a:r>
              <a:rPr lang="en-US"/>
              <a:t>GV hướng dẫn và chọn đáp án cho HV</a:t>
            </a:r>
            <a:endParaRPr/>
          </a:p>
        </p:txBody>
      </p:sp>
      <p:sp>
        <p:nvSpPr>
          <p:cNvPr id="636" name="Google Shape;636;g2e1ad9d99f0_0_44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2e1ad9d99f0_0_4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55" name="Google Shape;655;g2e1ad9d99f0_0_4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56" name="Google Shape;656;g2e1ad9d99f0_0_46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2e1ad9d99f0_0_47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7" name="Google Shape;667;g2e1ad9d99f0_0_4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5" name="Shape 685"/>
        <p:cNvGrpSpPr/>
        <p:nvPr/>
      </p:nvGrpSpPr>
      <p:grpSpPr>
        <a:xfrm>
          <a:off x="0" y="0"/>
          <a:ext cx="0" cy="0"/>
          <a:chOff x="0" y="0"/>
          <a:chExt cx="0" cy="0"/>
        </a:xfrm>
      </p:grpSpPr>
      <p:sp>
        <p:nvSpPr>
          <p:cNvPr id="686" name="Google Shape;686;g2e1ad9d99f0_0_49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7" name="Google Shape;687;g2e1ad9d99f0_0_49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hướng dẫn HS đọc hiểu câu đầu và câu cuối đoạn</a:t>
            </a:r>
            <a:endParaRPr/>
          </a:p>
          <a:p>
            <a:pPr indent="0" lvl="0" marL="0" rtl="0" algn="l">
              <a:spcBef>
                <a:spcPts val="0"/>
              </a:spcBef>
              <a:spcAft>
                <a:spcPts val="0"/>
              </a:spcAft>
              <a:buNone/>
            </a:pPr>
            <a:r>
              <a:rPr lang="en-US"/>
              <a:t>GV dịch cho HV câu đầu và câu cuối</a:t>
            </a:r>
            <a:endParaRPr/>
          </a:p>
          <a:p>
            <a:pPr indent="0" lvl="0" marL="0" rtl="0" algn="l">
              <a:spcBef>
                <a:spcPts val="0"/>
              </a:spcBef>
              <a:spcAft>
                <a:spcPts val="0"/>
              </a:spcAft>
              <a:buNone/>
            </a:pPr>
            <a:r>
              <a:rPr lang="en-US"/>
              <a:t>GV hướng dẫn và chọn đáp án cho HV</a:t>
            </a:r>
            <a:endParaRPr/>
          </a:p>
        </p:txBody>
      </p:sp>
      <p:sp>
        <p:nvSpPr>
          <p:cNvPr id="688" name="Google Shape;688;g2e1ad9d99f0_0_49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5" name="Shape 705"/>
        <p:cNvGrpSpPr/>
        <p:nvPr/>
      </p:nvGrpSpPr>
      <p:grpSpPr>
        <a:xfrm>
          <a:off x="0" y="0"/>
          <a:ext cx="0" cy="0"/>
          <a:chOff x="0" y="0"/>
          <a:chExt cx="0" cy="0"/>
        </a:xfrm>
      </p:grpSpPr>
      <p:sp>
        <p:nvSpPr>
          <p:cNvPr id="706" name="Google Shape;706;g2e1ad9d99f0_0_5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07" name="Google Shape;707;g2e1ad9d99f0_0_51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hướng dẫn HS đọc hiểu câu đầu và câu cuối đoạn</a:t>
            </a:r>
            <a:endParaRPr/>
          </a:p>
          <a:p>
            <a:pPr indent="0" lvl="0" marL="0" rtl="0" algn="l">
              <a:spcBef>
                <a:spcPts val="0"/>
              </a:spcBef>
              <a:spcAft>
                <a:spcPts val="0"/>
              </a:spcAft>
              <a:buNone/>
            </a:pPr>
            <a:r>
              <a:rPr lang="en-US"/>
              <a:t>GV dịch cho HV câu đầu và câu cuối</a:t>
            </a:r>
            <a:endParaRPr/>
          </a:p>
          <a:p>
            <a:pPr indent="0" lvl="0" marL="0" rtl="0" algn="l">
              <a:spcBef>
                <a:spcPts val="0"/>
              </a:spcBef>
              <a:spcAft>
                <a:spcPts val="0"/>
              </a:spcAft>
              <a:buNone/>
            </a:pPr>
            <a:r>
              <a:rPr lang="en-US"/>
              <a:t>GV hướng dẫn và chọn đáp án cho HV</a:t>
            </a:r>
            <a:endParaRPr/>
          </a:p>
        </p:txBody>
      </p:sp>
      <p:sp>
        <p:nvSpPr>
          <p:cNvPr id="708" name="Google Shape;708;g2e1ad9d99f0_0_518: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g2e1ad9d99f0_0_5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28" name="Google Shape;728;g2e1ad9d99f0_0_54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9" name="Google Shape;729;g2e1ad9d99f0_0_54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g2e1ad9d99f0_0_55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0" name="Google Shape;740;g2e1ad9d99f0_0_5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8" name="Shape 758"/>
        <p:cNvGrpSpPr/>
        <p:nvPr/>
      </p:nvGrpSpPr>
      <p:grpSpPr>
        <a:xfrm>
          <a:off x="0" y="0"/>
          <a:ext cx="0" cy="0"/>
          <a:chOff x="0" y="0"/>
          <a:chExt cx="0" cy="0"/>
        </a:xfrm>
      </p:grpSpPr>
      <p:sp>
        <p:nvSpPr>
          <p:cNvPr id="759" name="Google Shape;759;g2e1ad9d99f0_0_5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0" name="Google Shape;760;g2e1ad9d99f0_0_57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hướng dẫn HS đọc hiểu câu đầu và câu cuối đoạn</a:t>
            </a:r>
            <a:endParaRPr/>
          </a:p>
          <a:p>
            <a:pPr indent="0" lvl="0" marL="0" rtl="0" algn="l">
              <a:spcBef>
                <a:spcPts val="0"/>
              </a:spcBef>
              <a:spcAft>
                <a:spcPts val="0"/>
              </a:spcAft>
              <a:buNone/>
            </a:pPr>
            <a:r>
              <a:rPr lang="en-US"/>
              <a:t>GV dịch cho HV câu đầu và câu cuối</a:t>
            </a:r>
            <a:endParaRPr/>
          </a:p>
          <a:p>
            <a:pPr indent="0" lvl="0" marL="0" rtl="0" algn="l">
              <a:spcBef>
                <a:spcPts val="0"/>
              </a:spcBef>
              <a:spcAft>
                <a:spcPts val="0"/>
              </a:spcAft>
              <a:buNone/>
            </a:pPr>
            <a:r>
              <a:rPr lang="en-US"/>
              <a:t>GV hướng dẫn và chọn đáp án cho HV</a:t>
            </a:r>
            <a:endParaRPr/>
          </a:p>
        </p:txBody>
      </p:sp>
      <p:sp>
        <p:nvSpPr>
          <p:cNvPr id="761" name="Google Shape;761;g2e1ad9d99f0_0_57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2e1ad9d99f0_0_59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78" name="Google Shape;778;g2e1ad9d99f0_0_59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GV hướng dẫn HS đọc hiểu câu đầu và câu cuối đoạn</a:t>
            </a:r>
            <a:endParaRPr/>
          </a:p>
          <a:p>
            <a:pPr indent="0" lvl="0" marL="0" rtl="0" algn="l">
              <a:spcBef>
                <a:spcPts val="0"/>
              </a:spcBef>
              <a:spcAft>
                <a:spcPts val="0"/>
              </a:spcAft>
              <a:buNone/>
            </a:pPr>
            <a:r>
              <a:rPr lang="en-US"/>
              <a:t>GV dịch cho HV câu đầu và câu cuối</a:t>
            </a:r>
            <a:endParaRPr/>
          </a:p>
          <a:p>
            <a:pPr indent="0" lvl="0" marL="0" rtl="0" algn="l">
              <a:spcBef>
                <a:spcPts val="0"/>
              </a:spcBef>
              <a:spcAft>
                <a:spcPts val="0"/>
              </a:spcAft>
              <a:buNone/>
            </a:pPr>
            <a:r>
              <a:rPr lang="en-US"/>
              <a:t>GV hướng dẫn và chọn đáp án cho HV</a:t>
            </a:r>
            <a:endParaRPr/>
          </a:p>
        </p:txBody>
      </p:sp>
      <p:sp>
        <p:nvSpPr>
          <p:cNvPr id="779" name="Google Shape;779;g2e1ad9d99f0_0_59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5" name="Shape 795"/>
        <p:cNvGrpSpPr/>
        <p:nvPr/>
      </p:nvGrpSpPr>
      <p:grpSpPr>
        <a:xfrm>
          <a:off x="0" y="0"/>
          <a:ext cx="0" cy="0"/>
          <a:chOff x="0" y="0"/>
          <a:chExt cx="0" cy="0"/>
        </a:xfrm>
      </p:grpSpPr>
      <p:sp>
        <p:nvSpPr>
          <p:cNvPr id="796" name="Google Shape;796;g2e1ad9d99f0_0_6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97" name="Google Shape;797;g2e1ad9d99f0_0_6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8" name="Google Shape;798;g2e1ad9d99f0_0_6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9" name="Google Shape;809;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6" name="Shape 826"/>
        <p:cNvGrpSpPr/>
        <p:nvPr/>
      </p:nvGrpSpPr>
      <p:grpSpPr>
        <a:xfrm>
          <a:off x="0" y="0"/>
          <a:ext cx="0" cy="0"/>
          <a:chOff x="0" y="0"/>
          <a:chExt cx="0" cy="0"/>
        </a:xfrm>
      </p:grpSpPr>
      <p:sp>
        <p:nvSpPr>
          <p:cNvPr id="827" name="Google Shape;827;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8" name="Google Shape;828;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9" name="Google Shape;829;p2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 name="Google Shape;17;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22" name="Google Shape;22;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4" name="Google Shape;34;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0" name="Google Shape;40;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41" name="Google Shape;41;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7" name="Google Shape;47;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8" name="Google Shape;48;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9" name="Google Shape;49;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50" name="Google Shape;50;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61" name="Google Shape;61;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2" name="Google Shape;62;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10"/>
          <p:cNvSpPr/>
          <p:nvPr>
            <p:ph idx="2" type="pic"/>
          </p:nvPr>
        </p:nvSpPr>
        <p:spPr>
          <a:xfrm>
            <a:off x="1792288" y="612775"/>
            <a:ext cx="5486400" cy="4114800"/>
          </a:xfrm>
          <a:prstGeom prst="rect">
            <a:avLst/>
          </a:prstGeom>
          <a:noFill/>
          <a:ln>
            <a:noFill/>
          </a:ln>
        </p:spPr>
      </p:sp>
      <p:sp>
        <p:nvSpPr>
          <p:cNvPr id="68" name="Google Shape;68;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9" name="Google Shape;69;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image" Target="../media/image14.png"/><Relationship Id="rId6"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16.png"/><Relationship Id="rId5"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1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1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1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9.png"/><Relationship Id="rId4" Type="http://schemas.openxmlformats.org/officeDocument/2006/relationships/image" Target="../media/image6.png"/><Relationship Id="rId5" Type="http://schemas.openxmlformats.org/officeDocument/2006/relationships/image" Target="../media/image15.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9.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3"/>
          <p:cNvSpPr txBox="1"/>
          <p:nvPr/>
        </p:nvSpPr>
        <p:spPr>
          <a:xfrm>
            <a:off x="4867241" y="698293"/>
            <a:ext cx="13215300" cy="1473300"/>
          </a:xfrm>
          <a:prstGeom prst="rect">
            <a:avLst/>
          </a:prstGeom>
          <a:noFill/>
          <a:ln>
            <a:noFill/>
          </a:ln>
        </p:spPr>
        <p:txBody>
          <a:bodyPr anchorCtr="0" anchor="t" bIns="0" lIns="0" spcFirstLastPara="1" rIns="0" wrap="square" tIns="0">
            <a:spAutoFit/>
          </a:bodyPr>
          <a:lstStyle/>
          <a:p>
            <a:pPr indent="0" lvl="0" marL="0" marR="0" rtl="0" algn="ctr">
              <a:lnSpc>
                <a:spcPct val="112003"/>
              </a:lnSpc>
              <a:spcBef>
                <a:spcPts val="0"/>
              </a:spcBef>
              <a:spcAft>
                <a:spcPts val="0"/>
              </a:spcAft>
              <a:buNone/>
            </a:pPr>
            <a:r>
              <a:rPr b="0" i="0" lang="en-US" sz="10264" u="none" cap="none" strike="noStrike">
                <a:solidFill>
                  <a:srgbClr val="018345"/>
                </a:solidFill>
                <a:latin typeface="Arial"/>
                <a:ea typeface="Arial"/>
                <a:cs typeface="Arial"/>
                <a:sym typeface="Arial"/>
              </a:rPr>
              <a:t>Table of contents</a:t>
            </a:r>
            <a:endParaRPr/>
          </a:p>
        </p:txBody>
      </p:sp>
      <p:cxnSp>
        <p:nvCxnSpPr>
          <p:cNvPr id="90" name="Google Shape;90;p13"/>
          <p:cNvCxnSpPr/>
          <p:nvPr/>
        </p:nvCxnSpPr>
        <p:spPr>
          <a:xfrm>
            <a:off x="5943600" y="2152650"/>
            <a:ext cx="11579700" cy="0"/>
          </a:xfrm>
          <a:prstGeom prst="straightConnector1">
            <a:avLst/>
          </a:prstGeom>
          <a:noFill/>
          <a:ln cap="flat" cmpd="sng" w="38100">
            <a:solidFill>
              <a:srgbClr val="018345"/>
            </a:solidFill>
            <a:prstDash val="solid"/>
            <a:round/>
            <a:headEnd len="sm" w="sm" type="none"/>
            <a:tailEnd len="sm" w="sm" type="none"/>
          </a:ln>
        </p:spPr>
      </p:cxnSp>
      <p:grpSp>
        <p:nvGrpSpPr>
          <p:cNvPr id="91" name="Google Shape;91;p13"/>
          <p:cNvGrpSpPr/>
          <p:nvPr/>
        </p:nvGrpSpPr>
        <p:grpSpPr>
          <a:xfrm rot="10800000">
            <a:off x="14951196" y="-741517"/>
            <a:ext cx="7681773" cy="4260605"/>
            <a:chOff x="0" y="-38100"/>
            <a:chExt cx="406400" cy="225405"/>
          </a:xfrm>
        </p:grpSpPr>
        <p:sp>
          <p:nvSpPr>
            <p:cNvPr id="92" name="Google Shape;92;p13"/>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93" name="Google Shape;93;p13"/>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descr="Books with solid fill" id="94" name="Google Shape;94;p13"/>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grpSp>
        <p:nvGrpSpPr>
          <p:cNvPr id="95" name="Google Shape;95;p13"/>
          <p:cNvGrpSpPr/>
          <p:nvPr/>
        </p:nvGrpSpPr>
        <p:grpSpPr>
          <a:xfrm>
            <a:off x="6890434" y="2552819"/>
            <a:ext cx="10092911" cy="1384957"/>
            <a:chOff x="6375842" y="6151456"/>
            <a:chExt cx="10542000" cy="1434000"/>
          </a:xfrm>
        </p:grpSpPr>
        <p:sp>
          <p:nvSpPr>
            <p:cNvPr id="96" name="Google Shape;96;p13"/>
            <p:cNvSpPr/>
            <p:nvPr/>
          </p:nvSpPr>
          <p:spPr>
            <a:xfrm>
              <a:off x="6375842" y="6278356"/>
              <a:ext cx="10542000" cy="1289100"/>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600" u="none" cap="none" strike="noStrike">
                <a:solidFill>
                  <a:schemeClr val="lt1"/>
                </a:solidFill>
                <a:latin typeface="Calibri"/>
                <a:ea typeface="Calibri"/>
                <a:cs typeface="Calibri"/>
                <a:sym typeface="Calibri"/>
              </a:endParaRPr>
            </a:p>
          </p:txBody>
        </p:sp>
        <p:sp>
          <p:nvSpPr>
            <p:cNvPr id="97" name="Google Shape;97;p13"/>
            <p:cNvSpPr txBox="1"/>
            <p:nvPr/>
          </p:nvSpPr>
          <p:spPr>
            <a:xfrm>
              <a:off x="6375842" y="6151456"/>
              <a:ext cx="10542000" cy="1434000"/>
            </a:xfrm>
            <a:prstGeom prst="rect">
              <a:avLst/>
            </a:prstGeom>
            <a:noFill/>
            <a:ln>
              <a:noFill/>
            </a:ln>
          </p:spPr>
          <p:txBody>
            <a:bodyPr anchorCtr="0" anchor="ctr" bIns="50800" lIns="50800" spcFirstLastPara="1" rIns="50800" wrap="square" tIns="50800">
              <a:noAutofit/>
            </a:bodyPr>
            <a:lstStyle/>
            <a:p>
              <a:pPr indent="0" lvl="0" marL="0" marR="0" rtl="0" algn="ctr">
                <a:lnSpc>
                  <a:spcPct val="73861"/>
                </a:lnSpc>
                <a:spcBef>
                  <a:spcPts val="0"/>
                </a:spcBef>
                <a:spcAft>
                  <a:spcPts val="0"/>
                </a:spcAft>
                <a:buNone/>
              </a:pPr>
              <a:r>
                <a:t/>
              </a:r>
              <a:endParaRPr b="1" i="0" sz="3600" u="none" cap="none" strike="noStrike">
                <a:solidFill>
                  <a:schemeClr val="dk1"/>
                </a:solidFill>
                <a:latin typeface="Calibri"/>
                <a:ea typeface="Calibri"/>
                <a:cs typeface="Calibri"/>
                <a:sym typeface="Calibri"/>
              </a:endParaRPr>
            </a:p>
          </p:txBody>
        </p:sp>
        <p:sp>
          <p:nvSpPr>
            <p:cNvPr id="98" name="Google Shape;98;p13"/>
            <p:cNvSpPr/>
            <p:nvPr/>
          </p:nvSpPr>
          <p:spPr>
            <a:xfrm>
              <a:off x="6375842" y="6296117"/>
              <a:ext cx="1253681" cy="1253681"/>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3"/>
            <p:cNvSpPr txBox="1"/>
            <p:nvPr/>
          </p:nvSpPr>
          <p:spPr>
            <a:xfrm>
              <a:off x="7917301" y="6581020"/>
              <a:ext cx="8651100" cy="5100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i="0" lang="en-US" sz="3200" u="none" cap="none" strike="noStrike">
                  <a:solidFill>
                    <a:srgbClr val="FFFFFF"/>
                  </a:solidFill>
                  <a:latin typeface="Montserrat"/>
                  <a:ea typeface="Montserrat"/>
                  <a:cs typeface="Montserrat"/>
                  <a:sym typeface="Montserrat"/>
                </a:rPr>
                <a:t>Bài </a:t>
              </a:r>
              <a:r>
                <a:rPr b="1" lang="en-US" sz="3200">
                  <a:solidFill>
                    <a:srgbClr val="FFFFFF"/>
                  </a:solidFill>
                  <a:latin typeface="Montserrat"/>
                  <a:ea typeface="Montserrat"/>
                  <a:cs typeface="Montserrat"/>
                  <a:sym typeface="Montserrat"/>
                </a:rPr>
                <a:t>đọc Part 4 Aptis</a:t>
              </a:r>
              <a:endParaRPr/>
            </a:p>
          </p:txBody>
        </p:sp>
        <p:sp>
          <p:nvSpPr>
            <p:cNvPr descr="Books with solid fill" id="100" name="Google Shape;100;p13"/>
            <p:cNvSpPr/>
            <p:nvPr/>
          </p:nvSpPr>
          <p:spPr>
            <a:xfrm>
              <a:off x="6604212" y="6517439"/>
              <a:ext cx="796998" cy="796998"/>
            </a:xfrm>
            <a:custGeom>
              <a:rect b="b" l="l" r="r" t="t"/>
              <a:pathLst>
                <a:path extrusionOk="0" h="1062664" w="1062664">
                  <a:moveTo>
                    <a:pt x="0" y="0"/>
                  </a:moveTo>
                  <a:lnTo>
                    <a:pt x="1062664" y="0"/>
                  </a:lnTo>
                  <a:lnTo>
                    <a:pt x="1062664" y="1062664"/>
                  </a:lnTo>
                  <a:lnTo>
                    <a:pt x="0" y="1062664"/>
                  </a:lnTo>
                  <a:lnTo>
                    <a:pt x="0" y="0"/>
                  </a:lnTo>
                  <a:close/>
                </a:path>
              </a:pathLst>
            </a:custGeom>
            <a:blipFill rotWithShape="1">
              <a:blip r:embed="rId3">
                <a:alphaModFix/>
              </a:blip>
              <a:stretch>
                <a:fillRect b="0" l="0" r="0" t="0"/>
              </a:stretch>
            </a:blipFill>
            <a:ln>
              <a:noFill/>
            </a:ln>
          </p:spPr>
        </p:sp>
      </p:grpSp>
      <p:sp>
        <p:nvSpPr>
          <p:cNvPr id="101" name="Google Shape;101;p13"/>
          <p:cNvSpPr txBox="1"/>
          <p:nvPr/>
        </p:nvSpPr>
        <p:spPr>
          <a:xfrm>
            <a:off x="6487860" y="5519116"/>
            <a:ext cx="10092900" cy="1384800"/>
          </a:xfrm>
          <a:prstGeom prst="rect">
            <a:avLst/>
          </a:prstGeom>
          <a:noFill/>
          <a:ln>
            <a:noFill/>
          </a:ln>
        </p:spPr>
        <p:txBody>
          <a:bodyPr anchorCtr="0" anchor="ctr" bIns="50800" lIns="50800" spcFirstLastPara="1" rIns="50800" wrap="square" tIns="50800">
            <a:noAutofit/>
          </a:bodyPr>
          <a:lstStyle/>
          <a:p>
            <a:pPr indent="0" lvl="0" marL="0" marR="0" rtl="0" algn="ctr">
              <a:lnSpc>
                <a:spcPct val="73861"/>
              </a:lnSpc>
              <a:spcBef>
                <a:spcPts val="0"/>
              </a:spcBef>
              <a:spcAft>
                <a:spcPts val="0"/>
              </a:spcAft>
              <a:buNone/>
            </a:pPr>
            <a:r>
              <a:t/>
            </a:r>
            <a:endParaRPr b="1" i="0" sz="3600" u="none" cap="none" strike="noStrike">
              <a:solidFill>
                <a:schemeClr val="dk1"/>
              </a:solidFill>
              <a:latin typeface="Calibri"/>
              <a:ea typeface="Calibri"/>
              <a:cs typeface="Calibri"/>
              <a:sym typeface="Calibri"/>
            </a:endParaRPr>
          </a:p>
        </p:txBody>
      </p:sp>
      <p:sp>
        <p:nvSpPr>
          <p:cNvPr id="102" name="Google Shape;102;p13"/>
          <p:cNvSpPr txBox="1"/>
          <p:nvPr/>
        </p:nvSpPr>
        <p:spPr>
          <a:xfrm>
            <a:off x="-10653311" y="9715322"/>
            <a:ext cx="13923300" cy="285900"/>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b="0" i="0" lang="en-US" sz="1876" u="none" cap="none" strike="noStrike">
                <a:solidFill>
                  <a:srgbClr val="FEFEFE"/>
                </a:solidFill>
                <a:latin typeface="Roboto"/>
                <a:ea typeface="Roboto"/>
                <a:cs typeface="Roboto"/>
                <a:sym typeface="Roboto"/>
              </a:rPr>
              <a:t>https://edulife.com.vn/</a:t>
            </a:r>
            <a:endParaRPr/>
          </a:p>
        </p:txBody>
      </p:sp>
      <p:grpSp>
        <p:nvGrpSpPr>
          <p:cNvPr id="103" name="Google Shape;103;p13"/>
          <p:cNvGrpSpPr/>
          <p:nvPr/>
        </p:nvGrpSpPr>
        <p:grpSpPr>
          <a:xfrm>
            <a:off x="-2718010" y="9274530"/>
            <a:ext cx="7950378" cy="1707223"/>
            <a:chOff x="0" y="-384760"/>
            <a:chExt cx="10600504" cy="2276297"/>
          </a:xfrm>
        </p:grpSpPr>
        <p:grpSp>
          <p:nvGrpSpPr>
            <p:cNvPr id="104" name="Google Shape;104;p13"/>
            <p:cNvGrpSpPr/>
            <p:nvPr/>
          </p:nvGrpSpPr>
          <p:grpSpPr>
            <a:xfrm>
              <a:off x="0" y="-384760"/>
              <a:ext cx="10600504" cy="2276297"/>
              <a:chOff x="0" y="-38100"/>
              <a:chExt cx="1049690" cy="225405"/>
            </a:xfrm>
          </p:grpSpPr>
          <p:sp>
            <p:nvSpPr>
              <p:cNvPr id="105" name="Google Shape;105;p13"/>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06" name="Google Shape;106;p13"/>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7" name="Google Shape;107;p13"/>
            <p:cNvSpPr txBox="1"/>
            <p:nvPr/>
          </p:nvSpPr>
          <p:spPr>
            <a:xfrm>
              <a:off x="4182979" y="666743"/>
              <a:ext cx="3721200" cy="5295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8" name="Google Shape;108;p13"/>
          <p:cNvGrpSpPr/>
          <p:nvPr/>
        </p:nvGrpSpPr>
        <p:grpSpPr>
          <a:xfrm>
            <a:off x="6934400" y="4203458"/>
            <a:ext cx="10121692" cy="1245030"/>
            <a:chOff x="6934120" y="7048419"/>
            <a:chExt cx="9882535" cy="1159030"/>
          </a:xfrm>
        </p:grpSpPr>
        <p:grpSp>
          <p:nvGrpSpPr>
            <p:cNvPr id="109" name="Google Shape;109;p13"/>
            <p:cNvGrpSpPr/>
            <p:nvPr/>
          </p:nvGrpSpPr>
          <p:grpSpPr>
            <a:xfrm>
              <a:off x="6934120" y="7048419"/>
              <a:ext cx="9882535" cy="1159030"/>
              <a:chOff x="6487861" y="7950596"/>
              <a:chExt cx="10571817" cy="1289100"/>
            </a:xfrm>
          </p:grpSpPr>
          <p:sp>
            <p:nvSpPr>
              <p:cNvPr id="110" name="Google Shape;110;p13"/>
              <p:cNvSpPr/>
              <p:nvPr/>
            </p:nvSpPr>
            <p:spPr>
              <a:xfrm>
                <a:off x="6517678" y="7950596"/>
                <a:ext cx="10542000" cy="1289100"/>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3600" u="none" cap="none" strike="noStrike">
                  <a:solidFill>
                    <a:schemeClr val="lt1"/>
                  </a:solidFill>
                  <a:latin typeface="Calibri"/>
                  <a:ea typeface="Calibri"/>
                  <a:cs typeface="Calibri"/>
                  <a:sym typeface="Calibri"/>
                </a:endParaRPr>
              </a:p>
            </p:txBody>
          </p:sp>
          <p:sp>
            <p:nvSpPr>
              <p:cNvPr id="111" name="Google Shape;111;p13"/>
              <p:cNvSpPr/>
              <p:nvPr/>
            </p:nvSpPr>
            <p:spPr>
              <a:xfrm>
                <a:off x="6487861" y="7968363"/>
                <a:ext cx="1253681" cy="1253680"/>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12" name="Google Shape;112;p13"/>
              <p:cNvSpPr txBox="1"/>
              <p:nvPr/>
            </p:nvSpPr>
            <p:spPr>
              <a:xfrm>
                <a:off x="8010142" y="8239170"/>
                <a:ext cx="7896000" cy="510000"/>
              </a:xfrm>
              <a:prstGeom prst="rect">
                <a:avLst/>
              </a:prstGeom>
              <a:noFill/>
              <a:ln>
                <a:noFill/>
              </a:ln>
            </p:spPr>
            <p:txBody>
              <a:bodyPr anchorCtr="0" anchor="t" bIns="0" lIns="0" spcFirstLastPara="1" rIns="0" wrap="square" tIns="0">
                <a:spAutoFit/>
              </a:bodyPr>
              <a:lstStyle/>
              <a:p>
                <a:pPr indent="0" lvl="0" marL="0" marR="0" rtl="0" algn="l">
                  <a:lnSpc>
                    <a:spcPct val="303906"/>
                  </a:lnSpc>
                  <a:spcBef>
                    <a:spcPts val="0"/>
                  </a:spcBef>
                  <a:spcAft>
                    <a:spcPts val="0"/>
                  </a:spcAft>
                  <a:buNone/>
                </a:pPr>
                <a:r>
                  <a:rPr b="1" lang="en-US" sz="3200">
                    <a:solidFill>
                      <a:schemeClr val="lt1"/>
                    </a:solidFill>
                    <a:latin typeface="Montserrat"/>
                    <a:ea typeface="Montserrat"/>
                    <a:cs typeface="Montserrat"/>
                    <a:sym typeface="Montserrat"/>
                  </a:rPr>
                  <a:t>Những lưu ý khi làm bài đọc Aptis</a:t>
                </a:r>
                <a:endParaRPr b="1" sz="3200">
                  <a:solidFill>
                    <a:schemeClr val="lt1"/>
                  </a:solidFill>
                  <a:latin typeface="Montserrat"/>
                  <a:ea typeface="Montserrat"/>
                  <a:cs typeface="Montserrat"/>
                  <a:sym typeface="Montserrat"/>
                </a:endParaRPr>
              </a:p>
            </p:txBody>
          </p:sp>
        </p:grpSp>
        <p:pic>
          <p:nvPicPr>
            <p:cNvPr descr="Envelope with solid fill" id="113" name="Google Shape;113;p13"/>
            <p:cNvPicPr preferRelativeResize="0"/>
            <p:nvPr/>
          </p:nvPicPr>
          <p:blipFill rotWithShape="1">
            <a:blip r:embed="rId4">
              <a:alphaModFix/>
            </a:blip>
            <a:srcRect b="0" l="0" r="0" t="0"/>
            <a:stretch/>
          </p:blipFill>
          <p:spPr>
            <a:xfrm>
              <a:off x="7167192" y="7214481"/>
              <a:ext cx="773941" cy="773941"/>
            </a:xfrm>
            <a:prstGeom prst="rect">
              <a:avLst/>
            </a:prstGeom>
            <a:noFill/>
            <a:ln>
              <a:noFill/>
            </a:ln>
          </p:spPr>
        </p:pic>
      </p:grpSp>
      <p:grpSp>
        <p:nvGrpSpPr>
          <p:cNvPr id="114" name="Google Shape;114;p13"/>
          <p:cNvGrpSpPr/>
          <p:nvPr/>
        </p:nvGrpSpPr>
        <p:grpSpPr>
          <a:xfrm>
            <a:off x="6962357" y="5727617"/>
            <a:ext cx="10150411" cy="1245213"/>
            <a:chOff x="6962073" y="8572500"/>
            <a:chExt cx="9910575" cy="1159200"/>
          </a:xfrm>
        </p:grpSpPr>
        <p:sp>
          <p:nvSpPr>
            <p:cNvPr id="115" name="Google Shape;115;p13"/>
            <p:cNvSpPr/>
            <p:nvPr/>
          </p:nvSpPr>
          <p:spPr>
            <a:xfrm>
              <a:off x="6989946" y="8572500"/>
              <a:ext cx="9854700" cy="1159200"/>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600">
                <a:solidFill>
                  <a:schemeClr val="lt1"/>
                </a:solidFill>
                <a:latin typeface="Calibri"/>
                <a:ea typeface="Calibri"/>
                <a:cs typeface="Calibri"/>
                <a:sym typeface="Calibri"/>
              </a:endParaRPr>
            </a:p>
          </p:txBody>
        </p:sp>
        <p:sp>
          <p:nvSpPr>
            <p:cNvPr id="116" name="Google Shape;116;p13"/>
            <p:cNvSpPr/>
            <p:nvPr/>
          </p:nvSpPr>
          <p:spPr>
            <a:xfrm>
              <a:off x="6962073" y="8588470"/>
              <a:ext cx="1170102" cy="1128312"/>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17" name="Google Shape;117;p13"/>
            <p:cNvSpPr txBox="1"/>
            <p:nvPr/>
          </p:nvSpPr>
          <p:spPr>
            <a:xfrm>
              <a:off x="8403048" y="8840948"/>
              <a:ext cx="8469600" cy="5241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3200">
                  <a:solidFill>
                    <a:srgbClr val="FFFFFF"/>
                  </a:solidFill>
                  <a:latin typeface="Montserrat"/>
                  <a:ea typeface="Montserrat"/>
                  <a:cs typeface="Montserrat"/>
                  <a:sym typeface="Montserrat"/>
                </a:rPr>
                <a:t>Đề mẫu</a:t>
              </a:r>
              <a:endParaRPr b="1" sz="3200">
                <a:solidFill>
                  <a:srgbClr val="FFFFFF"/>
                </a:solidFill>
                <a:latin typeface="Montserrat"/>
                <a:ea typeface="Montserrat"/>
                <a:cs typeface="Montserrat"/>
                <a:sym typeface="Montserrat"/>
              </a:endParaRPr>
            </a:p>
          </p:txBody>
        </p:sp>
        <p:pic>
          <p:nvPicPr>
            <p:cNvPr descr="Pencil with solid fill" id="118" name="Google Shape;118;p13"/>
            <p:cNvPicPr preferRelativeResize="0"/>
            <p:nvPr/>
          </p:nvPicPr>
          <p:blipFill rotWithShape="1">
            <a:blip r:embed="rId5">
              <a:alphaModFix/>
            </a:blip>
            <a:srcRect b="0" l="0" r="0" t="0"/>
            <a:stretch/>
          </p:blipFill>
          <p:spPr>
            <a:xfrm>
              <a:off x="7147974" y="8738481"/>
              <a:ext cx="797413" cy="797413"/>
            </a:xfrm>
            <a:prstGeom prst="rect">
              <a:avLst/>
            </a:prstGeom>
            <a:noFill/>
            <a:ln>
              <a:noFill/>
            </a:ln>
          </p:spPr>
        </p:pic>
      </p:grpSp>
      <p:grpSp>
        <p:nvGrpSpPr>
          <p:cNvPr id="119" name="Google Shape;119;p13"/>
          <p:cNvGrpSpPr/>
          <p:nvPr/>
        </p:nvGrpSpPr>
        <p:grpSpPr>
          <a:xfrm>
            <a:off x="6947647" y="7174698"/>
            <a:ext cx="10121659" cy="1245114"/>
            <a:chOff x="6947521" y="8856561"/>
            <a:chExt cx="9366703" cy="1016502"/>
          </a:xfrm>
        </p:grpSpPr>
        <p:grpSp>
          <p:nvGrpSpPr>
            <p:cNvPr id="120" name="Google Shape;120;p13"/>
            <p:cNvGrpSpPr/>
            <p:nvPr/>
          </p:nvGrpSpPr>
          <p:grpSpPr>
            <a:xfrm>
              <a:off x="6947521" y="8856561"/>
              <a:ext cx="9366703" cy="1016502"/>
              <a:chOff x="6962073" y="8572500"/>
              <a:chExt cx="9882573" cy="1159200"/>
            </a:xfrm>
          </p:grpSpPr>
          <p:sp>
            <p:nvSpPr>
              <p:cNvPr id="121" name="Google Shape;121;p13"/>
              <p:cNvSpPr/>
              <p:nvPr/>
            </p:nvSpPr>
            <p:spPr>
              <a:xfrm>
                <a:off x="6989946" y="8572500"/>
                <a:ext cx="9854700" cy="1159200"/>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600">
                  <a:solidFill>
                    <a:schemeClr val="lt1"/>
                  </a:solidFill>
                  <a:latin typeface="Calibri"/>
                  <a:ea typeface="Calibri"/>
                  <a:cs typeface="Calibri"/>
                  <a:sym typeface="Calibri"/>
                </a:endParaRPr>
              </a:p>
            </p:txBody>
          </p:sp>
          <p:sp>
            <p:nvSpPr>
              <p:cNvPr id="122" name="Google Shape;122;p13"/>
              <p:cNvSpPr/>
              <p:nvPr/>
            </p:nvSpPr>
            <p:spPr>
              <a:xfrm>
                <a:off x="6962073" y="8588470"/>
                <a:ext cx="1170102" cy="1128312"/>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23" name="Google Shape;123;p13"/>
              <p:cNvSpPr txBox="1"/>
              <p:nvPr/>
            </p:nvSpPr>
            <p:spPr>
              <a:xfrm>
                <a:off x="8459833" y="8840948"/>
                <a:ext cx="8087400" cy="5361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3200">
                    <a:solidFill>
                      <a:srgbClr val="FFFFFF"/>
                    </a:solidFill>
                    <a:latin typeface="Montserrat"/>
                    <a:ea typeface="Montserrat"/>
                    <a:cs typeface="Montserrat"/>
                    <a:sym typeface="Montserrat"/>
                  </a:rPr>
                  <a:t>Hướng dẫn trả lời</a:t>
                </a:r>
                <a:endParaRPr b="1" sz="3200">
                  <a:solidFill>
                    <a:srgbClr val="FFFFFF"/>
                  </a:solidFill>
                  <a:latin typeface="Montserrat"/>
                  <a:ea typeface="Montserrat"/>
                  <a:cs typeface="Montserrat"/>
                  <a:sym typeface="Montserrat"/>
                </a:endParaRPr>
              </a:p>
            </p:txBody>
          </p:sp>
        </p:grpSp>
        <p:pic>
          <p:nvPicPr>
            <p:cNvPr descr="Books on shelf with solid fill" id="124" name="Google Shape;124;p13"/>
            <p:cNvPicPr preferRelativeResize="0"/>
            <p:nvPr/>
          </p:nvPicPr>
          <p:blipFill rotWithShape="1">
            <a:blip r:embed="rId6">
              <a:alphaModFix/>
            </a:blip>
            <a:srcRect b="0" l="0" r="0" t="0"/>
            <a:stretch/>
          </p:blipFill>
          <p:spPr>
            <a:xfrm>
              <a:off x="7156012" y="8963133"/>
              <a:ext cx="753302" cy="753302"/>
            </a:xfrm>
            <a:prstGeom prst="rect">
              <a:avLst/>
            </a:prstGeom>
            <a:noFill/>
            <a:ln>
              <a:noFill/>
            </a:ln>
          </p:spPr>
        </p:pic>
      </p:grpSp>
      <p:grpSp>
        <p:nvGrpSpPr>
          <p:cNvPr id="125" name="Google Shape;125;p13"/>
          <p:cNvGrpSpPr/>
          <p:nvPr/>
        </p:nvGrpSpPr>
        <p:grpSpPr>
          <a:xfrm>
            <a:off x="7010637" y="8669603"/>
            <a:ext cx="10121659" cy="1245114"/>
            <a:chOff x="6947521" y="8856561"/>
            <a:chExt cx="9366703" cy="1016502"/>
          </a:xfrm>
        </p:grpSpPr>
        <p:grpSp>
          <p:nvGrpSpPr>
            <p:cNvPr id="126" name="Google Shape;126;p13"/>
            <p:cNvGrpSpPr/>
            <p:nvPr/>
          </p:nvGrpSpPr>
          <p:grpSpPr>
            <a:xfrm>
              <a:off x="6947521" y="8856561"/>
              <a:ext cx="9366703" cy="1016502"/>
              <a:chOff x="6962073" y="8572500"/>
              <a:chExt cx="9882573" cy="1159200"/>
            </a:xfrm>
          </p:grpSpPr>
          <p:sp>
            <p:nvSpPr>
              <p:cNvPr id="127" name="Google Shape;127;p13"/>
              <p:cNvSpPr/>
              <p:nvPr/>
            </p:nvSpPr>
            <p:spPr>
              <a:xfrm>
                <a:off x="6989946" y="8572500"/>
                <a:ext cx="9854700" cy="1159200"/>
              </a:xfrm>
              <a:prstGeom prst="roundRect">
                <a:avLst>
                  <a:gd fmla="val 50000" name="adj"/>
                </a:avLst>
              </a:prstGeom>
              <a:solidFill>
                <a:srgbClr val="01834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3600">
                  <a:solidFill>
                    <a:schemeClr val="lt1"/>
                  </a:solidFill>
                  <a:latin typeface="Calibri"/>
                  <a:ea typeface="Calibri"/>
                  <a:cs typeface="Calibri"/>
                  <a:sym typeface="Calibri"/>
                </a:endParaRPr>
              </a:p>
            </p:txBody>
          </p:sp>
          <p:sp>
            <p:nvSpPr>
              <p:cNvPr id="128" name="Google Shape;128;p13"/>
              <p:cNvSpPr/>
              <p:nvPr/>
            </p:nvSpPr>
            <p:spPr>
              <a:xfrm>
                <a:off x="6962073" y="8588470"/>
                <a:ext cx="1170102" cy="1128312"/>
              </a:xfrm>
              <a:custGeom>
                <a:rect b="b" l="l" r="r" t="t"/>
                <a:pathLst>
                  <a:path extrusionOk="0" h="1671574" w="1671574">
                    <a:moveTo>
                      <a:pt x="0" y="835787"/>
                    </a:moveTo>
                    <a:cubicBezTo>
                      <a:pt x="0" y="374269"/>
                      <a:pt x="374269" y="0"/>
                      <a:pt x="835787" y="0"/>
                    </a:cubicBezTo>
                    <a:cubicBezTo>
                      <a:pt x="1297305" y="0"/>
                      <a:pt x="1671574" y="374269"/>
                      <a:pt x="1671574" y="835787"/>
                    </a:cubicBezTo>
                    <a:cubicBezTo>
                      <a:pt x="1671574" y="1297305"/>
                      <a:pt x="1297305" y="1671574"/>
                      <a:pt x="835787" y="1671574"/>
                    </a:cubicBezTo>
                    <a:cubicBezTo>
                      <a:pt x="374269" y="1671574"/>
                      <a:pt x="0" y="1297432"/>
                      <a:pt x="0" y="835787"/>
                    </a:cubicBezTo>
                    <a:close/>
                  </a:path>
                </a:pathLst>
              </a:custGeom>
              <a:solidFill>
                <a:srgbClr val="00BF6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1" sz="3600">
                  <a:solidFill>
                    <a:schemeClr val="dk1"/>
                  </a:solidFill>
                  <a:latin typeface="Calibri"/>
                  <a:ea typeface="Calibri"/>
                  <a:cs typeface="Calibri"/>
                  <a:sym typeface="Calibri"/>
                </a:endParaRPr>
              </a:p>
            </p:txBody>
          </p:sp>
          <p:sp>
            <p:nvSpPr>
              <p:cNvPr id="129" name="Google Shape;129;p13"/>
              <p:cNvSpPr txBox="1"/>
              <p:nvPr/>
            </p:nvSpPr>
            <p:spPr>
              <a:xfrm>
                <a:off x="8459833" y="8840948"/>
                <a:ext cx="8087400" cy="5361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1" lang="en-US" sz="3200">
                    <a:solidFill>
                      <a:srgbClr val="FFFFFF"/>
                    </a:solidFill>
                    <a:latin typeface="Montserrat"/>
                    <a:ea typeface="Montserrat"/>
                    <a:cs typeface="Montserrat"/>
                    <a:sym typeface="Montserrat"/>
                  </a:rPr>
                  <a:t>Luyện tập</a:t>
                </a:r>
                <a:endParaRPr b="1" sz="3200">
                  <a:solidFill>
                    <a:srgbClr val="FFFFFF"/>
                  </a:solidFill>
                  <a:latin typeface="Montserrat"/>
                  <a:ea typeface="Montserrat"/>
                  <a:cs typeface="Montserrat"/>
                  <a:sym typeface="Montserrat"/>
                </a:endParaRPr>
              </a:p>
            </p:txBody>
          </p:sp>
        </p:grpSp>
        <p:pic>
          <p:nvPicPr>
            <p:cNvPr descr="Books on shelf with solid fill" id="130" name="Google Shape;130;p13"/>
            <p:cNvPicPr preferRelativeResize="0"/>
            <p:nvPr/>
          </p:nvPicPr>
          <p:blipFill rotWithShape="1">
            <a:blip r:embed="rId6">
              <a:alphaModFix/>
            </a:blip>
            <a:srcRect b="0" l="0" r="0" t="0"/>
            <a:stretch/>
          </p:blipFill>
          <p:spPr>
            <a:xfrm>
              <a:off x="7156012" y="8963133"/>
              <a:ext cx="753302" cy="753302"/>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89"/>
                                        </p:tgtEl>
                                        <p:attrNameLst>
                                          <p:attrName>style.visibility</p:attrName>
                                        </p:attrNameLst>
                                      </p:cBhvr>
                                      <p:to>
                                        <p:strVal val="visible"/>
                                      </p:to>
                                    </p:set>
                                  </p:childTnLst>
                                </p:cTn>
                              </p:par>
                              <p:par>
                                <p:cTn fill="hold" nodeType="withEffect" presetClass="entr" presetID="23" presetSubtype="16">
                                  <p:stCondLst>
                                    <p:cond delay="0"/>
                                  </p:stCondLst>
                                  <p:childTnLst>
                                    <p:set>
                                      <p:cBhvr>
                                        <p:cTn dur="1" fill="hold">
                                          <p:stCondLst>
                                            <p:cond delay="0"/>
                                          </p:stCondLst>
                                        </p:cTn>
                                        <p:tgtEl>
                                          <p:spTgt spid="89"/>
                                        </p:tgtEl>
                                        <p:attrNameLst>
                                          <p:attrName>style.visibility</p:attrName>
                                        </p:attrNameLst>
                                      </p:cBhvr>
                                      <p:to>
                                        <p:strVal val="visible"/>
                                      </p:to>
                                    </p:set>
                                    <p:anim calcmode="lin" valueType="num">
                                      <p:cBhvr additive="base">
                                        <p:cTn dur="500"/>
                                        <p:tgtEl>
                                          <p:spTgt spid="89"/>
                                        </p:tgtEl>
                                        <p:attrNameLst>
                                          <p:attrName>ppt_w</p:attrName>
                                        </p:attrNameLst>
                                      </p:cBhvr>
                                      <p:tavLst>
                                        <p:tav fmla="" tm="0">
                                          <p:val>
                                            <p:strVal val="0"/>
                                          </p:val>
                                        </p:tav>
                                        <p:tav fmla="" tm="100000">
                                          <p:val>
                                            <p:strVal val="#ppt_w"/>
                                          </p:val>
                                        </p:tav>
                                      </p:tavLst>
                                    </p:anim>
                                    <p:anim calcmode="lin" valueType="num">
                                      <p:cBhvr additive="base">
                                        <p:cTn dur="500"/>
                                        <p:tgtEl>
                                          <p:spTgt spid="8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95"/>
                                        </p:tgtEl>
                                        <p:attrNameLst>
                                          <p:attrName>style.visibility</p:attrName>
                                        </p:attrNameLst>
                                      </p:cBhvr>
                                      <p:to>
                                        <p:strVal val="visible"/>
                                      </p:to>
                                    </p:set>
                                    <p:anim calcmode="lin" valueType="num">
                                      <p:cBhvr additive="base">
                                        <p:cTn dur="500"/>
                                        <p:tgtEl>
                                          <p:spTgt spid="9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08"/>
                                        </p:tgtEl>
                                        <p:attrNameLst>
                                          <p:attrName>style.visibility</p:attrName>
                                        </p:attrNameLst>
                                      </p:cBhvr>
                                      <p:to>
                                        <p:strVal val="visible"/>
                                      </p:to>
                                    </p:set>
                                    <p:anim calcmode="lin" valueType="num">
                                      <p:cBhvr additive="base">
                                        <p:cTn dur="500"/>
                                        <p:tgtEl>
                                          <p:spTgt spid="10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4"/>
                                        </p:tgtEl>
                                        <p:attrNameLst>
                                          <p:attrName>style.visibility</p:attrName>
                                        </p:attrNameLst>
                                      </p:cBhvr>
                                      <p:to>
                                        <p:strVal val="visible"/>
                                      </p:to>
                                    </p:set>
                                    <p:anim calcmode="lin" valueType="num">
                                      <p:cBhvr additive="base">
                                        <p:cTn dur="500"/>
                                        <p:tgtEl>
                                          <p:spTgt spid="11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19"/>
                                        </p:tgtEl>
                                        <p:attrNameLst>
                                          <p:attrName>style.visibility</p:attrName>
                                        </p:attrNameLst>
                                      </p:cBhvr>
                                      <p:to>
                                        <p:strVal val="visible"/>
                                      </p:to>
                                    </p:set>
                                    <p:anim calcmode="lin" valueType="num">
                                      <p:cBhvr additive="base">
                                        <p:cTn dur="500"/>
                                        <p:tgtEl>
                                          <p:spTgt spid="11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125"/>
                                        </p:tgtEl>
                                        <p:attrNameLst>
                                          <p:attrName>style.visibility</p:attrName>
                                        </p:attrNameLst>
                                      </p:cBhvr>
                                      <p:to>
                                        <p:strVal val="visible"/>
                                      </p:to>
                                    </p:set>
                                    <p:anim calcmode="lin" valueType="num">
                                      <p:cBhvr additive="base">
                                        <p:cTn dur="500"/>
                                        <p:tgtEl>
                                          <p:spTgt spid="125"/>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cxnSp>
        <p:nvCxnSpPr>
          <p:cNvPr id="135" name="Google Shape;135;p14"/>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136" name="Google Shape;136;p14"/>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137" name="Google Shape;137;p14"/>
          <p:cNvGrpSpPr/>
          <p:nvPr/>
        </p:nvGrpSpPr>
        <p:grpSpPr>
          <a:xfrm rot="10800000">
            <a:off x="15044552" y="-741521"/>
            <a:ext cx="7681766" cy="4260610"/>
            <a:chOff x="0" y="-38100"/>
            <a:chExt cx="406400" cy="225405"/>
          </a:xfrm>
        </p:grpSpPr>
        <p:sp>
          <p:nvSpPr>
            <p:cNvPr id="138" name="Google Shape;138;p1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39" name="Google Shape;139;p14"/>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140" name="Google Shape;140;p14"/>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141" name="Google Shape;141;p14"/>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142" name="Google Shape;142;p14"/>
          <p:cNvSpPr/>
          <p:nvPr/>
        </p:nvSpPr>
        <p:spPr>
          <a:xfrm>
            <a:off x="9121603" y="5737772"/>
            <a:ext cx="5199117" cy="4549228"/>
          </a:xfrm>
          <a:custGeom>
            <a:rect b="b" l="l" r="r" t="t"/>
            <a:pathLst>
              <a:path extrusionOk="0" h="4549228" w="5199117">
                <a:moveTo>
                  <a:pt x="0" y="0"/>
                </a:moveTo>
                <a:lnTo>
                  <a:pt x="5199117" y="0"/>
                </a:lnTo>
                <a:lnTo>
                  <a:pt x="5199117" y="4549228"/>
                </a:lnTo>
                <a:lnTo>
                  <a:pt x="0" y="4549228"/>
                </a:lnTo>
                <a:lnTo>
                  <a:pt x="0" y="0"/>
                </a:lnTo>
                <a:close/>
              </a:path>
            </a:pathLst>
          </a:custGeom>
          <a:blipFill rotWithShape="1">
            <a:blip r:embed="rId5">
              <a:alphaModFix/>
            </a:blip>
            <a:stretch>
              <a:fillRect b="0" l="0" r="0" t="0"/>
            </a:stretch>
          </a:blipFill>
          <a:ln>
            <a:noFill/>
          </a:ln>
        </p:spPr>
      </p:sp>
      <p:sp>
        <p:nvSpPr>
          <p:cNvPr id="143" name="Google Shape;143;p14"/>
          <p:cNvSpPr txBox="1"/>
          <p:nvPr/>
        </p:nvSpPr>
        <p:spPr>
          <a:xfrm>
            <a:off x="7315200" y="2540878"/>
            <a:ext cx="8643900" cy="2851500"/>
          </a:xfrm>
          <a:prstGeom prst="rect">
            <a:avLst/>
          </a:prstGeom>
          <a:noFill/>
          <a:ln>
            <a:noFill/>
          </a:ln>
        </p:spPr>
        <p:txBody>
          <a:bodyPr anchorCtr="0" anchor="t" bIns="0" lIns="0" spcFirstLastPara="1" rIns="0" wrap="square" tIns="0">
            <a:spAutoFit/>
          </a:bodyPr>
          <a:lstStyle/>
          <a:p>
            <a:pPr indent="0" lvl="0" marL="0" marR="0" rtl="0" algn="ctr">
              <a:lnSpc>
                <a:spcPct val="110511"/>
              </a:lnSpc>
              <a:spcBef>
                <a:spcPts val="0"/>
              </a:spcBef>
              <a:spcAft>
                <a:spcPts val="0"/>
              </a:spcAft>
              <a:buNone/>
            </a:pPr>
            <a:r>
              <a:rPr b="1" lang="en-US" sz="8800">
                <a:solidFill>
                  <a:srgbClr val="018345"/>
                </a:solidFill>
                <a:latin typeface="Montserrat"/>
                <a:ea typeface="Montserrat"/>
                <a:cs typeface="Montserrat"/>
                <a:sym typeface="Montserrat"/>
              </a:rPr>
              <a:t>Bài đọc APTIS part 4</a:t>
            </a:r>
            <a:endParaRPr/>
          </a:p>
        </p:txBody>
      </p:sp>
      <p:sp>
        <p:nvSpPr>
          <p:cNvPr id="144" name="Google Shape;144;p14"/>
          <p:cNvSpPr txBox="1"/>
          <p:nvPr/>
        </p:nvSpPr>
        <p:spPr>
          <a:xfrm>
            <a:off x="10210111" y="339710"/>
            <a:ext cx="2146722" cy="1895475"/>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01</a:t>
            </a:r>
            <a:endParaRPr/>
          </a:p>
        </p:txBody>
      </p:sp>
      <p:sp>
        <p:nvSpPr>
          <p:cNvPr id="145" name="Google Shape;145;p14"/>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146" name="Google Shape;146;p14"/>
          <p:cNvGrpSpPr/>
          <p:nvPr/>
        </p:nvGrpSpPr>
        <p:grpSpPr>
          <a:xfrm>
            <a:off x="-2718010" y="9274528"/>
            <a:ext cx="7950400" cy="1707231"/>
            <a:chOff x="0" y="-384762"/>
            <a:chExt cx="10600533" cy="2276307"/>
          </a:xfrm>
        </p:grpSpPr>
        <p:grpSp>
          <p:nvGrpSpPr>
            <p:cNvPr id="147" name="Google Shape;147;p14"/>
            <p:cNvGrpSpPr/>
            <p:nvPr/>
          </p:nvGrpSpPr>
          <p:grpSpPr>
            <a:xfrm>
              <a:off x="0" y="-384762"/>
              <a:ext cx="10600533" cy="2276307"/>
              <a:chOff x="0" y="-38100"/>
              <a:chExt cx="1049690" cy="225405"/>
            </a:xfrm>
          </p:grpSpPr>
          <p:sp>
            <p:nvSpPr>
              <p:cNvPr id="148" name="Google Shape;148;p1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49" name="Google Shape;149;p14"/>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50" name="Google Shape;150;p14"/>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144"/>
                                        </p:tgtEl>
                                        <p:attrNameLst>
                                          <p:attrName>style.visibility</p:attrName>
                                        </p:attrNameLst>
                                      </p:cBhvr>
                                      <p:to>
                                        <p:strVal val="visible"/>
                                      </p:to>
                                    </p:set>
                                    <p:anim calcmode="lin" valueType="num">
                                      <p:cBhvr additive="base">
                                        <p:cTn dur="500"/>
                                        <p:tgtEl>
                                          <p:spTgt spid="144"/>
                                        </p:tgtEl>
                                        <p:attrNameLst>
                                          <p:attrName>ppt_w</p:attrName>
                                        </p:attrNameLst>
                                      </p:cBhvr>
                                      <p:tavLst>
                                        <p:tav fmla="" tm="0">
                                          <p:val>
                                            <p:strVal val="0"/>
                                          </p:val>
                                        </p:tav>
                                        <p:tav fmla="" tm="100000">
                                          <p:val>
                                            <p:strVal val="#ppt_w"/>
                                          </p:val>
                                        </p:tav>
                                      </p:tavLst>
                                    </p:anim>
                                    <p:anim calcmode="lin" valueType="num">
                                      <p:cBhvr additive="base">
                                        <p:cTn dur="500"/>
                                        <p:tgtEl>
                                          <p:spTgt spid="144"/>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43"/>
                                        </p:tgtEl>
                                        <p:attrNameLst>
                                          <p:attrName>style.visibility</p:attrName>
                                        </p:attrNameLst>
                                      </p:cBhvr>
                                      <p:to>
                                        <p:strVal val="visible"/>
                                      </p:to>
                                    </p:set>
                                    <p:anim calcmode="lin" valueType="num">
                                      <p:cBhvr additive="base">
                                        <p:cTn dur="500"/>
                                        <p:tgtEl>
                                          <p:spTgt spid="143"/>
                                        </p:tgtEl>
                                        <p:attrNameLst>
                                          <p:attrName>ppt_w</p:attrName>
                                        </p:attrNameLst>
                                      </p:cBhvr>
                                      <p:tavLst>
                                        <p:tav fmla="" tm="0">
                                          <p:val>
                                            <p:strVal val="0"/>
                                          </p:val>
                                        </p:tav>
                                        <p:tav fmla="" tm="100000">
                                          <p:val>
                                            <p:strVal val="#ppt_w"/>
                                          </p:val>
                                        </p:tav>
                                      </p:tavLst>
                                    </p:anim>
                                    <p:anim calcmode="lin" valueType="num">
                                      <p:cBhvr additive="base">
                                        <p:cTn dur="500"/>
                                        <p:tgtEl>
                                          <p:spTgt spid="143"/>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cxnSp>
        <p:nvCxnSpPr>
          <p:cNvPr id="156" name="Google Shape;156;p15"/>
          <p:cNvCxnSpPr/>
          <p:nvPr/>
        </p:nvCxnSpPr>
        <p:spPr>
          <a:xfrm flipH="1" rot="10800000">
            <a:off x="7543801" y="1599849"/>
            <a:ext cx="9909107" cy="50383"/>
          </a:xfrm>
          <a:prstGeom prst="straightConnector1">
            <a:avLst/>
          </a:prstGeom>
          <a:noFill/>
          <a:ln cap="flat" cmpd="sng" w="38100">
            <a:solidFill>
              <a:srgbClr val="018345"/>
            </a:solidFill>
            <a:prstDash val="solid"/>
            <a:round/>
            <a:headEnd len="sm" w="sm" type="none"/>
            <a:tailEnd len="sm" w="sm" type="none"/>
          </a:ln>
        </p:spPr>
      </p:cxnSp>
      <p:cxnSp>
        <p:nvCxnSpPr>
          <p:cNvPr id="157" name="Google Shape;157;p15"/>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158" name="Google Shape;158;p15"/>
          <p:cNvGrpSpPr/>
          <p:nvPr/>
        </p:nvGrpSpPr>
        <p:grpSpPr>
          <a:xfrm rot="10800000">
            <a:off x="15785091" y="-536942"/>
            <a:ext cx="7681766" cy="4260610"/>
            <a:chOff x="0" y="-38100"/>
            <a:chExt cx="406400" cy="225405"/>
          </a:xfrm>
        </p:grpSpPr>
        <p:sp>
          <p:nvSpPr>
            <p:cNvPr id="159" name="Google Shape;159;p1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60" name="Google Shape;160;p15"/>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61" name="Google Shape;161;p15"/>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162" name="Google Shape;162;p15"/>
          <p:cNvGrpSpPr/>
          <p:nvPr/>
        </p:nvGrpSpPr>
        <p:grpSpPr>
          <a:xfrm>
            <a:off x="-2718010" y="9274528"/>
            <a:ext cx="7950400" cy="1707231"/>
            <a:chOff x="0" y="-384762"/>
            <a:chExt cx="10600533" cy="2276307"/>
          </a:xfrm>
        </p:grpSpPr>
        <p:grpSp>
          <p:nvGrpSpPr>
            <p:cNvPr id="163" name="Google Shape;163;p15"/>
            <p:cNvGrpSpPr/>
            <p:nvPr/>
          </p:nvGrpSpPr>
          <p:grpSpPr>
            <a:xfrm>
              <a:off x="0" y="-384762"/>
              <a:ext cx="10600533" cy="2276307"/>
              <a:chOff x="0" y="-38100"/>
              <a:chExt cx="1049690" cy="225405"/>
            </a:xfrm>
          </p:grpSpPr>
          <p:sp>
            <p:nvSpPr>
              <p:cNvPr id="164" name="Google Shape;164;p15"/>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165" name="Google Shape;165;p15"/>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66" name="Google Shape;166;p15"/>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67" name="Google Shape;167;p15"/>
          <p:cNvSpPr txBox="1"/>
          <p:nvPr/>
        </p:nvSpPr>
        <p:spPr>
          <a:xfrm>
            <a:off x="6293296" y="622074"/>
            <a:ext cx="11880900" cy="785100"/>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None/>
            </a:pPr>
            <a:r>
              <a:rPr b="1" lang="en-US" sz="5100">
                <a:solidFill>
                  <a:srgbClr val="018345"/>
                </a:solidFill>
                <a:latin typeface="Montserrat"/>
                <a:ea typeface="Montserrat"/>
                <a:cs typeface="Montserrat"/>
                <a:sym typeface="Montserrat"/>
              </a:rPr>
              <a:t>Part 4 Reading Aptis</a:t>
            </a:r>
            <a:endParaRPr b="1" sz="5100">
              <a:solidFill>
                <a:srgbClr val="018345"/>
              </a:solidFill>
              <a:latin typeface="Montserrat"/>
              <a:ea typeface="Montserrat"/>
              <a:cs typeface="Montserrat"/>
              <a:sym typeface="Montserrat"/>
            </a:endParaRPr>
          </a:p>
        </p:txBody>
      </p:sp>
      <p:grpSp>
        <p:nvGrpSpPr>
          <p:cNvPr id="168" name="Google Shape;168;p15"/>
          <p:cNvGrpSpPr/>
          <p:nvPr/>
        </p:nvGrpSpPr>
        <p:grpSpPr>
          <a:xfrm>
            <a:off x="7443312" y="2271732"/>
            <a:ext cx="9580866" cy="6801415"/>
            <a:chOff x="8028289" y="2279932"/>
            <a:chExt cx="8036291" cy="6330431"/>
          </a:xfrm>
        </p:grpSpPr>
        <p:grpSp>
          <p:nvGrpSpPr>
            <p:cNvPr id="169" name="Google Shape;169;p15"/>
            <p:cNvGrpSpPr/>
            <p:nvPr/>
          </p:nvGrpSpPr>
          <p:grpSpPr>
            <a:xfrm>
              <a:off x="8028289" y="2279932"/>
              <a:ext cx="8036291" cy="6330431"/>
              <a:chOff x="913302" y="76899"/>
              <a:chExt cx="8036291" cy="6330431"/>
            </a:xfrm>
          </p:grpSpPr>
          <p:sp>
            <p:nvSpPr>
              <p:cNvPr id="170" name="Google Shape;170;p15"/>
              <p:cNvSpPr/>
              <p:nvPr/>
            </p:nvSpPr>
            <p:spPr>
              <a:xfrm>
                <a:off x="2991522" y="3659524"/>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5"/>
              <p:cNvSpPr/>
              <p:nvPr/>
            </p:nvSpPr>
            <p:spPr>
              <a:xfrm>
                <a:off x="2791890" y="3979444"/>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5"/>
              <p:cNvSpPr/>
              <p:nvPr/>
            </p:nvSpPr>
            <p:spPr>
              <a:xfrm>
                <a:off x="2553972" y="4256426"/>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5"/>
              <p:cNvSpPr/>
              <p:nvPr/>
            </p:nvSpPr>
            <p:spPr>
              <a:xfrm>
                <a:off x="2838380" y="439758"/>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5"/>
              <p:cNvSpPr/>
              <p:nvPr/>
            </p:nvSpPr>
            <p:spPr>
              <a:xfrm>
                <a:off x="3142841" y="258329"/>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5"/>
              <p:cNvSpPr/>
              <p:nvPr/>
            </p:nvSpPr>
            <p:spPr>
              <a:xfrm>
                <a:off x="3446391" y="76899"/>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5"/>
              <p:cNvSpPr/>
              <p:nvPr/>
            </p:nvSpPr>
            <p:spPr>
              <a:xfrm>
                <a:off x="3749941" y="258329"/>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5"/>
              <p:cNvSpPr/>
              <p:nvPr/>
            </p:nvSpPr>
            <p:spPr>
              <a:xfrm>
                <a:off x="4054402" y="439758"/>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15"/>
              <p:cNvSpPr/>
              <p:nvPr/>
            </p:nvSpPr>
            <p:spPr>
              <a:xfrm>
                <a:off x="3446391" y="459715"/>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5"/>
              <p:cNvSpPr/>
              <p:nvPr/>
            </p:nvSpPr>
            <p:spPr>
              <a:xfrm>
                <a:off x="3446391" y="842531"/>
                <a:ext cx="227890" cy="227890"/>
              </a:xfrm>
              <a:prstGeom prst="ellipse">
                <a:avLst/>
              </a:prstGeom>
              <a:solidFill>
                <a:srgbClr val="4CB487"/>
              </a:solidFill>
              <a:ln cap="flat" cmpd="sng" w="254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5"/>
              <p:cNvSpPr/>
              <p:nvPr/>
            </p:nvSpPr>
            <p:spPr>
              <a:xfrm>
                <a:off x="1592279" y="5088830"/>
                <a:ext cx="6815100" cy="1318500"/>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5"/>
              <p:cNvSpPr txBox="1"/>
              <p:nvPr/>
            </p:nvSpPr>
            <p:spPr>
              <a:xfrm>
                <a:off x="1769765" y="5153238"/>
                <a:ext cx="6815100" cy="1189800"/>
              </a:xfrm>
              <a:prstGeom prst="rect">
                <a:avLst/>
              </a:prstGeom>
              <a:noFill/>
              <a:ln>
                <a:noFill/>
              </a:ln>
            </p:spPr>
            <p:txBody>
              <a:bodyPr anchorCtr="0" anchor="ctr" bIns="182875" lIns="1040350" spcFirstLastPara="1" rIns="182875" wrap="square" tIns="182875">
                <a:noAutofit/>
              </a:bodyPr>
              <a:lstStyle/>
              <a:p>
                <a:pPr indent="0" lvl="0" marL="0" marR="0" rtl="0" algn="l">
                  <a:lnSpc>
                    <a:spcPct val="90000"/>
                  </a:lnSpc>
                  <a:spcBef>
                    <a:spcPts val="0"/>
                  </a:spcBef>
                  <a:spcAft>
                    <a:spcPts val="0"/>
                  </a:spcAft>
                  <a:buClr>
                    <a:schemeClr val="lt1"/>
                  </a:buClr>
                  <a:buSzPts val="4800"/>
                  <a:buFont typeface="Roboto"/>
                  <a:buNone/>
                </a:pPr>
                <a:r>
                  <a:rPr b="1" lang="en-US" sz="3700">
                    <a:solidFill>
                      <a:schemeClr val="lt1"/>
                    </a:solidFill>
                    <a:latin typeface="Roboto"/>
                    <a:ea typeface="Roboto"/>
                    <a:cs typeface="Roboto"/>
                    <a:sym typeface="Roboto"/>
                  </a:rPr>
                  <a:t>Chọn phương án phù hợp trong 8 tiêu đề nối vào 7 đoạn văn</a:t>
                </a:r>
                <a:endParaRPr b="1" sz="3700">
                  <a:solidFill>
                    <a:schemeClr val="lt1"/>
                  </a:solidFill>
                  <a:latin typeface="Roboto"/>
                  <a:ea typeface="Roboto"/>
                  <a:cs typeface="Roboto"/>
                  <a:sym typeface="Roboto"/>
                </a:endParaRPr>
              </a:p>
            </p:txBody>
          </p:sp>
          <p:sp>
            <p:nvSpPr>
              <p:cNvPr id="182" name="Google Shape;182;p15"/>
              <p:cNvSpPr/>
              <p:nvPr/>
            </p:nvSpPr>
            <p:spPr>
              <a:xfrm>
                <a:off x="913302" y="4312071"/>
                <a:ext cx="1268100" cy="1318500"/>
              </a:xfrm>
              <a:prstGeom prst="ellipse">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5"/>
              <p:cNvSpPr/>
              <p:nvPr/>
            </p:nvSpPr>
            <p:spPr>
              <a:xfrm>
                <a:off x="3669724" y="2510116"/>
                <a:ext cx="4915139" cy="1318386"/>
              </a:xfrm>
              <a:prstGeom prst="roundRect">
                <a:avLst>
                  <a:gd fmla="val 16667" name="adj"/>
                </a:avLst>
              </a:prstGeom>
              <a:solidFill>
                <a:srgbClr val="4CB487"/>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5"/>
              <p:cNvSpPr txBox="1"/>
              <p:nvPr/>
            </p:nvSpPr>
            <p:spPr>
              <a:xfrm>
                <a:off x="3446393" y="2516929"/>
                <a:ext cx="5503200" cy="1189800"/>
              </a:xfrm>
              <a:prstGeom prst="rect">
                <a:avLst/>
              </a:prstGeom>
              <a:noFill/>
              <a:ln>
                <a:noFill/>
              </a:ln>
            </p:spPr>
            <p:txBody>
              <a:bodyPr anchorCtr="0" anchor="ctr" bIns="182875" lIns="1040350" spcFirstLastPara="1" rIns="182875" wrap="square" tIns="182875">
                <a:noAutofit/>
              </a:bodyPr>
              <a:lstStyle/>
              <a:p>
                <a:pPr indent="0" lvl="0" marL="0" rtl="0" algn="l">
                  <a:lnSpc>
                    <a:spcPct val="90000"/>
                  </a:lnSpc>
                  <a:spcBef>
                    <a:spcPts val="0"/>
                  </a:spcBef>
                  <a:spcAft>
                    <a:spcPts val="0"/>
                  </a:spcAft>
                  <a:buClr>
                    <a:schemeClr val="dk1"/>
                  </a:buClr>
                  <a:buSzPts val="1100"/>
                  <a:buFont typeface="Arial"/>
                  <a:buNone/>
                </a:pPr>
                <a:r>
                  <a:rPr b="1" lang="en-US" sz="3700">
                    <a:solidFill>
                      <a:schemeClr val="lt1"/>
                    </a:solidFill>
                    <a:latin typeface="Roboto"/>
                    <a:ea typeface="Roboto"/>
                    <a:cs typeface="Roboto"/>
                    <a:sym typeface="Roboto"/>
                  </a:rPr>
                  <a:t>Tìm tiêu đề phù hợp với từng đoạn văn.</a:t>
                </a:r>
                <a:endParaRPr b="1" sz="3700">
                  <a:solidFill>
                    <a:schemeClr val="lt1"/>
                  </a:solidFill>
                  <a:latin typeface="Roboto"/>
                  <a:ea typeface="Roboto"/>
                  <a:cs typeface="Roboto"/>
                  <a:sym typeface="Roboto"/>
                </a:endParaRPr>
              </a:p>
            </p:txBody>
          </p:sp>
          <p:sp>
            <p:nvSpPr>
              <p:cNvPr id="185" name="Google Shape;185;p15"/>
              <p:cNvSpPr/>
              <p:nvPr/>
            </p:nvSpPr>
            <p:spPr>
              <a:xfrm>
                <a:off x="2781864" y="1520629"/>
                <a:ext cx="1458600" cy="1674300"/>
              </a:xfrm>
              <a:prstGeom prst="ellipse">
                <a:avLst/>
              </a:prstGeom>
              <a:solidFill>
                <a:srgbClr val="CEEADA"/>
              </a:solidFill>
              <a:ln cap="flat" cmpd="sng" w="38100">
                <a:solidFill>
                  <a:schemeClr val="lt1"/>
                </a:solidFill>
                <a:prstDash val="solid"/>
                <a:round/>
                <a:headEnd len="sm" w="sm" type="none"/>
                <a:tailEnd len="sm" w="sm" type="none"/>
              </a:ln>
              <a:effectLst>
                <a:outerShdw blurRad="40000" rotWithShape="0" dir="5400000" dist="20000">
                  <a:srgbClr val="000000">
                    <a:alpha val="37647"/>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descr="Bullseye with solid fill" id="186" name="Google Shape;186;p15"/>
            <p:cNvPicPr preferRelativeResize="0"/>
            <p:nvPr/>
          </p:nvPicPr>
          <p:blipFill rotWithShape="1">
            <a:blip r:embed="rId4">
              <a:alphaModFix/>
            </a:blip>
            <a:srcRect b="0" l="0" r="0" t="0"/>
            <a:stretch/>
          </p:blipFill>
          <p:spPr>
            <a:xfrm>
              <a:off x="8077200" y="6515100"/>
              <a:ext cx="1219200" cy="1219200"/>
            </a:xfrm>
            <a:prstGeom prst="rect">
              <a:avLst/>
            </a:prstGeom>
            <a:noFill/>
            <a:ln>
              <a:noFill/>
            </a:ln>
          </p:spPr>
        </p:pic>
        <p:pic>
          <p:nvPicPr>
            <p:cNvPr descr="Lightbulb and gear with solid fill" id="187" name="Google Shape;187;p15"/>
            <p:cNvPicPr preferRelativeResize="0"/>
            <p:nvPr/>
          </p:nvPicPr>
          <p:blipFill rotWithShape="1">
            <a:blip r:embed="rId5">
              <a:alphaModFix/>
            </a:blip>
            <a:srcRect b="0" l="0" r="0" t="0"/>
            <a:stretch/>
          </p:blipFill>
          <p:spPr>
            <a:xfrm>
              <a:off x="10001250" y="3943350"/>
              <a:ext cx="1200150" cy="1200150"/>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67"/>
                                        </p:tgtEl>
                                        <p:attrNameLst>
                                          <p:attrName>style.visibility</p:attrName>
                                        </p:attrNameLst>
                                      </p:cBhvr>
                                      <p:to>
                                        <p:strVal val="visible"/>
                                      </p:to>
                                    </p:set>
                                    <p:animEffect filter="fade" transition="in">
                                      <p:cBhvr>
                                        <p:cTn dur="500"/>
                                        <p:tgtEl>
                                          <p:spTgt spid="1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500"/>
                                        <p:tgtEl>
                                          <p:spTgt spid="1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cxnSp>
        <p:nvCxnSpPr>
          <p:cNvPr id="192" name="Google Shape;192;p16"/>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193" name="Google Shape;193;p16"/>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194" name="Google Shape;194;p16"/>
          <p:cNvGrpSpPr/>
          <p:nvPr/>
        </p:nvGrpSpPr>
        <p:grpSpPr>
          <a:xfrm rot="10800000">
            <a:off x="15044552" y="-741521"/>
            <a:ext cx="7681766" cy="4260610"/>
            <a:chOff x="0" y="-38100"/>
            <a:chExt cx="406400" cy="225405"/>
          </a:xfrm>
        </p:grpSpPr>
        <p:sp>
          <p:nvSpPr>
            <p:cNvPr id="195" name="Google Shape;195;p1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196" name="Google Shape;196;p16"/>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197" name="Google Shape;197;p16"/>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198" name="Google Shape;198;p16"/>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199" name="Google Shape;199;p16"/>
          <p:cNvSpPr txBox="1"/>
          <p:nvPr/>
        </p:nvSpPr>
        <p:spPr>
          <a:xfrm>
            <a:off x="5511794" y="2502271"/>
            <a:ext cx="11760300" cy="2512800"/>
          </a:xfrm>
          <a:prstGeom prst="rect">
            <a:avLst/>
          </a:prstGeom>
          <a:noFill/>
          <a:ln>
            <a:noFill/>
          </a:ln>
        </p:spPr>
        <p:txBody>
          <a:bodyPr anchorCtr="0" anchor="t" bIns="0" lIns="0" spcFirstLastPara="1" rIns="0" wrap="square" tIns="0">
            <a:spAutoFit/>
          </a:bodyPr>
          <a:lstStyle/>
          <a:p>
            <a:pPr indent="0" lvl="0" marL="0" marR="0" rtl="0" algn="ctr">
              <a:lnSpc>
                <a:spcPct val="147348"/>
              </a:lnSpc>
              <a:spcBef>
                <a:spcPts val="0"/>
              </a:spcBef>
              <a:spcAft>
                <a:spcPts val="0"/>
              </a:spcAft>
              <a:buNone/>
            </a:pPr>
            <a:r>
              <a:rPr b="1" lang="en-US" sz="6600">
                <a:solidFill>
                  <a:srgbClr val="018345"/>
                </a:solidFill>
                <a:latin typeface="Montserrat"/>
                <a:ea typeface="Montserrat"/>
                <a:cs typeface="Montserrat"/>
                <a:sym typeface="Montserrat"/>
              </a:rPr>
              <a:t>Lưu ý khi làm bài đọc APTIS</a:t>
            </a:r>
            <a:endParaRPr/>
          </a:p>
        </p:txBody>
      </p:sp>
      <p:sp>
        <p:nvSpPr>
          <p:cNvPr id="200" name="Google Shape;200;p16"/>
          <p:cNvSpPr txBox="1"/>
          <p:nvPr/>
        </p:nvSpPr>
        <p:spPr>
          <a:xfrm>
            <a:off x="9601200" y="339710"/>
            <a:ext cx="2755633" cy="1837554"/>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02</a:t>
            </a:r>
            <a:endParaRPr/>
          </a:p>
        </p:txBody>
      </p:sp>
      <p:sp>
        <p:nvSpPr>
          <p:cNvPr id="201" name="Google Shape;201;p16"/>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202" name="Google Shape;202;p16"/>
          <p:cNvGrpSpPr/>
          <p:nvPr/>
        </p:nvGrpSpPr>
        <p:grpSpPr>
          <a:xfrm>
            <a:off x="-2718010" y="9274528"/>
            <a:ext cx="7950400" cy="1707231"/>
            <a:chOff x="0" y="-384762"/>
            <a:chExt cx="10600533" cy="2276307"/>
          </a:xfrm>
        </p:grpSpPr>
        <p:grpSp>
          <p:nvGrpSpPr>
            <p:cNvPr id="203" name="Google Shape;203;p16"/>
            <p:cNvGrpSpPr/>
            <p:nvPr/>
          </p:nvGrpSpPr>
          <p:grpSpPr>
            <a:xfrm>
              <a:off x="0" y="-384762"/>
              <a:ext cx="10600533" cy="2276307"/>
              <a:chOff x="0" y="-38100"/>
              <a:chExt cx="1049690" cy="225405"/>
            </a:xfrm>
          </p:grpSpPr>
          <p:sp>
            <p:nvSpPr>
              <p:cNvPr id="204" name="Google Shape;204;p1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05" name="Google Shape;205;p16"/>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06" name="Google Shape;206;p16"/>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descr="Stressed Out Woman Cartoon Images – Browse 1,008 Stock Photos, Vectors, and  Video | Adobe Stock" id="207" name="Google Shape;207;p16"/>
          <p:cNvPicPr preferRelativeResize="0"/>
          <p:nvPr/>
        </p:nvPicPr>
        <p:blipFill rotWithShape="1">
          <a:blip r:embed="rId5">
            <a:alphaModFix/>
          </a:blip>
          <a:srcRect b="0" l="0" r="0" t="0"/>
          <a:stretch/>
        </p:blipFill>
        <p:spPr>
          <a:xfrm>
            <a:off x="8305800" y="4969014"/>
            <a:ext cx="7127824" cy="399069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00"/>
                                        </p:tgtEl>
                                        <p:attrNameLst>
                                          <p:attrName>style.visibility</p:attrName>
                                        </p:attrNameLst>
                                      </p:cBhvr>
                                      <p:to>
                                        <p:strVal val="visible"/>
                                      </p:to>
                                    </p:set>
                                    <p:anim calcmode="lin" valueType="num">
                                      <p:cBhvr additive="base">
                                        <p:cTn dur="500"/>
                                        <p:tgtEl>
                                          <p:spTgt spid="200"/>
                                        </p:tgtEl>
                                        <p:attrNameLst>
                                          <p:attrName>ppt_w</p:attrName>
                                        </p:attrNameLst>
                                      </p:cBhvr>
                                      <p:tavLst>
                                        <p:tav fmla="" tm="0">
                                          <p:val>
                                            <p:strVal val="0"/>
                                          </p:val>
                                        </p:tav>
                                        <p:tav fmla="" tm="100000">
                                          <p:val>
                                            <p:strVal val="#ppt_w"/>
                                          </p:val>
                                        </p:tav>
                                      </p:tavLst>
                                    </p:anim>
                                    <p:anim calcmode="lin" valueType="num">
                                      <p:cBhvr additive="base">
                                        <p:cTn dur="500"/>
                                        <p:tgtEl>
                                          <p:spTgt spid="200"/>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199"/>
                                        </p:tgtEl>
                                        <p:attrNameLst>
                                          <p:attrName>style.visibility</p:attrName>
                                        </p:attrNameLst>
                                      </p:cBhvr>
                                      <p:to>
                                        <p:strVal val="visible"/>
                                      </p:to>
                                    </p:set>
                                    <p:anim calcmode="lin" valueType="num">
                                      <p:cBhvr additive="base">
                                        <p:cTn dur="500"/>
                                        <p:tgtEl>
                                          <p:spTgt spid="199"/>
                                        </p:tgtEl>
                                        <p:attrNameLst>
                                          <p:attrName>ppt_w</p:attrName>
                                        </p:attrNameLst>
                                      </p:cBhvr>
                                      <p:tavLst>
                                        <p:tav fmla="" tm="0">
                                          <p:val>
                                            <p:strVal val="0"/>
                                          </p:val>
                                        </p:tav>
                                        <p:tav fmla="" tm="100000">
                                          <p:val>
                                            <p:strVal val="#ppt_w"/>
                                          </p:val>
                                        </p:tav>
                                      </p:tavLst>
                                    </p:anim>
                                    <p:anim calcmode="lin" valueType="num">
                                      <p:cBhvr additive="base">
                                        <p:cTn dur="500"/>
                                        <p:tgtEl>
                                          <p:spTgt spid="19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cxnSp>
        <p:nvCxnSpPr>
          <p:cNvPr id="213" name="Google Shape;213;p17"/>
          <p:cNvCxnSpPr/>
          <p:nvPr/>
        </p:nvCxnSpPr>
        <p:spPr>
          <a:xfrm flipH="1" rot="10800000">
            <a:off x="3996287" y="2369700"/>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214" name="Google Shape;214;p17"/>
          <p:cNvGrpSpPr/>
          <p:nvPr/>
        </p:nvGrpSpPr>
        <p:grpSpPr>
          <a:xfrm rot="10800000">
            <a:off x="15785091" y="-536942"/>
            <a:ext cx="7681766" cy="4260610"/>
            <a:chOff x="0" y="-38100"/>
            <a:chExt cx="406400" cy="225405"/>
          </a:xfrm>
        </p:grpSpPr>
        <p:sp>
          <p:nvSpPr>
            <p:cNvPr id="215" name="Google Shape;215;p1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16" name="Google Shape;216;p17"/>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17" name="Google Shape;217;p17"/>
          <p:cNvSpPr/>
          <p:nvPr/>
        </p:nvSpPr>
        <p:spPr>
          <a:xfrm>
            <a:off x="18978732" y="174137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218" name="Google Shape;218;p17"/>
          <p:cNvSpPr txBox="1"/>
          <p:nvPr/>
        </p:nvSpPr>
        <p:spPr>
          <a:xfrm>
            <a:off x="3358927" y="1151432"/>
            <a:ext cx="11880900" cy="738900"/>
          </a:xfrm>
          <a:prstGeom prst="rect">
            <a:avLst/>
          </a:prstGeom>
          <a:noFill/>
          <a:ln>
            <a:noFill/>
          </a:ln>
        </p:spPr>
        <p:txBody>
          <a:bodyPr anchorCtr="0" anchor="t" bIns="0" lIns="0" spcFirstLastPara="1" rIns="0" wrap="square" tIns="0">
            <a:spAutoFit/>
          </a:bodyPr>
          <a:lstStyle/>
          <a:p>
            <a:pPr indent="0" lvl="0" marL="0" marR="0" rtl="0" algn="ctr">
              <a:lnSpc>
                <a:spcPct val="154791"/>
              </a:lnSpc>
              <a:spcBef>
                <a:spcPts val="0"/>
              </a:spcBef>
              <a:spcAft>
                <a:spcPts val="0"/>
              </a:spcAft>
              <a:buNone/>
            </a:pPr>
            <a:r>
              <a:rPr b="1" lang="en-US" sz="4800">
                <a:solidFill>
                  <a:srgbClr val="018345"/>
                </a:solidFill>
                <a:latin typeface="Montserrat"/>
                <a:ea typeface="Montserrat"/>
                <a:cs typeface="Montserrat"/>
                <a:sym typeface="Montserrat"/>
              </a:rPr>
              <a:t>Lưu ý khi làm bài đọc APTIS</a:t>
            </a:r>
            <a:endParaRPr/>
          </a:p>
        </p:txBody>
      </p:sp>
      <p:grpSp>
        <p:nvGrpSpPr>
          <p:cNvPr id="219" name="Google Shape;219;p17"/>
          <p:cNvGrpSpPr/>
          <p:nvPr/>
        </p:nvGrpSpPr>
        <p:grpSpPr>
          <a:xfrm>
            <a:off x="-2718010" y="9274528"/>
            <a:ext cx="7950400" cy="1707231"/>
            <a:chOff x="0" y="-384762"/>
            <a:chExt cx="10600533" cy="2276307"/>
          </a:xfrm>
        </p:grpSpPr>
        <p:grpSp>
          <p:nvGrpSpPr>
            <p:cNvPr id="220" name="Google Shape;220;p17"/>
            <p:cNvGrpSpPr/>
            <p:nvPr/>
          </p:nvGrpSpPr>
          <p:grpSpPr>
            <a:xfrm>
              <a:off x="0" y="-384762"/>
              <a:ext cx="10600533" cy="2276307"/>
              <a:chOff x="0" y="-38100"/>
              <a:chExt cx="1049690" cy="225405"/>
            </a:xfrm>
          </p:grpSpPr>
          <p:sp>
            <p:nvSpPr>
              <p:cNvPr id="221" name="Google Shape;221;p17"/>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22" name="Google Shape;222;p17"/>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23" name="Google Shape;223;p17"/>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24" name="Google Shape;224;p17"/>
          <p:cNvSpPr txBox="1"/>
          <p:nvPr/>
        </p:nvSpPr>
        <p:spPr>
          <a:xfrm>
            <a:off x="3915197" y="3175163"/>
            <a:ext cx="10768500" cy="4402200"/>
          </a:xfrm>
          <a:prstGeom prst="rect">
            <a:avLst/>
          </a:prstGeom>
          <a:noFill/>
          <a:ln>
            <a:noFill/>
          </a:ln>
        </p:spPr>
        <p:txBody>
          <a:bodyPr anchorCtr="0" anchor="t" bIns="45700" lIns="91425" spcFirstLastPara="1" rIns="91425" wrap="square" tIns="45700">
            <a:spAutoFit/>
          </a:bodyPr>
          <a:lstStyle/>
          <a:p>
            <a:pPr indent="-571500" lvl="0" marL="571500" marR="0" rtl="0" algn="l">
              <a:lnSpc>
                <a:spcPct val="150000"/>
              </a:lnSpc>
              <a:spcBef>
                <a:spcPts val="0"/>
              </a:spcBef>
              <a:spcAft>
                <a:spcPts val="0"/>
              </a:spcAft>
              <a:buClr>
                <a:schemeClr val="dk1"/>
              </a:buClr>
              <a:buSzPts val="4000"/>
              <a:buFont typeface="Noto Sans Symbols"/>
              <a:buChar char="⮚"/>
            </a:pPr>
            <a:r>
              <a:rPr lang="en-US" sz="4000">
                <a:solidFill>
                  <a:schemeClr val="dk1"/>
                </a:solidFill>
                <a:latin typeface="Calibri"/>
                <a:ea typeface="Calibri"/>
                <a:cs typeface="Calibri"/>
                <a:sym typeface="Calibri"/>
              </a:rPr>
              <a:t>Đừng dành quá nhiều thời gian cho một câu hỏi</a:t>
            </a:r>
            <a:endParaRPr sz="40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chemeClr val="dk1"/>
              </a:buClr>
              <a:buSzPts val="4000"/>
              <a:buFont typeface="Calibri"/>
              <a:buChar char="⮚"/>
            </a:pPr>
            <a:r>
              <a:rPr lang="en-US" sz="4000">
                <a:solidFill>
                  <a:schemeClr val="dk1"/>
                </a:solidFill>
                <a:latin typeface="Calibri"/>
                <a:ea typeface="Calibri"/>
                <a:cs typeface="Calibri"/>
                <a:sym typeface="Calibri"/>
              </a:rPr>
              <a:t>Đừng để bất kỳ câu trả lời nào trống</a:t>
            </a:r>
            <a:endParaRPr sz="40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chemeClr val="dk1"/>
              </a:buClr>
              <a:buSzPts val="4000"/>
              <a:buFont typeface="Calibri"/>
              <a:buChar char="⮚"/>
            </a:pPr>
            <a:r>
              <a:rPr lang="en-US" sz="4000">
                <a:solidFill>
                  <a:schemeClr val="dk1"/>
                </a:solidFill>
                <a:latin typeface="Calibri"/>
                <a:ea typeface="Calibri"/>
                <a:cs typeface="Calibri"/>
                <a:sym typeface="Calibri"/>
              </a:rPr>
              <a:t>Đừng mong đợi hiểu mọi từ</a:t>
            </a:r>
            <a:endParaRPr sz="40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chemeClr val="dk1"/>
              </a:buClr>
              <a:buSzPts val="4000"/>
              <a:buFont typeface="Calibri"/>
              <a:buChar char="⮚"/>
            </a:pPr>
            <a:r>
              <a:rPr lang="en-US" sz="4000">
                <a:solidFill>
                  <a:schemeClr val="dk1"/>
                </a:solidFill>
                <a:latin typeface="Calibri"/>
                <a:ea typeface="Calibri"/>
                <a:cs typeface="Calibri"/>
                <a:sym typeface="Calibri"/>
              </a:rPr>
              <a:t>Làm câu dễ trước câu khó sau</a:t>
            </a:r>
            <a:endParaRPr sz="4000">
              <a:solidFill>
                <a:schemeClr val="dk1"/>
              </a:solidFill>
              <a:latin typeface="Calibri"/>
              <a:ea typeface="Calibri"/>
              <a:cs typeface="Calibri"/>
              <a:sym typeface="Calibri"/>
            </a:endParaRPr>
          </a:p>
          <a:p>
            <a:pPr indent="-571500" lvl="0" marL="571500" marR="0" rtl="0" algn="l">
              <a:lnSpc>
                <a:spcPct val="150000"/>
              </a:lnSpc>
              <a:spcBef>
                <a:spcPts val="0"/>
              </a:spcBef>
              <a:spcAft>
                <a:spcPts val="0"/>
              </a:spcAft>
              <a:buClr>
                <a:schemeClr val="dk1"/>
              </a:buClr>
              <a:buSzPts val="4000"/>
              <a:buFont typeface="Calibri"/>
              <a:buChar char="⮚"/>
            </a:pPr>
            <a:r>
              <a:rPr lang="en-US" sz="4000">
                <a:solidFill>
                  <a:schemeClr val="dk1"/>
                </a:solidFill>
                <a:latin typeface="Calibri"/>
                <a:ea typeface="Calibri"/>
                <a:cs typeface="Calibri"/>
                <a:sym typeface="Calibri"/>
              </a:rPr>
              <a:t>Đọc câu hỏi trước và đoạn văn sau</a:t>
            </a:r>
            <a:endParaRPr sz="40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500"/>
                                        <p:tgtEl>
                                          <p:spTgt spid="2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4">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cxnSp>
        <p:nvCxnSpPr>
          <p:cNvPr id="229" name="Google Shape;229;p18"/>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230" name="Google Shape;230;p18"/>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31" name="Google Shape;231;p18"/>
          <p:cNvGrpSpPr/>
          <p:nvPr/>
        </p:nvGrpSpPr>
        <p:grpSpPr>
          <a:xfrm rot="10800000">
            <a:off x="15044552" y="-741521"/>
            <a:ext cx="7681766" cy="4260610"/>
            <a:chOff x="0" y="-38100"/>
            <a:chExt cx="406400" cy="225405"/>
          </a:xfrm>
        </p:grpSpPr>
        <p:sp>
          <p:nvSpPr>
            <p:cNvPr id="232" name="Google Shape;232;p1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33" name="Google Shape;233;p18"/>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234" name="Google Shape;234;p18"/>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235" name="Google Shape;235;p18"/>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236" name="Google Shape;236;p18"/>
          <p:cNvSpPr txBox="1"/>
          <p:nvPr/>
        </p:nvSpPr>
        <p:spPr>
          <a:xfrm>
            <a:off x="5511794" y="2502271"/>
            <a:ext cx="11760209" cy="1142044"/>
          </a:xfrm>
          <a:prstGeom prst="rect">
            <a:avLst/>
          </a:prstGeom>
          <a:noFill/>
          <a:ln>
            <a:noFill/>
          </a:ln>
        </p:spPr>
        <p:txBody>
          <a:bodyPr anchorCtr="0" anchor="t" bIns="0" lIns="0" spcFirstLastPara="1" rIns="0" wrap="square" tIns="0">
            <a:spAutoFit/>
          </a:bodyPr>
          <a:lstStyle/>
          <a:p>
            <a:pPr indent="0" lvl="0" marL="0" marR="0" rtl="0" algn="ctr">
              <a:lnSpc>
                <a:spcPct val="147348"/>
              </a:lnSpc>
              <a:spcBef>
                <a:spcPts val="0"/>
              </a:spcBef>
              <a:spcAft>
                <a:spcPts val="0"/>
              </a:spcAft>
              <a:buNone/>
            </a:pPr>
            <a:r>
              <a:rPr b="1" lang="en-US" sz="6600">
                <a:solidFill>
                  <a:srgbClr val="018345"/>
                </a:solidFill>
                <a:latin typeface="Montserrat"/>
                <a:ea typeface="Montserrat"/>
                <a:cs typeface="Montserrat"/>
                <a:sym typeface="Montserrat"/>
              </a:rPr>
              <a:t>Đề mẫu</a:t>
            </a:r>
            <a:endParaRPr b="1" sz="6600">
              <a:solidFill>
                <a:srgbClr val="018345"/>
              </a:solidFill>
              <a:latin typeface="Montserrat"/>
              <a:ea typeface="Montserrat"/>
              <a:cs typeface="Montserrat"/>
              <a:sym typeface="Montserrat"/>
            </a:endParaRPr>
          </a:p>
        </p:txBody>
      </p:sp>
      <p:sp>
        <p:nvSpPr>
          <p:cNvPr id="237" name="Google Shape;237;p18"/>
          <p:cNvSpPr txBox="1"/>
          <p:nvPr/>
        </p:nvSpPr>
        <p:spPr>
          <a:xfrm>
            <a:off x="9601200" y="339710"/>
            <a:ext cx="2755633" cy="1837554"/>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03</a:t>
            </a:r>
            <a:endParaRPr/>
          </a:p>
        </p:txBody>
      </p:sp>
      <p:sp>
        <p:nvSpPr>
          <p:cNvPr id="238" name="Google Shape;238;p18"/>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239" name="Google Shape;239;p18"/>
          <p:cNvGrpSpPr/>
          <p:nvPr/>
        </p:nvGrpSpPr>
        <p:grpSpPr>
          <a:xfrm>
            <a:off x="-2718010" y="9274528"/>
            <a:ext cx="7950400" cy="1707231"/>
            <a:chOff x="0" y="-384762"/>
            <a:chExt cx="10600533" cy="2276307"/>
          </a:xfrm>
        </p:grpSpPr>
        <p:grpSp>
          <p:nvGrpSpPr>
            <p:cNvPr id="240" name="Google Shape;240;p18"/>
            <p:cNvGrpSpPr/>
            <p:nvPr/>
          </p:nvGrpSpPr>
          <p:grpSpPr>
            <a:xfrm>
              <a:off x="0" y="-384762"/>
              <a:ext cx="10600533" cy="2276307"/>
              <a:chOff x="0" y="-38100"/>
              <a:chExt cx="1049690" cy="225405"/>
            </a:xfrm>
          </p:grpSpPr>
          <p:sp>
            <p:nvSpPr>
              <p:cNvPr id="241" name="Google Shape;241;p18"/>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42" name="Google Shape;242;p18"/>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43" name="Google Shape;243;p18"/>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id="244" name="Google Shape;244;p18"/>
          <p:cNvPicPr preferRelativeResize="0"/>
          <p:nvPr/>
        </p:nvPicPr>
        <p:blipFill rotWithShape="1">
          <a:blip r:embed="rId5">
            <a:alphaModFix/>
          </a:blip>
          <a:srcRect b="10096" l="0" r="0" t="10547"/>
          <a:stretch/>
        </p:blipFill>
        <p:spPr>
          <a:xfrm>
            <a:off x="7772400" y="4099418"/>
            <a:ext cx="6391277" cy="507199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37"/>
                                        </p:tgtEl>
                                        <p:attrNameLst>
                                          <p:attrName>style.visibility</p:attrName>
                                        </p:attrNameLst>
                                      </p:cBhvr>
                                      <p:to>
                                        <p:strVal val="visible"/>
                                      </p:to>
                                    </p:set>
                                    <p:anim calcmode="lin" valueType="num">
                                      <p:cBhvr additive="base">
                                        <p:cTn dur="500"/>
                                        <p:tgtEl>
                                          <p:spTgt spid="237"/>
                                        </p:tgtEl>
                                        <p:attrNameLst>
                                          <p:attrName>ppt_w</p:attrName>
                                        </p:attrNameLst>
                                      </p:cBhvr>
                                      <p:tavLst>
                                        <p:tav fmla="" tm="0">
                                          <p:val>
                                            <p:strVal val="0"/>
                                          </p:val>
                                        </p:tav>
                                        <p:tav fmla="" tm="100000">
                                          <p:val>
                                            <p:strVal val="#ppt_w"/>
                                          </p:val>
                                        </p:tav>
                                      </p:tavLst>
                                    </p:anim>
                                    <p:anim calcmode="lin" valueType="num">
                                      <p:cBhvr additive="base">
                                        <p:cTn dur="500"/>
                                        <p:tgtEl>
                                          <p:spTgt spid="237"/>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236"/>
                                        </p:tgtEl>
                                        <p:attrNameLst>
                                          <p:attrName>style.visibility</p:attrName>
                                        </p:attrNameLst>
                                      </p:cBhvr>
                                      <p:to>
                                        <p:strVal val="visible"/>
                                      </p:to>
                                    </p:set>
                                    <p:anim calcmode="lin" valueType="num">
                                      <p:cBhvr additive="base">
                                        <p:cTn dur="500"/>
                                        <p:tgtEl>
                                          <p:spTgt spid="236"/>
                                        </p:tgtEl>
                                        <p:attrNameLst>
                                          <p:attrName>ppt_w</p:attrName>
                                        </p:attrNameLst>
                                      </p:cBhvr>
                                      <p:tavLst>
                                        <p:tav fmla="" tm="0">
                                          <p:val>
                                            <p:strVal val="0"/>
                                          </p:val>
                                        </p:tav>
                                        <p:tav fmla="" tm="100000">
                                          <p:val>
                                            <p:strVal val="#ppt_w"/>
                                          </p:val>
                                        </p:tav>
                                      </p:tavLst>
                                    </p:anim>
                                    <p:anim calcmode="lin" valueType="num">
                                      <p:cBhvr additive="base">
                                        <p:cTn dur="500"/>
                                        <p:tgtEl>
                                          <p:spTgt spid="236"/>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cxnSp>
        <p:nvCxnSpPr>
          <p:cNvPr id="250" name="Google Shape;250;p19"/>
          <p:cNvCxnSpPr/>
          <p:nvPr/>
        </p:nvCxnSpPr>
        <p:spPr>
          <a:xfrm flipH="1" rot="10800000">
            <a:off x="4154501" y="1758625"/>
            <a:ext cx="9909000" cy="50400"/>
          </a:xfrm>
          <a:prstGeom prst="straightConnector1">
            <a:avLst/>
          </a:prstGeom>
          <a:noFill/>
          <a:ln cap="flat" cmpd="sng" w="38100">
            <a:solidFill>
              <a:srgbClr val="018345"/>
            </a:solidFill>
            <a:prstDash val="solid"/>
            <a:round/>
            <a:headEnd len="sm" w="sm" type="none"/>
            <a:tailEnd len="sm" w="sm" type="none"/>
          </a:ln>
        </p:spPr>
      </p:cxnSp>
      <p:grpSp>
        <p:nvGrpSpPr>
          <p:cNvPr id="251" name="Google Shape;251;p19"/>
          <p:cNvGrpSpPr/>
          <p:nvPr/>
        </p:nvGrpSpPr>
        <p:grpSpPr>
          <a:xfrm rot="10800000">
            <a:off x="15785084" y="-536938"/>
            <a:ext cx="7681773" cy="4260605"/>
            <a:chOff x="0" y="-38100"/>
            <a:chExt cx="406400" cy="225405"/>
          </a:xfrm>
        </p:grpSpPr>
        <p:sp>
          <p:nvSpPr>
            <p:cNvPr id="252" name="Google Shape;252;p1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53" name="Google Shape;253;p19"/>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4" name="Google Shape;254;p19"/>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grpSp>
        <p:nvGrpSpPr>
          <p:cNvPr id="255" name="Google Shape;255;p19"/>
          <p:cNvGrpSpPr/>
          <p:nvPr/>
        </p:nvGrpSpPr>
        <p:grpSpPr>
          <a:xfrm>
            <a:off x="-2718010" y="9274530"/>
            <a:ext cx="7950378" cy="1707223"/>
            <a:chOff x="0" y="-384760"/>
            <a:chExt cx="10600504" cy="2276297"/>
          </a:xfrm>
        </p:grpSpPr>
        <p:grpSp>
          <p:nvGrpSpPr>
            <p:cNvPr id="256" name="Google Shape;256;p19"/>
            <p:cNvGrpSpPr/>
            <p:nvPr/>
          </p:nvGrpSpPr>
          <p:grpSpPr>
            <a:xfrm>
              <a:off x="0" y="-384760"/>
              <a:ext cx="10600504" cy="2276297"/>
              <a:chOff x="0" y="-38100"/>
              <a:chExt cx="1049690" cy="225405"/>
            </a:xfrm>
          </p:grpSpPr>
          <p:sp>
            <p:nvSpPr>
              <p:cNvPr id="257" name="Google Shape;257;p19"/>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58" name="Google Shape;258;p19"/>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59" name="Google Shape;259;p19"/>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60" name="Google Shape;260;p19"/>
          <p:cNvSpPr txBox="1"/>
          <p:nvPr/>
        </p:nvSpPr>
        <p:spPr>
          <a:xfrm>
            <a:off x="3203547" y="602375"/>
            <a:ext cx="11880900" cy="923400"/>
          </a:xfrm>
          <a:prstGeom prst="rect">
            <a:avLst/>
          </a:prstGeom>
          <a:noFill/>
          <a:ln>
            <a:noFill/>
          </a:ln>
        </p:spPr>
        <p:txBody>
          <a:bodyPr anchorCtr="0" anchor="t" bIns="0" lIns="0" spcFirstLastPara="1" rIns="0" wrap="square" tIns="0">
            <a:spAutoFit/>
          </a:bodyPr>
          <a:lstStyle/>
          <a:p>
            <a:pPr indent="0" lvl="0" marL="0" marR="0" rtl="0" algn="ctr">
              <a:lnSpc>
                <a:spcPct val="123833"/>
              </a:lnSpc>
              <a:spcBef>
                <a:spcPts val="0"/>
              </a:spcBef>
              <a:spcAft>
                <a:spcPts val="0"/>
              </a:spcAft>
              <a:buNone/>
            </a:pPr>
            <a:r>
              <a:rPr b="1" lang="en-US" sz="6000">
                <a:solidFill>
                  <a:srgbClr val="018345"/>
                </a:solidFill>
                <a:latin typeface="Montserrat"/>
                <a:ea typeface="Montserrat"/>
                <a:cs typeface="Montserrat"/>
                <a:sym typeface="Montserrat"/>
              </a:rPr>
              <a:t>Đề mẫu</a:t>
            </a:r>
            <a:endParaRPr b="1" sz="6000">
              <a:solidFill>
                <a:srgbClr val="018345"/>
              </a:solidFill>
              <a:latin typeface="Montserrat"/>
              <a:ea typeface="Montserrat"/>
              <a:cs typeface="Montserrat"/>
              <a:sym typeface="Montserrat"/>
            </a:endParaRPr>
          </a:p>
        </p:txBody>
      </p:sp>
      <p:pic>
        <p:nvPicPr>
          <p:cNvPr id="261" name="Google Shape;261;p19"/>
          <p:cNvPicPr preferRelativeResize="0"/>
          <p:nvPr/>
        </p:nvPicPr>
        <p:blipFill>
          <a:blip r:embed="rId4">
            <a:alphaModFix/>
          </a:blip>
          <a:stretch>
            <a:fillRect/>
          </a:stretch>
        </p:blipFill>
        <p:spPr>
          <a:xfrm>
            <a:off x="1790238" y="2615787"/>
            <a:ext cx="14637535" cy="58519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500"/>
                                        <p:tgtEl>
                                          <p:spTgt spid="2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cxnSp>
        <p:nvCxnSpPr>
          <p:cNvPr id="266" name="Google Shape;266;p20"/>
          <p:cNvCxnSpPr/>
          <p:nvPr/>
        </p:nvCxnSpPr>
        <p:spPr>
          <a:xfrm>
            <a:off x="6400799" y="2235185"/>
            <a:ext cx="9982201" cy="0"/>
          </a:xfrm>
          <a:prstGeom prst="straightConnector1">
            <a:avLst/>
          </a:prstGeom>
          <a:noFill/>
          <a:ln cap="flat" cmpd="sng" w="38100">
            <a:solidFill>
              <a:srgbClr val="018345"/>
            </a:solidFill>
            <a:prstDash val="solid"/>
            <a:round/>
            <a:headEnd len="sm" w="sm" type="none"/>
            <a:tailEnd len="sm" w="sm" type="none"/>
          </a:ln>
        </p:spPr>
      </p:cxnSp>
      <p:cxnSp>
        <p:nvCxnSpPr>
          <p:cNvPr id="267" name="Google Shape;267;p20"/>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268" name="Google Shape;268;p20"/>
          <p:cNvGrpSpPr/>
          <p:nvPr/>
        </p:nvGrpSpPr>
        <p:grpSpPr>
          <a:xfrm rot="10800000">
            <a:off x="15044552" y="-741521"/>
            <a:ext cx="7681766" cy="4260610"/>
            <a:chOff x="0" y="-38100"/>
            <a:chExt cx="406400" cy="225405"/>
          </a:xfrm>
        </p:grpSpPr>
        <p:sp>
          <p:nvSpPr>
            <p:cNvPr id="269" name="Google Shape;269;p20"/>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70" name="Google Shape;270;p20"/>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271" name="Google Shape;271;p20"/>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272" name="Google Shape;272;p20"/>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273" name="Google Shape;273;p20"/>
          <p:cNvSpPr txBox="1"/>
          <p:nvPr/>
        </p:nvSpPr>
        <p:spPr>
          <a:xfrm>
            <a:off x="5232390" y="2564021"/>
            <a:ext cx="11760209" cy="1104085"/>
          </a:xfrm>
          <a:prstGeom prst="rect">
            <a:avLst/>
          </a:prstGeom>
          <a:noFill/>
          <a:ln>
            <a:noFill/>
          </a:ln>
        </p:spPr>
        <p:txBody>
          <a:bodyPr anchorCtr="0" anchor="t" bIns="0" lIns="0" spcFirstLastPara="1" rIns="0" wrap="square" tIns="0">
            <a:spAutoFit/>
          </a:bodyPr>
          <a:lstStyle/>
          <a:p>
            <a:pPr indent="0" lvl="0" marL="0" marR="0" rtl="0" algn="ctr">
              <a:lnSpc>
                <a:spcPct val="180092"/>
              </a:lnSpc>
              <a:spcBef>
                <a:spcPts val="0"/>
              </a:spcBef>
              <a:spcAft>
                <a:spcPts val="0"/>
              </a:spcAft>
              <a:buNone/>
            </a:pPr>
            <a:r>
              <a:rPr b="1" lang="en-US" sz="5400">
                <a:solidFill>
                  <a:srgbClr val="018345"/>
                </a:solidFill>
                <a:latin typeface="Montserrat"/>
                <a:ea typeface="Montserrat"/>
                <a:cs typeface="Montserrat"/>
                <a:sym typeface="Montserrat"/>
              </a:rPr>
              <a:t>Hướng dẫn trả lời</a:t>
            </a:r>
            <a:endParaRPr/>
          </a:p>
        </p:txBody>
      </p:sp>
      <p:sp>
        <p:nvSpPr>
          <p:cNvPr id="274" name="Google Shape;274;p20"/>
          <p:cNvSpPr txBox="1"/>
          <p:nvPr/>
        </p:nvSpPr>
        <p:spPr>
          <a:xfrm>
            <a:off x="9601200" y="339710"/>
            <a:ext cx="2755633" cy="1837554"/>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04</a:t>
            </a:r>
            <a:endParaRPr/>
          </a:p>
        </p:txBody>
      </p:sp>
      <p:sp>
        <p:nvSpPr>
          <p:cNvPr id="275" name="Google Shape;275;p20"/>
          <p:cNvSpPr txBox="1"/>
          <p:nvPr/>
        </p:nvSpPr>
        <p:spPr>
          <a:xfrm>
            <a:off x="-10653311" y="9715322"/>
            <a:ext cx="13923203" cy="285768"/>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276" name="Google Shape;276;p20"/>
          <p:cNvGrpSpPr/>
          <p:nvPr/>
        </p:nvGrpSpPr>
        <p:grpSpPr>
          <a:xfrm>
            <a:off x="-2718010" y="9274528"/>
            <a:ext cx="7950400" cy="1707231"/>
            <a:chOff x="0" y="-384762"/>
            <a:chExt cx="10600533" cy="2276307"/>
          </a:xfrm>
        </p:grpSpPr>
        <p:grpSp>
          <p:nvGrpSpPr>
            <p:cNvPr id="277" name="Google Shape;277;p20"/>
            <p:cNvGrpSpPr/>
            <p:nvPr/>
          </p:nvGrpSpPr>
          <p:grpSpPr>
            <a:xfrm>
              <a:off x="0" y="-384762"/>
              <a:ext cx="10600533" cy="2276307"/>
              <a:chOff x="0" y="-38100"/>
              <a:chExt cx="1049690" cy="225405"/>
            </a:xfrm>
          </p:grpSpPr>
          <p:sp>
            <p:nvSpPr>
              <p:cNvPr id="278" name="Google Shape;278;p20"/>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79" name="Google Shape;279;p20"/>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80" name="Google Shape;280;p20"/>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81" name="Google Shape;281;p20"/>
          <p:cNvSpPr/>
          <p:nvPr/>
        </p:nvSpPr>
        <p:spPr>
          <a:xfrm>
            <a:off x="9563099" y="4749873"/>
            <a:ext cx="3276055" cy="3301942"/>
          </a:xfrm>
          <a:custGeom>
            <a:rect b="b" l="l" r="r" t="t"/>
            <a:pathLst>
              <a:path extrusionOk="0" h="4310632" w="4025053">
                <a:moveTo>
                  <a:pt x="0" y="0"/>
                </a:moveTo>
                <a:lnTo>
                  <a:pt x="4025053" y="0"/>
                </a:lnTo>
                <a:lnTo>
                  <a:pt x="4025053" y="4310632"/>
                </a:lnTo>
                <a:lnTo>
                  <a:pt x="0" y="4310632"/>
                </a:lnTo>
                <a:lnTo>
                  <a:pt x="0" y="0"/>
                </a:lnTo>
                <a:close/>
              </a:path>
            </a:pathLst>
          </a:custGeom>
          <a:blipFill rotWithShape="1">
            <a:blip r:embed="rId5">
              <a:alphaModFix/>
            </a:blip>
            <a:stretch>
              <a:fillRect b="0" l="0" r="0" t="0"/>
            </a:stretch>
          </a:blip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74"/>
                                        </p:tgtEl>
                                        <p:attrNameLst>
                                          <p:attrName>style.visibility</p:attrName>
                                        </p:attrNameLst>
                                      </p:cBhvr>
                                      <p:to>
                                        <p:strVal val="visible"/>
                                      </p:to>
                                    </p:set>
                                    <p:anim calcmode="lin" valueType="num">
                                      <p:cBhvr additive="base">
                                        <p:cTn dur="500"/>
                                        <p:tgtEl>
                                          <p:spTgt spid="274"/>
                                        </p:tgtEl>
                                        <p:attrNameLst>
                                          <p:attrName>ppt_w</p:attrName>
                                        </p:attrNameLst>
                                      </p:cBhvr>
                                      <p:tavLst>
                                        <p:tav fmla="" tm="0">
                                          <p:val>
                                            <p:strVal val="0"/>
                                          </p:val>
                                        </p:tav>
                                        <p:tav fmla="" tm="100000">
                                          <p:val>
                                            <p:strVal val="#ppt_w"/>
                                          </p:val>
                                        </p:tav>
                                      </p:tavLst>
                                    </p:anim>
                                    <p:anim calcmode="lin" valueType="num">
                                      <p:cBhvr additive="base">
                                        <p:cTn dur="500"/>
                                        <p:tgtEl>
                                          <p:spTgt spid="274"/>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273"/>
                                        </p:tgtEl>
                                        <p:attrNameLst>
                                          <p:attrName>style.visibility</p:attrName>
                                        </p:attrNameLst>
                                      </p:cBhvr>
                                      <p:to>
                                        <p:strVal val="visible"/>
                                      </p:to>
                                    </p:set>
                                    <p:anim calcmode="lin" valueType="num">
                                      <p:cBhvr additive="base">
                                        <p:cTn dur="500"/>
                                        <p:tgtEl>
                                          <p:spTgt spid="273"/>
                                        </p:tgtEl>
                                        <p:attrNameLst>
                                          <p:attrName>ppt_w</p:attrName>
                                        </p:attrNameLst>
                                      </p:cBhvr>
                                      <p:tavLst>
                                        <p:tav fmla="" tm="0">
                                          <p:val>
                                            <p:strVal val="0"/>
                                          </p:val>
                                        </p:tav>
                                        <p:tav fmla="" tm="100000">
                                          <p:val>
                                            <p:strVal val="#ppt_w"/>
                                          </p:val>
                                        </p:tav>
                                      </p:tavLst>
                                    </p:anim>
                                    <p:anim calcmode="lin" valueType="num">
                                      <p:cBhvr additive="base">
                                        <p:cTn dur="500"/>
                                        <p:tgtEl>
                                          <p:spTgt spid="273"/>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cxnSp>
        <p:nvCxnSpPr>
          <p:cNvPr id="286" name="Google Shape;286;p21"/>
          <p:cNvCxnSpPr/>
          <p:nvPr/>
        </p:nvCxnSpPr>
        <p:spPr>
          <a:xfrm>
            <a:off x="6400799" y="2235185"/>
            <a:ext cx="9982200" cy="0"/>
          </a:xfrm>
          <a:prstGeom prst="straightConnector1">
            <a:avLst/>
          </a:prstGeom>
          <a:noFill/>
          <a:ln cap="flat" cmpd="sng" w="38100">
            <a:solidFill>
              <a:srgbClr val="018345"/>
            </a:solidFill>
            <a:prstDash val="solid"/>
            <a:round/>
            <a:headEnd len="sm" w="sm" type="none"/>
            <a:tailEnd len="sm" w="sm" type="none"/>
          </a:ln>
        </p:spPr>
      </p:cxnSp>
      <p:cxnSp>
        <p:nvCxnSpPr>
          <p:cNvPr id="287" name="Google Shape;287;p21"/>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288" name="Google Shape;288;p21"/>
          <p:cNvGrpSpPr/>
          <p:nvPr/>
        </p:nvGrpSpPr>
        <p:grpSpPr>
          <a:xfrm rot="10800000">
            <a:off x="15044545" y="-741517"/>
            <a:ext cx="7681773" cy="4260605"/>
            <a:chOff x="0" y="-38100"/>
            <a:chExt cx="406400" cy="225405"/>
          </a:xfrm>
        </p:grpSpPr>
        <p:sp>
          <p:nvSpPr>
            <p:cNvPr id="289" name="Google Shape;289;p21"/>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290" name="Google Shape;290;p21"/>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291" name="Google Shape;291;p21"/>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292" name="Google Shape;292;p21"/>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293" name="Google Shape;293;p21"/>
          <p:cNvSpPr txBox="1"/>
          <p:nvPr/>
        </p:nvSpPr>
        <p:spPr>
          <a:xfrm>
            <a:off x="5232365" y="973134"/>
            <a:ext cx="11760300" cy="831300"/>
          </a:xfrm>
          <a:prstGeom prst="rect">
            <a:avLst/>
          </a:prstGeom>
          <a:noFill/>
          <a:ln>
            <a:noFill/>
          </a:ln>
        </p:spPr>
        <p:txBody>
          <a:bodyPr anchorCtr="0" anchor="t" bIns="0" lIns="0" spcFirstLastPara="1" rIns="0" wrap="square" tIns="0">
            <a:spAutoFit/>
          </a:bodyPr>
          <a:lstStyle/>
          <a:p>
            <a:pPr indent="0" lvl="0" marL="0" marR="0" rtl="0" algn="ctr">
              <a:lnSpc>
                <a:spcPct val="180092"/>
              </a:lnSpc>
              <a:spcBef>
                <a:spcPts val="0"/>
              </a:spcBef>
              <a:spcAft>
                <a:spcPts val="0"/>
              </a:spcAft>
              <a:buNone/>
            </a:pPr>
            <a:r>
              <a:rPr b="1" lang="en-US" sz="5400">
                <a:solidFill>
                  <a:srgbClr val="018345"/>
                </a:solidFill>
                <a:latin typeface="Montserrat"/>
                <a:ea typeface="Montserrat"/>
                <a:cs typeface="Montserrat"/>
                <a:sym typeface="Montserrat"/>
              </a:rPr>
              <a:t>Các bước làm bài</a:t>
            </a:r>
            <a:endParaRPr/>
          </a:p>
        </p:txBody>
      </p:sp>
      <p:sp>
        <p:nvSpPr>
          <p:cNvPr id="294" name="Google Shape;294;p21"/>
          <p:cNvSpPr txBox="1"/>
          <p:nvPr/>
        </p:nvSpPr>
        <p:spPr>
          <a:xfrm>
            <a:off x="-10653311" y="9715322"/>
            <a:ext cx="13923300" cy="288900"/>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295" name="Google Shape;295;p21"/>
          <p:cNvGrpSpPr/>
          <p:nvPr/>
        </p:nvGrpSpPr>
        <p:grpSpPr>
          <a:xfrm>
            <a:off x="-2718010" y="9274530"/>
            <a:ext cx="7950378" cy="1707223"/>
            <a:chOff x="0" y="-384760"/>
            <a:chExt cx="10600504" cy="2276297"/>
          </a:xfrm>
        </p:grpSpPr>
        <p:grpSp>
          <p:nvGrpSpPr>
            <p:cNvPr id="296" name="Google Shape;296;p21"/>
            <p:cNvGrpSpPr/>
            <p:nvPr/>
          </p:nvGrpSpPr>
          <p:grpSpPr>
            <a:xfrm>
              <a:off x="0" y="-384760"/>
              <a:ext cx="10600504" cy="2276297"/>
              <a:chOff x="0" y="-38100"/>
              <a:chExt cx="1049690" cy="225405"/>
            </a:xfrm>
          </p:grpSpPr>
          <p:sp>
            <p:nvSpPr>
              <p:cNvPr id="297" name="Google Shape;297;p21"/>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298" name="Google Shape;298;p21"/>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299" name="Google Shape;299;p21"/>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00" name="Google Shape;300;p21"/>
          <p:cNvSpPr txBox="1"/>
          <p:nvPr/>
        </p:nvSpPr>
        <p:spPr>
          <a:xfrm>
            <a:off x="6264725" y="2870075"/>
            <a:ext cx="11245200" cy="6630600"/>
          </a:xfrm>
          <a:prstGeom prst="rect">
            <a:avLst/>
          </a:prstGeom>
          <a:noFill/>
          <a:ln>
            <a:noFill/>
          </a:ln>
        </p:spPr>
        <p:txBody>
          <a:bodyPr anchorCtr="0" anchor="t" bIns="91425" lIns="91425" spcFirstLastPara="1" rIns="91425" wrap="square" tIns="91425">
            <a:noAutofit/>
          </a:bodyPr>
          <a:lstStyle/>
          <a:p>
            <a:pPr indent="0" lvl="0" marL="0" rtl="0" algn="just">
              <a:lnSpc>
                <a:spcPct val="200000"/>
              </a:lnSpc>
              <a:spcBef>
                <a:spcPts val="0"/>
              </a:spcBef>
              <a:spcAft>
                <a:spcPts val="0"/>
              </a:spcAft>
              <a:buNone/>
            </a:pPr>
            <a:r>
              <a:rPr b="1" lang="en-US" sz="3400">
                <a:solidFill>
                  <a:schemeClr val="dk1"/>
                </a:solidFill>
                <a:latin typeface="Calibri"/>
                <a:ea typeface="Calibri"/>
                <a:cs typeface="Calibri"/>
                <a:sym typeface="Calibri"/>
              </a:rPr>
              <a:t>Bước 1: </a:t>
            </a:r>
            <a:r>
              <a:rPr lang="en-US" sz="3400">
                <a:solidFill>
                  <a:schemeClr val="dk1"/>
                </a:solidFill>
                <a:latin typeface="Calibri"/>
                <a:ea typeface="Calibri"/>
                <a:cs typeface="Calibri"/>
                <a:sym typeface="Calibri"/>
              </a:rPr>
              <a:t>Đọc hiểu các lựa chọn và gạch chân từ khóa quan trọng (thường là danh từ, động từ, tính từ, trạng từ, từ để hỏi)</a:t>
            </a:r>
            <a:endParaRPr sz="3400">
              <a:solidFill>
                <a:schemeClr val="dk1"/>
              </a:solidFill>
              <a:latin typeface="Calibri"/>
              <a:ea typeface="Calibri"/>
              <a:cs typeface="Calibri"/>
              <a:sym typeface="Calibri"/>
            </a:endParaRPr>
          </a:p>
          <a:p>
            <a:pPr indent="0" lvl="0" marL="0" rtl="0" algn="just">
              <a:lnSpc>
                <a:spcPct val="200000"/>
              </a:lnSpc>
              <a:spcBef>
                <a:spcPts val="0"/>
              </a:spcBef>
              <a:spcAft>
                <a:spcPts val="0"/>
              </a:spcAft>
              <a:buNone/>
            </a:pPr>
            <a:r>
              <a:rPr b="1" lang="en-US" sz="3400">
                <a:solidFill>
                  <a:schemeClr val="dk1"/>
                </a:solidFill>
                <a:latin typeface="Calibri"/>
                <a:ea typeface="Calibri"/>
                <a:cs typeface="Calibri"/>
                <a:sym typeface="Calibri"/>
              </a:rPr>
              <a:t>Bước 2: </a:t>
            </a:r>
            <a:r>
              <a:rPr lang="en-US" sz="3400">
                <a:solidFill>
                  <a:schemeClr val="dk1"/>
                </a:solidFill>
                <a:latin typeface="Calibri"/>
                <a:ea typeface="Calibri"/>
                <a:cs typeface="Calibri"/>
                <a:sym typeface="Calibri"/>
              </a:rPr>
              <a:t>Đọc từng đoạn để hiểu nội dung (thường câu đầu đoạn và câu cuối đoạn)</a:t>
            </a:r>
            <a:endParaRPr sz="3400">
              <a:solidFill>
                <a:schemeClr val="dk1"/>
              </a:solidFill>
              <a:latin typeface="Calibri"/>
              <a:ea typeface="Calibri"/>
              <a:cs typeface="Calibri"/>
              <a:sym typeface="Calibri"/>
            </a:endParaRPr>
          </a:p>
          <a:p>
            <a:pPr indent="0" lvl="0" marL="0" rtl="0" algn="just">
              <a:lnSpc>
                <a:spcPct val="200000"/>
              </a:lnSpc>
              <a:spcBef>
                <a:spcPts val="0"/>
              </a:spcBef>
              <a:spcAft>
                <a:spcPts val="0"/>
              </a:spcAft>
              <a:buNone/>
            </a:pPr>
            <a:r>
              <a:rPr b="1" lang="en-US" sz="3400">
                <a:solidFill>
                  <a:schemeClr val="dk1"/>
                </a:solidFill>
                <a:latin typeface="Calibri"/>
                <a:ea typeface="Calibri"/>
                <a:cs typeface="Calibri"/>
                <a:sym typeface="Calibri"/>
              </a:rPr>
              <a:t>Bước 3: </a:t>
            </a:r>
            <a:r>
              <a:rPr lang="en-US" sz="3400">
                <a:solidFill>
                  <a:schemeClr val="dk1"/>
                </a:solidFill>
                <a:latin typeface="Calibri"/>
                <a:ea typeface="Calibri"/>
                <a:cs typeface="Calibri"/>
                <a:sym typeface="Calibri"/>
              </a:rPr>
              <a:t>Chọn tiêu đề chính xác (</a:t>
            </a:r>
            <a:r>
              <a:rPr lang="en-US" sz="3400">
                <a:solidFill>
                  <a:schemeClr val="dk1"/>
                </a:solidFill>
                <a:latin typeface="Calibri"/>
                <a:ea typeface="Calibri"/>
                <a:cs typeface="Calibri"/>
                <a:sym typeface="Calibri"/>
              </a:rPr>
              <a:t>Loại trừ các đáp án sai nếu có)</a:t>
            </a:r>
            <a:endParaRPr sz="3400">
              <a:solidFill>
                <a:schemeClr val="dk1"/>
              </a:solidFill>
              <a:latin typeface="Calibri"/>
              <a:ea typeface="Calibri"/>
              <a:cs typeface="Calibri"/>
              <a:sym typeface="Calibri"/>
            </a:endParaRPr>
          </a:p>
          <a:p>
            <a:pPr indent="0" lvl="0" marL="0" rtl="0" algn="just">
              <a:lnSpc>
                <a:spcPct val="200000"/>
              </a:lnSpc>
              <a:spcBef>
                <a:spcPts val="0"/>
              </a:spcBef>
              <a:spcAft>
                <a:spcPts val="0"/>
              </a:spcAft>
              <a:buNone/>
            </a:pPr>
            <a:r>
              <a:rPr b="1" lang="en-US" sz="3400">
                <a:solidFill>
                  <a:schemeClr val="dk1"/>
                </a:solidFill>
                <a:latin typeface="Calibri"/>
                <a:ea typeface="Calibri"/>
                <a:cs typeface="Calibri"/>
                <a:sym typeface="Calibri"/>
              </a:rPr>
              <a:t>Bước 4:</a:t>
            </a:r>
            <a:r>
              <a:rPr lang="en-US" sz="3400">
                <a:solidFill>
                  <a:schemeClr val="dk1"/>
                </a:solidFill>
                <a:latin typeface="Calibri"/>
                <a:ea typeface="Calibri"/>
                <a:cs typeface="Calibri"/>
                <a:sym typeface="Calibri"/>
              </a:rPr>
              <a:t> Học từ vựng (Khi ôn luyện)</a:t>
            </a:r>
            <a:endParaRPr sz="34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293"/>
                                        </p:tgtEl>
                                        <p:attrNameLst>
                                          <p:attrName>style.visibility</p:attrName>
                                        </p:attrNameLst>
                                      </p:cBhvr>
                                      <p:to>
                                        <p:strVal val="visible"/>
                                      </p:to>
                                    </p:set>
                                    <p:anim calcmode="lin" valueType="num">
                                      <p:cBhvr additive="base">
                                        <p:cTn dur="500"/>
                                        <p:tgtEl>
                                          <p:spTgt spid="293"/>
                                        </p:tgtEl>
                                        <p:attrNameLst>
                                          <p:attrName>ppt_w</p:attrName>
                                        </p:attrNameLst>
                                      </p:cBhvr>
                                      <p:tavLst>
                                        <p:tav fmla="" tm="0">
                                          <p:val>
                                            <p:strVal val="0"/>
                                          </p:val>
                                        </p:tav>
                                        <p:tav fmla="" tm="100000">
                                          <p:val>
                                            <p:strVal val="#ppt_w"/>
                                          </p:val>
                                        </p:tav>
                                      </p:tavLst>
                                    </p:anim>
                                    <p:anim calcmode="lin" valueType="num">
                                      <p:cBhvr additive="base">
                                        <p:cTn dur="500"/>
                                        <p:tgtEl>
                                          <p:spTgt spid="29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0">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cxnSp>
        <p:nvCxnSpPr>
          <p:cNvPr id="306" name="Google Shape;306;p22"/>
          <p:cNvCxnSpPr/>
          <p:nvPr/>
        </p:nvCxnSpPr>
        <p:spPr>
          <a:xfrm flipH="1" rot="10800000">
            <a:off x="3818195" y="1583913"/>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307" name="Google Shape;307;p22"/>
          <p:cNvGrpSpPr/>
          <p:nvPr/>
        </p:nvGrpSpPr>
        <p:grpSpPr>
          <a:xfrm rot="10800000">
            <a:off x="15785091" y="-536942"/>
            <a:ext cx="7681766" cy="4260610"/>
            <a:chOff x="0" y="-38100"/>
            <a:chExt cx="406400" cy="225405"/>
          </a:xfrm>
        </p:grpSpPr>
        <p:sp>
          <p:nvSpPr>
            <p:cNvPr id="308" name="Google Shape;308;p22"/>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09" name="Google Shape;309;p22"/>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10" name="Google Shape;310;p22"/>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11" name="Google Shape;311;p22"/>
          <p:cNvSpPr txBox="1"/>
          <p:nvPr/>
        </p:nvSpPr>
        <p:spPr>
          <a:xfrm>
            <a:off x="1258550" y="680075"/>
            <a:ext cx="15336900" cy="5388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3500">
                <a:solidFill>
                  <a:srgbClr val="018345"/>
                </a:solidFill>
                <a:latin typeface="Montserrat"/>
                <a:ea typeface="Montserrat"/>
                <a:cs typeface="Montserrat"/>
                <a:sym typeface="Montserrat"/>
              </a:rPr>
              <a:t>Bước 1: Đọc hiểu các lựa chọn và gạch chân từ khóa quan trọng</a:t>
            </a:r>
            <a:endParaRPr b="1" sz="3500">
              <a:solidFill>
                <a:srgbClr val="018345"/>
              </a:solidFill>
              <a:latin typeface="Montserrat"/>
              <a:ea typeface="Montserrat"/>
              <a:cs typeface="Montserrat"/>
              <a:sym typeface="Montserrat"/>
            </a:endParaRPr>
          </a:p>
        </p:txBody>
      </p:sp>
      <p:sp>
        <p:nvSpPr>
          <p:cNvPr id="312" name="Google Shape;312;p22"/>
          <p:cNvSpPr txBox="1"/>
          <p:nvPr/>
        </p:nvSpPr>
        <p:spPr>
          <a:xfrm>
            <a:off x="1483200" y="2149300"/>
            <a:ext cx="6227400" cy="8137800"/>
          </a:xfrm>
          <a:prstGeom prst="rect">
            <a:avLst/>
          </a:prstGeom>
          <a:noFill/>
          <a:ln>
            <a:noFill/>
          </a:ln>
        </p:spPr>
        <p:txBody>
          <a:bodyPr anchorCtr="0" anchor="t" bIns="91425" lIns="91425" spcFirstLastPara="1" rIns="91425" wrap="square" tIns="91425">
            <a:noAutofit/>
          </a:bodyPr>
          <a:lstStyle/>
          <a:p>
            <a:pPr indent="0" lvl="0" marL="0" rtl="0" algn="just">
              <a:lnSpc>
                <a:spcPct val="200000"/>
              </a:lnSpc>
              <a:spcBef>
                <a:spcPts val="0"/>
              </a:spcBef>
              <a:spcAft>
                <a:spcPts val="0"/>
              </a:spcAft>
              <a:buNone/>
            </a:pPr>
            <a:r>
              <a:rPr b="1" lang="en-US" sz="3000">
                <a:solidFill>
                  <a:schemeClr val="dk1"/>
                </a:solidFill>
                <a:latin typeface="Calibri"/>
                <a:ea typeface="Calibri"/>
                <a:cs typeface="Calibri"/>
                <a:sym typeface="Calibri"/>
              </a:rPr>
              <a:t>List of headings</a:t>
            </a:r>
            <a:endParaRPr b="1" sz="3000">
              <a:solidFill>
                <a:schemeClr val="dk1"/>
              </a:solidFill>
              <a:latin typeface="Calibri"/>
              <a:ea typeface="Calibri"/>
              <a:cs typeface="Calibri"/>
              <a:sym typeface="Calibri"/>
            </a:endParaRPr>
          </a:p>
          <a:p>
            <a:pPr indent="0" lvl="0" marL="0" rtl="0" algn="just">
              <a:lnSpc>
                <a:spcPct val="200000"/>
              </a:lnSpc>
              <a:spcBef>
                <a:spcPts val="0"/>
              </a:spcBef>
              <a:spcAft>
                <a:spcPts val="0"/>
              </a:spcAft>
              <a:buNone/>
            </a:pPr>
            <a:r>
              <a:rPr lang="en-US" sz="3000">
                <a:solidFill>
                  <a:schemeClr val="dk1"/>
                </a:solidFill>
                <a:latin typeface="Calibri"/>
                <a:ea typeface="Calibri"/>
                <a:cs typeface="Calibri"/>
                <a:sym typeface="Calibri"/>
              </a:rPr>
              <a:t>A. Life on Mars</a:t>
            </a:r>
            <a:endParaRPr sz="3000">
              <a:solidFill>
                <a:schemeClr val="dk1"/>
              </a:solidFill>
              <a:latin typeface="Calibri"/>
              <a:ea typeface="Calibri"/>
              <a:cs typeface="Calibri"/>
              <a:sym typeface="Calibri"/>
            </a:endParaRPr>
          </a:p>
          <a:p>
            <a:pPr indent="0" lvl="0" marL="0" rtl="0" algn="just">
              <a:lnSpc>
                <a:spcPct val="200000"/>
              </a:lnSpc>
              <a:spcBef>
                <a:spcPts val="0"/>
              </a:spcBef>
              <a:spcAft>
                <a:spcPts val="0"/>
              </a:spcAft>
              <a:buNone/>
            </a:pPr>
            <a:r>
              <a:rPr lang="en-US" sz="3000">
                <a:solidFill>
                  <a:schemeClr val="dk1"/>
                </a:solidFill>
                <a:latin typeface="Calibri"/>
                <a:ea typeface="Calibri"/>
                <a:cs typeface="Calibri"/>
                <a:sym typeface="Calibri"/>
              </a:rPr>
              <a:t>B. Is space the future for mankind?</a:t>
            </a:r>
            <a:endParaRPr sz="3000">
              <a:solidFill>
                <a:schemeClr val="dk1"/>
              </a:solidFill>
              <a:latin typeface="Calibri"/>
              <a:ea typeface="Calibri"/>
              <a:cs typeface="Calibri"/>
              <a:sym typeface="Calibri"/>
            </a:endParaRPr>
          </a:p>
          <a:p>
            <a:pPr indent="0" lvl="0" marL="0" rtl="0" algn="just">
              <a:lnSpc>
                <a:spcPct val="200000"/>
              </a:lnSpc>
              <a:spcBef>
                <a:spcPts val="0"/>
              </a:spcBef>
              <a:spcAft>
                <a:spcPts val="0"/>
              </a:spcAft>
              <a:buNone/>
            </a:pPr>
            <a:r>
              <a:rPr lang="en-US" sz="3000">
                <a:solidFill>
                  <a:schemeClr val="dk1"/>
                </a:solidFill>
                <a:latin typeface="Calibri"/>
                <a:ea typeface="Calibri"/>
                <a:cs typeface="Calibri"/>
                <a:sym typeface="Calibri"/>
              </a:rPr>
              <a:t>C. The difficulties of living in space</a:t>
            </a:r>
            <a:endParaRPr sz="3000">
              <a:solidFill>
                <a:schemeClr val="dk1"/>
              </a:solidFill>
              <a:latin typeface="Calibri"/>
              <a:ea typeface="Calibri"/>
              <a:cs typeface="Calibri"/>
              <a:sym typeface="Calibri"/>
            </a:endParaRPr>
          </a:p>
          <a:p>
            <a:pPr indent="0" lvl="0" marL="0" rtl="0" algn="just">
              <a:lnSpc>
                <a:spcPct val="200000"/>
              </a:lnSpc>
              <a:spcBef>
                <a:spcPts val="0"/>
              </a:spcBef>
              <a:spcAft>
                <a:spcPts val="0"/>
              </a:spcAft>
              <a:buNone/>
            </a:pPr>
            <a:r>
              <a:rPr lang="en-US" sz="3000">
                <a:solidFill>
                  <a:schemeClr val="dk1"/>
                </a:solidFill>
                <a:latin typeface="Calibri"/>
                <a:ea typeface="Calibri"/>
                <a:cs typeface="Calibri"/>
                <a:sym typeface="Calibri"/>
              </a:rPr>
              <a:t>D. A successful outcome</a:t>
            </a:r>
            <a:endParaRPr sz="3000">
              <a:solidFill>
                <a:schemeClr val="dk1"/>
              </a:solidFill>
              <a:latin typeface="Calibri"/>
              <a:ea typeface="Calibri"/>
              <a:cs typeface="Calibri"/>
              <a:sym typeface="Calibri"/>
            </a:endParaRPr>
          </a:p>
          <a:p>
            <a:pPr indent="0" lvl="0" marL="0" rtl="0" algn="just">
              <a:lnSpc>
                <a:spcPct val="200000"/>
              </a:lnSpc>
              <a:spcBef>
                <a:spcPts val="0"/>
              </a:spcBef>
              <a:spcAft>
                <a:spcPts val="0"/>
              </a:spcAft>
              <a:buNone/>
            </a:pPr>
            <a:r>
              <a:rPr lang="en-US" sz="3000">
                <a:solidFill>
                  <a:schemeClr val="dk1"/>
                </a:solidFill>
                <a:latin typeface="Calibri"/>
                <a:ea typeface="Calibri"/>
                <a:cs typeface="Calibri"/>
                <a:sym typeface="Calibri"/>
              </a:rPr>
              <a:t>E. A distant new world</a:t>
            </a:r>
            <a:endParaRPr sz="3000">
              <a:solidFill>
                <a:schemeClr val="dk1"/>
              </a:solidFill>
              <a:latin typeface="Calibri"/>
              <a:ea typeface="Calibri"/>
              <a:cs typeface="Calibri"/>
              <a:sym typeface="Calibri"/>
            </a:endParaRPr>
          </a:p>
          <a:p>
            <a:pPr indent="0" lvl="0" marL="0" rtl="0" algn="just">
              <a:lnSpc>
                <a:spcPct val="200000"/>
              </a:lnSpc>
              <a:spcBef>
                <a:spcPts val="0"/>
              </a:spcBef>
              <a:spcAft>
                <a:spcPts val="0"/>
              </a:spcAft>
              <a:buNone/>
            </a:pPr>
            <a:r>
              <a:rPr lang="en-US" sz="3000">
                <a:solidFill>
                  <a:schemeClr val="dk1"/>
                </a:solidFill>
                <a:latin typeface="Calibri"/>
                <a:ea typeface="Calibri"/>
                <a:cs typeface="Calibri"/>
                <a:sym typeface="Calibri"/>
              </a:rPr>
              <a:t>F. Imitating life in space</a:t>
            </a:r>
            <a:endParaRPr sz="3000">
              <a:solidFill>
                <a:schemeClr val="dk1"/>
              </a:solidFill>
              <a:latin typeface="Calibri"/>
              <a:ea typeface="Calibri"/>
              <a:cs typeface="Calibri"/>
              <a:sym typeface="Calibri"/>
            </a:endParaRPr>
          </a:p>
          <a:p>
            <a:pPr indent="0" lvl="0" marL="0" rtl="0" algn="just">
              <a:lnSpc>
                <a:spcPct val="200000"/>
              </a:lnSpc>
              <a:spcBef>
                <a:spcPts val="0"/>
              </a:spcBef>
              <a:spcAft>
                <a:spcPts val="0"/>
              </a:spcAft>
              <a:buNone/>
            </a:pPr>
            <a:r>
              <a:rPr lang="en-US" sz="3000">
                <a:solidFill>
                  <a:schemeClr val="dk1"/>
                </a:solidFill>
                <a:latin typeface="Calibri"/>
                <a:ea typeface="Calibri"/>
                <a:cs typeface="Calibri"/>
                <a:sym typeface="Calibri"/>
              </a:rPr>
              <a:t>G. A long journey in space</a:t>
            </a:r>
            <a:endParaRPr sz="3000">
              <a:solidFill>
                <a:schemeClr val="dk1"/>
              </a:solidFill>
              <a:latin typeface="Calibri"/>
              <a:ea typeface="Calibri"/>
              <a:cs typeface="Calibri"/>
              <a:sym typeface="Calibri"/>
            </a:endParaRPr>
          </a:p>
          <a:p>
            <a:pPr indent="0" lvl="0" marL="0" rtl="0" algn="just">
              <a:lnSpc>
                <a:spcPct val="200000"/>
              </a:lnSpc>
              <a:spcBef>
                <a:spcPts val="0"/>
              </a:spcBef>
              <a:spcAft>
                <a:spcPts val="0"/>
              </a:spcAft>
              <a:buNone/>
            </a:pPr>
            <a:r>
              <a:rPr lang="en-US" sz="3000">
                <a:solidFill>
                  <a:schemeClr val="dk1"/>
                </a:solidFill>
                <a:latin typeface="Calibri"/>
                <a:ea typeface="Calibri"/>
                <a:cs typeface="Calibri"/>
                <a:sym typeface="Calibri"/>
              </a:rPr>
              <a:t>H. </a:t>
            </a:r>
            <a:r>
              <a:rPr lang="en-US" sz="3000">
                <a:solidFill>
                  <a:schemeClr val="dk1"/>
                </a:solidFill>
                <a:latin typeface="Calibri"/>
                <a:ea typeface="Calibri"/>
                <a:cs typeface="Calibri"/>
                <a:sym typeface="Calibri"/>
              </a:rPr>
              <a:t>Only an experiment</a:t>
            </a:r>
            <a:endParaRPr sz="3000">
              <a:solidFill>
                <a:schemeClr val="dk1"/>
              </a:solidFill>
              <a:latin typeface="Calibri"/>
              <a:ea typeface="Calibri"/>
              <a:cs typeface="Calibri"/>
              <a:sym typeface="Calibri"/>
            </a:endParaRPr>
          </a:p>
          <a:p>
            <a:pPr indent="0" lvl="0" marL="0" rtl="0" algn="just">
              <a:lnSpc>
                <a:spcPct val="200000"/>
              </a:lnSpc>
              <a:spcBef>
                <a:spcPts val="0"/>
              </a:spcBef>
              <a:spcAft>
                <a:spcPts val="0"/>
              </a:spcAft>
              <a:buNone/>
            </a:pPr>
            <a:r>
              <a:t/>
            </a:r>
            <a:endParaRPr b="1" sz="3000">
              <a:solidFill>
                <a:schemeClr val="dk1"/>
              </a:solidFill>
              <a:latin typeface="Calibri"/>
              <a:ea typeface="Calibri"/>
              <a:cs typeface="Calibri"/>
              <a:sym typeface="Calibri"/>
            </a:endParaRPr>
          </a:p>
        </p:txBody>
      </p:sp>
      <p:sp>
        <p:nvSpPr>
          <p:cNvPr id="313" name="Google Shape;313;p22"/>
          <p:cNvSpPr txBox="1"/>
          <p:nvPr/>
        </p:nvSpPr>
        <p:spPr>
          <a:xfrm>
            <a:off x="9003400" y="2149300"/>
            <a:ext cx="8912700" cy="8137800"/>
          </a:xfrm>
          <a:prstGeom prst="rect">
            <a:avLst/>
          </a:prstGeom>
          <a:noFill/>
          <a:ln>
            <a:noFill/>
          </a:ln>
        </p:spPr>
        <p:txBody>
          <a:bodyPr anchorCtr="0" anchor="t" bIns="91425" lIns="91425" spcFirstLastPara="1" rIns="91425" wrap="square" tIns="91425">
            <a:noAutofit/>
          </a:bodyPr>
          <a:lstStyle/>
          <a:p>
            <a:pPr indent="0" lvl="0" marL="0" rtl="0" algn="just">
              <a:lnSpc>
                <a:spcPct val="200000"/>
              </a:lnSpc>
              <a:spcBef>
                <a:spcPts val="0"/>
              </a:spcBef>
              <a:spcAft>
                <a:spcPts val="0"/>
              </a:spcAft>
              <a:buNone/>
            </a:pPr>
            <a:r>
              <a:rPr b="1" lang="en-US" sz="3000">
                <a:solidFill>
                  <a:schemeClr val="dk1"/>
                </a:solidFill>
                <a:latin typeface="Calibri"/>
                <a:ea typeface="Calibri"/>
                <a:cs typeface="Calibri"/>
                <a:sym typeface="Calibri"/>
              </a:rPr>
              <a:t>Danh sách tiêu đề</a:t>
            </a:r>
            <a:endParaRPr b="1" sz="3000">
              <a:solidFill>
                <a:schemeClr val="dk1"/>
              </a:solidFill>
              <a:latin typeface="Calibri"/>
              <a:ea typeface="Calibri"/>
              <a:cs typeface="Calibri"/>
              <a:sym typeface="Calibri"/>
            </a:endParaRPr>
          </a:p>
          <a:p>
            <a:pPr indent="0" lvl="0" marL="0" rtl="0" algn="just">
              <a:lnSpc>
                <a:spcPct val="200000"/>
              </a:lnSpc>
              <a:spcBef>
                <a:spcPts val="0"/>
              </a:spcBef>
              <a:spcAft>
                <a:spcPts val="0"/>
              </a:spcAft>
              <a:buNone/>
            </a:pPr>
            <a:r>
              <a:rPr lang="en-US" sz="3000">
                <a:solidFill>
                  <a:schemeClr val="dk1"/>
                </a:solidFill>
                <a:latin typeface="Calibri"/>
                <a:ea typeface="Calibri"/>
                <a:cs typeface="Calibri"/>
                <a:sym typeface="Calibri"/>
              </a:rPr>
              <a:t>A. Sự sống trên sao Hỏa</a:t>
            </a:r>
            <a:endParaRPr sz="3000">
              <a:solidFill>
                <a:schemeClr val="dk1"/>
              </a:solidFill>
              <a:latin typeface="Calibri"/>
              <a:ea typeface="Calibri"/>
              <a:cs typeface="Calibri"/>
              <a:sym typeface="Calibri"/>
            </a:endParaRPr>
          </a:p>
          <a:p>
            <a:pPr indent="0" lvl="0" marL="0" rtl="0" algn="just">
              <a:lnSpc>
                <a:spcPct val="200000"/>
              </a:lnSpc>
              <a:spcBef>
                <a:spcPts val="0"/>
              </a:spcBef>
              <a:spcAft>
                <a:spcPts val="0"/>
              </a:spcAft>
              <a:buNone/>
            </a:pPr>
            <a:r>
              <a:rPr lang="en-US" sz="3000">
                <a:solidFill>
                  <a:schemeClr val="dk1"/>
                </a:solidFill>
                <a:latin typeface="Calibri"/>
                <a:ea typeface="Calibri"/>
                <a:cs typeface="Calibri"/>
                <a:sym typeface="Calibri"/>
              </a:rPr>
              <a:t>B. Không gian có phải là tương lai của nhân loại không?</a:t>
            </a:r>
            <a:endParaRPr sz="3000">
              <a:solidFill>
                <a:schemeClr val="dk1"/>
              </a:solidFill>
              <a:latin typeface="Calibri"/>
              <a:ea typeface="Calibri"/>
              <a:cs typeface="Calibri"/>
              <a:sym typeface="Calibri"/>
            </a:endParaRPr>
          </a:p>
          <a:p>
            <a:pPr indent="0" lvl="0" marL="0" rtl="0" algn="just">
              <a:lnSpc>
                <a:spcPct val="200000"/>
              </a:lnSpc>
              <a:spcBef>
                <a:spcPts val="0"/>
              </a:spcBef>
              <a:spcAft>
                <a:spcPts val="0"/>
              </a:spcAft>
              <a:buNone/>
            </a:pPr>
            <a:r>
              <a:rPr lang="en-US" sz="3000">
                <a:solidFill>
                  <a:schemeClr val="dk1"/>
                </a:solidFill>
                <a:latin typeface="Calibri"/>
                <a:ea typeface="Calibri"/>
                <a:cs typeface="Calibri"/>
                <a:sym typeface="Calibri"/>
              </a:rPr>
              <a:t>C. Những khó khăn khi sống trong không gian</a:t>
            </a:r>
            <a:endParaRPr sz="3000">
              <a:solidFill>
                <a:schemeClr val="dk1"/>
              </a:solidFill>
              <a:latin typeface="Calibri"/>
              <a:ea typeface="Calibri"/>
              <a:cs typeface="Calibri"/>
              <a:sym typeface="Calibri"/>
            </a:endParaRPr>
          </a:p>
          <a:p>
            <a:pPr indent="0" lvl="0" marL="0" rtl="0" algn="just">
              <a:lnSpc>
                <a:spcPct val="200000"/>
              </a:lnSpc>
              <a:spcBef>
                <a:spcPts val="0"/>
              </a:spcBef>
              <a:spcAft>
                <a:spcPts val="0"/>
              </a:spcAft>
              <a:buNone/>
            </a:pPr>
            <a:r>
              <a:rPr lang="en-US" sz="3000">
                <a:solidFill>
                  <a:schemeClr val="dk1"/>
                </a:solidFill>
                <a:latin typeface="Calibri"/>
                <a:ea typeface="Calibri"/>
                <a:cs typeface="Calibri"/>
                <a:sym typeface="Calibri"/>
              </a:rPr>
              <a:t>D. Một kết quả thành công</a:t>
            </a:r>
            <a:endParaRPr sz="3000">
              <a:solidFill>
                <a:schemeClr val="dk1"/>
              </a:solidFill>
              <a:latin typeface="Calibri"/>
              <a:ea typeface="Calibri"/>
              <a:cs typeface="Calibri"/>
              <a:sym typeface="Calibri"/>
            </a:endParaRPr>
          </a:p>
          <a:p>
            <a:pPr indent="0" lvl="0" marL="0" rtl="0" algn="just">
              <a:lnSpc>
                <a:spcPct val="200000"/>
              </a:lnSpc>
              <a:spcBef>
                <a:spcPts val="0"/>
              </a:spcBef>
              <a:spcAft>
                <a:spcPts val="0"/>
              </a:spcAft>
              <a:buNone/>
            </a:pPr>
            <a:r>
              <a:rPr lang="en-US" sz="3000">
                <a:solidFill>
                  <a:schemeClr val="dk1"/>
                </a:solidFill>
                <a:latin typeface="Calibri"/>
                <a:ea typeface="Calibri"/>
                <a:cs typeface="Calibri"/>
                <a:sym typeface="Calibri"/>
              </a:rPr>
              <a:t>E. Một thế giới mới xa xôi</a:t>
            </a:r>
            <a:endParaRPr sz="3000">
              <a:solidFill>
                <a:schemeClr val="dk1"/>
              </a:solidFill>
              <a:latin typeface="Calibri"/>
              <a:ea typeface="Calibri"/>
              <a:cs typeface="Calibri"/>
              <a:sym typeface="Calibri"/>
            </a:endParaRPr>
          </a:p>
          <a:p>
            <a:pPr indent="0" lvl="0" marL="0" rtl="0" algn="just">
              <a:lnSpc>
                <a:spcPct val="200000"/>
              </a:lnSpc>
              <a:spcBef>
                <a:spcPts val="0"/>
              </a:spcBef>
              <a:spcAft>
                <a:spcPts val="0"/>
              </a:spcAft>
              <a:buNone/>
            </a:pPr>
            <a:r>
              <a:rPr lang="en-US" sz="3000">
                <a:solidFill>
                  <a:schemeClr val="dk1"/>
                </a:solidFill>
                <a:latin typeface="Calibri"/>
                <a:ea typeface="Calibri"/>
                <a:cs typeface="Calibri"/>
                <a:sym typeface="Calibri"/>
              </a:rPr>
              <a:t>F. Mô phỏng sự sống trong không gian</a:t>
            </a:r>
            <a:endParaRPr sz="3000">
              <a:solidFill>
                <a:schemeClr val="dk1"/>
              </a:solidFill>
              <a:latin typeface="Calibri"/>
              <a:ea typeface="Calibri"/>
              <a:cs typeface="Calibri"/>
              <a:sym typeface="Calibri"/>
            </a:endParaRPr>
          </a:p>
          <a:p>
            <a:pPr indent="0" lvl="0" marL="0" rtl="0" algn="just">
              <a:lnSpc>
                <a:spcPct val="200000"/>
              </a:lnSpc>
              <a:spcBef>
                <a:spcPts val="0"/>
              </a:spcBef>
              <a:spcAft>
                <a:spcPts val="0"/>
              </a:spcAft>
              <a:buNone/>
            </a:pPr>
            <a:r>
              <a:rPr lang="en-US" sz="3000">
                <a:solidFill>
                  <a:schemeClr val="dk1"/>
                </a:solidFill>
                <a:latin typeface="Calibri"/>
                <a:ea typeface="Calibri"/>
                <a:cs typeface="Calibri"/>
                <a:sym typeface="Calibri"/>
              </a:rPr>
              <a:t>G. Một hành trình dài trong không gian</a:t>
            </a:r>
            <a:endParaRPr sz="3000">
              <a:solidFill>
                <a:schemeClr val="dk1"/>
              </a:solidFill>
              <a:latin typeface="Calibri"/>
              <a:ea typeface="Calibri"/>
              <a:cs typeface="Calibri"/>
              <a:sym typeface="Calibri"/>
            </a:endParaRPr>
          </a:p>
          <a:p>
            <a:pPr indent="0" lvl="0" marL="0" rtl="0" algn="just">
              <a:lnSpc>
                <a:spcPct val="200000"/>
              </a:lnSpc>
              <a:spcBef>
                <a:spcPts val="0"/>
              </a:spcBef>
              <a:spcAft>
                <a:spcPts val="0"/>
              </a:spcAft>
              <a:buNone/>
            </a:pPr>
            <a:r>
              <a:rPr lang="en-US" sz="3000">
                <a:solidFill>
                  <a:schemeClr val="dk1"/>
                </a:solidFill>
                <a:latin typeface="Calibri"/>
                <a:ea typeface="Calibri"/>
                <a:cs typeface="Calibri"/>
                <a:sym typeface="Calibri"/>
              </a:rPr>
              <a:t>H. Chỉ là một thí nghiệm</a:t>
            </a:r>
            <a:endParaRPr sz="3000">
              <a:solidFill>
                <a:schemeClr val="dk1"/>
              </a:solidFill>
              <a:latin typeface="Calibri"/>
              <a:ea typeface="Calibri"/>
              <a:cs typeface="Calibri"/>
              <a:sym typeface="Calibri"/>
            </a:endParaRPr>
          </a:p>
        </p:txBody>
      </p:sp>
      <p:cxnSp>
        <p:nvCxnSpPr>
          <p:cNvPr id="314" name="Google Shape;314;p22"/>
          <p:cNvCxnSpPr/>
          <p:nvPr/>
        </p:nvCxnSpPr>
        <p:spPr>
          <a:xfrm>
            <a:off x="1973025" y="3583225"/>
            <a:ext cx="476400" cy="0"/>
          </a:xfrm>
          <a:prstGeom prst="straightConnector1">
            <a:avLst/>
          </a:prstGeom>
          <a:noFill/>
          <a:ln cap="flat" cmpd="sng" w="28575">
            <a:solidFill>
              <a:srgbClr val="FF0000"/>
            </a:solidFill>
            <a:prstDash val="solid"/>
            <a:round/>
            <a:headEnd len="med" w="med" type="none"/>
            <a:tailEnd len="med" w="med" type="none"/>
          </a:ln>
        </p:spPr>
      </p:cxnSp>
      <p:cxnSp>
        <p:nvCxnSpPr>
          <p:cNvPr id="315" name="Google Shape;315;p22"/>
          <p:cNvCxnSpPr/>
          <p:nvPr/>
        </p:nvCxnSpPr>
        <p:spPr>
          <a:xfrm>
            <a:off x="3214000" y="3583225"/>
            <a:ext cx="476400" cy="0"/>
          </a:xfrm>
          <a:prstGeom prst="straightConnector1">
            <a:avLst/>
          </a:prstGeom>
          <a:noFill/>
          <a:ln cap="flat" cmpd="sng" w="28575">
            <a:solidFill>
              <a:srgbClr val="FF0000"/>
            </a:solidFill>
            <a:prstDash val="solid"/>
            <a:round/>
            <a:headEnd len="med" w="med" type="none"/>
            <a:tailEnd len="med" w="med" type="none"/>
          </a:ln>
        </p:spPr>
      </p:cxnSp>
      <p:cxnSp>
        <p:nvCxnSpPr>
          <p:cNvPr id="316" name="Google Shape;316;p22"/>
          <p:cNvCxnSpPr/>
          <p:nvPr/>
        </p:nvCxnSpPr>
        <p:spPr>
          <a:xfrm>
            <a:off x="2449425" y="4529375"/>
            <a:ext cx="476400" cy="0"/>
          </a:xfrm>
          <a:prstGeom prst="straightConnector1">
            <a:avLst/>
          </a:prstGeom>
          <a:noFill/>
          <a:ln cap="flat" cmpd="sng" w="28575">
            <a:solidFill>
              <a:srgbClr val="FF0000"/>
            </a:solidFill>
            <a:prstDash val="solid"/>
            <a:round/>
            <a:headEnd len="med" w="med" type="none"/>
            <a:tailEnd len="med" w="med" type="none"/>
          </a:ln>
        </p:spPr>
      </p:cxnSp>
      <p:cxnSp>
        <p:nvCxnSpPr>
          <p:cNvPr id="317" name="Google Shape;317;p22"/>
          <p:cNvCxnSpPr/>
          <p:nvPr/>
        </p:nvCxnSpPr>
        <p:spPr>
          <a:xfrm flipH="1" rot="10800000">
            <a:off x="3818200" y="4513025"/>
            <a:ext cx="1012200" cy="1800"/>
          </a:xfrm>
          <a:prstGeom prst="straightConnector1">
            <a:avLst/>
          </a:prstGeom>
          <a:noFill/>
          <a:ln cap="flat" cmpd="sng" w="28575">
            <a:solidFill>
              <a:srgbClr val="FF0000"/>
            </a:solidFill>
            <a:prstDash val="solid"/>
            <a:round/>
            <a:headEnd len="med" w="med" type="none"/>
            <a:tailEnd len="med" w="med" type="none"/>
          </a:ln>
        </p:spPr>
      </p:cxnSp>
      <p:cxnSp>
        <p:nvCxnSpPr>
          <p:cNvPr id="318" name="Google Shape;318;p22"/>
          <p:cNvCxnSpPr/>
          <p:nvPr/>
        </p:nvCxnSpPr>
        <p:spPr>
          <a:xfrm flipH="1" rot="10800000">
            <a:off x="5648825" y="4528475"/>
            <a:ext cx="1012200" cy="1800"/>
          </a:xfrm>
          <a:prstGeom prst="straightConnector1">
            <a:avLst/>
          </a:prstGeom>
          <a:noFill/>
          <a:ln cap="flat" cmpd="sng" w="28575">
            <a:solidFill>
              <a:srgbClr val="FF0000"/>
            </a:solidFill>
            <a:prstDash val="solid"/>
            <a:round/>
            <a:headEnd len="med" w="med" type="none"/>
            <a:tailEnd len="med" w="med" type="none"/>
          </a:ln>
        </p:spPr>
      </p:cxnSp>
      <p:cxnSp>
        <p:nvCxnSpPr>
          <p:cNvPr id="319" name="Google Shape;319;p22"/>
          <p:cNvCxnSpPr/>
          <p:nvPr/>
        </p:nvCxnSpPr>
        <p:spPr>
          <a:xfrm flipH="1" rot="10800000">
            <a:off x="2678200" y="5442950"/>
            <a:ext cx="1562700" cy="10800"/>
          </a:xfrm>
          <a:prstGeom prst="straightConnector1">
            <a:avLst/>
          </a:prstGeom>
          <a:noFill/>
          <a:ln cap="flat" cmpd="sng" w="28575">
            <a:solidFill>
              <a:srgbClr val="FF0000"/>
            </a:solidFill>
            <a:prstDash val="solid"/>
            <a:round/>
            <a:headEnd len="med" w="med" type="none"/>
            <a:tailEnd len="med" w="med" type="none"/>
          </a:ln>
        </p:spPr>
      </p:cxnSp>
      <p:cxnSp>
        <p:nvCxnSpPr>
          <p:cNvPr id="320" name="Google Shape;320;p22"/>
          <p:cNvCxnSpPr/>
          <p:nvPr/>
        </p:nvCxnSpPr>
        <p:spPr>
          <a:xfrm flipH="1" rot="10800000">
            <a:off x="4572000" y="5447450"/>
            <a:ext cx="1012200" cy="1800"/>
          </a:xfrm>
          <a:prstGeom prst="straightConnector1">
            <a:avLst/>
          </a:prstGeom>
          <a:noFill/>
          <a:ln cap="flat" cmpd="sng" w="28575">
            <a:solidFill>
              <a:srgbClr val="FF0000"/>
            </a:solidFill>
            <a:prstDash val="solid"/>
            <a:round/>
            <a:headEnd len="med" w="med" type="none"/>
            <a:tailEnd len="med" w="med" type="none"/>
          </a:ln>
        </p:spPr>
      </p:cxnSp>
      <p:cxnSp>
        <p:nvCxnSpPr>
          <p:cNvPr id="321" name="Google Shape;321;p22"/>
          <p:cNvCxnSpPr/>
          <p:nvPr/>
        </p:nvCxnSpPr>
        <p:spPr>
          <a:xfrm>
            <a:off x="6184625" y="5448350"/>
            <a:ext cx="476400" cy="0"/>
          </a:xfrm>
          <a:prstGeom prst="straightConnector1">
            <a:avLst/>
          </a:prstGeom>
          <a:noFill/>
          <a:ln cap="flat" cmpd="sng" w="28575">
            <a:solidFill>
              <a:srgbClr val="FF0000"/>
            </a:solidFill>
            <a:prstDash val="solid"/>
            <a:round/>
            <a:headEnd len="med" w="med" type="none"/>
            <a:tailEnd len="med" w="med" type="none"/>
          </a:ln>
        </p:spPr>
      </p:cxnSp>
      <p:cxnSp>
        <p:nvCxnSpPr>
          <p:cNvPr id="322" name="Google Shape;322;p22"/>
          <p:cNvCxnSpPr/>
          <p:nvPr/>
        </p:nvCxnSpPr>
        <p:spPr>
          <a:xfrm flipH="1" rot="10800000">
            <a:off x="2255500" y="6367325"/>
            <a:ext cx="1562700" cy="10800"/>
          </a:xfrm>
          <a:prstGeom prst="straightConnector1">
            <a:avLst/>
          </a:prstGeom>
          <a:noFill/>
          <a:ln cap="flat" cmpd="sng" w="28575">
            <a:solidFill>
              <a:srgbClr val="FF0000"/>
            </a:solidFill>
            <a:prstDash val="solid"/>
            <a:round/>
            <a:headEnd len="med" w="med" type="none"/>
            <a:tailEnd len="med" w="med" type="none"/>
          </a:ln>
        </p:spPr>
      </p:cxnSp>
      <p:cxnSp>
        <p:nvCxnSpPr>
          <p:cNvPr id="323" name="Google Shape;323;p22"/>
          <p:cNvCxnSpPr/>
          <p:nvPr/>
        </p:nvCxnSpPr>
        <p:spPr>
          <a:xfrm flipH="1" rot="10800000">
            <a:off x="4065900" y="6381875"/>
            <a:ext cx="1012200" cy="1800"/>
          </a:xfrm>
          <a:prstGeom prst="straightConnector1">
            <a:avLst/>
          </a:prstGeom>
          <a:noFill/>
          <a:ln cap="flat" cmpd="sng" w="28575">
            <a:solidFill>
              <a:srgbClr val="FF0000"/>
            </a:solidFill>
            <a:prstDash val="solid"/>
            <a:round/>
            <a:headEnd len="med" w="med" type="none"/>
            <a:tailEnd len="med" w="med" type="none"/>
          </a:ln>
        </p:spPr>
      </p:cxnSp>
      <p:cxnSp>
        <p:nvCxnSpPr>
          <p:cNvPr id="324" name="Google Shape;324;p22"/>
          <p:cNvCxnSpPr/>
          <p:nvPr/>
        </p:nvCxnSpPr>
        <p:spPr>
          <a:xfrm flipH="1" rot="10800000">
            <a:off x="2255500" y="7291700"/>
            <a:ext cx="1012200" cy="1800"/>
          </a:xfrm>
          <a:prstGeom prst="straightConnector1">
            <a:avLst/>
          </a:prstGeom>
          <a:noFill/>
          <a:ln cap="flat" cmpd="sng" w="28575">
            <a:solidFill>
              <a:srgbClr val="FF0000"/>
            </a:solidFill>
            <a:prstDash val="solid"/>
            <a:round/>
            <a:headEnd len="med" w="med" type="none"/>
            <a:tailEnd len="med" w="med" type="none"/>
          </a:ln>
        </p:spPr>
      </p:cxnSp>
      <p:cxnSp>
        <p:nvCxnSpPr>
          <p:cNvPr id="325" name="Google Shape;325;p22"/>
          <p:cNvCxnSpPr/>
          <p:nvPr/>
        </p:nvCxnSpPr>
        <p:spPr>
          <a:xfrm flipH="1" rot="10800000">
            <a:off x="3515400" y="7311800"/>
            <a:ext cx="1562700" cy="10800"/>
          </a:xfrm>
          <a:prstGeom prst="straightConnector1">
            <a:avLst/>
          </a:prstGeom>
          <a:noFill/>
          <a:ln cap="flat" cmpd="sng" w="28575">
            <a:solidFill>
              <a:srgbClr val="FF0000"/>
            </a:solidFill>
            <a:prstDash val="solid"/>
            <a:round/>
            <a:headEnd len="med" w="med" type="none"/>
            <a:tailEnd len="med" w="med" type="none"/>
          </a:ln>
        </p:spPr>
      </p:cxnSp>
      <p:cxnSp>
        <p:nvCxnSpPr>
          <p:cNvPr id="326" name="Google Shape;326;p22"/>
          <p:cNvCxnSpPr/>
          <p:nvPr/>
        </p:nvCxnSpPr>
        <p:spPr>
          <a:xfrm flipH="1" rot="10800000">
            <a:off x="2127700" y="8207075"/>
            <a:ext cx="1562700" cy="10800"/>
          </a:xfrm>
          <a:prstGeom prst="straightConnector1">
            <a:avLst/>
          </a:prstGeom>
          <a:noFill/>
          <a:ln cap="flat" cmpd="sng" w="28575">
            <a:solidFill>
              <a:srgbClr val="FF0000"/>
            </a:solidFill>
            <a:prstDash val="solid"/>
            <a:round/>
            <a:headEnd len="med" w="med" type="none"/>
            <a:tailEnd len="med" w="med" type="none"/>
          </a:ln>
        </p:spPr>
      </p:cxnSp>
      <p:cxnSp>
        <p:nvCxnSpPr>
          <p:cNvPr id="327" name="Google Shape;327;p22"/>
          <p:cNvCxnSpPr/>
          <p:nvPr/>
        </p:nvCxnSpPr>
        <p:spPr>
          <a:xfrm>
            <a:off x="4572000" y="8212475"/>
            <a:ext cx="476400" cy="0"/>
          </a:xfrm>
          <a:prstGeom prst="straightConnector1">
            <a:avLst/>
          </a:prstGeom>
          <a:noFill/>
          <a:ln cap="flat" cmpd="sng" w="28575">
            <a:solidFill>
              <a:srgbClr val="FF0000"/>
            </a:solidFill>
            <a:prstDash val="solid"/>
            <a:round/>
            <a:headEnd len="med" w="med" type="none"/>
            <a:tailEnd len="med" w="med" type="none"/>
          </a:ln>
        </p:spPr>
      </p:cxnSp>
      <p:cxnSp>
        <p:nvCxnSpPr>
          <p:cNvPr id="328" name="Google Shape;328;p22"/>
          <p:cNvCxnSpPr/>
          <p:nvPr/>
        </p:nvCxnSpPr>
        <p:spPr>
          <a:xfrm flipH="1" rot="10800000">
            <a:off x="2449425" y="9102350"/>
            <a:ext cx="1562700" cy="10800"/>
          </a:xfrm>
          <a:prstGeom prst="straightConnector1">
            <a:avLst/>
          </a:prstGeom>
          <a:noFill/>
          <a:ln cap="flat" cmpd="sng" w="28575">
            <a:solidFill>
              <a:srgbClr val="FF0000"/>
            </a:solidFill>
            <a:prstDash val="solid"/>
            <a:round/>
            <a:headEnd len="med" w="med" type="none"/>
            <a:tailEnd len="med" w="med" type="none"/>
          </a:ln>
        </p:spPr>
      </p:cxnSp>
      <p:cxnSp>
        <p:nvCxnSpPr>
          <p:cNvPr id="329" name="Google Shape;329;p22"/>
          <p:cNvCxnSpPr/>
          <p:nvPr/>
        </p:nvCxnSpPr>
        <p:spPr>
          <a:xfrm>
            <a:off x="4839900" y="9107750"/>
            <a:ext cx="476400" cy="0"/>
          </a:xfrm>
          <a:prstGeom prst="straightConnector1">
            <a:avLst/>
          </a:prstGeom>
          <a:noFill/>
          <a:ln cap="flat" cmpd="sng" w="28575">
            <a:solidFill>
              <a:srgbClr val="FF0000"/>
            </a:solidFill>
            <a:prstDash val="solid"/>
            <a:round/>
            <a:headEnd len="med" w="med" type="none"/>
            <a:tailEnd len="med" w="med" type="none"/>
          </a:ln>
        </p:spPr>
      </p:cxnSp>
      <p:cxnSp>
        <p:nvCxnSpPr>
          <p:cNvPr id="330" name="Google Shape;330;p22"/>
          <p:cNvCxnSpPr/>
          <p:nvPr/>
        </p:nvCxnSpPr>
        <p:spPr>
          <a:xfrm>
            <a:off x="1973025" y="9999425"/>
            <a:ext cx="703200" cy="1800"/>
          </a:xfrm>
          <a:prstGeom prst="straightConnector1">
            <a:avLst/>
          </a:prstGeom>
          <a:noFill/>
          <a:ln cap="flat" cmpd="sng" w="28575">
            <a:solidFill>
              <a:srgbClr val="FF0000"/>
            </a:solidFill>
            <a:prstDash val="solid"/>
            <a:round/>
            <a:headEnd len="med" w="med" type="none"/>
            <a:tailEnd len="med" w="med" type="none"/>
          </a:ln>
        </p:spPr>
      </p:cxnSp>
      <p:cxnSp>
        <p:nvCxnSpPr>
          <p:cNvPr id="331" name="Google Shape;331;p22"/>
          <p:cNvCxnSpPr/>
          <p:nvPr/>
        </p:nvCxnSpPr>
        <p:spPr>
          <a:xfrm flipH="1" rot="10800000">
            <a:off x="3267700" y="9997625"/>
            <a:ext cx="1562700" cy="10800"/>
          </a:xfrm>
          <a:prstGeom prst="straightConnector1">
            <a:avLst/>
          </a:prstGeom>
          <a:noFill/>
          <a:ln cap="flat" cmpd="sng" w="28575">
            <a:solidFill>
              <a:srgbClr val="FF0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11"/>
                                        </p:tgtEl>
                                        <p:attrNameLst>
                                          <p:attrName>style.visibility</p:attrName>
                                        </p:attrNameLst>
                                      </p:cBhvr>
                                      <p:to>
                                        <p:strVal val="visible"/>
                                      </p:to>
                                    </p:set>
                                    <p:animEffect filter="fade" transition="in">
                                      <p:cBhvr>
                                        <p:cTn dur="500"/>
                                        <p:tgtEl>
                                          <p:spTgt spid="3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1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3">
                                            <p:txEl>
                                              <p:pRg end="8" st="8"/>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cxnSp>
        <p:nvCxnSpPr>
          <p:cNvPr id="337" name="Google Shape;337;p23"/>
          <p:cNvCxnSpPr/>
          <p:nvPr/>
        </p:nvCxnSpPr>
        <p:spPr>
          <a:xfrm flipH="1" rot="10800000">
            <a:off x="3818195" y="1583913"/>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338" name="Google Shape;338;p23"/>
          <p:cNvGrpSpPr/>
          <p:nvPr/>
        </p:nvGrpSpPr>
        <p:grpSpPr>
          <a:xfrm rot="10800000">
            <a:off x="15785084" y="-536938"/>
            <a:ext cx="7681773" cy="4260605"/>
            <a:chOff x="0" y="-38100"/>
            <a:chExt cx="406400" cy="225405"/>
          </a:xfrm>
        </p:grpSpPr>
        <p:sp>
          <p:nvSpPr>
            <p:cNvPr id="339" name="Google Shape;339;p23"/>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40" name="Google Shape;340;p23"/>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1" name="Google Shape;341;p23"/>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42" name="Google Shape;342;p23"/>
          <p:cNvSpPr txBox="1"/>
          <p:nvPr/>
        </p:nvSpPr>
        <p:spPr>
          <a:xfrm>
            <a:off x="1258550" y="680075"/>
            <a:ext cx="15336900" cy="5388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3500">
                <a:solidFill>
                  <a:srgbClr val="018345"/>
                </a:solidFill>
                <a:latin typeface="Montserrat"/>
                <a:ea typeface="Montserrat"/>
                <a:cs typeface="Montserrat"/>
                <a:sym typeface="Montserrat"/>
              </a:rPr>
              <a:t>Bước 2: Đọc từng đoạn để hiểu nội dung</a:t>
            </a:r>
            <a:endParaRPr b="1" sz="3500">
              <a:solidFill>
                <a:srgbClr val="018345"/>
              </a:solidFill>
              <a:latin typeface="Montserrat"/>
              <a:ea typeface="Montserrat"/>
              <a:cs typeface="Montserrat"/>
              <a:sym typeface="Montserrat"/>
            </a:endParaRPr>
          </a:p>
        </p:txBody>
      </p:sp>
      <p:sp>
        <p:nvSpPr>
          <p:cNvPr id="343" name="Google Shape;343;p23"/>
          <p:cNvSpPr txBox="1"/>
          <p:nvPr/>
        </p:nvSpPr>
        <p:spPr>
          <a:xfrm>
            <a:off x="1034900" y="1809025"/>
            <a:ext cx="15784200" cy="3292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2900">
                <a:solidFill>
                  <a:schemeClr val="dk1"/>
                </a:solidFill>
                <a:latin typeface="Calibri"/>
                <a:ea typeface="Calibri"/>
                <a:cs typeface="Calibri"/>
                <a:sym typeface="Calibri"/>
              </a:rPr>
              <a:t>1. On 3rd June 2010 an international crew of six astronauts entered a spaceship and prepared themselves for a 520 day voyage to the planet Mars and back. The module that was to be their home for the next year and a half contained their sleeping quarters, a kitchen/dining room, a living room, a control room and a toilet. There was also space for food storage, a small greenhouse, a bathroom, a sauna and even a gym. The Mars landing was scheduled for 12th February 2011, following a 255-day flight, and would involve a full two days of exploration of the planet surface. An equally long return journey would see the astronauts return to earth on 4th November 2011.</a:t>
            </a:r>
            <a:endParaRPr sz="2900">
              <a:solidFill>
                <a:schemeClr val="dk1"/>
              </a:solidFill>
              <a:latin typeface="Calibri"/>
              <a:ea typeface="Calibri"/>
              <a:cs typeface="Calibri"/>
              <a:sym typeface="Calibri"/>
            </a:endParaRPr>
          </a:p>
        </p:txBody>
      </p:sp>
      <p:sp>
        <p:nvSpPr>
          <p:cNvPr id="344" name="Google Shape;344;p23"/>
          <p:cNvSpPr txBox="1"/>
          <p:nvPr/>
        </p:nvSpPr>
        <p:spPr>
          <a:xfrm>
            <a:off x="1175475" y="5284100"/>
            <a:ext cx="5874900" cy="2916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US" sz="2900">
                <a:solidFill>
                  <a:schemeClr val="dk1"/>
                </a:solidFill>
                <a:latin typeface="Calibri"/>
                <a:ea typeface="Calibri"/>
                <a:cs typeface="Calibri"/>
                <a:sym typeface="Calibri"/>
              </a:rPr>
              <a:t>List of headings</a:t>
            </a:r>
            <a:endParaRPr b="1"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A. Life on Mars</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B. Is space the future for mankind?</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C. The difficulties of living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D. A successful outcome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E. A distant new world</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F. Imitating life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G. A long journey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H. Only an </a:t>
            </a:r>
            <a:r>
              <a:rPr lang="en-US" sz="2900">
                <a:solidFill>
                  <a:schemeClr val="dk1"/>
                </a:solidFill>
                <a:latin typeface="Calibri"/>
                <a:ea typeface="Calibri"/>
                <a:cs typeface="Calibri"/>
                <a:sym typeface="Calibri"/>
              </a:rPr>
              <a:t>experiment</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t/>
            </a:r>
            <a:endParaRPr b="1" sz="2900">
              <a:solidFill>
                <a:schemeClr val="dk1"/>
              </a:solidFill>
              <a:latin typeface="Calibri"/>
              <a:ea typeface="Calibri"/>
              <a:cs typeface="Calibri"/>
              <a:sym typeface="Calibri"/>
            </a:endParaRPr>
          </a:p>
        </p:txBody>
      </p:sp>
      <p:sp>
        <p:nvSpPr>
          <p:cNvPr id="345" name="Google Shape;345;p23"/>
          <p:cNvSpPr txBox="1"/>
          <p:nvPr/>
        </p:nvSpPr>
        <p:spPr>
          <a:xfrm>
            <a:off x="8270128" y="5284100"/>
            <a:ext cx="8408400" cy="2916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US" sz="2900">
                <a:solidFill>
                  <a:schemeClr val="dk1"/>
                </a:solidFill>
                <a:latin typeface="Calibri"/>
                <a:ea typeface="Calibri"/>
                <a:cs typeface="Calibri"/>
                <a:sym typeface="Calibri"/>
              </a:rPr>
              <a:t>Danh sách tiêu đề</a:t>
            </a:r>
            <a:endParaRPr b="1"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A. Sự sống trên sao Hỏa</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B. Không gian có phải là tương lai của nhân loại không?</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C. Những khó khăn khi sống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D. Một kết quả thành công</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E. Một thế giới mới xa xôi</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F. Mô phỏng sự sống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G. Một hành trình dài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H. Chỉ là một thí nghiệm</a:t>
            </a:r>
            <a:endParaRPr sz="2900">
              <a:solidFill>
                <a:schemeClr val="dk1"/>
              </a:solidFill>
              <a:latin typeface="Calibri"/>
              <a:ea typeface="Calibri"/>
              <a:cs typeface="Calibri"/>
              <a:sym typeface="Calibri"/>
            </a:endParaRPr>
          </a:p>
        </p:txBody>
      </p:sp>
      <p:cxnSp>
        <p:nvCxnSpPr>
          <p:cNvPr id="346" name="Google Shape;346;p23"/>
          <p:cNvCxnSpPr/>
          <p:nvPr/>
        </p:nvCxnSpPr>
        <p:spPr>
          <a:xfrm>
            <a:off x="1694100" y="2313200"/>
            <a:ext cx="14899800" cy="0"/>
          </a:xfrm>
          <a:prstGeom prst="straightConnector1">
            <a:avLst/>
          </a:prstGeom>
          <a:noFill/>
          <a:ln cap="flat" cmpd="sng" w="28575">
            <a:solidFill>
              <a:srgbClr val="FF0000"/>
            </a:solidFill>
            <a:prstDash val="solid"/>
            <a:round/>
            <a:headEnd len="med" w="med" type="none"/>
            <a:tailEnd len="med" w="med" type="none"/>
          </a:ln>
        </p:spPr>
      </p:cxnSp>
      <p:cxnSp>
        <p:nvCxnSpPr>
          <p:cNvPr id="347" name="Google Shape;347;p23"/>
          <p:cNvCxnSpPr/>
          <p:nvPr/>
        </p:nvCxnSpPr>
        <p:spPr>
          <a:xfrm flipH="1" rot="10800000">
            <a:off x="1175475" y="2812250"/>
            <a:ext cx="9211200" cy="16200"/>
          </a:xfrm>
          <a:prstGeom prst="straightConnector1">
            <a:avLst/>
          </a:prstGeom>
          <a:noFill/>
          <a:ln cap="flat" cmpd="sng" w="28575">
            <a:solidFill>
              <a:srgbClr val="FF0000"/>
            </a:solidFill>
            <a:prstDash val="solid"/>
            <a:round/>
            <a:headEnd len="med" w="med" type="none"/>
            <a:tailEnd len="med" w="med" type="none"/>
          </a:ln>
        </p:spPr>
      </p:cxnSp>
      <p:cxnSp>
        <p:nvCxnSpPr>
          <p:cNvPr id="348" name="Google Shape;348;p23"/>
          <p:cNvCxnSpPr/>
          <p:nvPr/>
        </p:nvCxnSpPr>
        <p:spPr>
          <a:xfrm>
            <a:off x="13198525" y="4591050"/>
            <a:ext cx="3480000" cy="12600"/>
          </a:xfrm>
          <a:prstGeom prst="straightConnector1">
            <a:avLst/>
          </a:prstGeom>
          <a:noFill/>
          <a:ln cap="flat" cmpd="sng" w="28575">
            <a:solidFill>
              <a:srgbClr val="FF0000"/>
            </a:solidFill>
            <a:prstDash val="solid"/>
            <a:round/>
            <a:headEnd len="med" w="med" type="none"/>
            <a:tailEnd len="med" w="med" type="none"/>
          </a:ln>
        </p:spPr>
      </p:cxnSp>
      <p:cxnSp>
        <p:nvCxnSpPr>
          <p:cNvPr id="349" name="Google Shape;349;p23"/>
          <p:cNvCxnSpPr/>
          <p:nvPr/>
        </p:nvCxnSpPr>
        <p:spPr>
          <a:xfrm flipH="1" rot="10800000">
            <a:off x="1247325" y="4989175"/>
            <a:ext cx="10772400" cy="22800"/>
          </a:xfrm>
          <a:prstGeom prst="straightConnector1">
            <a:avLst/>
          </a:prstGeom>
          <a:noFill/>
          <a:ln cap="flat" cmpd="sng" w="28575">
            <a:solidFill>
              <a:srgbClr val="FF0000"/>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500"/>
                                        <p:tgtEl>
                                          <p:spTgt spid="3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cxnSp>
        <p:nvCxnSpPr>
          <p:cNvPr id="355" name="Google Shape;355;p24"/>
          <p:cNvCxnSpPr/>
          <p:nvPr/>
        </p:nvCxnSpPr>
        <p:spPr>
          <a:xfrm flipH="1" rot="10800000">
            <a:off x="3818195" y="1583913"/>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356" name="Google Shape;356;p24"/>
          <p:cNvGrpSpPr/>
          <p:nvPr/>
        </p:nvGrpSpPr>
        <p:grpSpPr>
          <a:xfrm rot="10800000">
            <a:off x="15785084" y="-536938"/>
            <a:ext cx="7681773" cy="4260605"/>
            <a:chOff x="0" y="-38100"/>
            <a:chExt cx="406400" cy="225405"/>
          </a:xfrm>
        </p:grpSpPr>
        <p:sp>
          <p:nvSpPr>
            <p:cNvPr id="357" name="Google Shape;357;p2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58" name="Google Shape;358;p24"/>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59" name="Google Shape;359;p24"/>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60" name="Google Shape;360;p24"/>
          <p:cNvSpPr txBox="1"/>
          <p:nvPr/>
        </p:nvSpPr>
        <p:spPr>
          <a:xfrm>
            <a:off x="1258550" y="680075"/>
            <a:ext cx="15336900" cy="5388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3500">
                <a:solidFill>
                  <a:srgbClr val="018345"/>
                </a:solidFill>
                <a:latin typeface="Montserrat"/>
                <a:ea typeface="Montserrat"/>
                <a:cs typeface="Montserrat"/>
                <a:sym typeface="Montserrat"/>
              </a:rPr>
              <a:t>Bước 3: Chọn đáp án chính xác (Loại trừ các đáp án sai nếu có)</a:t>
            </a:r>
            <a:endParaRPr b="1" sz="3500">
              <a:solidFill>
                <a:srgbClr val="018345"/>
              </a:solidFill>
              <a:latin typeface="Montserrat"/>
              <a:ea typeface="Montserrat"/>
              <a:cs typeface="Montserrat"/>
              <a:sym typeface="Montserrat"/>
            </a:endParaRPr>
          </a:p>
        </p:txBody>
      </p:sp>
      <p:sp>
        <p:nvSpPr>
          <p:cNvPr id="361" name="Google Shape;361;p24"/>
          <p:cNvSpPr txBox="1"/>
          <p:nvPr/>
        </p:nvSpPr>
        <p:spPr>
          <a:xfrm>
            <a:off x="1034900" y="1809025"/>
            <a:ext cx="15784200" cy="3292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2900">
                <a:solidFill>
                  <a:schemeClr val="dk1"/>
                </a:solidFill>
                <a:latin typeface="Calibri"/>
                <a:ea typeface="Calibri"/>
                <a:cs typeface="Calibri"/>
                <a:sym typeface="Calibri"/>
              </a:rPr>
              <a:t>1. On 3rd June 2010 an international crew of six astronauts entered a spaceship and prepared themselves for a 520 day voyage to the planet Mars and back. The module that was to be their home for the next year and a half contained their sleeping quarters, a kitchen/dining room, a living room, a control room and a toilet. There was also space for food storage, a small greenhouse, a bathroom, a sauna and even a gym. The Mars landing was scheduled for 12th February 2011, following a 255-day flight, and would involve a full two days of exploration of the planet surface. An equally long return journey would see the astronauts return to earth on 4th November 2011.</a:t>
            </a:r>
            <a:endParaRPr sz="2900">
              <a:solidFill>
                <a:schemeClr val="dk1"/>
              </a:solidFill>
              <a:latin typeface="Calibri"/>
              <a:ea typeface="Calibri"/>
              <a:cs typeface="Calibri"/>
              <a:sym typeface="Calibri"/>
            </a:endParaRPr>
          </a:p>
        </p:txBody>
      </p:sp>
      <p:cxnSp>
        <p:nvCxnSpPr>
          <p:cNvPr id="362" name="Google Shape;362;p24"/>
          <p:cNvCxnSpPr/>
          <p:nvPr/>
        </p:nvCxnSpPr>
        <p:spPr>
          <a:xfrm>
            <a:off x="1694100" y="2313200"/>
            <a:ext cx="14899800" cy="0"/>
          </a:xfrm>
          <a:prstGeom prst="straightConnector1">
            <a:avLst/>
          </a:prstGeom>
          <a:noFill/>
          <a:ln cap="flat" cmpd="sng" w="28575">
            <a:solidFill>
              <a:srgbClr val="FF0000"/>
            </a:solidFill>
            <a:prstDash val="solid"/>
            <a:round/>
            <a:headEnd len="med" w="med" type="none"/>
            <a:tailEnd len="med" w="med" type="none"/>
          </a:ln>
        </p:spPr>
      </p:cxnSp>
      <p:cxnSp>
        <p:nvCxnSpPr>
          <p:cNvPr id="363" name="Google Shape;363;p24"/>
          <p:cNvCxnSpPr/>
          <p:nvPr/>
        </p:nvCxnSpPr>
        <p:spPr>
          <a:xfrm flipH="1" rot="10800000">
            <a:off x="1175475" y="2812250"/>
            <a:ext cx="9211200" cy="16200"/>
          </a:xfrm>
          <a:prstGeom prst="straightConnector1">
            <a:avLst/>
          </a:prstGeom>
          <a:noFill/>
          <a:ln cap="flat" cmpd="sng" w="28575">
            <a:solidFill>
              <a:srgbClr val="FF0000"/>
            </a:solidFill>
            <a:prstDash val="solid"/>
            <a:round/>
            <a:headEnd len="med" w="med" type="none"/>
            <a:tailEnd len="med" w="med" type="none"/>
          </a:ln>
        </p:spPr>
      </p:cxnSp>
      <p:cxnSp>
        <p:nvCxnSpPr>
          <p:cNvPr id="364" name="Google Shape;364;p24"/>
          <p:cNvCxnSpPr/>
          <p:nvPr/>
        </p:nvCxnSpPr>
        <p:spPr>
          <a:xfrm>
            <a:off x="13198525" y="4591050"/>
            <a:ext cx="3480000" cy="12600"/>
          </a:xfrm>
          <a:prstGeom prst="straightConnector1">
            <a:avLst/>
          </a:prstGeom>
          <a:noFill/>
          <a:ln cap="flat" cmpd="sng" w="28575">
            <a:solidFill>
              <a:srgbClr val="FF0000"/>
            </a:solidFill>
            <a:prstDash val="solid"/>
            <a:round/>
            <a:headEnd len="med" w="med" type="none"/>
            <a:tailEnd len="med" w="med" type="none"/>
          </a:ln>
        </p:spPr>
      </p:cxnSp>
      <p:cxnSp>
        <p:nvCxnSpPr>
          <p:cNvPr id="365" name="Google Shape;365;p24"/>
          <p:cNvCxnSpPr/>
          <p:nvPr/>
        </p:nvCxnSpPr>
        <p:spPr>
          <a:xfrm flipH="1" rot="10800000">
            <a:off x="1247325" y="4989175"/>
            <a:ext cx="10772400" cy="22800"/>
          </a:xfrm>
          <a:prstGeom prst="straightConnector1">
            <a:avLst/>
          </a:prstGeom>
          <a:noFill/>
          <a:ln cap="flat" cmpd="sng" w="28575">
            <a:solidFill>
              <a:srgbClr val="FF0000"/>
            </a:solidFill>
            <a:prstDash val="solid"/>
            <a:round/>
            <a:headEnd len="med" w="med" type="none"/>
            <a:tailEnd len="med" w="med" type="none"/>
          </a:ln>
        </p:spPr>
      </p:cxnSp>
      <p:sp>
        <p:nvSpPr>
          <p:cNvPr id="366" name="Google Shape;366;p24"/>
          <p:cNvSpPr/>
          <p:nvPr/>
        </p:nvSpPr>
        <p:spPr>
          <a:xfrm>
            <a:off x="14967875" y="8767775"/>
            <a:ext cx="1360800" cy="938700"/>
          </a:xfrm>
          <a:prstGeom prst="rightArrow">
            <a:avLst>
              <a:gd fmla="val 50000" name="adj1"/>
              <a:gd fmla="val 50000" name="adj2"/>
            </a:avLst>
          </a:prstGeom>
          <a:solidFill>
            <a:srgbClr val="00BF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000">
                <a:latin typeface="Calibri"/>
                <a:ea typeface="Calibri"/>
                <a:cs typeface="Calibri"/>
                <a:sym typeface="Calibri"/>
              </a:rPr>
              <a:t>1G</a:t>
            </a:r>
            <a:endParaRPr sz="3000">
              <a:latin typeface="Calibri"/>
              <a:ea typeface="Calibri"/>
              <a:cs typeface="Calibri"/>
              <a:sym typeface="Calibri"/>
            </a:endParaRPr>
          </a:p>
        </p:txBody>
      </p:sp>
      <p:sp>
        <p:nvSpPr>
          <p:cNvPr id="367" name="Google Shape;367;p24"/>
          <p:cNvSpPr txBox="1"/>
          <p:nvPr/>
        </p:nvSpPr>
        <p:spPr>
          <a:xfrm>
            <a:off x="1175475" y="5284100"/>
            <a:ext cx="5874900" cy="2916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US" sz="2900">
                <a:solidFill>
                  <a:schemeClr val="dk1"/>
                </a:solidFill>
                <a:latin typeface="Calibri"/>
                <a:ea typeface="Calibri"/>
                <a:cs typeface="Calibri"/>
                <a:sym typeface="Calibri"/>
              </a:rPr>
              <a:t>List of headings</a:t>
            </a:r>
            <a:endParaRPr b="1"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A. Life on Mars</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B. Is space the future for mankind?</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C. The difficulties of living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D. A successful outcome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E. A distant new world</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F. Imitating life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G. A long journey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H. Only an experiment</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t/>
            </a:r>
            <a:endParaRPr b="1" sz="2900">
              <a:solidFill>
                <a:schemeClr val="dk1"/>
              </a:solidFill>
              <a:latin typeface="Calibri"/>
              <a:ea typeface="Calibri"/>
              <a:cs typeface="Calibri"/>
              <a:sym typeface="Calibri"/>
            </a:endParaRPr>
          </a:p>
        </p:txBody>
      </p:sp>
      <p:sp>
        <p:nvSpPr>
          <p:cNvPr id="368" name="Google Shape;368;p24"/>
          <p:cNvSpPr txBox="1"/>
          <p:nvPr/>
        </p:nvSpPr>
        <p:spPr>
          <a:xfrm>
            <a:off x="8270125" y="5284100"/>
            <a:ext cx="8408400" cy="2916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US" sz="2900">
                <a:solidFill>
                  <a:schemeClr val="dk1"/>
                </a:solidFill>
                <a:latin typeface="Calibri"/>
                <a:ea typeface="Calibri"/>
                <a:cs typeface="Calibri"/>
                <a:sym typeface="Calibri"/>
              </a:rPr>
              <a:t>Danh sách tiêu đề</a:t>
            </a:r>
            <a:endParaRPr b="1"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A. Sự sống trên sao Hỏa</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B. Không gian có phải là tương lai của nhân loại không?</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C. Những khó khăn khi sống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D. Một kết quả thành công</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E. Một thế giới mới xa xôi</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F. Mô phỏng sự sống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G. Một hành trình dài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H. Chỉ là một thí nghiệm</a:t>
            </a:r>
            <a:endParaRPr sz="29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500"/>
                                        <p:tgtEl>
                                          <p:spTgt spid="3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cxnSp>
        <p:nvCxnSpPr>
          <p:cNvPr id="374" name="Google Shape;374;p25"/>
          <p:cNvCxnSpPr/>
          <p:nvPr/>
        </p:nvCxnSpPr>
        <p:spPr>
          <a:xfrm>
            <a:off x="7537495" y="1580138"/>
            <a:ext cx="9743700" cy="7500"/>
          </a:xfrm>
          <a:prstGeom prst="straightConnector1">
            <a:avLst/>
          </a:prstGeom>
          <a:noFill/>
          <a:ln cap="flat" cmpd="sng" w="38100">
            <a:solidFill>
              <a:srgbClr val="018345"/>
            </a:solidFill>
            <a:prstDash val="solid"/>
            <a:round/>
            <a:headEnd len="sm" w="sm" type="none"/>
            <a:tailEnd len="sm" w="sm" type="none"/>
          </a:ln>
        </p:spPr>
      </p:cxnSp>
      <p:grpSp>
        <p:nvGrpSpPr>
          <p:cNvPr id="375" name="Google Shape;375;p25"/>
          <p:cNvGrpSpPr/>
          <p:nvPr/>
        </p:nvGrpSpPr>
        <p:grpSpPr>
          <a:xfrm rot="10800000">
            <a:off x="15785084" y="-536938"/>
            <a:ext cx="7681773" cy="4260605"/>
            <a:chOff x="0" y="-38100"/>
            <a:chExt cx="406400" cy="225405"/>
          </a:xfrm>
        </p:grpSpPr>
        <p:sp>
          <p:nvSpPr>
            <p:cNvPr id="376" name="Google Shape;376;p2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77" name="Google Shape;377;p25"/>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78" name="Google Shape;378;p25"/>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379" name="Google Shape;379;p25"/>
          <p:cNvSpPr txBox="1"/>
          <p:nvPr/>
        </p:nvSpPr>
        <p:spPr>
          <a:xfrm>
            <a:off x="4977850" y="657400"/>
            <a:ext cx="15336900" cy="5388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3500">
                <a:solidFill>
                  <a:srgbClr val="018345"/>
                </a:solidFill>
                <a:latin typeface="Montserrat"/>
                <a:ea typeface="Montserrat"/>
                <a:cs typeface="Montserrat"/>
                <a:sym typeface="Montserrat"/>
              </a:rPr>
              <a:t>Bước 4: Học từ vựng (Khi ôn luyện)</a:t>
            </a:r>
            <a:endParaRPr b="1" sz="3500">
              <a:solidFill>
                <a:srgbClr val="018345"/>
              </a:solidFill>
              <a:latin typeface="Montserrat"/>
              <a:ea typeface="Montserrat"/>
              <a:cs typeface="Montserrat"/>
              <a:sym typeface="Montserrat"/>
            </a:endParaRPr>
          </a:p>
        </p:txBody>
      </p:sp>
      <p:sp>
        <p:nvSpPr>
          <p:cNvPr id="380" name="Google Shape;380;p25"/>
          <p:cNvSpPr txBox="1"/>
          <p:nvPr/>
        </p:nvSpPr>
        <p:spPr>
          <a:xfrm>
            <a:off x="7537500" y="1971600"/>
            <a:ext cx="9290100" cy="63777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US" sz="2900">
                <a:solidFill>
                  <a:schemeClr val="dk1"/>
                </a:solidFill>
                <a:latin typeface="Calibri"/>
                <a:ea typeface="Calibri"/>
                <a:cs typeface="Calibri"/>
                <a:sym typeface="Calibri"/>
              </a:rPr>
              <a:t>Từ vựng</a:t>
            </a:r>
            <a:endParaRPr b="1"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Mars: sao hỏa</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space: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future: tương lai</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mankind: nhân loại</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difficulties</a:t>
            </a:r>
            <a:r>
              <a:rPr lang="en-US" sz="2900">
                <a:solidFill>
                  <a:schemeClr val="dk1"/>
                </a:solidFill>
                <a:latin typeface="Calibri"/>
                <a:ea typeface="Calibri"/>
                <a:cs typeface="Calibri"/>
                <a:sym typeface="Calibri"/>
              </a:rPr>
              <a:t>: khó khăn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outcome: kết quả</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distant: xa xôi</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imitating life: mô phỏng cuộc sống</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experiment: thí nghiệm</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international crew: phi hành đoàn quốc tế</a:t>
            </a:r>
            <a:endParaRPr sz="2900">
              <a:solidFill>
                <a:schemeClr val="dk1"/>
              </a:solidFill>
              <a:latin typeface="Calibri"/>
              <a:ea typeface="Calibri"/>
              <a:cs typeface="Calibri"/>
              <a:sym typeface="Calibri"/>
            </a:endParaRPr>
          </a:p>
          <a:p>
            <a:pPr indent="0" lvl="0" marL="0" rtl="0" algn="just">
              <a:spcBef>
                <a:spcPts val="0"/>
              </a:spcBef>
              <a:spcAft>
                <a:spcPts val="0"/>
              </a:spcAft>
              <a:buNone/>
            </a:pPr>
            <a:r>
              <a:rPr lang="en-US" sz="2900">
                <a:solidFill>
                  <a:schemeClr val="dk1"/>
                </a:solidFill>
                <a:latin typeface="Calibri"/>
                <a:ea typeface="Calibri"/>
                <a:cs typeface="Calibri"/>
                <a:sym typeface="Calibri"/>
              </a:rPr>
              <a:t>astronaut: phi hành gia</a:t>
            </a:r>
            <a:endParaRPr sz="2900">
              <a:solidFill>
                <a:schemeClr val="dk1"/>
              </a:solidFill>
              <a:latin typeface="Calibri"/>
              <a:ea typeface="Calibri"/>
              <a:cs typeface="Calibri"/>
              <a:sym typeface="Calibri"/>
            </a:endParaRPr>
          </a:p>
          <a:p>
            <a:pPr indent="0" lvl="0" marL="0" rtl="0" algn="just">
              <a:spcBef>
                <a:spcPts val="0"/>
              </a:spcBef>
              <a:spcAft>
                <a:spcPts val="0"/>
              </a:spcAft>
              <a:buClr>
                <a:schemeClr val="dk1"/>
              </a:buClr>
              <a:buSzPts val="1100"/>
              <a:buFont typeface="Arial"/>
              <a:buNone/>
            </a:pPr>
            <a:r>
              <a:rPr lang="en-US" sz="2900">
                <a:solidFill>
                  <a:schemeClr val="dk1"/>
                </a:solidFill>
                <a:latin typeface="Calibri"/>
                <a:ea typeface="Calibri"/>
                <a:cs typeface="Calibri"/>
                <a:sym typeface="Calibri"/>
              </a:rPr>
              <a:t>voyage: chuyến đi/ hành trình</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t/>
            </a:r>
            <a:endParaRPr sz="29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379"/>
                                        </p:tgtEl>
                                        <p:attrNameLst>
                                          <p:attrName>style.visibility</p:attrName>
                                        </p:attrNameLst>
                                      </p:cBhvr>
                                      <p:to>
                                        <p:strVal val="visible"/>
                                      </p:to>
                                    </p:set>
                                    <p:animEffect filter="fade" transition="in">
                                      <p:cBhvr>
                                        <p:cTn dur="500"/>
                                        <p:tgtEl>
                                          <p:spTgt spid="3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0">
                                            <p:txEl>
                                              <p:pRg end="13" st="1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cxnSp>
        <p:nvCxnSpPr>
          <p:cNvPr id="385" name="Google Shape;385;p26"/>
          <p:cNvCxnSpPr/>
          <p:nvPr/>
        </p:nvCxnSpPr>
        <p:spPr>
          <a:xfrm>
            <a:off x="6400799" y="2235185"/>
            <a:ext cx="9982200" cy="0"/>
          </a:xfrm>
          <a:prstGeom prst="straightConnector1">
            <a:avLst/>
          </a:prstGeom>
          <a:noFill/>
          <a:ln cap="flat" cmpd="sng" w="38100">
            <a:solidFill>
              <a:srgbClr val="018345"/>
            </a:solidFill>
            <a:prstDash val="solid"/>
            <a:round/>
            <a:headEnd len="sm" w="sm" type="none"/>
            <a:tailEnd len="sm" w="sm" type="none"/>
          </a:ln>
        </p:spPr>
      </p:cxnSp>
      <p:cxnSp>
        <p:nvCxnSpPr>
          <p:cNvPr id="386" name="Google Shape;386;p26"/>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387" name="Google Shape;387;p26"/>
          <p:cNvGrpSpPr/>
          <p:nvPr/>
        </p:nvGrpSpPr>
        <p:grpSpPr>
          <a:xfrm rot="10800000">
            <a:off x="15044545" y="-741517"/>
            <a:ext cx="7681773" cy="4260605"/>
            <a:chOff x="0" y="-38100"/>
            <a:chExt cx="406400" cy="225405"/>
          </a:xfrm>
        </p:grpSpPr>
        <p:sp>
          <p:nvSpPr>
            <p:cNvPr id="388" name="Google Shape;388;p2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389" name="Google Shape;389;p26"/>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390" name="Google Shape;390;p26"/>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391" name="Google Shape;391;p26"/>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392" name="Google Shape;392;p26"/>
          <p:cNvSpPr txBox="1"/>
          <p:nvPr/>
        </p:nvSpPr>
        <p:spPr>
          <a:xfrm>
            <a:off x="5232390" y="2564021"/>
            <a:ext cx="11760300" cy="831300"/>
          </a:xfrm>
          <a:prstGeom prst="rect">
            <a:avLst/>
          </a:prstGeom>
          <a:noFill/>
          <a:ln>
            <a:noFill/>
          </a:ln>
        </p:spPr>
        <p:txBody>
          <a:bodyPr anchorCtr="0" anchor="t" bIns="0" lIns="0" spcFirstLastPara="1" rIns="0" wrap="square" tIns="0">
            <a:spAutoFit/>
          </a:bodyPr>
          <a:lstStyle/>
          <a:p>
            <a:pPr indent="0" lvl="0" marL="0" marR="0" rtl="0" algn="ctr">
              <a:lnSpc>
                <a:spcPct val="180092"/>
              </a:lnSpc>
              <a:spcBef>
                <a:spcPts val="0"/>
              </a:spcBef>
              <a:spcAft>
                <a:spcPts val="0"/>
              </a:spcAft>
              <a:buNone/>
            </a:pPr>
            <a:r>
              <a:rPr b="1" lang="en-US" sz="5400">
                <a:solidFill>
                  <a:srgbClr val="018345"/>
                </a:solidFill>
                <a:latin typeface="Montserrat"/>
                <a:ea typeface="Montserrat"/>
                <a:cs typeface="Montserrat"/>
                <a:sym typeface="Montserrat"/>
              </a:rPr>
              <a:t>ĐOẠN 2</a:t>
            </a:r>
            <a:endParaRPr/>
          </a:p>
        </p:txBody>
      </p:sp>
      <p:sp>
        <p:nvSpPr>
          <p:cNvPr id="393" name="Google Shape;393;p26"/>
          <p:cNvSpPr txBox="1"/>
          <p:nvPr/>
        </p:nvSpPr>
        <p:spPr>
          <a:xfrm>
            <a:off x="6400800" y="1111738"/>
            <a:ext cx="9982200" cy="615600"/>
          </a:xfrm>
          <a:prstGeom prst="rect">
            <a:avLst/>
          </a:prstGeom>
          <a:noFill/>
          <a:ln>
            <a:noFill/>
          </a:ln>
        </p:spPr>
        <p:txBody>
          <a:bodyPr anchorCtr="0" anchor="t" bIns="0" lIns="0" spcFirstLastPara="1" rIns="0" wrap="square" tIns="0">
            <a:spAutoFit/>
          </a:bodyPr>
          <a:lstStyle/>
          <a:p>
            <a:pPr indent="0" lvl="0" marL="0" rtl="0" algn="ctr">
              <a:lnSpc>
                <a:spcPct val="119998"/>
              </a:lnSpc>
              <a:spcBef>
                <a:spcPts val="0"/>
              </a:spcBef>
              <a:spcAft>
                <a:spcPts val="0"/>
              </a:spcAft>
              <a:buSzPts val="1100"/>
              <a:buNone/>
            </a:pPr>
            <a:r>
              <a:rPr b="1" lang="en-US" sz="4000">
                <a:solidFill>
                  <a:srgbClr val="018345"/>
                </a:solidFill>
                <a:latin typeface="Montserrat"/>
                <a:ea typeface="Montserrat"/>
                <a:cs typeface="Montserrat"/>
                <a:sym typeface="Montserrat"/>
              </a:rPr>
              <a:t>Lặp lại các bước với các đoạn còn lại</a:t>
            </a:r>
            <a:endParaRPr b="1" sz="4000">
              <a:solidFill>
                <a:srgbClr val="018345"/>
              </a:solidFill>
              <a:latin typeface="Montserrat"/>
              <a:ea typeface="Montserrat"/>
              <a:cs typeface="Montserrat"/>
              <a:sym typeface="Montserrat"/>
            </a:endParaRPr>
          </a:p>
        </p:txBody>
      </p:sp>
      <p:sp>
        <p:nvSpPr>
          <p:cNvPr id="394" name="Google Shape;394;p26"/>
          <p:cNvSpPr txBox="1"/>
          <p:nvPr/>
        </p:nvSpPr>
        <p:spPr>
          <a:xfrm>
            <a:off x="-10653311" y="9715322"/>
            <a:ext cx="13923300" cy="288900"/>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395" name="Google Shape;395;p26"/>
          <p:cNvGrpSpPr/>
          <p:nvPr/>
        </p:nvGrpSpPr>
        <p:grpSpPr>
          <a:xfrm>
            <a:off x="-2718010" y="9274530"/>
            <a:ext cx="7950378" cy="1707223"/>
            <a:chOff x="0" y="-384760"/>
            <a:chExt cx="10600504" cy="2276297"/>
          </a:xfrm>
        </p:grpSpPr>
        <p:grpSp>
          <p:nvGrpSpPr>
            <p:cNvPr id="396" name="Google Shape;396;p26"/>
            <p:cNvGrpSpPr/>
            <p:nvPr/>
          </p:nvGrpSpPr>
          <p:grpSpPr>
            <a:xfrm>
              <a:off x="0" y="-384760"/>
              <a:ext cx="10600504" cy="2276297"/>
              <a:chOff x="0" y="-38100"/>
              <a:chExt cx="1049690" cy="225405"/>
            </a:xfrm>
          </p:grpSpPr>
          <p:sp>
            <p:nvSpPr>
              <p:cNvPr id="397" name="Google Shape;397;p2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398" name="Google Shape;398;p26"/>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99" name="Google Shape;399;p26"/>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00" name="Google Shape;400;p26"/>
          <p:cNvSpPr/>
          <p:nvPr/>
        </p:nvSpPr>
        <p:spPr>
          <a:xfrm>
            <a:off x="9563099" y="4749873"/>
            <a:ext cx="3280418" cy="3297633"/>
          </a:xfrm>
          <a:custGeom>
            <a:rect b="b" l="l" r="r" t="t"/>
            <a:pathLst>
              <a:path extrusionOk="0" h="4310632" w="4025053">
                <a:moveTo>
                  <a:pt x="0" y="0"/>
                </a:moveTo>
                <a:lnTo>
                  <a:pt x="4025053" y="0"/>
                </a:lnTo>
                <a:lnTo>
                  <a:pt x="4025053" y="4310632"/>
                </a:lnTo>
                <a:lnTo>
                  <a:pt x="0" y="4310632"/>
                </a:lnTo>
                <a:lnTo>
                  <a:pt x="0" y="0"/>
                </a:lnTo>
                <a:close/>
              </a:path>
            </a:pathLst>
          </a:custGeom>
          <a:blipFill rotWithShape="1">
            <a:blip r:embed="rId5">
              <a:alphaModFix/>
            </a:blip>
            <a:stretch>
              <a:fillRect b="0" l="0" r="0" t="0"/>
            </a:stretch>
          </a:blip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393"/>
                                        </p:tgtEl>
                                        <p:attrNameLst>
                                          <p:attrName>style.visibility</p:attrName>
                                        </p:attrNameLst>
                                      </p:cBhvr>
                                      <p:to>
                                        <p:strVal val="visible"/>
                                      </p:to>
                                    </p:set>
                                    <p:anim calcmode="lin" valueType="num">
                                      <p:cBhvr additive="base">
                                        <p:cTn dur="500"/>
                                        <p:tgtEl>
                                          <p:spTgt spid="393"/>
                                        </p:tgtEl>
                                        <p:attrNameLst>
                                          <p:attrName>ppt_w</p:attrName>
                                        </p:attrNameLst>
                                      </p:cBhvr>
                                      <p:tavLst>
                                        <p:tav fmla="" tm="0">
                                          <p:val>
                                            <p:strVal val="0"/>
                                          </p:val>
                                        </p:tav>
                                        <p:tav fmla="" tm="100000">
                                          <p:val>
                                            <p:strVal val="#ppt_w"/>
                                          </p:val>
                                        </p:tav>
                                      </p:tavLst>
                                    </p:anim>
                                    <p:anim calcmode="lin" valueType="num">
                                      <p:cBhvr additive="base">
                                        <p:cTn dur="500"/>
                                        <p:tgtEl>
                                          <p:spTgt spid="393"/>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392"/>
                                        </p:tgtEl>
                                        <p:attrNameLst>
                                          <p:attrName>style.visibility</p:attrName>
                                        </p:attrNameLst>
                                      </p:cBhvr>
                                      <p:to>
                                        <p:strVal val="visible"/>
                                      </p:to>
                                    </p:set>
                                    <p:anim calcmode="lin" valueType="num">
                                      <p:cBhvr additive="base">
                                        <p:cTn dur="500"/>
                                        <p:tgtEl>
                                          <p:spTgt spid="392"/>
                                        </p:tgtEl>
                                        <p:attrNameLst>
                                          <p:attrName>ppt_w</p:attrName>
                                        </p:attrNameLst>
                                      </p:cBhvr>
                                      <p:tavLst>
                                        <p:tav fmla="" tm="0">
                                          <p:val>
                                            <p:strVal val="0"/>
                                          </p:val>
                                        </p:tav>
                                        <p:tav fmla="" tm="100000">
                                          <p:val>
                                            <p:strVal val="#ppt_w"/>
                                          </p:val>
                                        </p:tav>
                                      </p:tavLst>
                                    </p:anim>
                                    <p:anim calcmode="lin" valueType="num">
                                      <p:cBhvr additive="base">
                                        <p:cTn dur="500"/>
                                        <p:tgtEl>
                                          <p:spTgt spid="392"/>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cxnSp>
        <p:nvCxnSpPr>
          <p:cNvPr id="406" name="Google Shape;406;p27"/>
          <p:cNvCxnSpPr/>
          <p:nvPr/>
        </p:nvCxnSpPr>
        <p:spPr>
          <a:xfrm flipH="1" rot="10800000">
            <a:off x="3818195" y="1583913"/>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407" name="Google Shape;407;p27"/>
          <p:cNvGrpSpPr/>
          <p:nvPr/>
        </p:nvGrpSpPr>
        <p:grpSpPr>
          <a:xfrm rot="10800000">
            <a:off x="15785084" y="-536938"/>
            <a:ext cx="7681773" cy="4260605"/>
            <a:chOff x="0" y="-38100"/>
            <a:chExt cx="406400" cy="225405"/>
          </a:xfrm>
        </p:grpSpPr>
        <p:sp>
          <p:nvSpPr>
            <p:cNvPr id="408" name="Google Shape;408;p2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09" name="Google Shape;409;p27"/>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10" name="Google Shape;410;p27"/>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11" name="Google Shape;411;p27"/>
          <p:cNvSpPr txBox="1"/>
          <p:nvPr/>
        </p:nvSpPr>
        <p:spPr>
          <a:xfrm>
            <a:off x="1258550" y="680075"/>
            <a:ext cx="15336900" cy="5388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3500">
                <a:solidFill>
                  <a:srgbClr val="018345"/>
                </a:solidFill>
                <a:latin typeface="Montserrat"/>
                <a:ea typeface="Montserrat"/>
                <a:cs typeface="Montserrat"/>
                <a:sym typeface="Montserrat"/>
              </a:rPr>
              <a:t>Bước 2: Đọc từng đoạn để hiểu nội dung</a:t>
            </a:r>
            <a:endParaRPr b="1" sz="3500">
              <a:solidFill>
                <a:srgbClr val="018345"/>
              </a:solidFill>
              <a:latin typeface="Montserrat"/>
              <a:ea typeface="Montserrat"/>
              <a:cs typeface="Montserrat"/>
              <a:sym typeface="Montserrat"/>
            </a:endParaRPr>
          </a:p>
        </p:txBody>
      </p:sp>
      <p:sp>
        <p:nvSpPr>
          <p:cNvPr id="412" name="Google Shape;412;p27"/>
          <p:cNvSpPr txBox="1"/>
          <p:nvPr/>
        </p:nvSpPr>
        <p:spPr>
          <a:xfrm>
            <a:off x="1034900" y="1809025"/>
            <a:ext cx="15784200" cy="3292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2900">
                <a:solidFill>
                  <a:schemeClr val="dk1"/>
                </a:solidFill>
                <a:latin typeface="Calibri"/>
                <a:ea typeface="Calibri"/>
                <a:cs typeface="Calibri"/>
                <a:sym typeface="Calibri"/>
              </a:rPr>
              <a:t>2. Emerging from the spaceship after an exhausting 520 days, Russian commander Alexei Sitev declared the mission finally over. “The programme has been fully carried out,” he announced at a press conference. “All the crew members are in good health. We are now ready for further tests.” Indeed, the general consensus in the scientific community was that the Mars 500 project had achieved its aims, and, what is more, the crew had managed to complete their mission without ever having to leave the Earth’s atmosphere.</a:t>
            </a:r>
            <a:endParaRPr sz="2900">
              <a:solidFill>
                <a:schemeClr val="dk1"/>
              </a:solidFill>
              <a:latin typeface="Calibri"/>
              <a:ea typeface="Calibri"/>
              <a:cs typeface="Calibri"/>
              <a:sym typeface="Calibri"/>
            </a:endParaRPr>
          </a:p>
        </p:txBody>
      </p:sp>
      <p:cxnSp>
        <p:nvCxnSpPr>
          <p:cNvPr id="413" name="Google Shape;413;p27"/>
          <p:cNvCxnSpPr/>
          <p:nvPr/>
        </p:nvCxnSpPr>
        <p:spPr>
          <a:xfrm>
            <a:off x="1477100" y="2290525"/>
            <a:ext cx="14899800" cy="0"/>
          </a:xfrm>
          <a:prstGeom prst="straightConnector1">
            <a:avLst/>
          </a:prstGeom>
          <a:noFill/>
          <a:ln cap="flat" cmpd="sng" w="28575">
            <a:solidFill>
              <a:srgbClr val="FF0000"/>
            </a:solidFill>
            <a:prstDash val="solid"/>
            <a:round/>
            <a:headEnd len="med" w="med" type="none"/>
            <a:tailEnd len="med" w="med" type="none"/>
          </a:ln>
        </p:spPr>
      </p:cxnSp>
      <p:cxnSp>
        <p:nvCxnSpPr>
          <p:cNvPr id="414" name="Google Shape;414;p27"/>
          <p:cNvCxnSpPr/>
          <p:nvPr/>
        </p:nvCxnSpPr>
        <p:spPr>
          <a:xfrm flipH="1" rot="10800000">
            <a:off x="1175475" y="2744200"/>
            <a:ext cx="3791100" cy="16200"/>
          </a:xfrm>
          <a:prstGeom prst="straightConnector1">
            <a:avLst/>
          </a:prstGeom>
          <a:noFill/>
          <a:ln cap="flat" cmpd="sng" w="28575">
            <a:solidFill>
              <a:srgbClr val="FF0000"/>
            </a:solidFill>
            <a:prstDash val="solid"/>
            <a:round/>
            <a:headEnd len="med" w="med" type="none"/>
            <a:tailEnd len="med" w="med" type="none"/>
          </a:ln>
        </p:spPr>
      </p:cxnSp>
      <p:cxnSp>
        <p:nvCxnSpPr>
          <p:cNvPr id="415" name="Google Shape;415;p27"/>
          <p:cNvCxnSpPr/>
          <p:nvPr/>
        </p:nvCxnSpPr>
        <p:spPr>
          <a:xfrm>
            <a:off x="1258550" y="3690250"/>
            <a:ext cx="14899800" cy="0"/>
          </a:xfrm>
          <a:prstGeom prst="straightConnector1">
            <a:avLst/>
          </a:prstGeom>
          <a:noFill/>
          <a:ln cap="flat" cmpd="sng" w="28575">
            <a:solidFill>
              <a:srgbClr val="FF0000"/>
            </a:solidFill>
            <a:prstDash val="solid"/>
            <a:round/>
            <a:headEnd len="med" w="med" type="none"/>
            <a:tailEnd len="med" w="med" type="none"/>
          </a:ln>
        </p:spPr>
      </p:cxnSp>
      <p:cxnSp>
        <p:nvCxnSpPr>
          <p:cNvPr id="416" name="Google Shape;416;p27"/>
          <p:cNvCxnSpPr/>
          <p:nvPr/>
        </p:nvCxnSpPr>
        <p:spPr>
          <a:xfrm>
            <a:off x="1258550" y="4114775"/>
            <a:ext cx="14899800" cy="0"/>
          </a:xfrm>
          <a:prstGeom prst="straightConnector1">
            <a:avLst/>
          </a:prstGeom>
          <a:noFill/>
          <a:ln cap="flat" cmpd="sng" w="28575">
            <a:solidFill>
              <a:srgbClr val="FF0000"/>
            </a:solidFill>
            <a:prstDash val="solid"/>
            <a:round/>
            <a:headEnd len="med" w="med" type="none"/>
            <a:tailEnd len="med" w="med" type="none"/>
          </a:ln>
        </p:spPr>
      </p:cxnSp>
      <p:cxnSp>
        <p:nvCxnSpPr>
          <p:cNvPr id="417" name="Google Shape;417;p27"/>
          <p:cNvCxnSpPr/>
          <p:nvPr/>
        </p:nvCxnSpPr>
        <p:spPr>
          <a:xfrm flipH="1" rot="10800000">
            <a:off x="1270000" y="4557075"/>
            <a:ext cx="1701000" cy="24000"/>
          </a:xfrm>
          <a:prstGeom prst="straightConnector1">
            <a:avLst/>
          </a:prstGeom>
          <a:noFill/>
          <a:ln cap="flat" cmpd="sng" w="28575">
            <a:solidFill>
              <a:srgbClr val="FF0000"/>
            </a:solidFill>
            <a:prstDash val="solid"/>
            <a:round/>
            <a:headEnd len="med" w="med" type="none"/>
            <a:tailEnd len="med" w="med" type="none"/>
          </a:ln>
        </p:spPr>
      </p:cxnSp>
      <p:sp>
        <p:nvSpPr>
          <p:cNvPr id="418" name="Google Shape;418;p27"/>
          <p:cNvSpPr txBox="1"/>
          <p:nvPr/>
        </p:nvSpPr>
        <p:spPr>
          <a:xfrm>
            <a:off x="1175475" y="5284100"/>
            <a:ext cx="5874900" cy="2916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US" sz="2900">
                <a:solidFill>
                  <a:schemeClr val="dk1"/>
                </a:solidFill>
                <a:latin typeface="Calibri"/>
                <a:ea typeface="Calibri"/>
                <a:cs typeface="Calibri"/>
                <a:sym typeface="Calibri"/>
              </a:rPr>
              <a:t>List of headings</a:t>
            </a:r>
            <a:endParaRPr b="1"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A. Life on Mars</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B. Is space the future for mankind?</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C. The difficulties of living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D. A successful outcome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E. A distant new world</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F. Imitating life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G. A long journey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H. Only an experiment</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t/>
            </a:r>
            <a:endParaRPr b="1" sz="2900">
              <a:solidFill>
                <a:schemeClr val="dk1"/>
              </a:solidFill>
              <a:latin typeface="Calibri"/>
              <a:ea typeface="Calibri"/>
              <a:cs typeface="Calibri"/>
              <a:sym typeface="Calibri"/>
            </a:endParaRPr>
          </a:p>
        </p:txBody>
      </p:sp>
      <p:sp>
        <p:nvSpPr>
          <p:cNvPr id="419" name="Google Shape;419;p27"/>
          <p:cNvSpPr txBox="1"/>
          <p:nvPr/>
        </p:nvSpPr>
        <p:spPr>
          <a:xfrm>
            <a:off x="8270128" y="5284100"/>
            <a:ext cx="8408400" cy="2916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US" sz="2900">
                <a:solidFill>
                  <a:schemeClr val="dk1"/>
                </a:solidFill>
                <a:latin typeface="Calibri"/>
                <a:ea typeface="Calibri"/>
                <a:cs typeface="Calibri"/>
                <a:sym typeface="Calibri"/>
              </a:rPr>
              <a:t>Danh sách tiêu đề</a:t>
            </a:r>
            <a:endParaRPr b="1"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A. Sự sống trên sao Hỏa</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B. Không gian có phải là tương lai của nhân loại không?</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C. Những khó khăn khi sống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D. Một kết quả thành công</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E. Một thế giới mới xa xôi</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F. Mô phỏng sự sống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G. Một hành trình dài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H. Chỉ là một thí nghiệm</a:t>
            </a:r>
            <a:endParaRPr sz="29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500"/>
                                        <p:tgtEl>
                                          <p:spTgt spid="4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cxnSp>
        <p:nvCxnSpPr>
          <p:cNvPr id="425" name="Google Shape;425;p28"/>
          <p:cNvCxnSpPr/>
          <p:nvPr/>
        </p:nvCxnSpPr>
        <p:spPr>
          <a:xfrm flipH="1" rot="10800000">
            <a:off x="3818195" y="1583913"/>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426" name="Google Shape;426;p28"/>
          <p:cNvGrpSpPr/>
          <p:nvPr/>
        </p:nvGrpSpPr>
        <p:grpSpPr>
          <a:xfrm rot="10800000">
            <a:off x="15785084" y="-536938"/>
            <a:ext cx="7681773" cy="4260605"/>
            <a:chOff x="0" y="-38100"/>
            <a:chExt cx="406400" cy="225405"/>
          </a:xfrm>
        </p:grpSpPr>
        <p:sp>
          <p:nvSpPr>
            <p:cNvPr id="427" name="Google Shape;427;p2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28" name="Google Shape;428;p28"/>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29" name="Google Shape;429;p28"/>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30" name="Google Shape;430;p28"/>
          <p:cNvSpPr txBox="1"/>
          <p:nvPr/>
        </p:nvSpPr>
        <p:spPr>
          <a:xfrm>
            <a:off x="1258550" y="680075"/>
            <a:ext cx="15336900" cy="5388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3500">
                <a:solidFill>
                  <a:srgbClr val="018345"/>
                </a:solidFill>
                <a:latin typeface="Montserrat"/>
                <a:ea typeface="Montserrat"/>
                <a:cs typeface="Montserrat"/>
                <a:sym typeface="Montserrat"/>
              </a:rPr>
              <a:t>Bước 3: Chọn đáp án chính xác (Loại trừ các đáp án sai nếu có)</a:t>
            </a:r>
            <a:endParaRPr b="1" sz="3500">
              <a:solidFill>
                <a:srgbClr val="018345"/>
              </a:solidFill>
              <a:latin typeface="Montserrat"/>
              <a:ea typeface="Montserrat"/>
              <a:cs typeface="Montserrat"/>
              <a:sym typeface="Montserrat"/>
            </a:endParaRPr>
          </a:p>
        </p:txBody>
      </p:sp>
      <p:sp>
        <p:nvSpPr>
          <p:cNvPr id="431" name="Google Shape;431;p28"/>
          <p:cNvSpPr txBox="1"/>
          <p:nvPr/>
        </p:nvSpPr>
        <p:spPr>
          <a:xfrm>
            <a:off x="1034900" y="1809025"/>
            <a:ext cx="15784200" cy="3292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2900">
                <a:solidFill>
                  <a:schemeClr val="dk1"/>
                </a:solidFill>
                <a:latin typeface="Calibri"/>
                <a:ea typeface="Calibri"/>
                <a:cs typeface="Calibri"/>
                <a:sym typeface="Calibri"/>
              </a:rPr>
              <a:t>2. Emerging from the spaceship after an exhausting 520 days, Russian commander Alexei Sitev declared the mission finally over. “The programme has been fully carried out,” he announced at a press conference. “All the crew members are in good health. We are now ready for further tests.” Indeed, the general consensus in the scientific community was that the Mars 500 project had achieved its aims, and, what is more, the crew had managed to complete their mission without ever having to leave the Earth’s atmosphere.</a:t>
            </a:r>
            <a:endParaRPr sz="2900">
              <a:solidFill>
                <a:schemeClr val="dk1"/>
              </a:solidFill>
              <a:latin typeface="Calibri"/>
              <a:ea typeface="Calibri"/>
              <a:cs typeface="Calibri"/>
              <a:sym typeface="Calibri"/>
            </a:endParaRPr>
          </a:p>
        </p:txBody>
      </p:sp>
      <p:cxnSp>
        <p:nvCxnSpPr>
          <p:cNvPr id="432" name="Google Shape;432;p28"/>
          <p:cNvCxnSpPr/>
          <p:nvPr/>
        </p:nvCxnSpPr>
        <p:spPr>
          <a:xfrm>
            <a:off x="1477100" y="2290525"/>
            <a:ext cx="14899800" cy="0"/>
          </a:xfrm>
          <a:prstGeom prst="straightConnector1">
            <a:avLst/>
          </a:prstGeom>
          <a:noFill/>
          <a:ln cap="flat" cmpd="sng" w="28575">
            <a:solidFill>
              <a:srgbClr val="FF0000"/>
            </a:solidFill>
            <a:prstDash val="solid"/>
            <a:round/>
            <a:headEnd len="med" w="med" type="none"/>
            <a:tailEnd len="med" w="med" type="none"/>
          </a:ln>
        </p:spPr>
      </p:cxnSp>
      <p:cxnSp>
        <p:nvCxnSpPr>
          <p:cNvPr id="433" name="Google Shape;433;p28"/>
          <p:cNvCxnSpPr/>
          <p:nvPr/>
        </p:nvCxnSpPr>
        <p:spPr>
          <a:xfrm flipH="1" rot="10800000">
            <a:off x="1175475" y="2744200"/>
            <a:ext cx="3791100" cy="16200"/>
          </a:xfrm>
          <a:prstGeom prst="straightConnector1">
            <a:avLst/>
          </a:prstGeom>
          <a:noFill/>
          <a:ln cap="flat" cmpd="sng" w="28575">
            <a:solidFill>
              <a:srgbClr val="FF0000"/>
            </a:solidFill>
            <a:prstDash val="solid"/>
            <a:round/>
            <a:headEnd len="med" w="med" type="none"/>
            <a:tailEnd len="med" w="med" type="none"/>
          </a:ln>
        </p:spPr>
      </p:cxnSp>
      <p:cxnSp>
        <p:nvCxnSpPr>
          <p:cNvPr id="434" name="Google Shape;434;p28"/>
          <p:cNvCxnSpPr/>
          <p:nvPr/>
        </p:nvCxnSpPr>
        <p:spPr>
          <a:xfrm>
            <a:off x="1258550" y="3690250"/>
            <a:ext cx="14899800" cy="0"/>
          </a:xfrm>
          <a:prstGeom prst="straightConnector1">
            <a:avLst/>
          </a:prstGeom>
          <a:noFill/>
          <a:ln cap="flat" cmpd="sng" w="28575">
            <a:solidFill>
              <a:srgbClr val="FF0000"/>
            </a:solidFill>
            <a:prstDash val="solid"/>
            <a:round/>
            <a:headEnd len="med" w="med" type="none"/>
            <a:tailEnd len="med" w="med" type="none"/>
          </a:ln>
        </p:spPr>
      </p:cxnSp>
      <p:cxnSp>
        <p:nvCxnSpPr>
          <p:cNvPr id="435" name="Google Shape;435;p28"/>
          <p:cNvCxnSpPr/>
          <p:nvPr/>
        </p:nvCxnSpPr>
        <p:spPr>
          <a:xfrm>
            <a:off x="1258550" y="4114775"/>
            <a:ext cx="14899800" cy="0"/>
          </a:xfrm>
          <a:prstGeom prst="straightConnector1">
            <a:avLst/>
          </a:prstGeom>
          <a:noFill/>
          <a:ln cap="flat" cmpd="sng" w="28575">
            <a:solidFill>
              <a:srgbClr val="FF0000"/>
            </a:solidFill>
            <a:prstDash val="solid"/>
            <a:round/>
            <a:headEnd len="med" w="med" type="none"/>
            <a:tailEnd len="med" w="med" type="none"/>
          </a:ln>
        </p:spPr>
      </p:cxnSp>
      <p:cxnSp>
        <p:nvCxnSpPr>
          <p:cNvPr id="436" name="Google Shape;436;p28"/>
          <p:cNvCxnSpPr/>
          <p:nvPr/>
        </p:nvCxnSpPr>
        <p:spPr>
          <a:xfrm flipH="1" rot="10800000">
            <a:off x="1270000" y="4557075"/>
            <a:ext cx="1701000" cy="24000"/>
          </a:xfrm>
          <a:prstGeom prst="straightConnector1">
            <a:avLst/>
          </a:prstGeom>
          <a:noFill/>
          <a:ln cap="flat" cmpd="sng" w="28575">
            <a:solidFill>
              <a:srgbClr val="FF0000"/>
            </a:solidFill>
            <a:prstDash val="solid"/>
            <a:round/>
            <a:headEnd len="med" w="med" type="none"/>
            <a:tailEnd len="med" w="med" type="none"/>
          </a:ln>
        </p:spPr>
      </p:cxnSp>
      <p:sp>
        <p:nvSpPr>
          <p:cNvPr id="437" name="Google Shape;437;p28"/>
          <p:cNvSpPr/>
          <p:nvPr/>
        </p:nvSpPr>
        <p:spPr>
          <a:xfrm>
            <a:off x="14967875" y="8767775"/>
            <a:ext cx="1360800" cy="938700"/>
          </a:xfrm>
          <a:prstGeom prst="rightArrow">
            <a:avLst>
              <a:gd fmla="val 50000" name="adj1"/>
              <a:gd fmla="val 50000" name="adj2"/>
            </a:avLst>
          </a:prstGeom>
          <a:solidFill>
            <a:srgbClr val="00BF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000">
                <a:latin typeface="Calibri"/>
                <a:ea typeface="Calibri"/>
                <a:cs typeface="Calibri"/>
                <a:sym typeface="Calibri"/>
              </a:rPr>
              <a:t>2D</a:t>
            </a:r>
            <a:endParaRPr sz="3000">
              <a:latin typeface="Calibri"/>
              <a:ea typeface="Calibri"/>
              <a:cs typeface="Calibri"/>
              <a:sym typeface="Calibri"/>
            </a:endParaRPr>
          </a:p>
        </p:txBody>
      </p:sp>
      <p:sp>
        <p:nvSpPr>
          <p:cNvPr id="438" name="Google Shape;438;p28"/>
          <p:cNvSpPr txBox="1"/>
          <p:nvPr/>
        </p:nvSpPr>
        <p:spPr>
          <a:xfrm>
            <a:off x="1175475" y="5284100"/>
            <a:ext cx="5874900" cy="2916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US" sz="2900">
                <a:solidFill>
                  <a:schemeClr val="dk1"/>
                </a:solidFill>
                <a:latin typeface="Calibri"/>
                <a:ea typeface="Calibri"/>
                <a:cs typeface="Calibri"/>
                <a:sym typeface="Calibri"/>
              </a:rPr>
              <a:t>List of headings</a:t>
            </a:r>
            <a:endParaRPr b="1"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A. Life on Mars</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B. Is space the future for mankind?</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C. The difficulties of living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D. A successful outcome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E. A distant new world</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F. Imitating life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G. A long journey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H. Only an experiment</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t/>
            </a:r>
            <a:endParaRPr b="1" sz="2900">
              <a:solidFill>
                <a:schemeClr val="dk1"/>
              </a:solidFill>
              <a:latin typeface="Calibri"/>
              <a:ea typeface="Calibri"/>
              <a:cs typeface="Calibri"/>
              <a:sym typeface="Calibri"/>
            </a:endParaRPr>
          </a:p>
        </p:txBody>
      </p:sp>
      <p:sp>
        <p:nvSpPr>
          <p:cNvPr id="439" name="Google Shape;439;p28"/>
          <p:cNvSpPr txBox="1"/>
          <p:nvPr/>
        </p:nvSpPr>
        <p:spPr>
          <a:xfrm>
            <a:off x="8270125" y="5284100"/>
            <a:ext cx="8549100" cy="2916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US" sz="2900">
                <a:solidFill>
                  <a:schemeClr val="dk1"/>
                </a:solidFill>
                <a:latin typeface="Calibri"/>
                <a:ea typeface="Calibri"/>
                <a:cs typeface="Calibri"/>
                <a:sym typeface="Calibri"/>
              </a:rPr>
              <a:t>Danh sách tiêu đề</a:t>
            </a:r>
            <a:endParaRPr b="1"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A. Sự sống trên sao Hỏa</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B. Không gian có phải là tương lai của nhân loại không?</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C. Những khó khăn khi sống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D. Một kết quả thành công</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E. Một thế giới mới xa xôi</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F. Mô phỏng sự sống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G. Một hành trình dài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H. Chỉ là một thí nghiệm</a:t>
            </a:r>
            <a:endParaRPr sz="29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30"/>
                                        </p:tgtEl>
                                        <p:attrNameLst>
                                          <p:attrName>style.visibility</p:attrName>
                                        </p:attrNameLst>
                                      </p:cBhvr>
                                      <p:to>
                                        <p:strVal val="visible"/>
                                      </p:to>
                                    </p:set>
                                    <p:animEffect filter="fade" transition="in">
                                      <p:cBhvr>
                                        <p:cTn dur="500"/>
                                        <p:tgtEl>
                                          <p:spTgt spid="4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cxnSp>
        <p:nvCxnSpPr>
          <p:cNvPr id="445" name="Google Shape;445;p29"/>
          <p:cNvCxnSpPr/>
          <p:nvPr/>
        </p:nvCxnSpPr>
        <p:spPr>
          <a:xfrm>
            <a:off x="7537495" y="1580138"/>
            <a:ext cx="9743700" cy="7500"/>
          </a:xfrm>
          <a:prstGeom prst="straightConnector1">
            <a:avLst/>
          </a:prstGeom>
          <a:noFill/>
          <a:ln cap="flat" cmpd="sng" w="38100">
            <a:solidFill>
              <a:srgbClr val="018345"/>
            </a:solidFill>
            <a:prstDash val="solid"/>
            <a:round/>
            <a:headEnd len="sm" w="sm" type="none"/>
            <a:tailEnd len="sm" w="sm" type="none"/>
          </a:ln>
        </p:spPr>
      </p:cxnSp>
      <p:grpSp>
        <p:nvGrpSpPr>
          <p:cNvPr id="446" name="Google Shape;446;p29"/>
          <p:cNvGrpSpPr/>
          <p:nvPr/>
        </p:nvGrpSpPr>
        <p:grpSpPr>
          <a:xfrm rot="10800000">
            <a:off x="15785084" y="-536938"/>
            <a:ext cx="7681773" cy="4260605"/>
            <a:chOff x="0" y="-38100"/>
            <a:chExt cx="406400" cy="225405"/>
          </a:xfrm>
        </p:grpSpPr>
        <p:sp>
          <p:nvSpPr>
            <p:cNvPr id="447" name="Google Shape;447;p2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48" name="Google Shape;448;p29"/>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49" name="Google Shape;449;p29"/>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50" name="Google Shape;450;p29"/>
          <p:cNvSpPr txBox="1"/>
          <p:nvPr/>
        </p:nvSpPr>
        <p:spPr>
          <a:xfrm>
            <a:off x="4977850" y="657400"/>
            <a:ext cx="15336900" cy="5388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3500">
                <a:solidFill>
                  <a:srgbClr val="018345"/>
                </a:solidFill>
                <a:latin typeface="Montserrat"/>
                <a:ea typeface="Montserrat"/>
                <a:cs typeface="Montserrat"/>
                <a:sym typeface="Montserrat"/>
              </a:rPr>
              <a:t>Bước 4: Học từ vựng (Khi ôn luyện)</a:t>
            </a:r>
            <a:endParaRPr b="1" sz="3500">
              <a:solidFill>
                <a:srgbClr val="018345"/>
              </a:solidFill>
              <a:latin typeface="Montserrat"/>
              <a:ea typeface="Montserrat"/>
              <a:cs typeface="Montserrat"/>
              <a:sym typeface="Montserrat"/>
            </a:endParaRPr>
          </a:p>
        </p:txBody>
      </p:sp>
      <p:sp>
        <p:nvSpPr>
          <p:cNvPr id="451" name="Google Shape;451;p29"/>
          <p:cNvSpPr txBox="1"/>
          <p:nvPr/>
        </p:nvSpPr>
        <p:spPr>
          <a:xfrm>
            <a:off x="7537500" y="1971600"/>
            <a:ext cx="9290100" cy="63777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1" lang="en-US" sz="3400">
                <a:solidFill>
                  <a:schemeClr val="dk1"/>
                </a:solidFill>
                <a:latin typeface="Calibri"/>
                <a:ea typeface="Calibri"/>
                <a:cs typeface="Calibri"/>
                <a:sym typeface="Calibri"/>
              </a:rPr>
              <a:t>Từ vựng</a:t>
            </a:r>
            <a:endParaRPr b="1"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400">
                <a:solidFill>
                  <a:schemeClr val="dk1"/>
                </a:solidFill>
                <a:latin typeface="Calibri"/>
                <a:ea typeface="Calibri"/>
                <a:cs typeface="Calibri"/>
                <a:sym typeface="Calibri"/>
              </a:rPr>
              <a:t>mission = aim = purpose: mục tiêu, nhiệm vụ, mục đích</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400">
                <a:solidFill>
                  <a:schemeClr val="dk1"/>
                </a:solidFill>
                <a:latin typeface="Calibri"/>
                <a:ea typeface="Calibri"/>
                <a:cs typeface="Calibri"/>
                <a:sym typeface="Calibri"/>
              </a:rPr>
              <a:t>scientific community: giới khoa học</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400">
                <a:solidFill>
                  <a:schemeClr val="dk1"/>
                </a:solidFill>
                <a:latin typeface="Calibri"/>
                <a:ea typeface="Calibri"/>
                <a:cs typeface="Calibri"/>
                <a:sym typeface="Calibri"/>
              </a:rPr>
              <a:t>achieved its aim: đạt được mục tiêu</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400">
                <a:solidFill>
                  <a:schemeClr val="dk1"/>
                </a:solidFill>
                <a:latin typeface="Calibri"/>
                <a:ea typeface="Calibri"/>
                <a:cs typeface="Calibri"/>
                <a:sym typeface="Calibri"/>
              </a:rPr>
              <a:t>complete their mission: hoàn thành mục tiêu</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400">
                <a:solidFill>
                  <a:schemeClr val="dk1"/>
                </a:solidFill>
                <a:latin typeface="Calibri"/>
                <a:ea typeface="Calibri"/>
                <a:cs typeface="Calibri"/>
                <a:sym typeface="Calibri"/>
              </a:rPr>
              <a:t>leave: rời khỏi</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400">
                <a:solidFill>
                  <a:schemeClr val="dk1"/>
                </a:solidFill>
                <a:latin typeface="Calibri"/>
                <a:ea typeface="Calibri"/>
                <a:cs typeface="Calibri"/>
                <a:sym typeface="Calibri"/>
              </a:rPr>
              <a:t>Earth’s atmosphere: bầu khí quyển trái đất</a:t>
            </a:r>
            <a:endParaRPr sz="34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50"/>
                                        </p:tgtEl>
                                        <p:attrNameLst>
                                          <p:attrName>style.visibility</p:attrName>
                                        </p:attrNameLst>
                                      </p:cBhvr>
                                      <p:to>
                                        <p:strVal val="visible"/>
                                      </p:to>
                                    </p:set>
                                    <p:animEffect filter="fade" transition="in">
                                      <p:cBhvr>
                                        <p:cTn dur="500"/>
                                        <p:tgtEl>
                                          <p:spTgt spid="4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1">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cxnSp>
        <p:nvCxnSpPr>
          <p:cNvPr id="456" name="Google Shape;456;p30"/>
          <p:cNvCxnSpPr/>
          <p:nvPr/>
        </p:nvCxnSpPr>
        <p:spPr>
          <a:xfrm>
            <a:off x="6400799" y="2235185"/>
            <a:ext cx="9982200" cy="0"/>
          </a:xfrm>
          <a:prstGeom prst="straightConnector1">
            <a:avLst/>
          </a:prstGeom>
          <a:noFill/>
          <a:ln cap="flat" cmpd="sng" w="38100">
            <a:solidFill>
              <a:srgbClr val="018345"/>
            </a:solidFill>
            <a:prstDash val="solid"/>
            <a:round/>
            <a:headEnd len="sm" w="sm" type="none"/>
            <a:tailEnd len="sm" w="sm" type="none"/>
          </a:ln>
        </p:spPr>
      </p:cxnSp>
      <p:cxnSp>
        <p:nvCxnSpPr>
          <p:cNvPr id="457" name="Google Shape;457;p30"/>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458" name="Google Shape;458;p30"/>
          <p:cNvGrpSpPr/>
          <p:nvPr/>
        </p:nvGrpSpPr>
        <p:grpSpPr>
          <a:xfrm rot="10800000">
            <a:off x="15044545" y="-741517"/>
            <a:ext cx="7681773" cy="4260605"/>
            <a:chOff x="0" y="-38100"/>
            <a:chExt cx="406400" cy="225405"/>
          </a:xfrm>
        </p:grpSpPr>
        <p:sp>
          <p:nvSpPr>
            <p:cNvPr id="459" name="Google Shape;459;p30"/>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60" name="Google Shape;460;p30"/>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461" name="Google Shape;461;p30"/>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462" name="Google Shape;462;p30"/>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463" name="Google Shape;463;p30"/>
          <p:cNvSpPr txBox="1"/>
          <p:nvPr/>
        </p:nvSpPr>
        <p:spPr>
          <a:xfrm>
            <a:off x="5232390" y="2564021"/>
            <a:ext cx="11760300" cy="831300"/>
          </a:xfrm>
          <a:prstGeom prst="rect">
            <a:avLst/>
          </a:prstGeom>
          <a:noFill/>
          <a:ln>
            <a:noFill/>
          </a:ln>
        </p:spPr>
        <p:txBody>
          <a:bodyPr anchorCtr="0" anchor="t" bIns="0" lIns="0" spcFirstLastPara="1" rIns="0" wrap="square" tIns="0">
            <a:spAutoFit/>
          </a:bodyPr>
          <a:lstStyle/>
          <a:p>
            <a:pPr indent="0" lvl="0" marL="0" marR="0" rtl="0" algn="ctr">
              <a:lnSpc>
                <a:spcPct val="180092"/>
              </a:lnSpc>
              <a:spcBef>
                <a:spcPts val="0"/>
              </a:spcBef>
              <a:spcAft>
                <a:spcPts val="0"/>
              </a:spcAft>
              <a:buNone/>
            </a:pPr>
            <a:r>
              <a:rPr b="1" lang="en-US" sz="5400">
                <a:solidFill>
                  <a:srgbClr val="018345"/>
                </a:solidFill>
                <a:latin typeface="Montserrat"/>
                <a:ea typeface="Montserrat"/>
                <a:cs typeface="Montserrat"/>
                <a:sym typeface="Montserrat"/>
              </a:rPr>
              <a:t>ĐOẠN 3</a:t>
            </a:r>
            <a:endParaRPr/>
          </a:p>
        </p:txBody>
      </p:sp>
      <p:sp>
        <p:nvSpPr>
          <p:cNvPr id="464" name="Google Shape;464;p30"/>
          <p:cNvSpPr txBox="1"/>
          <p:nvPr/>
        </p:nvSpPr>
        <p:spPr>
          <a:xfrm>
            <a:off x="6400800" y="1111738"/>
            <a:ext cx="9982200" cy="615600"/>
          </a:xfrm>
          <a:prstGeom prst="rect">
            <a:avLst/>
          </a:prstGeom>
          <a:noFill/>
          <a:ln>
            <a:noFill/>
          </a:ln>
        </p:spPr>
        <p:txBody>
          <a:bodyPr anchorCtr="0" anchor="t" bIns="0" lIns="0" spcFirstLastPara="1" rIns="0" wrap="square" tIns="0">
            <a:spAutoFit/>
          </a:bodyPr>
          <a:lstStyle/>
          <a:p>
            <a:pPr indent="0" lvl="0" marL="0" rtl="0" algn="ctr">
              <a:lnSpc>
                <a:spcPct val="119998"/>
              </a:lnSpc>
              <a:spcBef>
                <a:spcPts val="0"/>
              </a:spcBef>
              <a:spcAft>
                <a:spcPts val="0"/>
              </a:spcAft>
              <a:buSzPts val="1100"/>
              <a:buNone/>
            </a:pPr>
            <a:r>
              <a:rPr b="1" lang="en-US" sz="4000">
                <a:solidFill>
                  <a:srgbClr val="018345"/>
                </a:solidFill>
                <a:latin typeface="Montserrat"/>
                <a:ea typeface="Montserrat"/>
                <a:cs typeface="Montserrat"/>
                <a:sym typeface="Montserrat"/>
              </a:rPr>
              <a:t>Lặp lại các bước với các đoạn còn lại</a:t>
            </a:r>
            <a:endParaRPr b="1" sz="4000">
              <a:solidFill>
                <a:srgbClr val="018345"/>
              </a:solidFill>
              <a:latin typeface="Montserrat"/>
              <a:ea typeface="Montserrat"/>
              <a:cs typeface="Montserrat"/>
              <a:sym typeface="Montserrat"/>
            </a:endParaRPr>
          </a:p>
        </p:txBody>
      </p:sp>
      <p:sp>
        <p:nvSpPr>
          <p:cNvPr id="465" name="Google Shape;465;p30"/>
          <p:cNvSpPr txBox="1"/>
          <p:nvPr/>
        </p:nvSpPr>
        <p:spPr>
          <a:xfrm>
            <a:off x="-10653311" y="9715322"/>
            <a:ext cx="13923300" cy="288900"/>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466" name="Google Shape;466;p30"/>
          <p:cNvGrpSpPr/>
          <p:nvPr/>
        </p:nvGrpSpPr>
        <p:grpSpPr>
          <a:xfrm>
            <a:off x="-2718010" y="9274530"/>
            <a:ext cx="7950378" cy="1707223"/>
            <a:chOff x="0" y="-384760"/>
            <a:chExt cx="10600504" cy="2276297"/>
          </a:xfrm>
        </p:grpSpPr>
        <p:grpSp>
          <p:nvGrpSpPr>
            <p:cNvPr id="467" name="Google Shape;467;p30"/>
            <p:cNvGrpSpPr/>
            <p:nvPr/>
          </p:nvGrpSpPr>
          <p:grpSpPr>
            <a:xfrm>
              <a:off x="0" y="-384760"/>
              <a:ext cx="10600504" cy="2276297"/>
              <a:chOff x="0" y="-38100"/>
              <a:chExt cx="1049690" cy="225405"/>
            </a:xfrm>
          </p:grpSpPr>
          <p:sp>
            <p:nvSpPr>
              <p:cNvPr id="468" name="Google Shape;468;p30"/>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469" name="Google Shape;469;p30"/>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70" name="Google Shape;470;p30"/>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71" name="Google Shape;471;p30"/>
          <p:cNvSpPr/>
          <p:nvPr/>
        </p:nvSpPr>
        <p:spPr>
          <a:xfrm>
            <a:off x="9563099" y="4749873"/>
            <a:ext cx="3280418" cy="3297633"/>
          </a:xfrm>
          <a:custGeom>
            <a:rect b="b" l="l" r="r" t="t"/>
            <a:pathLst>
              <a:path extrusionOk="0" h="4310632" w="4025053">
                <a:moveTo>
                  <a:pt x="0" y="0"/>
                </a:moveTo>
                <a:lnTo>
                  <a:pt x="4025053" y="0"/>
                </a:lnTo>
                <a:lnTo>
                  <a:pt x="4025053" y="4310632"/>
                </a:lnTo>
                <a:lnTo>
                  <a:pt x="0" y="4310632"/>
                </a:lnTo>
                <a:lnTo>
                  <a:pt x="0" y="0"/>
                </a:lnTo>
                <a:close/>
              </a:path>
            </a:pathLst>
          </a:custGeom>
          <a:blipFill rotWithShape="1">
            <a:blip r:embed="rId5">
              <a:alphaModFix/>
            </a:blip>
            <a:stretch>
              <a:fillRect b="0" l="0" r="0" t="0"/>
            </a:stretch>
          </a:blip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464"/>
                                        </p:tgtEl>
                                        <p:attrNameLst>
                                          <p:attrName>style.visibility</p:attrName>
                                        </p:attrNameLst>
                                      </p:cBhvr>
                                      <p:to>
                                        <p:strVal val="visible"/>
                                      </p:to>
                                    </p:set>
                                    <p:anim calcmode="lin" valueType="num">
                                      <p:cBhvr additive="base">
                                        <p:cTn dur="500"/>
                                        <p:tgtEl>
                                          <p:spTgt spid="464"/>
                                        </p:tgtEl>
                                        <p:attrNameLst>
                                          <p:attrName>ppt_w</p:attrName>
                                        </p:attrNameLst>
                                      </p:cBhvr>
                                      <p:tavLst>
                                        <p:tav fmla="" tm="0">
                                          <p:val>
                                            <p:strVal val="0"/>
                                          </p:val>
                                        </p:tav>
                                        <p:tav fmla="" tm="100000">
                                          <p:val>
                                            <p:strVal val="#ppt_w"/>
                                          </p:val>
                                        </p:tav>
                                      </p:tavLst>
                                    </p:anim>
                                    <p:anim calcmode="lin" valueType="num">
                                      <p:cBhvr additive="base">
                                        <p:cTn dur="500"/>
                                        <p:tgtEl>
                                          <p:spTgt spid="464"/>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463"/>
                                        </p:tgtEl>
                                        <p:attrNameLst>
                                          <p:attrName>style.visibility</p:attrName>
                                        </p:attrNameLst>
                                      </p:cBhvr>
                                      <p:to>
                                        <p:strVal val="visible"/>
                                      </p:to>
                                    </p:set>
                                    <p:anim calcmode="lin" valueType="num">
                                      <p:cBhvr additive="base">
                                        <p:cTn dur="500"/>
                                        <p:tgtEl>
                                          <p:spTgt spid="463"/>
                                        </p:tgtEl>
                                        <p:attrNameLst>
                                          <p:attrName>ppt_w</p:attrName>
                                        </p:attrNameLst>
                                      </p:cBhvr>
                                      <p:tavLst>
                                        <p:tav fmla="" tm="0">
                                          <p:val>
                                            <p:strVal val="0"/>
                                          </p:val>
                                        </p:tav>
                                        <p:tav fmla="" tm="100000">
                                          <p:val>
                                            <p:strVal val="#ppt_w"/>
                                          </p:val>
                                        </p:tav>
                                      </p:tavLst>
                                    </p:anim>
                                    <p:anim calcmode="lin" valueType="num">
                                      <p:cBhvr additive="base">
                                        <p:cTn dur="500"/>
                                        <p:tgtEl>
                                          <p:spTgt spid="463"/>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cxnSp>
        <p:nvCxnSpPr>
          <p:cNvPr id="477" name="Google Shape;477;p31"/>
          <p:cNvCxnSpPr/>
          <p:nvPr/>
        </p:nvCxnSpPr>
        <p:spPr>
          <a:xfrm flipH="1" rot="10800000">
            <a:off x="3818195" y="1583913"/>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478" name="Google Shape;478;p31"/>
          <p:cNvGrpSpPr/>
          <p:nvPr/>
        </p:nvGrpSpPr>
        <p:grpSpPr>
          <a:xfrm rot="10800000">
            <a:off x="15785084" y="-536938"/>
            <a:ext cx="7681773" cy="4260605"/>
            <a:chOff x="0" y="-38100"/>
            <a:chExt cx="406400" cy="225405"/>
          </a:xfrm>
        </p:grpSpPr>
        <p:sp>
          <p:nvSpPr>
            <p:cNvPr id="479" name="Google Shape;479;p31"/>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480" name="Google Shape;480;p31"/>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481" name="Google Shape;481;p31"/>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482" name="Google Shape;482;p31"/>
          <p:cNvSpPr txBox="1"/>
          <p:nvPr/>
        </p:nvSpPr>
        <p:spPr>
          <a:xfrm>
            <a:off x="1258550" y="680075"/>
            <a:ext cx="15336900" cy="5388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3500">
                <a:solidFill>
                  <a:srgbClr val="018345"/>
                </a:solidFill>
                <a:latin typeface="Montserrat"/>
                <a:ea typeface="Montserrat"/>
                <a:cs typeface="Montserrat"/>
                <a:sym typeface="Montserrat"/>
              </a:rPr>
              <a:t>Bước 2: Đọc từng đoạn để hiểu nội dung</a:t>
            </a:r>
            <a:endParaRPr b="1" sz="3500">
              <a:solidFill>
                <a:srgbClr val="018345"/>
              </a:solidFill>
              <a:latin typeface="Montserrat"/>
              <a:ea typeface="Montserrat"/>
              <a:cs typeface="Montserrat"/>
              <a:sym typeface="Montserrat"/>
            </a:endParaRPr>
          </a:p>
        </p:txBody>
      </p:sp>
      <p:sp>
        <p:nvSpPr>
          <p:cNvPr id="483" name="Google Shape;483;p31"/>
          <p:cNvSpPr txBox="1"/>
          <p:nvPr/>
        </p:nvSpPr>
        <p:spPr>
          <a:xfrm>
            <a:off x="1034900" y="1809025"/>
            <a:ext cx="15784200" cy="3292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2900">
                <a:solidFill>
                  <a:schemeClr val="dk1"/>
                </a:solidFill>
                <a:latin typeface="Calibri"/>
                <a:ea typeface="Calibri"/>
                <a:cs typeface="Calibri"/>
                <a:sym typeface="Calibri"/>
              </a:rPr>
              <a:t>3. Mars 500 was, in fact, a simulation exercise. The astronauts never even left the ground and their space ship was a specially constructed working model situated in a warehouse in the suburbs of Moscow. The aims of the mission were to see how well humans could cope with the confinement and stress involved in extended interplanetary travel. The astronauts – three Russians, a Frenchman, an Italian and a Chinese national – were volunteers for the project, and, although all of them had the option of leaving their 550 cubic meter living space at any time, none of them chose to do so.</a:t>
            </a:r>
            <a:endParaRPr sz="2900">
              <a:solidFill>
                <a:schemeClr val="dk1"/>
              </a:solidFill>
              <a:latin typeface="Calibri"/>
              <a:ea typeface="Calibri"/>
              <a:cs typeface="Calibri"/>
              <a:sym typeface="Calibri"/>
            </a:endParaRPr>
          </a:p>
        </p:txBody>
      </p:sp>
      <p:cxnSp>
        <p:nvCxnSpPr>
          <p:cNvPr id="484" name="Google Shape;484;p31"/>
          <p:cNvCxnSpPr/>
          <p:nvPr/>
        </p:nvCxnSpPr>
        <p:spPr>
          <a:xfrm>
            <a:off x="1175475" y="3220350"/>
            <a:ext cx="1085700" cy="0"/>
          </a:xfrm>
          <a:prstGeom prst="straightConnector1">
            <a:avLst/>
          </a:prstGeom>
          <a:noFill/>
          <a:ln cap="flat" cmpd="sng" w="28575">
            <a:solidFill>
              <a:srgbClr val="FF0000"/>
            </a:solidFill>
            <a:prstDash val="solid"/>
            <a:round/>
            <a:headEnd len="med" w="med" type="none"/>
            <a:tailEnd len="med" w="med" type="none"/>
          </a:ln>
        </p:spPr>
      </p:cxnSp>
      <p:cxnSp>
        <p:nvCxnSpPr>
          <p:cNvPr id="485" name="Google Shape;485;p31"/>
          <p:cNvCxnSpPr/>
          <p:nvPr/>
        </p:nvCxnSpPr>
        <p:spPr>
          <a:xfrm>
            <a:off x="1175475" y="4574725"/>
            <a:ext cx="13815000" cy="6300"/>
          </a:xfrm>
          <a:prstGeom prst="straightConnector1">
            <a:avLst/>
          </a:prstGeom>
          <a:noFill/>
          <a:ln cap="flat" cmpd="sng" w="28575">
            <a:solidFill>
              <a:srgbClr val="FF0000"/>
            </a:solidFill>
            <a:prstDash val="solid"/>
            <a:round/>
            <a:headEnd len="med" w="med" type="none"/>
            <a:tailEnd len="med" w="med" type="none"/>
          </a:ln>
        </p:spPr>
      </p:cxnSp>
      <p:cxnSp>
        <p:nvCxnSpPr>
          <p:cNvPr id="486" name="Google Shape;486;p31"/>
          <p:cNvCxnSpPr/>
          <p:nvPr/>
        </p:nvCxnSpPr>
        <p:spPr>
          <a:xfrm>
            <a:off x="1258550" y="4114775"/>
            <a:ext cx="15478200" cy="12600"/>
          </a:xfrm>
          <a:prstGeom prst="straightConnector1">
            <a:avLst/>
          </a:prstGeom>
          <a:noFill/>
          <a:ln cap="flat" cmpd="sng" w="28575">
            <a:solidFill>
              <a:srgbClr val="FF0000"/>
            </a:solidFill>
            <a:prstDash val="solid"/>
            <a:round/>
            <a:headEnd len="med" w="med" type="none"/>
            <a:tailEnd len="med" w="med" type="none"/>
          </a:ln>
        </p:spPr>
      </p:cxnSp>
      <p:cxnSp>
        <p:nvCxnSpPr>
          <p:cNvPr id="487" name="Google Shape;487;p31"/>
          <p:cNvCxnSpPr/>
          <p:nvPr/>
        </p:nvCxnSpPr>
        <p:spPr>
          <a:xfrm>
            <a:off x="8836100" y="3723675"/>
            <a:ext cx="7983000" cy="0"/>
          </a:xfrm>
          <a:prstGeom prst="straightConnector1">
            <a:avLst/>
          </a:prstGeom>
          <a:noFill/>
          <a:ln cap="flat" cmpd="sng" w="28575">
            <a:solidFill>
              <a:srgbClr val="FF0000"/>
            </a:solidFill>
            <a:prstDash val="solid"/>
            <a:round/>
            <a:headEnd len="med" w="med" type="none"/>
            <a:tailEnd len="med" w="med" type="none"/>
          </a:ln>
        </p:spPr>
      </p:cxnSp>
      <p:cxnSp>
        <p:nvCxnSpPr>
          <p:cNvPr id="488" name="Google Shape;488;p31"/>
          <p:cNvCxnSpPr/>
          <p:nvPr/>
        </p:nvCxnSpPr>
        <p:spPr>
          <a:xfrm>
            <a:off x="1258550" y="2852500"/>
            <a:ext cx="15478200" cy="12600"/>
          </a:xfrm>
          <a:prstGeom prst="straightConnector1">
            <a:avLst/>
          </a:prstGeom>
          <a:noFill/>
          <a:ln cap="flat" cmpd="sng" w="28575">
            <a:solidFill>
              <a:srgbClr val="FF0000"/>
            </a:solidFill>
            <a:prstDash val="solid"/>
            <a:round/>
            <a:headEnd len="med" w="med" type="none"/>
            <a:tailEnd len="med" w="med" type="none"/>
          </a:ln>
        </p:spPr>
      </p:cxnSp>
      <p:cxnSp>
        <p:nvCxnSpPr>
          <p:cNvPr id="489" name="Google Shape;489;p31"/>
          <p:cNvCxnSpPr/>
          <p:nvPr/>
        </p:nvCxnSpPr>
        <p:spPr>
          <a:xfrm>
            <a:off x="1404900" y="2313313"/>
            <a:ext cx="15478200" cy="12600"/>
          </a:xfrm>
          <a:prstGeom prst="straightConnector1">
            <a:avLst/>
          </a:prstGeom>
          <a:noFill/>
          <a:ln cap="flat" cmpd="sng" w="28575">
            <a:solidFill>
              <a:srgbClr val="FF0000"/>
            </a:solidFill>
            <a:prstDash val="solid"/>
            <a:round/>
            <a:headEnd len="med" w="med" type="none"/>
            <a:tailEnd len="med" w="med" type="none"/>
          </a:ln>
        </p:spPr>
      </p:cxnSp>
      <p:sp>
        <p:nvSpPr>
          <p:cNvPr id="490" name="Google Shape;490;p31"/>
          <p:cNvSpPr txBox="1"/>
          <p:nvPr/>
        </p:nvSpPr>
        <p:spPr>
          <a:xfrm>
            <a:off x="1175475" y="5284100"/>
            <a:ext cx="5874900" cy="2916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US" sz="2900">
                <a:solidFill>
                  <a:schemeClr val="dk1"/>
                </a:solidFill>
                <a:latin typeface="Calibri"/>
                <a:ea typeface="Calibri"/>
                <a:cs typeface="Calibri"/>
                <a:sym typeface="Calibri"/>
              </a:rPr>
              <a:t>List of headings</a:t>
            </a:r>
            <a:endParaRPr b="1"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A. Life on Mars</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B. Is space the future for mankind?</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C. The difficulties of living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D. A successful outcome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E. A distant new world</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F. Imitating life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G. A long journey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H. Only an experiment</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t/>
            </a:r>
            <a:endParaRPr b="1" sz="2900">
              <a:solidFill>
                <a:schemeClr val="dk1"/>
              </a:solidFill>
              <a:latin typeface="Calibri"/>
              <a:ea typeface="Calibri"/>
              <a:cs typeface="Calibri"/>
              <a:sym typeface="Calibri"/>
            </a:endParaRPr>
          </a:p>
        </p:txBody>
      </p:sp>
      <p:sp>
        <p:nvSpPr>
          <p:cNvPr id="491" name="Google Shape;491;p31"/>
          <p:cNvSpPr txBox="1"/>
          <p:nvPr/>
        </p:nvSpPr>
        <p:spPr>
          <a:xfrm>
            <a:off x="8270128" y="5284100"/>
            <a:ext cx="8408400" cy="2916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US" sz="2900">
                <a:solidFill>
                  <a:schemeClr val="dk1"/>
                </a:solidFill>
                <a:latin typeface="Calibri"/>
                <a:ea typeface="Calibri"/>
                <a:cs typeface="Calibri"/>
                <a:sym typeface="Calibri"/>
              </a:rPr>
              <a:t>Danh sách tiêu đề</a:t>
            </a:r>
            <a:endParaRPr b="1"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A. Sự sống trên sao Hỏa</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B. Không gian có phải là tương lai của nhân loại không?</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C. Những khó khăn khi sống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D. Một kết quả thành công</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E. Một thế giới mới xa xôi</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F. Mô phỏng sự sống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G. Một hành trình dài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H. Chỉ là một thí nghiệm</a:t>
            </a:r>
            <a:endParaRPr sz="29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482"/>
                                        </p:tgtEl>
                                        <p:attrNameLst>
                                          <p:attrName>style.visibility</p:attrName>
                                        </p:attrNameLst>
                                      </p:cBhvr>
                                      <p:to>
                                        <p:strVal val="visible"/>
                                      </p:to>
                                    </p:set>
                                    <p:animEffect filter="fade" transition="in">
                                      <p:cBhvr>
                                        <p:cTn dur="500"/>
                                        <p:tgtEl>
                                          <p:spTgt spid="4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9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cxnSp>
        <p:nvCxnSpPr>
          <p:cNvPr id="497" name="Google Shape;497;p32"/>
          <p:cNvCxnSpPr/>
          <p:nvPr/>
        </p:nvCxnSpPr>
        <p:spPr>
          <a:xfrm flipH="1" rot="10800000">
            <a:off x="3818195" y="1583913"/>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498" name="Google Shape;498;p32"/>
          <p:cNvGrpSpPr/>
          <p:nvPr/>
        </p:nvGrpSpPr>
        <p:grpSpPr>
          <a:xfrm rot="10800000">
            <a:off x="15785084" y="-536938"/>
            <a:ext cx="7681773" cy="4260605"/>
            <a:chOff x="0" y="-38100"/>
            <a:chExt cx="406400" cy="225405"/>
          </a:xfrm>
        </p:grpSpPr>
        <p:sp>
          <p:nvSpPr>
            <p:cNvPr id="499" name="Google Shape;499;p32"/>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00" name="Google Shape;500;p32"/>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01" name="Google Shape;501;p32"/>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502" name="Google Shape;502;p32"/>
          <p:cNvSpPr txBox="1"/>
          <p:nvPr/>
        </p:nvSpPr>
        <p:spPr>
          <a:xfrm>
            <a:off x="1258550" y="680075"/>
            <a:ext cx="15336900" cy="5388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3500">
                <a:solidFill>
                  <a:srgbClr val="018345"/>
                </a:solidFill>
                <a:latin typeface="Montserrat"/>
                <a:ea typeface="Montserrat"/>
                <a:cs typeface="Montserrat"/>
                <a:sym typeface="Montserrat"/>
              </a:rPr>
              <a:t>Bước 3: Chọn đáp án chính xác (Loại trừ các đáp án sai nếu có)</a:t>
            </a:r>
            <a:endParaRPr b="1" sz="3500">
              <a:solidFill>
                <a:srgbClr val="018345"/>
              </a:solidFill>
              <a:latin typeface="Montserrat"/>
              <a:ea typeface="Montserrat"/>
              <a:cs typeface="Montserrat"/>
              <a:sym typeface="Montserrat"/>
            </a:endParaRPr>
          </a:p>
        </p:txBody>
      </p:sp>
      <p:sp>
        <p:nvSpPr>
          <p:cNvPr id="503" name="Google Shape;503;p32"/>
          <p:cNvSpPr txBox="1"/>
          <p:nvPr/>
        </p:nvSpPr>
        <p:spPr>
          <a:xfrm>
            <a:off x="1034900" y="1809025"/>
            <a:ext cx="15784200" cy="3292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2900">
                <a:solidFill>
                  <a:schemeClr val="dk1"/>
                </a:solidFill>
                <a:latin typeface="Calibri"/>
                <a:ea typeface="Calibri"/>
                <a:cs typeface="Calibri"/>
                <a:sym typeface="Calibri"/>
              </a:rPr>
              <a:t>3. Mars 500 was, in fact, a simulation exercise. The astronauts never even left the ground and their space ship was a specially constructed working model situated in a warehouse in the suburbs of Moscow. The aims of the mission were to see how well humans could cope with the confinement and stress involved in extended interplanetary travel. The astronauts – three Russians, a Frenchman, an Italian and a Chinese national – were volunteers for the project, and, although all of them had the option of leaving their 550 cubic meter living space at any time, none of them chose to do so.</a:t>
            </a:r>
            <a:endParaRPr sz="2900">
              <a:solidFill>
                <a:schemeClr val="dk1"/>
              </a:solidFill>
              <a:latin typeface="Calibri"/>
              <a:ea typeface="Calibri"/>
              <a:cs typeface="Calibri"/>
              <a:sym typeface="Calibri"/>
            </a:endParaRPr>
          </a:p>
        </p:txBody>
      </p:sp>
      <p:cxnSp>
        <p:nvCxnSpPr>
          <p:cNvPr id="504" name="Google Shape;504;p32"/>
          <p:cNvCxnSpPr/>
          <p:nvPr/>
        </p:nvCxnSpPr>
        <p:spPr>
          <a:xfrm>
            <a:off x="1175475" y="3220350"/>
            <a:ext cx="1085700" cy="0"/>
          </a:xfrm>
          <a:prstGeom prst="straightConnector1">
            <a:avLst/>
          </a:prstGeom>
          <a:noFill/>
          <a:ln cap="flat" cmpd="sng" w="28575">
            <a:solidFill>
              <a:srgbClr val="FF0000"/>
            </a:solidFill>
            <a:prstDash val="solid"/>
            <a:round/>
            <a:headEnd len="med" w="med" type="none"/>
            <a:tailEnd len="med" w="med" type="none"/>
          </a:ln>
        </p:spPr>
      </p:cxnSp>
      <p:cxnSp>
        <p:nvCxnSpPr>
          <p:cNvPr id="505" name="Google Shape;505;p32"/>
          <p:cNvCxnSpPr/>
          <p:nvPr/>
        </p:nvCxnSpPr>
        <p:spPr>
          <a:xfrm>
            <a:off x="1175475" y="4574725"/>
            <a:ext cx="13815000" cy="6300"/>
          </a:xfrm>
          <a:prstGeom prst="straightConnector1">
            <a:avLst/>
          </a:prstGeom>
          <a:noFill/>
          <a:ln cap="flat" cmpd="sng" w="28575">
            <a:solidFill>
              <a:srgbClr val="FF0000"/>
            </a:solidFill>
            <a:prstDash val="solid"/>
            <a:round/>
            <a:headEnd len="med" w="med" type="none"/>
            <a:tailEnd len="med" w="med" type="none"/>
          </a:ln>
        </p:spPr>
      </p:cxnSp>
      <p:cxnSp>
        <p:nvCxnSpPr>
          <p:cNvPr id="506" name="Google Shape;506;p32"/>
          <p:cNvCxnSpPr/>
          <p:nvPr/>
        </p:nvCxnSpPr>
        <p:spPr>
          <a:xfrm>
            <a:off x="1258550" y="4114775"/>
            <a:ext cx="15478200" cy="12600"/>
          </a:xfrm>
          <a:prstGeom prst="straightConnector1">
            <a:avLst/>
          </a:prstGeom>
          <a:noFill/>
          <a:ln cap="flat" cmpd="sng" w="28575">
            <a:solidFill>
              <a:srgbClr val="FF0000"/>
            </a:solidFill>
            <a:prstDash val="solid"/>
            <a:round/>
            <a:headEnd len="med" w="med" type="none"/>
            <a:tailEnd len="med" w="med" type="none"/>
          </a:ln>
        </p:spPr>
      </p:cxnSp>
      <p:cxnSp>
        <p:nvCxnSpPr>
          <p:cNvPr id="507" name="Google Shape;507;p32"/>
          <p:cNvCxnSpPr/>
          <p:nvPr/>
        </p:nvCxnSpPr>
        <p:spPr>
          <a:xfrm>
            <a:off x="8836100" y="3723675"/>
            <a:ext cx="7983000" cy="0"/>
          </a:xfrm>
          <a:prstGeom prst="straightConnector1">
            <a:avLst/>
          </a:prstGeom>
          <a:noFill/>
          <a:ln cap="flat" cmpd="sng" w="28575">
            <a:solidFill>
              <a:srgbClr val="FF0000"/>
            </a:solidFill>
            <a:prstDash val="solid"/>
            <a:round/>
            <a:headEnd len="med" w="med" type="none"/>
            <a:tailEnd len="med" w="med" type="none"/>
          </a:ln>
        </p:spPr>
      </p:cxnSp>
      <p:cxnSp>
        <p:nvCxnSpPr>
          <p:cNvPr id="508" name="Google Shape;508;p32"/>
          <p:cNvCxnSpPr/>
          <p:nvPr/>
        </p:nvCxnSpPr>
        <p:spPr>
          <a:xfrm>
            <a:off x="1258550" y="2852500"/>
            <a:ext cx="15478200" cy="12600"/>
          </a:xfrm>
          <a:prstGeom prst="straightConnector1">
            <a:avLst/>
          </a:prstGeom>
          <a:noFill/>
          <a:ln cap="flat" cmpd="sng" w="28575">
            <a:solidFill>
              <a:srgbClr val="FF0000"/>
            </a:solidFill>
            <a:prstDash val="solid"/>
            <a:round/>
            <a:headEnd len="med" w="med" type="none"/>
            <a:tailEnd len="med" w="med" type="none"/>
          </a:ln>
        </p:spPr>
      </p:cxnSp>
      <p:cxnSp>
        <p:nvCxnSpPr>
          <p:cNvPr id="509" name="Google Shape;509;p32"/>
          <p:cNvCxnSpPr/>
          <p:nvPr/>
        </p:nvCxnSpPr>
        <p:spPr>
          <a:xfrm>
            <a:off x="1404900" y="2313313"/>
            <a:ext cx="15478200" cy="12600"/>
          </a:xfrm>
          <a:prstGeom prst="straightConnector1">
            <a:avLst/>
          </a:prstGeom>
          <a:noFill/>
          <a:ln cap="flat" cmpd="sng" w="28575">
            <a:solidFill>
              <a:srgbClr val="FF0000"/>
            </a:solidFill>
            <a:prstDash val="solid"/>
            <a:round/>
            <a:headEnd len="med" w="med" type="none"/>
            <a:tailEnd len="med" w="med" type="none"/>
          </a:ln>
        </p:spPr>
      </p:cxnSp>
      <p:sp>
        <p:nvSpPr>
          <p:cNvPr id="510" name="Google Shape;510;p32"/>
          <p:cNvSpPr/>
          <p:nvPr/>
        </p:nvSpPr>
        <p:spPr>
          <a:xfrm>
            <a:off x="14967875" y="8767775"/>
            <a:ext cx="1360800" cy="938700"/>
          </a:xfrm>
          <a:prstGeom prst="rightArrow">
            <a:avLst>
              <a:gd fmla="val 50000" name="adj1"/>
              <a:gd fmla="val 50000" name="adj2"/>
            </a:avLst>
          </a:prstGeom>
          <a:solidFill>
            <a:srgbClr val="00BF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000">
                <a:latin typeface="Calibri"/>
                <a:ea typeface="Calibri"/>
                <a:cs typeface="Calibri"/>
                <a:sym typeface="Calibri"/>
              </a:rPr>
              <a:t>3H</a:t>
            </a:r>
            <a:endParaRPr sz="3000">
              <a:latin typeface="Calibri"/>
              <a:ea typeface="Calibri"/>
              <a:cs typeface="Calibri"/>
              <a:sym typeface="Calibri"/>
            </a:endParaRPr>
          </a:p>
        </p:txBody>
      </p:sp>
      <p:sp>
        <p:nvSpPr>
          <p:cNvPr id="511" name="Google Shape;511;p32"/>
          <p:cNvSpPr txBox="1"/>
          <p:nvPr/>
        </p:nvSpPr>
        <p:spPr>
          <a:xfrm>
            <a:off x="1175475" y="5284100"/>
            <a:ext cx="5874900" cy="2916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US" sz="2900">
                <a:solidFill>
                  <a:schemeClr val="dk1"/>
                </a:solidFill>
                <a:latin typeface="Calibri"/>
                <a:ea typeface="Calibri"/>
                <a:cs typeface="Calibri"/>
                <a:sym typeface="Calibri"/>
              </a:rPr>
              <a:t>List of headings</a:t>
            </a:r>
            <a:endParaRPr b="1"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A. Life on Mars</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B. Is space the future for mankind?</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C. The difficulties of living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D. A successful outcome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E. A distant new world</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F. Imitating life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G. A long journey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H. Only an experiment</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t/>
            </a:r>
            <a:endParaRPr b="1" sz="2900">
              <a:solidFill>
                <a:schemeClr val="dk1"/>
              </a:solidFill>
              <a:latin typeface="Calibri"/>
              <a:ea typeface="Calibri"/>
              <a:cs typeface="Calibri"/>
              <a:sym typeface="Calibri"/>
            </a:endParaRPr>
          </a:p>
        </p:txBody>
      </p:sp>
      <p:sp>
        <p:nvSpPr>
          <p:cNvPr id="512" name="Google Shape;512;p32"/>
          <p:cNvSpPr txBox="1"/>
          <p:nvPr/>
        </p:nvSpPr>
        <p:spPr>
          <a:xfrm>
            <a:off x="8270125" y="5284100"/>
            <a:ext cx="8466600" cy="2916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US" sz="2900">
                <a:solidFill>
                  <a:schemeClr val="dk1"/>
                </a:solidFill>
                <a:latin typeface="Calibri"/>
                <a:ea typeface="Calibri"/>
                <a:cs typeface="Calibri"/>
                <a:sym typeface="Calibri"/>
              </a:rPr>
              <a:t>Danh sách tiêu đề</a:t>
            </a:r>
            <a:endParaRPr b="1"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A. Sự sống trên sao Hỏa</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B. Không gian có phải là tương lai của nhân loại không?</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C. Những khó khăn khi sống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D. Một kết quả thành công</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E. Một thế giới mới xa xôi</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F. Mô phỏng sự sống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G. Một hành trình dài trong không gia</a:t>
            </a:r>
            <a:r>
              <a:rPr lang="en-US" sz="2900">
                <a:solidFill>
                  <a:schemeClr val="dk1"/>
                </a:solidFill>
                <a:latin typeface="Calibri"/>
                <a:ea typeface="Calibri"/>
                <a:cs typeface="Calibri"/>
                <a:sym typeface="Calibri"/>
              </a:rPr>
              <a:t>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H. Chỉ là một thí nghiệm</a:t>
            </a:r>
            <a:endParaRPr sz="29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02"/>
                                        </p:tgtEl>
                                        <p:attrNameLst>
                                          <p:attrName>style.visibility</p:attrName>
                                        </p:attrNameLst>
                                      </p:cBhvr>
                                      <p:to>
                                        <p:strVal val="visible"/>
                                      </p:to>
                                    </p:set>
                                    <p:animEffect filter="fade" transition="in">
                                      <p:cBhvr>
                                        <p:cTn dur="500"/>
                                        <p:tgtEl>
                                          <p:spTgt spid="5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1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cxnSp>
        <p:nvCxnSpPr>
          <p:cNvPr id="518" name="Google Shape;518;p33"/>
          <p:cNvCxnSpPr/>
          <p:nvPr/>
        </p:nvCxnSpPr>
        <p:spPr>
          <a:xfrm>
            <a:off x="7537495" y="1580138"/>
            <a:ext cx="9743700" cy="7500"/>
          </a:xfrm>
          <a:prstGeom prst="straightConnector1">
            <a:avLst/>
          </a:prstGeom>
          <a:noFill/>
          <a:ln cap="flat" cmpd="sng" w="38100">
            <a:solidFill>
              <a:srgbClr val="018345"/>
            </a:solidFill>
            <a:prstDash val="solid"/>
            <a:round/>
            <a:headEnd len="sm" w="sm" type="none"/>
            <a:tailEnd len="sm" w="sm" type="none"/>
          </a:ln>
        </p:spPr>
      </p:cxnSp>
      <p:grpSp>
        <p:nvGrpSpPr>
          <p:cNvPr id="519" name="Google Shape;519;p33"/>
          <p:cNvGrpSpPr/>
          <p:nvPr/>
        </p:nvGrpSpPr>
        <p:grpSpPr>
          <a:xfrm rot="10800000">
            <a:off x="15785084" y="-536938"/>
            <a:ext cx="7681773" cy="4260605"/>
            <a:chOff x="0" y="-38100"/>
            <a:chExt cx="406400" cy="225405"/>
          </a:xfrm>
        </p:grpSpPr>
        <p:sp>
          <p:nvSpPr>
            <p:cNvPr id="520" name="Google Shape;520;p33"/>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21" name="Google Shape;521;p33"/>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22" name="Google Shape;522;p33"/>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523" name="Google Shape;523;p33"/>
          <p:cNvSpPr txBox="1"/>
          <p:nvPr/>
        </p:nvSpPr>
        <p:spPr>
          <a:xfrm>
            <a:off x="4977850" y="657400"/>
            <a:ext cx="15336900" cy="5388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3500">
                <a:solidFill>
                  <a:srgbClr val="018345"/>
                </a:solidFill>
                <a:latin typeface="Montserrat"/>
                <a:ea typeface="Montserrat"/>
                <a:cs typeface="Montserrat"/>
                <a:sym typeface="Montserrat"/>
              </a:rPr>
              <a:t>Bước 4: Học từ vựng (Khi ôn luyện)</a:t>
            </a:r>
            <a:endParaRPr b="1" sz="3500">
              <a:solidFill>
                <a:srgbClr val="018345"/>
              </a:solidFill>
              <a:latin typeface="Montserrat"/>
              <a:ea typeface="Montserrat"/>
              <a:cs typeface="Montserrat"/>
              <a:sym typeface="Montserrat"/>
            </a:endParaRPr>
          </a:p>
        </p:txBody>
      </p:sp>
      <p:sp>
        <p:nvSpPr>
          <p:cNvPr id="524" name="Google Shape;524;p33"/>
          <p:cNvSpPr txBox="1"/>
          <p:nvPr/>
        </p:nvSpPr>
        <p:spPr>
          <a:xfrm>
            <a:off x="7537500" y="1971600"/>
            <a:ext cx="9290100" cy="63777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1" lang="en-US" sz="3400">
                <a:solidFill>
                  <a:schemeClr val="dk1"/>
                </a:solidFill>
                <a:latin typeface="Calibri"/>
                <a:ea typeface="Calibri"/>
                <a:cs typeface="Calibri"/>
                <a:sym typeface="Calibri"/>
              </a:rPr>
              <a:t>Từ vựng</a:t>
            </a:r>
            <a:endParaRPr b="1"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400">
                <a:solidFill>
                  <a:schemeClr val="dk1"/>
                </a:solidFill>
                <a:latin typeface="Calibri"/>
                <a:ea typeface="Calibri"/>
                <a:cs typeface="Calibri"/>
                <a:sym typeface="Calibri"/>
              </a:rPr>
              <a:t>simulation exercise: Dự án mô phỏng</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400">
                <a:solidFill>
                  <a:schemeClr val="dk1"/>
                </a:solidFill>
                <a:latin typeface="Calibri"/>
                <a:ea typeface="Calibri"/>
                <a:cs typeface="Calibri"/>
                <a:sym typeface="Calibri"/>
              </a:rPr>
              <a:t>ground: mặt đất</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400">
                <a:solidFill>
                  <a:schemeClr val="dk1"/>
                </a:solidFill>
                <a:latin typeface="Calibri"/>
                <a:ea typeface="Calibri"/>
                <a:cs typeface="Calibri"/>
                <a:sym typeface="Calibri"/>
              </a:rPr>
              <a:t>constructed: được xây dựng</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400">
                <a:solidFill>
                  <a:schemeClr val="dk1"/>
                </a:solidFill>
                <a:latin typeface="Calibri"/>
                <a:ea typeface="Calibri"/>
                <a:cs typeface="Calibri"/>
                <a:sym typeface="Calibri"/>
              </a:rPr>
              <a:t>warehouse: nhà kho</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400">
                <a:solidFill>
                  <a:schemeClr val="dk1"/>
                </a:solidFill>
                <a:latin typeface="Calibri"/>
                <a:ea typeface="Calibri"/>
                <a:cs typeface="Calibri"/>
                <a:sym typeface="Calibri"/>
              </a:rPr>
              <a:t>suburb: ngoại ô</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400">
                <a:solidFill>
                  <a:schemeClr val="dk1"/>
                </a:solidFill>
                <a:latin typeface="Calibri"/>
                <a:ea typeface="Calibri"/>
                <a:cs typeface="Calibri"/>
                <a:sym typeface="Calibri"/>
              </a:rPr>
              <a:t>volunteer: tình nguyện viên</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t/>
            </a:r>
            <a:endParaRPr sz="34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23"/>
                                        </p:tgtEl>
                                        <p:attrNameLst>
                                          <p:attrName>style.visibility</p:attrName>
                                        </p:attrNameLst>
                                      </p:cBhvr>
                                      <p:to>
                                        <p:strVal val="visible"/>
                                      </p:to>
                                    </p:set>
                                    <p:animEffect filter="fade" transition="in">
                                      <p:cBhvr>
                                        <p:cTn dur="500"/>
                                        <p:tgtEl>
                                          <p:spTgt spid="5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4">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cxnSp>
        <p:nvCxnSpPr>
          <p:cNvPr id="529" name="Google Shape;529;p34"/>
          <p:cNvCxnSpPr/>
          <p:nvPr/>
        </p:nvCxnSpPr>
        <p:spPr>
          <a:xfrm>
            <a:off x="6400799" y="2235185"/>
            <a:ext cx="9982200" cy="0"/>
          </a:xfrm>
          <a:prstGeom prst="straightConnector1">
            <a:avLst/>
          </a:prstGeom>
          <a:noFill/>
          <a:ln cap="flat" cmpd="sng" w="38100">
            <a:solidFill>
              <a:srgbClr val="018345"/>
            </a:solidFill>
            <a:prstDash val="solid"/>
            <a:round/>
            <a:headEnd len="sm" w="sm" type="none"/>
            <a:tailEnd len="sm" w="sm" type="none"/>
          </a:ln>
        </p:spPr>
      </p:cxnSp>
      <p:cxnSp>
        <p:nvCxnSpPr>
          <p:cNvPr id="530" name="Google Shape;530;p34"/>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531" name="Google Shape;531;p34"/>
          <p:cNvGrpSpPr/>
          <p:nvPr/>
        </p:nvGrpSpPr>
        <p:grpSpPr>
          <a:xfrm rot="10800000">
            <a:off x="15044545" y="-741517"/>
            <a:ext cx="7681773" cy="4260605"/>
            <a:chOff x="0" y="-38100"/>
            <a:chExt cx="406400" cy="225405"/>
          </a:xfrm>
        </p:grpSpPr>
        <p:sp>
          <p:nvSpPr>
            <p:cNvPr id="532" name="Google Shape;532;p3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33" name="Google Shape;533;p34"/>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534" name="Google Shape;534;p34"/>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535" name="Google Shape;535;p34"/>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536" name="Google Shape;536;p34"/>
          <p:cNvSpPr txBox="1"/>
          <p:nvPr/>
        </p:nvSpPr>
        <p:spPr>
          <a:xfrm>
            <a:off x="5232390" y="2564021"/>
            <a:ext cx="11760300" cy="831300"/>
          </a:xfrm>
          <a:prstGeom prst="rect">
            <a:avLst/>
          </a:prstGeom>
          <a:noFill/>
          <a:ln>
            <a:noFill/>
          </a:ln>
        </p:spPr>
        <p:txBody>
          <a:bodyPr anchorCtr="0" anchor="t" bIns="0" lIns="0" spcFirstLastPara="1" rIns="0" wrap="square" tIns="0">
            <a:spAutoFit/>
          </a:bodyPr>
          <a:lstStyle/>
          <a:p>
            <a:pPr indent="0" lvl="0" marL="0" marR="0" rtl="0" algn="ctr">
              <a:lnSpc>
                <a:spcPct val="180092"/>
              </a:lnSpc>
              <a:spcBef>
                <a:spcPts val="0"/>
              </a:spcBef>
              <a:spcAft>
                <a:spcPts val="0"/>
              </a:spcAft>
              <a:buNone/>
            </a:pPr>
            <a:r>
              <a:rPr b="1" lang="en-US" sz="5400">
                <a:solidFill>
                  <a:srgbClr val="018345"/>
                </a:solidFill>
                <a:latin typeface="Montserrat"/>
                <a:ea typeface="Montserrat"/>
                <a:cs typeface="Montserrat"/>
                <a:sym typeface="Montserrat"/>
              </a:rPr>
              <a:t>ĐOẠN 4</a:t>
            </a:r>
            <a:endParaRPr/>
          </a:p>
        </p:txBody>
      </p:sp>
      <p:sp>
        <p:nvSpPr>
          <p:cNvPr id="537" name="Google Shape;537;p34"/>
          <p:cNvSpPr txBox="1"/>
          <p:nvPr/>
        </p:nvSpPr>
        <p:spPr>
          <a:xfrm>
            <a:off x="6400800" y="1111738"/>
            <a:ext cx="9982200" cy="615600"/>
          </a:xfrm>
          <a:prstGeom prst="rect">
            <a:avLst/>
          </a:prstGeom>
          <a:noFill/>
          <a:ln>
            <a:noFill/>
          </a:ln>
        </p:spPr>
        <p:txBody>
          <a:bodyPr anchorCtr="0" anchor="t" bIns="0" lIns="0" spcFirstLastPara="1" rIns="0" wrap="square" tIns="0">
            <a:spAutoFit/>
          </a:bodyPr>
          <a:lstStyle/>
          <a:p>
            <a:pPr indent="0" lvl="0" marL="0" rtl="0" algn="ctr">
              <a:lnSpc>
                <a:spcPct val="119998"/>
              </a:lnSpc>
              <a:spcBef>
                <a:spcPts val="0"/>
              </a:spcBef>
              <a:spcAft>
                <a:spcPts val="0"/>
              </a:spcAft>
              <a:buSzPts val="1100"/>
              <a:buNone/>
            </a:pPr>
            <a:r>
              <a:rPr b="1" lang="en-US" sz="4000">
                <a:solidFill>
                  <a:srgbClr val="018345"/>
                </a:solidFill>
                <a:latin typeface="Montserrat"/>
                <a:ea typeface="Montserrat"/>
                <a:cs typeface="Montserrat"/>
                <a:sym typeface="Montserrat"/>
              </a:rPr>
              <a:t>Lặp lại các bước với các đoạn còn lại</a:t>
            </a:r>
            <a:endParaRPr b="1" sz="4000">
              <a:solidFill>
                <a:srgbClr val="018345"/>
              </a:solidFill>
              <a:latin typeface="Montserrat"/>
              <a:ea typeface="Montserrat"/>
              <a:cs typeface="Montserrat"/>
              <a:sym typeface="Montserrat"/>
            </a:endParaRPr>
          </a:p>
        </p:txBody>
      </p:sp>
      <p:sp>
        <p:nvSpPr>
          <p:cNvPr id="538" name="Google Shape;538;p34"/>
          <p:cNvSpPr txBox="1"/>
          <p:nvPr/>
        </p:nvSpPr>
        <p:spPr>
          <a:xfrm>
            <a:off x="-10653311" y="9715322"/>
            <a:ext cx="13923300" cy="288900"/>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539" name="Google Shape;539;p34"/>
          <p:cNvGrpSpPr/>
          <p:nvPr/>
        </p:nvGrpSpPr>
        <p:grpSpPr>
          <a:xfrm>
            <a:off x="-2718010" y="9274530"/>
            <a:ext cx="7950378" cy="1707223"/>
            <a:chOff x="0" y="-384760"/>
            <a:chExt cx="10600504" cy="2276297"/>
          </a:xfrm>
        </p:grpSpPr>
        <p:grpSp>
          <p:nvGrpSpPr>
            <p:cNvPr id="540" name="Google Shape;540;p34"/>
            <p:cNvGrpSpPr/>
            <p:nvPr/>
          </p:nvGrpSpPr>
          <p:grpSpPr>
            <a:xfrm>
              <a:off x="0" y="-384760"/>
              <a:ext cx="10600504" cy="2276297"/>
              <a:chOff x="0" y="-38100"/>
              <a:chExt cx="1049690" cy="225405"/>
            </a:xfrm>
          </p:grpSpPr>
          <p:sp>
            <p:nvSpPr>
              <p:cNvPr id="541" name="Google Shape;541;p34"/>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542" name="Google Shape;542;p34"/>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43" name="Google Shape;543;p34"/>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44" name="Google Shape;544;p34"/>
          <p:cNvSpPr/>
          <p:nvPr/>
        </p:nvSpPr>
        <p:spPr>
          <a:xfrm>
            <a:off x="9563099" y="4749873"/>
            <a:ext cx="3280418" cy="3297633"/>
          </a:xfrm>
          <a:custGeom>
            <a:rect b="b" l="l" r="r" t="t"/>
            <a:pathLst>
              <a:path extrusionOk="0" h="4310632" w="4025053">
                <a:moveTo>
                  <a:pt x="0" y="0"/>
                </a:moveTo>
                <a:lnTo>
                  <a:pt x="4025053" y="0"/>
                </a:lnTo>
                <a:lnTo>
                  <a:pt x="4025053" y="4310632"/>
                </a:lnTo>
                <a:lnTo>
                  <a:pt x="0" y="4310632"/>
                </a:lnTo>
                <a:lnTo>
                  <a:pt x="0" y="0"/>
                </a:lnTo>
                <a:close/>
              </a:path>
            </a:pathLst>
          </a:custGeom>
          <a:blipFill rotWithShape="1">
            <a:blip r:embed="rId5">
              <a:alphaModFix/>
            </a:blip>
            <a:stretch>
              <a:fillRect b="0" l="0" r="0" t="0"/>
            </a:stretch>
          </a:blip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537"/>
                                        </p:tgtEl>
                                        <p:attrNameLst>
                                          <p:attrName>style.visibility</p:attrName>
                                        </p:attrNameLst>
                                      </p:cBhvr>
                                      <p:to>
                                        <p:strVal val="visible"/>
                                      </p:to>
                                    </p:set>
                                    <p:anim calcmode="lin" valueType="num">
                                      <p:cBhvr additive="base">
                                        <p:cTn dur="500"/>
                                        <p:tgtEl>
                                          <p:spTgt spid="537"/>
                                        </p:tgtEl>
                                        <p:attrNameLst>
                                          <p:attrName>ppt_w</p:attrName>
                                        </p:attrNameLst>
                                      </p:cBhvr>
                                      <p:tavLst>
                                        <p:tav fmla="" tm="0">
                                          <p:val>
                                            <p:strVal val="0"/>
                                          </p:val>
                                        </p:tav>
                                        <p:tav fmla="" tm="100000">
                                          <p:val>
                                            <p:strVal val="#ppt_w"/>
                                          </p:val>
                                        </p:tav>
                                      </p:tavLst>
                                    </p:anim>
                                    <p:anim calcmode="lin" valueType="num">
                                      <p:cBhvr additive="base">
                                        <p:cTn dur="500"/>
                                        <p:tgtEl>
                                          <p:spTgt spid="537"/>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536"/>
                                        </p:tgtEl>
                                        <p:attrNameLst>
                                          <p:attrName>style.visibility</p:attrName>
                                        </p:attrNameLst>
                                      </p:cBhvr>
                                      <p:to>
                                        <p:strVal val="visible"/>
                                      </p:to>
                                    </p:set>
                                    <p:anim calcmode="lin" valueType="num">
                                      <p:cBhvr additive="base">
                                        <p:cTn dur="500"/>
                                        <p:tgtEl>
                                          <p:spTgt spid="536"/>
                                        </p:tgtEl>
                                        <p:attrNameLst>
                                          <p:attrName>ppt_w</p:attrName>
                                        </p:attrNameLst>
                                      </p:cBhvr>
                                      <p:tavLst>
                                        <p:tav fmla="" tm="0">
                                          <p:val>
                                            <p:strVal val="0"/>
                                          </p:val>
                                        </p:tav>
                                        <p:tav fmla="" tm="100000">
                                          <p:val>
                                            <p:strVal val="#ppt_w"/>
                                          </p:val>
                                        </p:tav>
                                      </p:tavLst>
                                    </p:anim>
                                    <p:anim calcmode="lin" valueType="num">
                                      <p:cBhvr additive="base">
                                        <p:cTn dur="500"/>
                                        <p:tgtEl>
                                          <p:spTgt spid="536"/>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cxnSp>
        <p:nvCxnSpPr>
          <p:cNvPr id="550" name="Google Shape;550;p35"/>
          <p:cNvCxnSpPr/>
          <p:nvPr/>
        </p:nvCxnSpPr>
        <p:spPr>
          <a:xfrm flipH="1" rot="10800000">
            <a:off x="3818195" y="1583913"/>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551" name="Google Shape;551;p35"/>
          <p:cNvGrpSpPr/>
          <p:nvPr/>
        </p:nvGrpSpPr>
        <p:grpSpPr>
          <a:xfrm rot="10800000">
            <a:off x="15785084" y="-536938"/>
            <a:ext cx="7681773" cy="4260605"/>
            <a:chOff x="0" y="-38100"/>
            <a:chExt cx="406400" cy="225405"/>
          </a:xfrm>
        </p:grpSpPr>
        <p:sp>
          <p:nvSpPr>
            <p:cNvPr id="552" name="Google Shape;552;p3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53" name="Google Shape;553;p35"/>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54" name="Google Shape;554;p35"/>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555" name="Google Shape;555;p35"/>
          <p:cNvSpPr txBox="1"/>
          <p:nvPr/>
        </p:nvSpPr>
        <p:spPr>
          <a:xfrm>
            <a:off x="1258550" y="680075"/>
            <a:ext cx="15336900" cy="5388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3500">
                <a:solidFill>
                  <a:srgbClr val="018345"/>
                </a:solidFill>
                <a:latin typeface="Montserrat"/>
                <a:ea typeface="Montserrat"/>
                <a:cs typeface="Montserrat"/>
                <a:sym typeface="Montserrat"/>
              </a:rPr>
              <a:t>Bước 2: Đọc từng đoạn để hiểu nội dung</a:t>
            </a:r>
            <a:endParaRPr b="1" sz="3500">
              <a:solidFill>
                <a:srgbClr val="018345"/>
              </a:solidFill>
              <a:latin typeface="Montserrat"/>
              <a:ea typeface="Montserrat"/>
              <a:cs typeface="Montserrat"/>
              <a:sym typeface="Montserrat"/>
            </a:endParaRPr>
          </a:p>
        </p:txBody>
      </p:sp>
      <p:sp>
        <p:nvSpPr>
          <p:cNvPr id="556" name="Google Shape;556;p35"/>
          <p:cNvSpPr txBox="1"/>
          <p:nvPr/>
        </p:nvSpPr>
        <p:spPr>
          <a:xfrm>
            <a:off x="1034900" y="1809025"/>
            <a:ext cx="15784200" cy="3292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2900">
                <a:solidFill>
                  <a:schemeClr val="dk1"/>
                </a:solidFill>
                <a:latin typeface="Calibri"/>
                <a:ea typeface="Calibri"/>
                <a:cs typeface="Calibri"/>
                <a:sym typeface="Calibri"/>
              </a:rPr>
              <a:t>4. All communications between the crew and mission control were subject to a twenty minute delay to simulate the time it would take signals to reach the earth from outer space. Although not all the elements of space flight - such as the effects of zero gravity - could be reproduced, the conditions on board were made as realistic as possible. The astronauts breathed recycled air, showered only once every ten days and lived mostly on a diet of tinned food. Even the surface of Mars had been recreated to allow the crew the simulated experience of walking on the red planet.</a:t>
            </a:r>
            <a:endParaRPr sz="2900">
              <a:solidFill>
                <a:schemeClr val="dk1"/>
              </a:solidFill>
              <a:latin typeface="Calibri"/>
              <a:ea typeface="Calibri"/>
              <a:cs typeface="Calibri"/>
              <a:sym typeface="Calibri"/>
            </a:endParaRPr>
          </a:p>
        </p:txBody>
      </p:sp>
      <p:cxnSp>
        <p:nvCxnSpPr>
          <p:cNvPr id="557" name="Google Shape;557;p35"/>
          <p:cNvCxnSpPr/>
          <p:nvPr/>
        </p:nvCxnSpPr>
        <p:spPr>
          <a:xfrm>
            <a:off x="1175475" y="4574725"/>
            <a:ext cx="10299900" cy="29100"/>
          </a:xfrm>
          <a:prstGeom prst="straightConnector1">
            <a:avLst/>
          </a:prstGeom>
          <a:noFill/>
          <a:ln cap="flat" cmpd="sng" w="28575">
            <a:solidFill>
              <a:srgbClr val="FF0000"/>
            </a:solidFill>
            <a:prstDash val="solid"/>
            <a:round/>
            <a:headEnd len="med" w="med" type="none"/>
            <a:tailEnd len="med" w="med" type="none"/>
          </a:ln>
        </p:spPr>
      </p:cxnSp>
      <p:cxnSp>
        <p:nvCxnSpPr>
          <p:cNvPr id="558" name="Google Shape;558;p35"/>
          <p:cNvCxnSpPr/>
          <p:nvPr/>
        </p:nvCxnSpPr>
        <p:spPr>
          <a:xfrm flipH="1" rot="10800000">
            <a:off x="9706425" y="4127375"/>
            <a:ext cx="7030200" cy="22800"/>
          </a:xfrm>
          <a:prstGeom prst="straightConnector1">
            <a:avLst/>
          </a:prstGeom>
          <a:noFill/>
          <a:ln cap="flat" cmpd="sng" w="28575">
            <a:solidFill>
              <a:srgbClr val="FF0000"/>
            </a:solidFill>
            <a:prstDash val="solid"/>
            <a:round/>
            <a:headEnd len="med" w="med" type="none"/>
            <a:tailEnd len="med" w="med" type="none"/>
          </a:ln>
        </p:spPr>
      </p:cxnSp>
      <p:cxnSp>
        <p:nvCxnSpPr>
          <p:cNvPr id="559" name="Google Shape;559;p35"/>
          <p:cNvCxnSpPr/>
          <p:nvPr/>
        </p:nvCxnSpPr>
        <p:spPr>
          <a:xfrm flipH="1" rot="10800000">
            <a:off x="1258550" y="2834800"/>
            <a:ext cx="12076500" cy="17700"/>
          </a:xfrm>
          <a:prstGeom prst="straightConnector1">
            <a:avLst/>
          </a:prstGeom>
          <a:noFill/>
          <a:ln cap="flat" cmpd="sng" w="28575">
            <a:solidFill>
              <a:srgbClr val="FF0000"/>
            </a:solidFill>
            <a:prstDash val="solid"/>
            <a:round/>
            <a:headEnd len="med" w="med" type="none"/>
            <a:tailEnd len="med" w="med" type="none"/>
          </a:ln>
        </p:spPr>
      </p:cxnSp>
      <p:cxnSp>
        <p:nvCxnSpPr>
          <p:cNvPr id="560" name="Google Shape;560;p35"/>
          <p:cNvCxnSpPr/>
          <p:nvPr/>
        </p:nvCxnSpPr>
        <p:spPr>
          <a:xfrm>
            <a:off x="1404900" y="2313313"/>
            <a:ext cx="15478200" cy="12600"/>
          </a:xfrm>
          <a:prstGeom prst="straightConnector1">
            <a:avLst/>
          </a:prstGeom>
          <a:noFill/>
          <a:ln cap="flat" cmpd="sng" w="28575">
            <a:solidFill>
              <a:srgbClr val="FF0000"/>
            </a:solidFill>
            <a:prstDash val="solid"/>
            <a:round/>
            <a:headEnd len="med" w="med" type="none"/>
            <a:tailEnd len="med" w="med" type="none"/>
          </a:ln>
        </p:spPr>
      </p:cxnSp>
      <p:sp>
        <p:nvSpPr>
          <p:cNvPr id="561" name="Google Shape;561;p35"/>
          <p:cNvSpPr txBox="1"/>
          <p:nvPr/>
        </p:nvSpPr>
        <p:spPr>
          <a:xfrm>
            <a:off x="1175475" y="5284100"/>
            <a:ext cx="5874900" cy="2916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US" sz="2900">
                <a:solidFill>
                  <a:schemeClr val="dk1"/>
                </a:solidFill>
                <a:latin typeface="Calibri"/>
                <a:ea typeface="Calibri"/>
                <a:cs typeface="Calibri"/>
                <a:sym typeface="Calibri"/>
              </a:rPr>
              <a:t>List of headings</a:t>
            </a:r>
            <a:endParaRPr b="1"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A. Life on Mars</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B. Is space the future for mankind?</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C. The difficulties of living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D. A successful outcome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E. A distant new world</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F. Imitating life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G. A long journey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H. Only an experiment</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t/>
            </a:r>
            <a:endParaRPr b="1" sz="2900">
              <a:solidFill>
                <a:schemeClr val="dk1"/>
              </a:solidFill>
              <a:latin typeface="Calibri"/>
              <a:ea typeface="Calibri"/>
              <a:cs typeface="Calibri"/>
              <a:sym typeface="Calibri"/>
            </a:endParaRPr>
          </a:p>
        </p:txBody>
      </p:sp>
      <p:sp>
        <p:nvSpPr>
          <p:cNvPr id="562" name="Google Shape;562;p35"/>
          <p:cNvSpPr txBox="1"/>
          <p:nvPr/>
        </p:nvSpPr>
        <p:spPr>
          <a:xfrm>
            <a:off x="8270128" y="5284100"/>
            <a:ext cx="8408400" cy="2916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US" sz="2900">
                <a:solidFill>
                  <a:schemeClr val="dk1"/>
                </a:solidFill>
                <a:latin typeface="Calibri"/>
                <a:ea typeface="Calibri"/>
                <a:cs typeface="Calibri"/>
                <a:sym typeface="Calibri"/>
              </a:rPr>
              <a:t>Danh sách tiêu đề</a:t>
            </a:r>
            <a:endParaRPr b="1"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A. Sự sống trên sao Hỏa</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B. Không gian có phải là tương lai của nhân loại không?</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C. Những khó khăn khi sống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D. Một kết quả thành công</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E. Một thế giới mới xa xôi</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F. Mô phỏng sự sống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G. Một hành trình dài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H. Chỉ là một thí nghiệm</a:t>
            </a:r>
            <a:endParaRPr sz="29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55"/>
                                        </p:tgtEl>
                                        <p:attrNameLst>
                                          <p:attrName>style.visibility</p:attrName>
                                        </p:attrNameLst>
                                      </p:cBhvr>
                                      <p:to>
                                        <p:strVal val="visible"/>
                                      </p:to>
                                    </p:set>
                                    <p:animEffect filter="fade" transition="in">
                                      <p:cBhvr>
                                        <p:cTn dur="500"/>
                                        <p:tgtEl>
                                          <p:spTgt spid="5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5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7" name="Shape 567"/>
        <p:cNvGrpSpPr/>
        <p:nvPr/>
      </p:nvGrpSpPr>
      <p:grpSpPr>
        <a:xfrm>
          <a:off x="0" y="0"/>
          <a:ext cx="0" cy="0"/>
          <a:chOff x="0" y="0"/>
          <a:chExt cx="0" cy="0"/>
        </a:xfrm>
      </p:grpSpPr>
      <p:cxnSp>
        <p:nvCxnSpPr>
          <p:cNvPr id="568" name="Google Shape;568;p36"/>
          <p:cNvCxnSpPr/>
          <p:nvPr/>
        </p:nvCxnSpPr>
        <p:spPr>
          <a:xfrm flipH="1" rot="10800000">
            <a:off x="3818195" y="1583913"/>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569" name="Google Shape;569;p36"/>
          <p:cNvGrpSpPr/>
          <p:nvPr/>
        </p:nvGrpSpPr>
        <p:grpSpPr>
          <a:xfrm rot="10800000">
            <a:off x="15785084" y="-536938"/>
            <a:ext cx="7681773" cy="4260605"/>
            <a:chOff x="0" y="-38100"/>
            <a:chExt cx="406400" cy="225405"/>
          </a:xfrm>
        </p:grpSpPr>
        <p:sp>
          <p:nvSpPr>
            <p:cNvPr id="570" name="Google Shape;570;p3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71" name="Google Shape;571;p36"/>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72" name="Google Shape;572;p36"/>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573" name="Google Shape;573;p36"/>
          <p:cNvSpPr txBox="1"/>
          <p:nvPr/>
        </p:nvSpPr>
        <p:spPr>
          <a:xfrm>
            <a:off x="1258550" y="680075"/>
            <a:ext cx="15336900" cy="5388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3500">
                <a:solidFill>
                  <a:srgbClr val="018345"/>
                </a:solidFill>
                <a:latin typeface="Montserrat"/>
                <a:ea typeface="Montserrat"/>
                <a:cs typeface="Montserrat"/>
                <a:sym typeface="Montserrat"/>
              </a:rPr>
              <a:t>Bước 3: Chọn đáp án chính xác (Loại trừ các đáp án sai nếu có)</a:t>
            </a:r>
            <a:endParaRPr b="1" sz="3500">
              <a:solidFill>
                <a:srgbClr val="018345"/>
              </a:solidFill>
              <a:latin typeface="Montserrat"/>
              <a:ea typeface="Montserrat"/>
              <a:cs typeface="Montserrat"/>
              <a:sym typeface="Montserrat"/>
            </a:endParaRPr>
          </a:p>
        </p:txBody>
      </p:sp>
      <p:sp>
        <p:nvSpPr>
          <p:cNvPr id="574" name="Google Shape;574;p36"/>
          <p:cNvSpPr txBox="1"/>
          <p:nvPr/>
        </p:nvSpPr>
        <p:spPr>
          <a:xfrm>
            <a:off x="1034900" y="1809025"/>
            <a:ext cx="15784200" cy="3292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2900">
                <a:solidFill>
                  <a:schemeClr val="dk1"/>
                </a:solidFill>
                <a:latin typeface="Calibri"/>
                <a:ea typeface="Calibri"/>
                <a:cs typeface="Calibri"/>
                <a:sym typeface="Calibri"/>
              </a:rPr>
              <a:t>4. All communications between the crew and mission control were subject to a twenty minute delay to simulate the time it would take signals to reach the earth from outer space. Although not all the elements of space flight - such as the effects of zero gravity - could be reproduced, the conditions on board were made as realistic as possible. The astronauts breathed recycled air, showered only once every ten days and lived mostly on a diet of tinned food. Even the surface of Mars had been recreated to allow the crew the simulated experience of walking on the red planet.</a:t>
            </a:r>
            <a:endParaRPr sz="2900">
              <a:solidFill>
                <a:schemeClr val="dk1"/>
              </a:solidFill>
              <a:latin typeface="Calibri"/>
              <a:ea typeface="Calibri"/>
              <a:cs typeface="Calibri"/>
              <a:sym typeface="Calibri"/>
            </a:endParaRPr>
          </a:p>
        </p:txBody>
      </p:sp>
      <p:cxnSp>
        <p:nvCxnSpPr>
          <p:cNvPr id="575" name="Google Shape;575;p36"/>
          <p:cNvCxnSpPr/>
          <p:nvPr/>
        </p:nvCxnSpPr>
        <p:spPr>
          <a:xfrm>
            <a:off x="1175475" y="4574725"/>
            <a:ext cx="10299900" cy="29100"/>
          </a:xfrm>
          <a:prstGeom prst="straightConnector1">
            <a:avLst/>
          </a:prstGeom>
          <a:noFill/>
          <a:ln cap="flat" cmpd="sng" w="28575">
            <a:solidFill>
              <a:srgbClr val="FF0000"/>
            </a:solidFill>
            <a:prstDash val="solid"/>
            <a:round/>
            <a:headEnd len="med" w="med" type="none"/>
            <a:tailEnd len="med" w="med" type="none"/>
          </a:ln>
        </p:spPr>
      </p:cxnSp>
      <p:cxnSp>
        <p:nvCxnSpPr>
          <p:cNvPr id="576" name="Google Shape;576;p36"/>
          <p:cNvCxnSpPr/>
          <p:nvPr/>
        </p:nvCxnSpPr>
        <p:spPr>
          <a:xfrm flipH="1" rot="10800000">
            <a:off x="9706425" y="4127375"/>
            <a:ext cx="7030200" cy="22800"/>
          </a:xfrm>
          <a:prstGeom prst="straightConnector1">
            <a:avLst/>
          </a:prstGeom>
          <a:noFill/>
          <a:ln cap="flat" cmpd="sng" w="28575">
            <a:solidFill>
              <a:srgbClr val="FF0000"/>
            </a:solidFill>
            <a:prstDash val="solid"/>
            <a:round/>
            <a:headEnd len="med" w="med" type="none"/>
            <a:tailEnd len="med" w="med" type="none"/>
          </a:ln>
        </p:spPr>
      </p:cxnSp>
      <p:cxnSp>
        <p:nvCxnSpPr>
          <p:cNvPr id="577" name="Google Shape;577;p36"/>
          <p:cNvCxnSpPr/>
          <p:nvPr/>
        </p:nvCxnSpPr>
        <p:spPr>
          <a:xfrm flipH="1" rot="10800000">
            <a:off x="1258550" y="2834800"/>
            <a:ext cx="12076500" cy="17700"/>
          </a:xfrm>
          <a:prstGeom prst="straightConnector1">
            <a:avLst/>
          </a:prstGeom>
          <a:noFill/>
          <a:ln cap="flat" cmpd="sng" w="28575">
            <a:solidFill>
              <a:srgbClr val="FF0000"/>
            </a:solidFill>
            <a:prstDash val="solid"/>
            <a:round/>
            <a:headEnd len="med" w="med" type="none"/>
            <a:tailEnd len="med" w="med" type="none"/>
          </a:ln>
        </p:spPr>
      </p:cxnSp>
      <p:cxnSp>
        <p:nvCxnSpPr>
          <p:cNvPr id="578" name="Google Shape;578;p36"/>
          <p:cNvCxnSpPr/>
          <p:nvPr/>
        </p:nvCxnSpPr>
        <p:spPr>
          <a:xfrm>
            <a:off x="1404900" y="2313313"/>
            <a:ext cx="15478200" cy="12600"/>
          </a:xfrm>
          <a:prstGeom prst="straightConnector1">
            <a:avLst/>
          </a:prstGeom>
          <a:noFill/>
          <a:ln cap="flat" cmpd="sng" w="28575">
            <a:solidFill>
              <a:srgbClr val="FF0000"/>
            </a:solidFill>
            <a:prstDash val="solid"/>
            <a:round/>
            <a:headEnd len="med" w="med" type="none"/>
            <a:tailEnd len="med" w="med" type="none"/>
          </a:ln>
        </p:spPr>
      </p:cxnSp>
      <p:sp>
        <p:nvSpPr>
          <p:cNvPr id="579" name="Google Shape;579;p36"/>
          <p:cNvSpPr/>
          <p:nvPr/>
        </p:nvSpPr>
        <p:spPr>
          <a:xfrm>
            <a:off x="14967875" y="8767775"/>
            <a:ext cx="1360800" cy="938700"/>
          </a:xfrm>
          <a:prstGeom prst="rightArrow">
            <a:avLst>
              <a:gd fmla="val 50000" name="adj1"/>
              <a:gd fmla="val 50000" name="adj2"/>
            </a:avLst>
          </a:prstGeom>
          <a:solidFill>
            <a:srgbClr val="00BF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000">
                <a:latin typeface="Calibri"/>
                <a:ea typeface="Calibri"/>
                <a:cs typeface="Calibri"/>
                <a:sym typeface="Calibri"/>
              </a:rPr>
              <a:t>4F</a:t>
            </a:r>
            <a:endParaRPr sz="3000">
              <a:latin typeface="Calibri"/>
              <a:ea typeface="Calibri"/>
              <a:cs typeface="Calibri"/>
              <a:sym typeface="Calibri"/>
            </a:endParaRPr>
          </a:p>
        </p:txBody>
      </p:sp>
      <p:sp>
        <p:nvSpPr>
          <p:cNvPr id="580" name="Google Shape;580;p36"/>
          <p:cNvSpPr txBox="1"/>
          <p:nvPr/>
        </p:nvSpPr>
        <p:spPr>
          <a:xfrm>
            <a:off x="1175475" y="5284100"/>
            <a:ext cx="5874900" cy="2916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US" sz="2900">
                <a:solidFill>
                  <a:schemeClr val="dk1"/>
                </a:solidFill>
                <a:latin typeface="Calibri"/>
                <a:ea typeface="Calibri"/>
                <a:cs typeface="Calibri"/>
                <a:sym typeface="Calibri"/>
              </a:rPr>
              <a:t>List of headings</a:t>
            </a:r>
            <a:endParaRPr b="1"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A. Life on Mars</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B. Is space the future for mankind?</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C. The difficulties of living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D. A successful outcome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E. A distant new world</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F. Imitating life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G. A long journey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H. Only an experiment</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t/>
            </a:r>
            <a:endParaRPr b="1" sz="2900">
              <a:solidFill>
                <a:schemeClr val="dk1"/>
              </a:solidFill>
              <a:latin typeface="Calibri"/>
              <a:ea typeface="Calibri"/>
              <a:cs typeface="Calibri"/>
              <a:sym typeface="Calibri"/>
            </a:endParaRPr>
          </a:p>
        </p:txBody>
      </p:sp>
      <p:sp>
        <p:nvSpPr>
          <p:cNvPr id="581" name="Google Shape;581;p36"/>
          <p:cNvSpPr txBox="1"/>
          <p:nvPr/>
        </p:nvSpPr>
        <p:spPr>
          <a:xfrm>
            <a:off x="8270125" y="5284100"/>
            <a:ext cx="8466600" cy="2916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US" sz="2900">
                <a:solidFill>
                  <a:schemeClr val="dk1"/>
                </a:solidFill>
                <a:latin typeface="Calibri"/>
                <a:ea typeface="Calibri"/>
                <a:cs typeface="Calibri"/>
                <a:sym typeface="Calibri"/>
              </a:rPr>
              <a:t>Danh sách tiêu đề</a:t>
            </a:r>
            <a:endParaRPr b="1"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A. Sự sống trên sao Hỏa</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B. Không gian có phải là tương lai của nhân loại không?</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C. Những khó khăn khi sống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D. Một kết quả thành công</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E. Một thế giới mới xa xôi</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F. Mô phỏng sự sống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G. Một hành trình dài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H. Chỉ là một thí nghiệm</a:t>
            </a:r>
            <a:endParaRPr sz="29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73"/>
                                        </p:tgtEl>
                                        <p:attrNameLst>
                                          <p:attrName>style.visibility</p:attrName>
                                        </p:attrNameLst>
                                      </p:cBhvr>
                                      <p:to>
                                        <p:strVal val="visible"/>
                                      </p:to>
                                    </p:set>
                                    <p:animEffect filter="fade" transition="in">
                                      <p:cBhvr>
                                        <p:cTn dur="500"/>
                                        <p:tgtEl>
                                          <p:spTgt spid="5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cxnSp>
        <p:nvCxnSpPr>
          <p:cNvPr id="587" name="Google Shape;587;p37"/>
          <p:cNvCxnSpPr/>
          <p:nvPr/>
        </p:nvCxnSpPr>
        <p:spPr>
          <a:xfrm>
            <a:off x="7537495" y="1580138"/>
            <a:ext cx="9743700" cy="7500"/>
          </a:xfrm>
          <a:prstGeom prst="straightConnector1">
            <a:avLst/>
          </a:prstGeom>
          <a:noFill/>
          <a:ln cap="flat" cmpd="sng" w="38100">
            <a:solidFill>
              <a:srgbClr val="018345"/>
            </a:solidFill>
            <a:prstDash val="solid"/>
            <a:round/>
            <a:headEnd len="sm" w="sm" type="none"/>
            <a:tailEnd len="sm" w="sm" type="none"/>
          </a:ln>
        </p:spPr>
      </p:cxnSp>
      <p:grpSp>
        <p:nvGrpSpPr>
          <p:cNvPr id="588" name="Google Shape;588;p37"/>
          <p:cNvGrpSpPr/>
          <p:nvPr/>
        </p:nvGrpSpPr>
        <p:grpSpPr>
          <a:xfrm rot="10800000">
            <a:off x="15785084" y="-536938"/>
            <a:ext cx="7681773" cy="4260605"/>
            <a:chOff x="0" y="-38100"/>
            <a:chExt cx="406400" cy="225405"/>
          </a:xfrm>
        </p:grpSpPr>
        <p:sp>
          <p:nvSpPr>
            <p:cNvPr id="589" name="Google Shape;589;p3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590" name="Google Shape;590;p37"/>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591" name="Google Shape;591;p37"/>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592" name="Google Shape;592;p37"/>
          <p:cNvSpPr txBox="1"/>
          <p:nvPr/>
        </p:nvSpPr>
        <p:spPr>
          <a:xfrm>
            <a:off x="4977850" y="657400"/>
            <a:ext cx="15336900" cy="5388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3500">
                <a:solidFill>
                  <a:srgbClr val="018345"/>
                </a:solidFill>
                <a:latin typeface="Montserrat"/>
                <a:ea typeface="Montserrat"/>
                <a:cs typeface="Montserrat"/>
                <a:sym typeface="Montserrat"/>
              </a:rPr>
              <a:t>Bước 4: Học từ vựng (Khi ôn luyện)</a:t>
            </a:r>
            <a:endParaRPr b="1" sz="3500">
              <a:solidFill>
                <a:srgbClr val="018345"/>
              </a:solidFill>
              <a:latin typeface="Montserrat"/>
              <a:ea typeface="Montserrat"/>
              <a:cs typeface="Montserrat"/>
              <a:sym typeface="Montserrat"/>
            </a:endParaRPr>
          </a:p>
        </p:txBody>
      </p:sp>
      <p:sp>
        <p:nvSpPr>
          <p:cNvPr id="593" name="Google Shape;593;p37"/>
          <p:cNvSpPr txBox="1"/>
          <p:nvPr/>
        </p:nvSpPr>
        <p:spPr>
          <a:xfrm>
            <a:off x="7537500" y="2456275"/>
            <a:ext cx="9290100" cy="63777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1" lang="en-US" sz="3400">
                <a:solidFill>
                  <a:schemeClr val="dk1"/>
                </a:solidFill>
                <a:latin typeface="Calibri"/>
                <a:ea typeface="Calibri"/>
                <a:cs typeface="Calibri"/>
                <a:sym typeface="Calibri"/>
              </a:rPr>
              <a:t>Từ vựng</a:t>
            </a:r>
            <a:endParaRPr b="1"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400">
                <a:solidFill>
                  <a:schemeClr val="dk1"/>
                </a:solidFill>
                <a:latin typeface="Calibri"/>
                <a:ea typeface="Calibri"/>
                <a:cs typeface="Calibri"/>
                <a:sym typeface="Calibri"/>
              </a:rPr>
              <a:t>communications: liên lạc</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400">
                <a:solidFill>
                  <a:schemeClr val="dk1"/>
                </a:solidFill>
                <a:latin typeface="Calibri"/>
                <a:ea typeface="Calibri"/>
                <a:cs typeface="Calibri"/>
                <a:sym typeface="Calibri"/>
              </a:rPr>
              <a:t>simulate: mô phỏng</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400">
                <a:solidFill>
                  <a:schemeClr val="dk1"/>
                </a:solidFill>
                <a:latin typeface="Calibri"/>
                <a:ea typeface="Calibri"/>
                <a:cs typeface="Calibri"/>
                <a:sym typeface="Calibri"/>
              </a:rPr>
              <a:t>signal: tín hiệu</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400">
                <a:solidFill>
                  <a:schemeClr val="dk1"/>
                </a:solidFill>
                <a:latin typeface="Calibri"/>
                <a:ea typeface="Calibri"/>
                <a:cs typeface="Calibri"/>
                <a:sym typeface="Calibri"/>
              </a:rPr>
              <a:t>surface: bề mặt</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400">
                <a:solidFill>
                  <a:schemeClr val="dk1"/>
                </a:solidFill>
                <a:latin typeface="Calibri"/>
                <a:ea typeface="Calibri"/>
                <a:cs typeface="Calibri"/>
                <a:sym typeface="Calibri"/>
              </a:rPr>
              <a:t>allow: cho phép</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t/>
            </a:r>
            <a:endParaRPr sz="34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92"/>
                                        </p:tgtEl>
                                        <p:attrNameLst>
                                          <p:attrName>style.visibility</p:attrName>
                                        </p:attrNameLst>
                                      </p:cBhvr>
                                      <p:to>
                                        <p:strVal val="visible"/>
                                      </p:to>
                                    </p:set>
                                    <p:animEffect filter="fade" transition="in">
                                      <p:cBhvr>
                                        <p:cTn dur="500"/>
                                        <p:tgtEl>
                                          <p:spTgt spid="5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cxnSp>
        <p:nvCxnSpPr>
          <p:cNvPr id="598" name="Google Shape;598;p38"/>
          <p:cNvCxnSpPr/>
          <p:nvPr/>
        </p:nvCxnSpPr>
        <p:spPr>
          <a:xfrm>
            <a:off x="6400799" y="2235185"/>
            <a:ext cx="9982200" cy="0"/>
          </a:xfrm>
          <a:prstGeom prst="straightConnector1">
            <a:avLst/>
          </a:prstGeom>
          <a:noFill/>
          <a:ln cap="flat" cmpd="sng" w="38100">
            <a:solidFill>
              <a:srgbClr val="018345"/>
            </a:solidFill>
            <a:prstDash val="solid"/>
            <a:round/>
            <a:headEnd len="sm" w="sm" type="none"/>
            <a:tailEnd len="sm" w="sm" type="none"/>
          </a:ln>
        </p:spPr>
      </p:cxnSp>
      <p:cxnSp>
        <p:nvCxnSpPr>
          <p:cNvPr id="599" name="Google Shape;599;p38"/>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600" name="Google Shape;600;p38"/>
          <p:cNvGrpSpPr/>
          <p:nvPr/>
        </p:nvGrpSpPr>
        <p:grpSpPr>
          <a:xfrm rot="10800000">
            <a:off x="15044545" y="-741517"/>
            <a:ext cx="7681773" cy="4260605"/>
            <a:chOff x="0" y="-38100"/>
            <a:chExt cx="406400" cy="225405"/>
          </a:xfrm>
        </p:grpSpPr>
        <p:sp>
          <p:nvSpPr>
            <p:cNvPr id="601" name="Google Shape;601;p3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602" name="Google Shape;602;p38"/>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603" name="Google Shape;603;p38"/>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604" name="Google Shape;604;p38"/>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605" name="Google Shape;605;p38"/>
          <p:cNvSpPr txBox="1"/>
          <p:nvPr/>
        </p:nvSpPr>
        <p:spPr>
          <a:xfrm>
            <a:off x="5232390" y="2564021"/>
            <a:ext cx="11760300" cy="831300"/>
          </a:xfrm>
          <a:prstGeom prst="rect">
            <a:avLst/>
          </a:prstGeom>
          <a:noFill/>
          <a:ln>
            <a:noFill/>
          </a:ln>
        </p:spPr>
        <p:txBody>
          <a:bodyPr anchorCtr="0" anchor="t" bIns="0" lIns="0" spcFirstLastPara="1" rIns="0" wrap="square" tIns="0">
            <a:spAutoFit/>
          </a:bodyPr>
          <a:lstStyle/>
          <a:p>
            <a:pPr indent="0" lvl="0" marL="0" marR="0" rtl="0" algn="ctr">
              <a:lnSpc>
                <a:spcPct val="180092"/>
              </a:lnSpc>
              <a:spcBef>
                <a:spcPts val="0"/>
              </a:spcBef>
              <a:spcAft>
                <a:spcPts val="0"/>
              </a:spcAft>
              <a:buNone/>
            </a:pPr>
            <a:r>
              <a:rPr b="1" lang="en-US" sz="5400">
                <a:solidFill>
                  <a:srgbClr val="018345"/>
                </a:solidFill>
                <a:latin typeface="Montserrat"/>
                <a:ea typeface="Montserrat"/>
                <a:cs typeface="Montserrat"/>
                <a:sym typeface="Montserrat"/>
              </a:rPr>
              <a:t>ĐOẠN 5</a:t>
            </a:r>
            <a:endParaRPr/>
          </a:p>
        </p:txBody>
      </p:sp>
      <p:sp>
        <p:nvSpPr>
          <p:cNvPr id="606" name="Google Shape;606;p38"/>
          <p:cNvSpPr txBox="1"/>
          <p:nvPr/>
        </p:nvSpPr>
        <p:spPr>
          <a:xfrm>
            <a:off x="6400800" y="1111738"/>
            <a:ext cx="9982200" cy="615600"/>
          </a:xfrm>
          <a:prstGeom prst="rect">
            <a:avLst/>
          </a:prstGeom>
          <a:noFill/>
          <a:ln>
            <a:noFill/>
          </a:ln>
        </p:spPr>
        <p:txBody>
          <a:bodyPr anchorCtr="0" anchor="t" bIns="0" lIns="0" spcFirstLastPara="1" rIns="0" wrap="square" tIns="0">
            <a:spAutoFit/>
          </a:bodyPr>
          <a:lstStyle/>
          <a:p>
            <a:pPr indent="0" lvl="0" marL="0" rtl="0" algn="ctr">
              <a:lnSpc>
                <a:spcPct val="119998"/>
              </a:lnSpc>
              <a:spcBef>
                <a:spcPts val="0"/>
              </a:spcBef>
              <a:spcAft>
                <a:spcPts val="0"/>
              </a:spcAft>
              <a:buSzPts val="1100"/>
              <a:buNone/>
            </a:pPr>
            <a:r>
              <a:rPr b="1" lang="en-US" sz="4000">
                <a:solidFill>
                  <a:srgbClr val="018345"/>
                </a:solidFill>
                <a:latin typeface="Montserrat"/>
                <a:ea typeface="Montserrat"/>
                <a:cs typeface="Montserrat"/>
                <a:sym typeface="Montserrat"/>
              </a:rPr>
              <a:t>Lặp lại các bước với các đoạn còn lại</a:t>
            </a:r>
            <a:endParaRPr b="1" sz="4000">
              <a:solidFill>
                <a:srgbClr val="018345"/>
              </a:solidFill>
              <a:latin typeface="Montserrat"/>
              <a:ea typeface="Montserrat"/>
              <a:cs typeface="Montserrat"/>
              <a:sym typeface="Montserrat"/>
            </a:endParaRPr>
          </a:p>
        </p:txBody>
      </p:sp>
      <p:sp>
        <p:nvSpPr>
          <p:cNvPr id="607" name="Google Shape;607;p38"/>
          <p:cNvSpPr txBox="1"/>
          <p:nvPr/>
        </p:nvSpPr>
        <p:spPr>
          <a:xfrm>
            <a:off x="-10653311" y="9715322"/>
            <a:ext cx="13923300" cy="288900"/>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608" name="Google Shape;608;p38"/>
          <p:cNvGrpSpPr/>
          <p:nvPr/>
        </p:nvGrpSpPr>
        <p:grpSpPr>
          <a:xfrm>
            <a:off x="-2718010" y="9274530"/>
            <a:ext cx="7950378" cy="1707223"/>
            <a:chOff x="0" y="-384760"/>
            <a:chExt cx="10600504" cy="2276297"/>
          </a:xfrm>
        </p:grpSpPr>
        <p:grpSp>
          <p:nvGrpSpPr>
            <p:cNvPr id="609" name="Google Shape;609;p38"/>
            <p:cNvGrpSpPr/>
            <p:nvPr/>
          </p:nvGrpSpPr>
          <p:grpSpPr>
            <a:xfrm>
              <a:off x="0" y="-384760"/>
              <a:ext cx="10600504" cy="2276297"/>
              <a:chOff x="0" y="-38100"/>
              <a:chExt cx="1049690" cy="225405"/>
            </a:xfrm>
          </p:grpSpPr>
          <p:sp>
            <p:nvSpPr>
              <p:cNvPr id="610" name="Google Shape;610;p38"/>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611" name="Google Shape;611;p38"/>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12" name="Google Shape;612;p38"/>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13" name="Google Shape;613;p38"/>
          <p:cNvSpPr/>
          <p:nvPr/>
        </p:nvSpPr>
        <p:spPr>
          <a:xfrm>
            <a:off x="9563099" y="4749873"/>
            <a:ext cx="3280418" cy="3297633"/>
          </a:xfrm>
          <a:custGeom>
            <a:rect b="b" l="l" r="r" t="t"/>
            <a:pathLst>
              <a:path extrusionOk="0" h="4310632" w="4025053">
                <a:moveTo>
                  <a:pt x="0" y="0"/>
                </a:moveTo>
                <a:lnTo>
                  <a:pt x="4025053" y="0"/>
                </a:lnTo>
                <a:lnTo>
                  <a:pt x="4025053" y="4310632"/>
                </a:lnTo>
                <a:lnTo>
                  <a:pt x="0" y="4310632"/>
                </a:lnTo>
                <a:lnTo>
                  <a:pt x="0" y="0"/>
                </a:lnTo>
                <a:close/>
              </a:path>
            </a:pathLst>
          </a:custGeom>
          <a:blipFill rotWithShape="1">
            <a:blip r:embed="rId5">
              <a:alphaModFix/>
            </a:blip>
            <a:stretch>
              <a:fillRect b="0" l="0" r="0" t="0"/>
            </a:stretch>
          </a:blip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606"/>
                                        </p:tgtEl>
                                        <p:attrNameLst>
                                          <p:attrName>style.visibility</p:attrName>
                                        </p:attrNameLst>
                                      </p:cBhvr>
                                      <p:to>
                                        <p:strVal val="visible"/>
                                      </p:to>
                                    </p:set>
                                    <p:anim calcmode="lin" valueType="num">
                                      <p:cBhvr additive="base">
                                        <p:cTn dur="500"/>
                                        <p:tgtEl>
                                          <p:spTgt spid="606"/>
                                        </p:tgtEl>
                                        <p:attrNameLst>
                                          <p:attrName>ppt_w</p:attrName>
                                        </p:attrNameLst>
                                      </p:cBhvr>
                                      <p:tavLst>
                                        <p:tav fmla="" tm="0">
                                          <p:val>
                                            <p:strVal val="0"/>
                                          </p:val>
                                        </p:tav>
                                        <p:tav fmla="" tm="100000">
                                          <p:val>
                                            <p:strVal val="#ppt_w"/>
                                          </p:val>
                                        </p:tav>
                                      </p:tavLst>
                                    </p:anim>
                                    <p:anim calcmode="lin" valueType="num">
                                      <p:cBhvr additive="base">
                                        <p:cTn dur="500"/>
                                        <p:tgtEl>
                                          <p:spTgt spid="606"/>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605"/>
                                        </p:tgtEl>
                                        <p:attrNameLst>
                                          <p:attrName>style.visibility</p:attrName>
                                        </p:attrNameLst>
                                      </p:cBhvr>
                                      <p:to>
                                        <p:strVal val="visible"/>
                                      </p:to>
                                    </p:set>
                                    <p:anim calcmode="lin" valueType="num">
                                      <p:cBhvr additive="base">
                                        <p:cTn dur="500"/>
                                        <p:tgtEl>
                                          <p:spTgt spid="605"/>
                                        </p:tgtEl>
                                        <p:attrNameLst>
                                          <p:attrName>ppt_w</p:attrName>
                                        </p:attrNameLst>
                                      </p:cBhvr>
                                      <p:tavLst>
                                        <p:tav fmla="" tm="0">
                                          <p:val>
                                            <p:strVal val="0"/>
                                          </p:val>
                                        </p:tav>
                                        <p:tav fmla="" tm="100000">
                                          <p:val>
                                            <p:strVal val="#ppt_w"/>
                                          </p:val>
                                        </p:tav>
                                      </p:tavLst>
                                    </p:anim>
                                    <p:anim calcmode="lin" valueType="num">
                                      <p:cBhvr additive="base">
                                        <p:cTn dur="500"/>
                                        <p:tgtEl>
                                          <p:spTgt spid="605"/>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cxnSp>
        <p:nvCxnSpPr>
          <p:cNvPr id="619" name="Google Shape;619;p39"/>
          <p:cNvCxnSpPr/>
          <p:nvPr/>
        </p:nvCxnSpPr>
        <p:spPr>
          <a:xfrm flipH="1" rot="10800000">
            <a:off x="3818195" y="1583913"/>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620" name="Google Shape;620;p39"/>
          <p:cNvGrpSpPr/>
          <p:nvPr/>
        </p:nvGrpSpPr>
        <p:grpSpPr>
          <a:xfrm rot="10800000">
            <a:off x="15785084" y="-536938"/>
            <a:ext cx="7681773" cy="4260605"/>
            <a:chOff x="0" y="-38100"/>
            <a:chExt cx="406400" cy="225405"/>
          </a:xfrm>
        </p:grpSpPr>
        <p:sp>
          <p:nvSpPr>
            <p:cNvPr id="621" name="Google Shape;621;p3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622" name="Google Shape;622;p39"/>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23" name="Google Shape;623;p39"/>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624" name="Google Shape;624;p39"/>
          <p:cNvSpPr txBox="1"/>
          <p:nvPr/>
        </p:nvSpPr>
        <p:spPr>
          <a:xfrm>
            <a:off x="1258550" y="680075"/>
            <a:ext cx="15336900" cy="5388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3500">
                <a:solidFill>
                  <a:srgbClr val="018345"/>
                </a:solidFill>
                <a:latin typeface="Montserrat"/>
                <a:ea typeface="Montserrat"/>
                <a:cs typeface="Montserrat"/>
                <a:sym typeface="Montserrat"/>
              </a:rPr>
              <a:t>Bước 2: Đọc từng đoạn để hiểu nội dung</a:t>
            </a:r>
            <a:endParaRPr b="1" sz="3500">
              <a:solidFill>
                <a:srgbClr val="018345"/>
              </a:solidFill>
              <a:latin typeface="Montserrat"/>
              <a:ea typeface="Montserrat"/>
              <a:cs typeface="Montserrat"/>
              <a:sym typeface="Montserrat"/>
            </a:endParaRPr>
          </a:p>
        </p:txBody>
      </p:sp>
      <p:sp>
        <p:nvSpPr>
          <p:cNvPr id="625" name="Google Shape;625;p39"/>
          <p:cNvSpPr txBox="1"/>
          <p:nvPr/>
        </p:nvSpPr>
        <p:spPr>
          <a:xfrm>
            <a:off x="1034900" y="1809025"/>
            <a:ext cx="15784200" cy="3292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2900">
                <a:solidFill>
                  <a:schemeClr val="dk1"/>
                </a:solidFill>
                <a:latin typeface="Calibri"/>
                <a:ea typeface="Calibri"/>
                <a:cs typeface="Calibri"/>
                <a:sym typeface="Calibri"/>
              </a:rPr>
              <a:t>5. In addition to the discomforts of living in a confined space, the astronauts also had to endure the psychological stresses brought about by isolation and boredom. Scientific studies have already shown that extended periods of social isolation can disrupt the normal mechanisms of the body. This can lead to increased levels of stress and higher blood pressure, which, in turn, can create feelings of anxiety and aggression. The astronauts were subject to regular medical tests throughout the experiment and they were under constant observation via a twenty-four hour closed-circuit television system. The tests continued even after the men had completed their mission as the scientists were interested to see how the astronauts would cope with a return to normal life.</a:t>
            </a:r>
            <a:endParaRPr sz="2900">
              <a:solidFill>
                <a:schemeClr val="dk1"/>
              </a:solidFill>
              <a:latin typeface="Calibri"/>
              <a:ea typeface="Calibri"/>
              <a:cs typeface="Calibri"/>
              <a:sym typeface="Calibri"/>
            </a:endParaRPr>
          </a:p>
        </p:txBody>
      </p:sp>
      <p:cxnSp>
        <p:nvCxnSpPr>
          <p:cNvPr id="626" name="Google Shape;626;p39"/>
          <p:cNvCxnSpPr/>
          <p:nvPr/>
        </p:nvCxnSpPr>
        <p:spPr>
          <a:xfrm flipH="1" rot="10800000">
            <a:off x="1175475" y="2789425"/>
            <a:ext cx="9695100" cy="17700"/>
          </a:xfrm>
          <a:prstGeom prst="straightConnector1">
            <a:avLst/>
          </a:prstGeom>
          <a:noFill/>
          <a:ln cap="flat" cmpd="sng" w="28575">
            <a:solidFill>
              <a:srgbClr val="FF0000"/>
            </a:solidFill>
            <a:prstDash val="solid"/>
            <a:round/>
            <a:headEnd len="med" w="med" type="none"/>
            <a:tailEnd len="med" w="med" type="none"/>
          </a:ln>
        </p:spPr>
      </p:cxnSp>
      <p:cxnSp>
        <p:nvCxnSpPr>
          <p:cNvPr id="627" name="Google Shape;627;p39"/>
          <p:cNvCxnSpPr/>
          <p:nvPr/>
        </p:nvCxnSpPr>
        <p:spPr>
          <a:xfrm>
            <a:off x="1404900" y="2313313"/>
            <a:ext cx="15478200" cy="12600"/>
          </a:xfrm>
          <a:prstGeom prst="straightConnector1">
            <a:avLst/>
          </a:prstGeom>
          <a:noFill/>
          <a:ln cap="flat" cmpd="sng" w="28575">
            <a:solidFill>
              <a:srgbClr val="FF0000"/>
            </a:solidFill>
            <a:prstDash val="solid"/>
            <a:round/>
            <a:headEnd len="med" w="med" type="none"/>
            <a:tailEnd len="med" w="med" type="none"/>
          </a:ln>
        </p:spPr>
      </p:cxnSp>
      <p:cxnSp>
        <p:nvCxnSpPr>
          <p:cNvPr id="628" name="Google Shape;628;p39"/>
          <p:cNvCxnSpPr/>
          <p:nvPr/>
        </p:nvCxnSpPr>
        <p:spPr>
          <a:xfrm>
            <a:off x="1258550" y="4960363"/>
            <a:ext cx="15478200" cy="12600"/>
          </a:xfrm>
          <a:prstGeom prst="straightConnector1">
            <a:avLst/>
          </a:prstGeom>
          <a:noFill/>
          <a:ln cap="flat" cmpd="sng" w="28575">
            <a:solidFill>
              <a:srgbClr val="FF0000"/>
            </a:solidFill>
            <a:prstDash val="solid"/>
            <a:round/>
            <a:headEnd len="med" w="med" type="none"/>
            <a:tailEnd len="med" w="med" type="none"/>
          </a:ln>
        </p:spPr>
      </p:cxnSp>
      <p:cxnSp>
        <p:nvCxnSpPr>
          <p:cNvPr id="629" name="Google Shape;629;p39"/>
          <p:cNvCxnSpPr/>
          <p:nvPr/>
        </p:nvCxnSpPr>
        <p:spPr>
          <a:xfrm flipH="1" rot="10800000">
            <a:off x="1175475" y="5420325"/>
            <a:ext cx="8190900" cy="22500"/>
          </a:xfrm>
          <a:prstGeom prst="straightConnector1">
            <a:avLst/>
          </a:prstGeom>
          <a:noFill/>
          <a:ln cap="flat" cmpd="sng" w="28575">
            <a:solidFill>
              <a:srgbClr val="FF0000"/>
            </a:solidFill>
            <a:prstDash val="solid"/>
            <a:round/>
            <a:headEnd len="med" w="med" type="none"/>
            <a:tailEnd len="med" w="med" type="none"/>
          </a:ln>
        </p:spPr>
      </p:cxnSp>
      <p:cxnSp>
        <p:nvCxnSpPr>
          <p:cNvPr id="630" name="Google Shape;630;p39"/>
          <p:cNvCxnSpPr/>
          <p:nvPr/>
        </p:nvCxnSpPr>
        <p:spPr>
          <a:xfrm flipH="1" rot="10800000">
            <a:off x="15365900" y="4512950"/>
            <a:ext cx="1393500" cy="11400"/>
          </a:xfrm>
          <a:prstGeom prst="straightConnector1">
            <a:avLst/>
          </a:prstGeom>
          <a:noFill/>
          <a:ln cap="flat" cmpd="sng" w="28575">
            <a:solidFill>
              <a:srgbClr val="FF0000"/>
            </a:solidFill>
            <a:prstDash val="solid"/>
            <a:round/>
            <a:headEnd len="med" w="med" type="none"/>
            <a:tailEnd len="med" w="med" type="none"/>
          </a:ln>
        </p:spPr>
      </p:cxnSp>
      <p:sp>
        <p:nvSpPr>
          <p:cNvPr id="631" name="Google Shape;631;p39"/>
          <p:cNvSpPr txBox="1"/>
          <p:nvPr/>
        </p:nvSpPr>
        <p:spPr>
          <a:xfrm>
            <a:off x="1175475" y="5284100"/>
            <a:ext cx="5874900" cy="2916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US" sz="2900">
                <a:solidFill>
                  <a:schemeClr val="dk1"/>
                </a:solidFill>
                <a:latin typeface="Calibri"/>
                <a:ea typeface="Calibri"/>
                <a:cs typeface="Calibri"/>
                <a:sym typeface="Calibri"/>
              </a:rPr>
              <a:t>List of headings</a:t>
            </a:r>
            <a:endParaRPr b="1"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A. Life on Mars</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B. Is space the future for mankind?</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C. The difficulties of living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D. A successful outcome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E. A distant new world</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F. Imitating life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G. A long journey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H. Only an experiment</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t/>
            </a:r>
            <a:endParaRPr b="1" sz="2900">
              <a:solidFill>
                <a:schemeClr val="dk1"/>
              </a:solidFill>
              <a:latin typeface="Calibri"/>
              <a:ea typeface="Calibri"/>
              <a:cs typeface="Calibri"/>
              <a:sym typeface="Calibri"/>
            </a:endParaRPr>
          </a:p>
        </p:txBody>
      </p:sp>
      <p:sp>
        <p:nvSpPr>
          <p:cNvPr id="632" name="Google Shape;632;p39"/>
          <p:cNvSpPr txBox="1"/>
          <p:nvPr/>
        </p:nvSpPr>
        <p:spPr>
          <a:xfrm>
            <a:off x="8270128" y="5284100"/>
            <a:ext cx="8408400" cy="2916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US" sz="2900">
                <a:solidFill>
                  <a:schemeClr val="dk1"/>
                </a:solidFill>
                <a:latin typeface="Calibri"/>
                <a:ea typeface="Calibri"/>
                <a:cs typeface="Calibri"/>
                <a:sym typeface="Calibri"/>
              </a:rPr>
              <a:t>Danh sách tiêu đề</a:t>
            </a:r>
            <a:endParaRPr b="1"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A. Sự sống trên sao Hỏa</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B. Không gian có phải là tương lai của nhân loại không?</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C. Những khó khăn khi sống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D. Một kết quả thành công</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E. Một thế giới mới xa xôi</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F. Mô phỏng sự sống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G. Một hành trình dài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H. Chỉ là một thí nghiệm</a:t>
            </a:r>
            <a:endParaRPr sz="29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24"/>
                                        </p:tgtEl>
                                        <p:attrNameLst>
                                          <p:attrName>style.visibility</p:attrName>
                                        </p:attrNameLst>
                                      </p:cBhvr>
                                      <p:to>
                                        <p:strVal val="visible"/>
                                      </p:to>
                                    </p:set>
                                    <p:animEffect filter="fade" transition="in">
                                      <p:cBhvr>
                                        <p:cTn dur="500"/>
                                        <p:tgtEl>
                                          <p:spTgt spid="6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cxnSp>
        <p:nvCxnSpPr>
          <p:cNvPr id="638" name="Google Shape;638;p40"/>
          <p:cNvCxnSpPr/>
          <p:nvPr/>
        </p:nvCxnSpPr>
        <p:spPr>
          <a:xfrm flipH="1" rot="10800000">
            <a:off x="3818195" y="1583913"/>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639" name="Google Shape;639;p40"/>
          <p:cNvGrpSpPr/>
          <p:nvPr/>
        </p:nvGrpSpPr>
        <p:grpSpPr>
          <a:xfrm rot="10800000">
            <a:off x="15785084" y="-536938"/>
            <a:ext cx="7681773" cy="4260605"/>
            <a:chOff x="0" y="-38100"/>
            <a:chExt cx="406400" cy="225405"/>
          </a:xfrm>
        </p:grpSpPr>
        <p:sp>
          <p:nvSpPr>
            <p:cNvPr id="640" name="Google Shape;640;p40"/>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641" name="Google Shape;641;p40"/>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42" name="Google Shape;642;p40"/>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643" name="Google Shape;643;p40"/>
          <p:cNvSpPr txBox="1"/>
          <p:nvPr/>
        </p:nvSpPr>
        <p:spPr>
          <a:xfrm>
            <a:off x="1258550" y="680075"/>
            <a:ext cx="15336900" cy="5388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3500">
                <a:solidFill>
                  <a:srgbClr val="018345"/>
                </a:solidFill>
                <a:latin typeface="Montserrat"/>
                <a:ea typeface="Montserrat"/>
                <a:cs typeface="Montserrat"/>
                <a:sym typeface="Montserrat"/>
              </a:rPr>
              <a:t>Bước 3: Chọn đáp án chính xác (Loại trừ các đáp án sai nếu có)</a:t>
            </a:r>
            <a:endParaRPr b="1" sz="3500">
              <a:solidFill>
                <a:srgbClr val="018345"/>
              </a:solidFill>
              <a:latin typeface="Montserrat"/>
              <a:ea typeface="Montserrat"/>
              <a:cs typeface="Montserrat"/>
              <a:sym typeface="Montserrat"/>
            </a:endParaRPr>
          </a:p>
        </p:txBody>
      </p:sp>
      <p:sp>
        <p:nvSpPr>
          <p:cNvPr id="644" name="Google Shape;644;p40"/>
          <p:cNvSpPr txBox="1"/>
          <p:nvPr/>
        </p:nvSpPr>
        <p:spPr>
          <a:xfrm>
            <a:off x="1034900" y="1809025"/>
            <a:ext cx="15784200" cy="3292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2900">
                <a:solidFill>
                  <a:schemeClr val="dk1"/>
                </a:solidFill>
                <a:latin typeface="Calibri"/>
                <a:ea typeface="Calibri"/>
                <a:cs typeface="Calibri"/>
                <a:sym typeface="Calibri"/>
              </a:rPr>
              <a:t>5. In addition to the discomforts of living in a confined space, the astronauts also had to endure the psychological stresses brought about by isolation and boredom. Scientific studies have already shown that extended periods of social isolation can disrupt the normal mechanisms of the body. This can lead to increased levels of stress and higher blood pressure, which, in turn, can create feelings of anxiety and aggression. The astronauts were subject to regular medical tests throughout the experiment and they were under constant observation via a twenty-four hour closed-circuit television system. The tests continued even after the men had completed their mission as the scientists were interested to see how the astronauts would cope with a return to normal life.</a:t>
            </a:r>
            <a:endParaRPr sz="2900">
              <a:solidFill>
                <a:schemeClr val="dk1"/>
              </a:solidFill>
              <a:latin typeface="Calibri"/>
              <a:ea typeface="Calibri"/>
              <a:cs typeface="Calibri"/>
              <a:sym typeface="Calibri"/>
            </a:endParaRPr>
          </a:p>
        </p:txBody>
      </p:sp>
      <p:cxnSp>
        <p:nvCxnSpPr>
          <p:cNvPr id="645" name="Google Shape;645;p40"/>
          <p:cNvCxnSpPr/>
          <p:nvPr/>
        </p:nvCxnSpPr>
        <p:spPr>
          <a:xfrm flipH="1" rot="10800000">
            <a:off x="1175475" y="2789425"/>
            <a:ext cx="9695100" cy="17700"/>
          </a:xfrm>
          <a:prstGeom prst="straightConnector1">
            <a:avLst/>
          </a:prstGeom>
          <a:noFill/>
          <a:ln cap="flat" cmpd="sng" w="28575">
            <a:solidFill>
              <a:srgbClr val="FF0000"/>
            </a:solidFill>
            <a:prstDash val="solid"/>
            <a:round/>
            <a:headEnd len="med" w="med" type="none"/>
            <a:tailEnd len="med" w="med" type="none"/>
          </a:ln>
        </p:spPr>
      </p:cxnSp>
      <p:cxnSp>
        <p:nvCxnSpPr>
          <p:cNvPr id="646" name="Google Shape;646;p40"/>
          <p:cNvCxnSpPr/>
          <p:nvPr/>
        </p:nvCxnSpPr>
        <p:spPr>
          <a:xfrm>
            <a:off x="1404900" y="2313313"/>
            <a:ext cx="15478200" cy="12600"/>
          </a:xfrm>
          <a:prstGeom prst="straightConnector1">
            <a:avLst/>
          </a:prstGeom>
          <a:noFill/>
          <a:ln cap="flat" cmpd="sng" w="28575">
            <a:solidFill>
              <a:srgbClr val="FF0000"/>
            </a:solidFill>
            <a:prstDash val="solid"/>
            <a:round/>
            <a:headEnd len="med" w="med" type="none"/>
            <a:tailEnd len="med" w="med" type="none"/>
          </a:ln>
        </p:spPr>
      </p:cxnSp>
      <p:cxnSp>
        <p:nvCxnSpPr>
          <p:cNvPr id="647" name="Google Shape;647;p40"/>
          <p:cNvCxnSpPr/>
          <p:nvPr/>
        </p:nvCxnSpPr>
        <p:spPr>
          <a:xfrm>
            <a:off x="1258550" y="4960363"/>
            <a:ext cx="15478200" cy="12600"/>
          </a:xfrm>
          <a:prstGeom prst="straightConnector1">
            <a:avLst/>
          </a:prstGeom>
          <a:noFill/>
          <a:ln cap="flat" cmpd="sng" w="28575">
            <a:solidFill>
              <a:srgbClr val="FF0000"/>
            </a:solidFill>
            <a:prstDash val="solid"/>
            <a:round/>
            <a:headEnd len="med" w="med" type="none"/>
            <a:tailEnd len="med" w="med" type="none"/>
          </a:ln>
        </p:spPr>
      </p:cxnSp>
      <p:cxnSp>
        <p:nvCxnSpPr>
          <p:cNvPr id="648" name="Google Shape;648;p40"/>
          <p:cNvCxnSpPr/>
          <p:nvPr/>
        </p:nvCxnSpPr>
        <p:spPr>
          <a:xfrm flipH="1" rot="10800000">
            <a:off x="1175475" y="5420325"/>
            <a:ext cx="8190900" cy="22500"/>
          </a:xfrm>
          <a:prstGeom prst="straightConnector1">
            <a:avLst/>
          </a:prstGeom>
          <a:noFill/>
          <a:ln cap="flat" cmpd="sng" w="28575">
            <a:solidFill>
              <a:srgbClr val="FF0000"/>
            </a:solidFill>
            <a:prstDash val="solid"/>
            <a:round/>
            <a:headEnd len="med" w="med" type="none"/>
            <a:tailEnd len="med" w="med" type="none"/>
          </a:ln>
        </p:spPr>
      </p:cxnSp>
      <p:cxnSp>
        <p:nvCxnSpPr>
          <p:cNvPr id="649" name="Google Shape;649;p40"/>
          <p:cNvCxnSpPr/>
          <p:nvPr/>
        </p:nvCxnSpPr>
        <p:spPr>
          <a:xfrm flipH="1" rot="10800000">
            <a:off x="15365900" y="4512950"/>
            <a:ext cx="1393500" cy="11400"/>
          </a:xfrm>
          <a:prstGeom prst="straightConnector1">
            <a:avLst/>
          </a:prstGeom>
          <a:noFill/>
          <a:ln cap="flat" cmpd="sng" w="28575">
            <a:solidFill>
              <a:srgbClr val="FF0000"/>
            </a:solidFill>
            <a:prstDash val="solid"/>
            <a:round/>
            <a:headEnd len="med" w="med" type="none"/>
            <a:tailEnd len="med" w="med" type="none"/>
          </a:ln>
        </p:spPr>
      </p:cxnSp>
      <p:sp>
        <p:nvSpPr>
          <p:cNvPr id="650" name="Google Shape;650;p40"/>
          <p:cNvSpPr/>
          <p:nvPr/>
        </p:nvSpPr>
        <p:spPr>
          <a:xfrm>
            <a:off x="14967875" y="8767775"/>
            <a:ext cx="1360800" cy="938700"/>
          </a:xfrm>
          <a:prstGeom prst="rightArrow">
            <a:avLst>
              <a:gd fmla="val 50000" name="adj1"/>
              <a:gd fmla="val 50000" name="adj2"/>
            </a:avLst>
          </a:prstGeom>
          <a:solidFill>
            <a:srgbClr val="00BF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000">
                <a:latin typeface="Calibri"/>
                <a:ea typeface="Calibri"/>
                <a:cs typeface="Calibri"/>
                <a:sym typeface="Calibri"/>
              </a:rPr>
              <a:t>5C</a:t>
            </a:r>
            <a:endParaRPr sz="3000">
              <a:latin typeface="Calibri"/>
              <a:ea typeface="Calibri"/>
              <a:cs typeface="Calibri"/>
              <a:sym typeface="Calibri"/>
            </a:endParaRPr>
          </a:p>
        </p:txBody>
      </p:sp>
      <p:sp>
        <p:nvSpPr>
          <p:cNvPr id="651" name="Google Shape;651;p40"/>
          <p:cNvSpPr txBox="1"/>
          <p:nvPr/>
        </p:nvSpPr>
        <p:spPr>
          <a:xfrm>
            <a:off x="1175475" y="5476350"/>
            <a:ext cx="5874900" cy="2916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US" sz="2900">
                <a:solidFill>
                  <a:schemeClr val="dk1"/>
                </a:solidFill>
                <a:latin typeface="Calibri"/>
                <a:ea typeface="Calibri"/>
                <a:cs typeface="Calibri"/>
                <a:sym typeface="Calibri"/>
              </a:rPr>
              <a:t>List of headings</a:t>
            </a:r>
            <a:endParaRPr b="1"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A. Life on Mars</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B. Is space the future for mankind?</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C. The difficulties of living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D. A successful outcome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E. A distant new world</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F. Imitating life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G. A long journey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H. Only an experiment</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t/>
            </a:r>
            <a:endParaRPr b="1" sz="2900">
              <a:solidFill>
                <a:schemeClr val="dk1"/>
              </a:solidFill>
              <a:latin typeface="Calibri"/>
              <a:ea typeface="Calibri"/>
              <a:cs typeface="Calibri"/>
              <a:sym typeface="Calibri"/>
            </a:endParaRPr>
          </a:p>
        </p:txBody>
      </p:sp>
      <p:sp>
        <p:nvSpPr>
          <p:cNvPr id="652" name="Google Shape;652;p40"/>
          <p:cNvSpPr txBox="1"/>
          <p:nvPr/>
        </p:nvSpPr>
        <p:spPr>
          <a:xfrm>
            <a:off x="8270125" y="5476350"/>
            <a:ext cx="8466600" cy="2916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US" sz="2900">
                <a:solidFill>
                  <a:schemeClr val="dk1"/>
                </a:solidFill>
                <a:latin typeface="Calibri"/>
                <a:ea typeface="Calibri"/>
                <a:cs typeface="Calibri"/>
                <a:sym typeface="Calibri"/>
              </a:rPr>
              <a:t>Danh sách tiêu đề</a:t>
            </a:r>
            <a:endParaRPr b="1"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A. Sự sống trên sao Hỏa</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B. Không gian có phải là tương lai của nhân loại không?</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C. Những khó khăn khi sống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D. Một kết quả thành công</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E. Một thế giới mới xa xôi</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F. Mô phỏng sự sống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G. Một hành trình dài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H. Chỉ là một thí nghiệm</a:t>
            </a:r>
            <a:endParaRPr sz="29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43"/>
                                        </p:tgtEl>
                                        <p:attrNameLst>
                                          <p:attrName>style.visibility</p:attrName>
                                        </p:attrNameLst>
                                      </p:cBhvr>
                                      <p:to>
                                        <p:strVal val="visible"/>
                                      </p:to>
                                    </p:set>
                                    <p:animEffect filter="fade" transition="in">
                                      <p:cBhvr>
                                        <p:cTn dur="500"/>
                                        <p:tgtEl>
                                          <p:spTgt spid="6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7" name="Shape 657"/>
        <p:cNvGrpSpPr/>
        <p:nvPr/>
      </p:nvGrpSpPr>
      <p:grpSpPr>
        <a:xfrm>
          <a:off x="0" y="0"/>
          <a:ext cx="0" cy="0"/>
          <a:chOff x="0" y="0"/>
          <a:chExt cx="0" cy="0"/>
        </a:xfrm>
      </p:grpSpPr>
      <p:cxnSp>
        <p:nvCxnSpPr>
          <p:cNvPr id="658" name="Google Shape;658;p41"/>
          <p:cNvCxnSpPr/>
          <p:nvPr/>
        </p:nvCxnSpPr>
        <p:spPr>
          <a:xfrm>
            <a:off x="7537495" y="1580138"/>
            <a:ext cx="9743700" cy="7500"/>
          </a:xfrm>
          <a:prstGeom prst="straightConnector1">
            <a:avLst/>
          </a:prstGeom>
          <a:noFill/>
          <a:ln cap="flat" cmpd="sng" w="38100">
            <a:solidFill>
              <a:srgbClr val="018345"/>
            </a:solidFill>
            <a:prstDash val="solid"/>
            <a:round/>
            <a:headEnd len="sm" w="sm" type="none"/>
            <a:tailEnd len="sm" w="sm" type="none"/>
          </a:ln>
        </p:spPr>
      </p:cxnSp>
      <p:grpSp>
        <p:nvGrpSpPr>
          <p:cNvPr id="659" name="Google Shape;659;p41"/>
          <p:cNvGrpSpPr/>
          <p:nvPr/>
        </p:nvGrpSpPr>
        <p:grpSpPr>
          <a:xfrm rot="10800000">
            <a:off x="15785084" y="-536938"/>
            <a:ext cx="7681773" cy="4260605"/>
            <a:chOff x="0" y="-38100"/>
            <a:chExt cx="406400" cy="225405"/>
          </a:xfrm>
        </p:grpSpPr>
        <p:sp>
          <p:nvSpPr>
            <p:cNvPr id="660" name="Google Shape;660;p41"/>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661" name="Google Shape;661;p41"/>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62" name="Google Shape;662;p41"/>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663" name="Google Shape;663;p41"/>
          <p:cNvSpPr txBox="1"/>
          <p:nvPr/>
        </p:nvSpPr>
        <p:spPr>
          <a:xfrm>
            <a:off x="4977850" y="657400"/>
            <a:ext cx="15336900" cy="5388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3500">
                <a:solidFill>
                  <a:srgbClr val="018345"/>
                </a:solidFill>
                <a:latin typeface="Montserrat"/>
                <a:ea typeface="Montserrat"/>
                <a:cs typeface="Montserrat"/>
                <a:sym typeface="Montserrat"/>
              </a:rPr>
              <a:t>Bước 4: Học từ vựng (Khi ôn luyện)</a:t>
            </a:r>
            <a:endParaRPr b="1" sz="3500">
              <a:solidFill>
                <a:srgbClr val="018345"/>
              </a:solidFill>
              <a:latin typeface="Montserrat"/>
              <a:ea typeface="Montserrat"/>
              <a:cs typeface="Montserrat"/>
              <a:sym typeface="Montserrat"/>
            </a:endParaRPr>
          </a:p>
        </p:txBody>
      </p:sp>
      <p:sp>
        <p:nvSpPr>
          <p:cNvPr id="664" name="Google Shape;664;p41"/>
          <p:cNvSpPr txBox="1"/>
          <p:nvPr/>
        </p:nvSpPr>
        <p:spPr>
          <a:xfrm>
            <a:off x="7537500" y="2456275"/>
            <a:ext cx="9290100" cy="72018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1" lang="en-US" sz="3400">
                <a:solidFill>
                  <a:schemeClr val="dk1"/>
                </a:solidFill>
                <a:latin typeface="Calibri"/>
                <a:ea typeface="Calibri"/>
                <a:cs typeface="Calibri"/>
                <a:sym typeface="Calibri"/>
              </a:rPr>
              <a:t>Từ vựng</a:t>
            </a:r>
            <a:endParaRPr b="1"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Clr>
                <a:schemeClr val="dk1"/>
              </a:buClr>
              <a:buSzPts val="1100"/>
              <a:buFont typeface="Arial"/>
              <a:buNone/>
            </a:pPr>
            <a:r>
              <a:rPr lang="en-US" sz="3400">
                <a:solidFill>
                  <a:schemeClr val="dk1"/>
                </a:solidFill>
                <a:latin typeface="Calibri"/>
                <a:ea typeface="Calibri"/>
                <a:cs typeface="Calibri"/>
                <a:sym typeface="Calibri"/>
              </a:rPr>
              <a:t>in addition: ngoài ra</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Clr>
                <a:schemeClr val="dk1"/>
              </a:buClr>
              <a:buSzPts val="1100"/>
              <a:buFont typeface="Arial"/>
              <a:buNone/>
            </a:pPr>
            <a:r>
              <a:rPr lang="en-US" sz="3400">
                <a:solidFill>
                  <a:schemeClr val="dk1"/>
                </a:solidFill>
                <a:latin typeface="Calibri"/>
                <a:ea typeface="Calibri"/>
                <a:cs typeface="Calibri"/>
                <a:sym typeface="Calibri"/>
              </a:rPr>
              <a:t>discomfort of living: sự khó chịu trong sinh hoạt</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Clr>
                <a:schemeClr val="dk1"/>
              </a:buClr>
              <a:buSzPts val="1100"/>
              <a:buFont typeface="Arial"/>
              <a:buNone/>
            </a:pPr>
            <a:r>
              <a:rPr lang="en-US" sz="3400">
                <a:solidFill>
                  <a:schemeClr val="dk1"/>
                </a:solidFill>
                <a:latin typeface="Calibri"/>
                <a:ea typeface="Calibri"/>
                <a:cs typeface="Calibri"/>
                <a:sym typeface="Calibri"/>
              </a:rPr>
              <a:t>confined space: không gian hạn chế</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Clr>
                <a:schemeClr val="dk1"/>
              </a:buClr>
              <a:buSzPts val="1100"/>
              <a:buFont typeface="Arial"/>
              <a:buNone/>
            </a:pPr>
            <a:r>
              <a:rPr lang="en-US" sz="3400">
                <a:solidFill>
                  <a:schemeClr val="dk1"/>
                </a:solidFill>
                <a:latin typeface="Calibri"/>
                <a:ea typeface="Calibri"/>
                <a:cs typeface="Calibri"/>
                <a:sym typeface="Calibri"/>
              </a:rPr>
              <a:t>psychological: tâm lý</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Clr>
                <a:schemeClr val="dk1"/>
              </a:buClr>
              <a:buSzPts val="1100"/>
              <a:buFont typeface="Arial"/>
              <a:buNone/>
            </a:pPr>
            <a:r>
              <a:rPr lang="en-US" sz="3400">
                <a:solidFill>
                  <a:schemeClr val="dk1"/>
                </a:solidFill>
                <a:latin typeface="Calibri"/>
                <a:ea typeface="Calibri"/>
                <a:cs typeface="Calibri"/>
                <a:sym typeface="Calibri"/>
              </a:rPr>
              <a:t>isolation: sự cô lập</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Clr>
                <a:schemeClr val="dk1"/>
              </a:buClr>
              <a:buSzPts val="1100"/>
              <a:buFont typeface="Arial"/>
              <a:buNone/>
            </a:pPr>
            <a:r>
              <a:rPr lang="en-US" sz="3400">
                <a:solidFill>
                  <a:schemeClr val="dk1"/>
                </a:solidFill>
                <a:latin typeface="Calibri"/>
                <a:ea typeface="Calibri"/>
                <a:cs typeface="Calibri"/>
                <a:sym typeface="Calibri"/>
              </a:rPr>
              <a:t>boredom: sự buồn chán</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Clr>
                <a:schemeClr val="dk1"/>
              </a:buClr>
              <a:buSzPts val="1100"/>
              <a:buFont typeface="Arial"/>
              <a:buNone/>
            </a:pPr>
            <a:r>
              <a:rPr lang="en-US" sz="3400">
                <a:solidFill>
                  <a:schemeClr val="dk1"/>
                </a:solidFill>
                <a:latin typeface="Calibri"/>
                <a:ea typeface="Calibri"/>
                <a:cs typeface="Calibri"/>
                <a:sym typeface="Calibri"/>
              </a:rPr>
              <a:t>complete mission: hoàn thành nhiệm vụ</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400">
                <a:solidFill>
                  <a:schemeClr val="dk1"/>
                </a:solidFill>
                <a:latin typeface="Calibri"/>
                <a:ea typeface="Calibri"/>
                <a:cs typeface="Calibri"/>
                <a:sym typeface="Calibri"/>
              </a:rPr>
              <a:t>astronauts: các phi hành gia</a:t>
            </a:r>
            <a:endParaRPr sz="34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63"/>
                                        </p:tgtEl>
                                        <p:attrNameLst>
                                          <p:attrName>style.visibility</p:attrName>
                                        </p:attrNameLst>
                                      </p:cBhvr>
                                      <p:to>
                                        <p:strVal val="visible"/>
                                      </p:to>
                                    </p:set>
                                    <p:animEffect filter="fade" transition="in">
                                      <p:cBhvr>
                                        <p:cTn dur="500"/>
                                        <p:tgtEl>
                                          <p:spTgt spid="6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cxnSp>
        <p:nvCxnSpPr>
          <p:cNvPr id="669" name="Google Shape;669;p42"/>
          <p:cNvCxnSpPr/>
          <p:nvPr/>
        </p:nvCxnSpPr>
        <p:spPr>
          <a:xfrm>
            <a:off x="6400799" y="2235185"/>
            <a:ext cx="9982200" cy="0"/>
          </a:xfrm>
          <a:prstGeom prst="straightConnector1">
            <a:avLst/>
          </a:prstGeom>
          <a:noFill/>
          <a:ln cap="flat" cmpd="sng" w="38100">
            <a:solidFill>
              <a:srgbClr val="018345"/>
            </a:solidFill>
            <a:prstDash val="solid"/>
            <a:round/>
            <a:headEnd len="sm" w="sm" type="none"/>
            <a:tailEnd len="sm" w="sm" type="none"/>
          </a:ln>
        </p:spPr>
      </p:cxnSp>
      <p:cxnSp>
        <p:nvCxnSpPr>
          <p:cNvPr id="670" name="Google Shape;670;p42"/>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671" name="Google Shape;671;p42"/>
          <p:cNvGrpSpPr/>
          <p:nvPr/>
        </p:nvGrpSpPr>
        <p:grpSpPr>
          <a:xfrm rot="10800000">
            <a:off x="15044545" y="-741517"/>
            <a:ext cx="7681773" cy="4260605"/>
            <a:chOff x="0" y="-38100"/>
            <a:chExt cx="406400" cy="225405"/>
          </a:xfrm>
        </p:grpSpPr>
        <p:sp>
          <p:nvSpPr>
            <p:cNvPr id="672" name="Google Shape;672;p42"/>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673" name="Google Shape;673;p42"/>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674" name="Google Shape;674;p42"/>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675" name="Google Shape;675;p42"/>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676" name="Google Shape;676;p42"/>
          <p:cNvSpPr txBox="1"/>
          <p:nvPr/>
        </p:nvSpPr>
        <p:spPr>
          <a:xfrm>
            <a:off x="5232390" y="2564021"/>
            <a:ext cx="11760300" cy="831300"/>
          </a:xfrm>
          <a:prstGeom prst="rect">
            <a:avLst/>
          </a:prstGeom>
          <a:noFill/>
          <a:ln>
            <a:noFill/>
          </a:ln>
        </p:spPr>
        <p:txBody>
          <a:bodyPr anchorCtr="0" anchor="t" bIns="0" lIns="0" spcFirstLastPara="1" rIns="0" wrap="square" tIns="0">
            <a:spAutoFit/>
          </a:bodyPr>
          <a:lstStyle/>
          <a:p>
            <a:pPr indent="0" lvl="0" marL="0" marR="0" rtl="0" algn="ctr">
              <a:lnSpc>
                <a:spcPct val="180092"/>
              </a:lnSpc>
              <a:spcBef>
                <a:spcPts val="0"/>
              </a:spcBef>
              <a:spcAft>
                <a:spcPts val="0"/>
              </a:spcAft>
              <a:buNone/>
            </a:pPr>
            <a:r>
              <a:rPr b="1" lang="en-US" sz="5400">
                <a:solidFill>
                  <a:srgbClr val="018345"/>
                </a:solidFill>
                <a:latin typeface="Montserrat"/>
                <a:ea typeface="Montserrat"/>
                <a:cs typeface="Montserrat"/>
                <a:sym typeface="Montserrat"/>
              </a:rPr>
              <a:t>ĐOẠN 6</a:t>
            </a:r>
            <a:endParaRPr/>
          </a:p>
        </p:txBody>
      </p:sp>
      <p:sp>
        <p:nvSpPr>
          <p:cNvPr id="677" name="Google Shape;677;p42"/>
          <p:cNvSpPr txBox="1"/>
          <p:nvPr/>
        </p:nvSpPr>
        <p:spPr>
          <a:xfrm>
            <a:off x="6400800" y="1111738"/>
            <a:ext cx="9982200" cy="615600"/>
          </a:xfrm>
          <a:prstGeom prst="rect">
            <a:avLst/>
          </a:prstGeom>
          <a:noFill/>
          <a:ln>
            <a:noFill/>
          </a:ln>
        </p:spPr>
        <p:txBody>
          <a:bodyPr anchorCtr="0" anchor="t" bIns="0" lIns="0" spcFirstLastPara="1" rIns="0" wrap="square" tIns="0">
            <a:spAutoFit/>
          </a:bodyPr>
          <a:lstStyle/>
          <a:p>
            <a:pPr indent="0" lvl="0" marL="0" rtl="0" algn="ctr">
              <a:lnSpc>
                <a:spcPct val="119998"/>
              </a:lnSpc>
              <a:spcBef>
                <a:spcPts val="0"/>
              </a:spcBef>
              <a:spcAft>
                <a:spcPts val="0"/>
              </a:spcAft>
              <a:buSzPts val="1100"/>
              <a:buNone/>
            </a:pPr>
            <a:r>
              <a:rPr b="1" lang="en-US" sz="4000">
                <a:solidFill>
                  <a:srgbClr val="018345"/>
                </a:solidFill>
                <a:latin typeface="Montserrat"/>
                <a:ea typeface="Montserrat"/>
                <a:cs typeface="Montserrat"/>
                <a:sym typeface="Montserrat"/>
              </a:rPr>
              <a:t>Lặp lại các bước với các đoạn còn lại</a:t>
            </a:r>
            <a:endParaRPr b="1" sz="4000">
              <a:solidFill>
                <a:srgbClr val="018345"/>
              </a:solidFill>
              <a:latin typeface="Montserrat"/>
              <a:ea typeface="Montserrat"/>
              <a:cs typeface="Montserrat"/>
              <a:sym typeface="Montserrat"/>
            </a:endParaRPr>
          </a:p>
        </p:txBody>
      </p:sp>
      <p:sp>
        <p:nvSpPr>
          <p:cNvPr id="678" name="Google Shape;678;p42"/>
          <p:cNvSpPr txBox="1"/>
          <p:nvPr/>
        </p:nvSpPr>
        <p:spPr>
          <a:xfrm>
            <a:off x="-10653311" y="9715322"/>
            <a:ext cx="13923300" cy="288900"/>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679" name="Google Shape;679;p42"/>
          <p:cNvGrpSpPr/>
          <p:nvPr/>
        </p:nvGrpSpPr>
        <p:grpSpPr>
          <a:xfrm>
            <a:off x="-2718010" y="9274530"/>
            <a:ext cx="7950378" cy="1707223"/>
            <a:chOff x="0" y="-384760"/>
            <a:chExt cx="10600504" cy="2276297"/>
          </a:xfrm>
        </p:grpSpPr>
        <p:grpSp>
          <p:nvGrpSpPr>
            <p:cNvPr id="680" name="Google Shape;680;p42"/>
            <p:cNvGrpSpPr/>
            <p:nvPr/>
          </p:nvGrpSpPr>
          <p:grpSpPr>
            <a:xfrm>
              <a:off x="0" y="-384760"/>
              <a:ext cx="10600504" cy="2276297"/>
              <a:chOff x="0" y="-38100"/>
              <a:chExt cx="1049690" cy="225405"/>
            </a:xfrm>
          </p:grpSpPr>
          <p:sp>
            <p:nvSpPr>
              <p:cNvPr id="681" name="Google Shape;681;p42"/>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682" name="Google Shape;682;p42"/>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83" name="Google Shape;683;p42"/>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84" name="Google Shape;684;p42"/>
          <p:cNvSpPr/>
          <p:nvPr/>
        </p:nvSpPr>
        <p:spPr>
          <a:xfrm>
            <a:off x="9563099" y="4749873"/>
            <a:ext cx="3280418" cy="3297633"/>
          </a:xfrm>
          <a:custGeom>
            <a:rect b="b" l="l" r="r" t="t"/>
            <a:pathLst>
              <a:path extrusionOk="0" h="4310632" w="4025053">
                <a:moveTo>
                  <a:pt x="0" y="0"/>
                </a:moveTo>
                <a:lnTo>
                  <a:pt x="4025053" y="0"/>
                </a:lnTo>
                <a:lnTo>
                  <a:pt x="4025053" y="4310632"/>
                </a:lnTo>
                <a:lnTo>
                  <a:pt x="0" y="4310632"/>
                </a:lnTo>
                <a:lnTo>
                  <a:pt x="0" y="0"/>
                </a:lnTo>
                <a:close/>
              </a:path>
            </a:pathLst>
          </a:custGeom>
          <a:blipFill rotWithShape="1">
            <a:blip r:embed="rId5">
              <a:alphaModFix/>
            </a:blip>
            <a:stretch>
              <a:fillRect b="0" l="0" r="0" t="0"/>
            </a:stretch>
          </a:blip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677"/>
                                        </p:tgtEl>
                                        <p:attrNameLst>
                                          <p:attrName>style.visibility</p:attrName>
                                        </p:attrNameLst>
                                      </p:cBhvr>
                                      <p:to>
                                        <p:strVal val="visible"/>
                                      </p:to>
                                    </p:set>
                                    <p:anim calcmode="lin" valueType="num">
                                      <p:cBhvr additive="base">
                                        <p:cTn dur="500"/>
                                        <p:tgtEl>
                                          <p:spTgt spid="677"/>
                                        </p:tgtEl>
                                        <p:attrNameLst>
                                          <p:attrName>ppt_w</p:attrName>
                                        </p:attrNameLst>
                                      </p:cBhvr>
                                      <p:tavLst>
                                        <p:tav fmla="" tm="0">
                                          <p:val>
                                            <p:strVal val="0"/>
                                          </p:val>
                                        </p:tav>
                                        <p:tav fmla="" tm="100000">
                                          <p:val>
                                            <p:strVal val="#ppt_w"/>
                                          </p:val>
                                        </p:tav>
                                      </p:tavLst>
                                    </p:anim>
                                    <p:anim calcmode="lin" valueType="num">
                                      <p:cBhvr additive="base">
                                        <p:cTn dur="500"/>
                                        <p:tgtEl>
                                          <p:spTgt spid="677"/>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676"/>
                                        </p:tgtEl>
                                        <p:attrNameLst>
                                          <p:attrName>style.visibility</p:attrName>
                                        </p:attrNameLst>
                                      </p:cBhvr>
                                      <p:to>
                                        <p:strVal val="visible"/>
                                      </p:to>
                                    </p:set>
                                    <p:anim calcmode="lin" valueType="num">
                                      <p:cBhvr additive="base">
                                        <p:cTn dur="500"/>
                                        <p:tgtEl>
                                          <p:spTgt spid="676"/>
                                        </p:tgtEl>
                                        <p:attrNameLst>
                                          <p:attrName>ppt_w</p:attrName>
                                        </p:attrNameLst>
                                      </p:cBhvr>
                                      <p:tavLst>
                                        <p:tav fmla="" tm="0">
                                          <p:val>
                                            <p:strVal val="0"/>
                                          </p:val>
                                        </p:tav>
                                        <p:tav fmla="" tm="100000">
                                          <p:val>
                                            <p:strVal val="#ppt_w"/>
                                          </p:val>
                                        </p:tav>
                                      </p:tavLst>
                                    </p:anim>
                                    <p:anim calcmode="lin" valueType="num">
                                      <p:cBhvr additive="base">
                                        <p:cTn dur="500"/>
                                        <p:tgtEl>
                                          <p:spTgt spid="676"/>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cxnSp>
        <p:nvCxnSpPr>
          <p:cNvPr id="690" name="Google Shape;690;p43"/>
          <p:cNvCxnSpPr/>
          <p:nvPr/>
        </p:nvCxnSpPr>
        <p:spPr>
          <a:xfrm flipH="1" rot="10800000">
            <a:off x="3818195" y="1583913"/>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691" name="Google Shape;691;p43"/>
          <p:cNvGrpSpPr/>
          <p:nvPr/>
        </p:nvGrpSpPr>
        <p:grpSpPr>
          <a:xfrm rot="10800000">
            <a:off x="15785084" y="-536938"/>
            <a:ext cx="7681773" cy="4260605"/>
            <a:chOff x="0" y="-38100"/>
            <a:chExt cx="406400" cy="225405"/>
          </a:xfrm>
        </p:grpSpPr>
        <p:sp>
          <p:nvSpPr>
            <p:cNvPr id="692" name="Google Shape;692;p43"/>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693" name="Google Shape;693;p43"/>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694" name="Google Shape;694;p43"/>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695" name="Google Shape;695;p43"/>
          <p:cNvSpPr txBox="1"/>
          <p:nvPr/>
        </p:nvSpPr>
        <p:spPr>
          <a:xfrm>
            <a:off x="1258550" y="680075"/>
            <a:ext cx="15336900" cy="5388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3500">
                <a:solidFill>
                  <a:srgbClr val="018345"/>
                </a:solidFill>
                <a:latin typeface="Montserrat"/>
                <a:ea typeface="Montserrat"/>
                <a:cs typeface="Montserrat"/>
                <a:sym typeface="Montserrat"/>
              </a:rPr>
              <a:t>Bước 2: Đọc từng đoạn để hiểu nội dung</a:t>
            </a:r>
            <a:endParaRPr b="1" sz="3500">
              <a:solidFill>
                <a:srgbClr val="018345"/>
              </a:solidFill>
              <a:latin typeface="Montserrat"/>
              <a:ea typeface="Montserrat"/>
              <a:cs typeface="Montserrat"/>
              <a:sym typeface="Montserrat"/>
            </a:endParaRPr>
          </a:p>
        </p:txBody>
      </p:sp>
      <p:sp>
        <p:nvSpPr>
          <p:cNvPr id="696" name="Google Shape;696;p43"/>
          <p:cNvSpPr txBox="1"/>
          <p:nvPr/>
        </p:nvSpPr>
        <p:spPr>
          <a:xfrm>
            <a:off x="1034900" y="1809025"/>
            <a:ext cx="15784200" cy="3292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2900">
                <a:solidFill>
                  <a:schemeClr val="dk1"/>
                </a:solidFill>
                <a:latin typeface="Calibri"/>
                <a:ea typeface="Calibri"/>
                <a:cs typeface="Calibri"/>
                <a:sym typeface="Calibri"/>
              </a:rPr>
              <a:t>6. The data collected by the experiment is further evidence that human beings are capable of overcoming the pressures of long space flight that will be necessary if future exploration of planets is to be feasible. Although there is resistance in some quarters to investment in space exploration, some scientists believe that our future lies in the stars. With the world's population exceeding seven billion and showing no sign of slowing down, future generations may be forced to seek out new worlds beyond our own increasingly overcrowded planet.</a:t>
            </a:r>
            <a:endParaRPr sz="2900">
              <a:solidFill>
                <a:schemeClr val="dk1"/>
              </a:solidFill>
              <a:latin typeface="Calibri"/>
              <a:ea typeface="Calibri"/>
              <a:cs typeface="Calibri"/>
              <a:sym typeface="Calibri"/>
            </a:endParaRPr>
          </a:p>
        </p:txBody>
      </p:sp>
      <p:cxnSp>
        <p:nvCxnSpPr>
          <p:cNvPr id="697" name="Google Shape;697;p43"/>
          <p:cNvCxnSpPr/>
          <p:nvPr/>
        </p:nvCxnSpPr>
        <p:spPr>
          <a:xfrm flipH="1" rot="10800000">
            <a:off x="1175475" y="3207825"/>
            <a:ext cx="1727400" cy="17700"/>
          </a:xfrm>
          <a:prstGeom prst="straightConnector1">
            <a:avLst/>
          </a:prstGeom>
          <a:noFill/>
          <a:ln cap="flat" cmpd="sng" w="28575">
            <a:solidFill>
              <a:srgbClr val="FF0000"/>
            </a:solidFill>
            <a:prstDash val="solid"/>
            <a:round/>
            <a:headEnd len="med" w="med" type="none"/>
            <a:tailEnd len="med" w="med" type="none"/>
          </a:ln>
        </p:spPr>
      </p:cxnSp>
      <p:cxnSp>
        <p:nvCxnSpPr>
          <p:cNvPr id="698" name="Google Shape;698;p43"/>
          <p:cNvCxnSpPr/>
          <p:nvPr/>
        </p:nvCxnSpPr>
        <p:spPr>
          <a:xfrm>
            <a:off x="1404900" y="2313313"/>
            <a:ext cx="15478200" cy="12600"/>
          </a:xfrm>
          <a:prstGeom prst="straightConnector1">
            <a:avLst/>
          </a:prstGeom>
          <a:noFill/>
          <a:ln cap="flat" cmpd="sng" w="28575">
            <a:solidFill>
              <a:srgbClr val="FF0000"/>
            </a:solidFill>
            <a:prstDash val="solid"/>
            <a:round/>
            <a:headEnd len="med" w="med" type="none"/>
            <a:tailEnd len="med" w="med" type="none"/>
          </a:ln>
        </p:spPr>
      </p:cxnSp>
      <p:cxnSp>
        <p:nvCxnSpPr>
          <p:cNvPr id="699" name="Google Shape;699;p43"/>
          <p:cNvCxnSpPr/>
          <p:nvPr/>
        </p:nvCxnSpPr>
        <p:spPr>
          <a:xfrm>
            <a:off x="1187900" y="4107413"/>
            <a:ext cx="15478200" cy="12600"/>
          </a:xfrm>
          <a:prstGeom prst="straightConnector1">
            <a:avLst/>
          </a:prstGeom>
          <a:noFill/>
          <a:ln cap="flat" cmpd="sng" w="28575">
            <a:solidFill>
              <a:srgbClr val="FF0000"/>
            </a:solidFill>
            <a:prstDash val="solid"/>
            <a:round/>
            <a:headEnd len="med" w="med" type="none"/>
            <a:tailEnd len="med" w="med" type="none"/>
          </a:ln>
        </p:spPr>
      </p:cxnSp>
      <p:cxnSp>
        <p:nvCxnSpPr>
          <p:cNvPr id="700" name="Google Shape;700;p43"/>
          <p:cNvCxnSpPr/>
          <p:nvPr/>
        </p:nvCxnSpPr>
        <p:spPr>
          <a:xfrm flipH="1" rot="10800000">
            <a:off x="1258550" y="4581225"/>
            <a:ext cx="6089400" cy="22500"/>
          </a:xfrm>
          <a:prstGeom prst="straightConnector1">
            <a:avLst/>
          </a:prstGeom>
          <a:noFill/>
          <a:ln cap="flat" cmpd="sng" w="28575">
            <a:solidFill>
              <a:srgbClr val="FF0000"/>
            </a:solidFill>
            <a:prstDash val="solid"/>
            <a:round/>
            <a:headEnd len="med" w="med" type="none"/>
            <a:tailEnd len="med" w="med" type="none"/>
          </a:ln>
        </p:spPr>
      </p:cxnSp>
      <p:cxnSp>
        <p:nvCxnSpPr>
          <p:cNvPr id="701" name="Google Shape;701;p43"/>
          <p:cNvCxnSpPr/>
          <p:nvPr/>
        </p:nvCxnSpPr>
        <p:spPr>
          <a:xfrm>
            <a:off x="1187900" y="2760563"/>
            <a:ext cx="15478200" cy="12600"/>
          </a:xfrm>
          <a:prstGeom prst="straightConnector1">
            <a:avLst/>
          </a:prstGeom>
          <a:noFill/>
          <a:ln cap="flat" cmpd="sng" w="28575">
            <a:solidFill>
              <a:srgbClr val="FF0000"/>
            </a:solidFill>
            <a:prstDash val="solid"/>
            <a:round/>
            <a:headEnd len="med" w="med" type="none"/>
            <a:tailEnd len="med" w="med" type="none"/>
          </a:ln>
        </p:spPr>
      </p:cxnSp>
      <p:cxnSp>
        <p:nvCxnSpPr>
          <p:cNvPr id="702" name="Google Shape;702;p43"/>
          <p:cNvCxnSpPr/>
          <p:nvPr/>
        </p:nvCxnSpPr>
        <p:spPr>
          <a:xfrm>
            <a:off x="8870600" y="3648638"/>
            <a:ext cx="7795500" cy="18300"/>
          </a:xfrm>
          <a:prstGeom prst="straightConnector1">
            <a:avLst/>
          </a:prstGeom>
          <a:noFill/>
          <a:ln cap="flat" cmpd="sng" w="28575">
            <a:solidFill>
              <a:srgbClr val="FF0000"/>
            </a:solidFill>
            <a:prstDash val="solid"/>
            <a:round/>
            <a:headEnd len="med" w="med" type="none"/>
            <a:tailEnd len="med" w="med" type="none"/>
          </a:ln>
        </p:spPr>
      </p:cxnSp>
      <p:sp>
        <p:nvSpPr>
          <p:cNvPr id="703" name="Google Shape;703;p43"/>
          <p:cNvSpPr txBox="1"/>
          <p:nvPr/>
        </p:nvSpPr>
        <p:spPr>
          <a:xfrm>
            <a:off x="1175475" y="5284100"/>
            <a:ext cx="5874900" cy="2916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US" sz="2900">
                <a:solidFill>
                  <a:schemeClr val="dk1"/>
                </a:solidFill>
                <a:latin typeface="Calibri"/>
                <a:ea typeface="Calibri"/>
                <a:cs typeface="Calibri"/>
                <a:sym typeface="Calibri"/>
              </a:rPr>
              <a:t>List of headings</a:t>
            </a:r>
            <a:endParaRPr b="1"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A. Life on Mars</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B. Is space the future for mankind?</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C. The difficulties of living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D. A successful outcome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E. A distant new world</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F. Imitating life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G. A long journey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H. Only an experiment</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t/>
            </a:r>
            <a:endParaRPr b="1" sz="2900">
              <a:solidFill>
                <a:schemeClr val="dk1"/>
              </a:solidFill>
              <a:latin typeface="Calibri"/>
              <a:ea typeface="Calibri"/>
              <a:cs typeface="Calibri"/>
              <a:sym typeface="Calibri"/>
            </a:endParaRPr>
          </a:p>
        </p:txBody>
      </p:sp>
      <p:sp>
        <p:nvSpPr>
          <p:cNvPr id="704" name="Google Shape;704;p43"/>
          <p:cNvSpPr txBox="1"/>
          <p:nvPr/>
        </p:nvSpPr>
        <p:spPr>
          <a:xfrm>
            <a:off x="8270128" y="5284100"/>
            <a:ext cx="8408400" cy="2916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US" sz="2900">
                <a:solidFill>
                  <a:schemeClr val="dk1"/>
                </a:solidFill>
                <a:latin typeface="Calibri"/>
                <a:ea typeface="Calibri"/>
                <a:cs typeface="Calibri"/>
                <a:sym typeface="Calibri"/>
              </a:rPr>
              <a:t>Danh sách tiêu đề</a:t>
            </a:r>
            <a:endParaRPr b="1"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A. Sự sống trên sao Hỏa</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B. Không gian có phải là tương lai của nhân loại không?</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C. Những khó khăn khi sống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D. Một kết quả thành công</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E. Một thế giới mới xa xôi</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F. Mô phỏng sự sống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G. Một hành trình dài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H. Chỉ là một thí nghiệm</a:t>
            </a:r>
            <a:endParaRPr sz="29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95"/>
                                        </p:tgtEl>
                                        <p:attrNameLst>
                                          <p:attrName>style.visibility</p:attrName>
                                        </p:attrNameLst>
                                      </p:cBhvr>
                                      <p:to>
                                        <p:strVal val="visible"/>
                                      </p:to>
                                    </p:set>
                                    <p:animEffect filter="fade" transition="in">
                                      <p:cBhvr>
                                        <p:cTn dur="500"/>
                                        <p:tgtEl>
                                          <p:spTgt spid="6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cxnSp>
        <p:nvCxnSpPr>
          <p:cNvPr id="710" name="Google Shape;710;p44"/>
          <p:cNvCxnSpPr/>
          <p:nvPr/>
        </p:nvCxnSpPr>
        <p:spPr>
          <a:xfrm flipH="1" rot="10800000">
            <a:off x="3818195" y="1583913"/>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711" name="Google Shape;711;p44"/>
          <p:cNvGrpSpPr/>
          <p:nvPr/>
        </p:nvGrpSpPr>
        <p:grpSpPr>
          <a:xfrm rot="10800000">
            <a:off x="15785084" y="-536938"/>
            <a:ext cx="7681773" cy="4260605"/>
            <a:chOff x="0" y="-38100"/>
            <a:chExt cx="406400" cy="225405"/>
          </a:xfrm>
        </p:grpSpPr>
        <p:sp>
          <p:nvSpPr>
            <p:cNvPr id="712" name="Google Shape;712;p44"/>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713" name="Google Shape;713;p44"/>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14" name="Google Shape;714;p44"/>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715" name="Google Shape;715;p44"/>
          <p:cNvSpPr txBox="1"/>
          <p:nvPr/>
        </p:nvSpPr>
        <p:spPr>
          <a:xfrm>
            <a:off x="1258550" y="680075"/>
            <a:ext cx="15336900" cy="5388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3500">
                <a:solidFill>
                  <a:srgbClr val="018345"/>
                </a:solidFill>
                <a:latin typeface="Montserrat"/>
                <a:ea typeface="Montserrat"/>
                <a:cs typeface="Montserrat"/>
                <a:sym typeface="Montserrat"/>
              </a:rPr>
              <a:t>Bước 3: Chọn đáp án chính xác (Loại trừ các đáp án sai nếu có)</a:t>
            </a:r>
            <a:endParaRPr b="1" sz="3500">
              <a:solidFill>
                <a:srgbClr val="018345"/>
              </a:solidFill>
              <a:latin typeface="Montserrat"/>
              <a:ea typeface="Montserrat"/>
              <a:cs typeface="Montserrat"/>
              <a:sym typeface="Montserrat"/>
            </a:endParaRPr>
          </a:p>
        </p:txBody>
      </p:sp>
      <p:sp>
        <p:nvSpPr>
          <p:cNvPr id="716" name="Google Shape;716;p44"/>
          <p:cNvSpPr txBox="1"/>
          <p:nvPr/>
        </p:nvSpPr>
        <p:spPr>
          <a:xfrm>
            <a:off x="1034900" y="1809025"/>
            <a:ext cx="15784200" cy="3292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2900">
                <a:solidFill>
                  <a:schemeClr val="dk1"/>
                </a:solidFill>
                <a:latin typeface="Calibri"/>
                <a:ea typeface="Calibri"/>
                <a:cs typeface="Calibri"/>
                <a:sym typeface="Calibri"/>
              </a:rPr>
              <a:t>6. The data collected by the experiment is further evidence that human beings are capable of overcoming the pressures of long space flight that will be necessary if future exploration of planets is to be feasible. Although there is resistance in some quarters to investment in space exploration, some scientists believe that our future lies in the stars. With the world's population exceeding seven billion and showing no sign of slowing down, future generations may be forced to seek out new worlds beyond our own increasingly overcrowded planet.</a:t>
            </a:r>
            <a:endParaRPr sz="2900">
              <a:solidFill>
                <a:schemeClr val="dk1"/>
              </a:solidFill>
              <a:latin typeface="Calibri"/>
              <a:ea typeface="Calibri"/>
              <a:cs typeface="Calibri"/>
              <a:sym typeface="Calibri"/>
            </a:endParaRPr>
          </a:p>
        </p:txBody>
      </p:sp>
      <p:cxnSp>
        <p:nvCxnSpPr>
          <p:cNvPr id="717" name="Google Shape;717;p44"/>
          <p:cNvCxnSpPr/>
          <p:nvPr/>
        </p:nvCxnSpPr>
        <p:spPr>
          <a:xfrm flipH="1" rot="10800000">
            <a:off x="1175475" y="3207825"/>
            <a:ext cx="1727400" cy="17700"/>
          </a:xfrm>
          <a:prstGeom prst="straightConnector1">
            <a:avLst/>
          </a:prstGeom>
          <a:noFill/>
          <a:ln cap="flat" cmpd="sng" w="28575">
            <a:solidFill>
              <a:srgbClr val="FF0000"/>
            </a:solidFill>
            <a:prstDash val="solid"/>
            <a:round/>
            <a:headEnd len="med" w="med" type="none"/>
            <a:tailEnd len="med" w="med" type="none"/>
          </a:ln>
        </p:spPr>
      </p:cxnSp>
      <p:cxnSp>
        <p:nvCxnSpPr>
          <p:cNvPr id="718" name="Google Shape;718;p44"/>
          <p:cNvCxnSpPr/>
          <p:nvPr/>
        </p:nvCxnSpPr>
        <p:spPr>
          <a:xfrm>
            <a:off x="1404900" y="2313313"/>
            <a:ext cx="15478200" cy="12600"/>
          </a:xfrm>
          <a:prstGeom prst="straightConnector1">
            <a:avLst/>
          </a:prstGeom>
          <a:noFill/>
          <a:ln cap="flat" cmpd="sng" w="28575">
            <a:solidFill>
              <a:srgbClr val="FF0000"/>
            </a:solidFill>
            <a:prstDash val="solid"/>
            <a:round/>
            <a:headEnd len="med" w="med" type="none"/>
            <a:tailEnd len="med" w="med" type="none"/>
          </a:ln>
        </p:spPr>
      </p:cxnSp>
      <p:cxnSp>
        <p:nvCxnSpPr>
          <p:cNvPr id="719" name="Google Shape;719;p44"/>
          <p:cNvCxnSpPr/>
          <p:nvPr/>
        </p:nvCxnSpPr>
        <p:spPr>
          <a:xfrm>
            <a:off x="1187900" y="4107413"/>
            <a:ext cx="15478200" cy="12600"/>
          </a:xfrm>
          <a:prstGeom prst="straightConnector1">
            <a:avLst/>
          </a:prstGeom>
          <a:noFill/>
          <a:ln cap="flat" cmpd="sng" w="28575">
            <a:solidFill>
              <a:srgbClr val="FF0000"/>
            </a:solidFill>
            <a:prstDash val="solid"/>
            <a:round/>
            <a:headEnd len="med" w="med" type="none"/>
            <a:tailEnd len="med" w="med" type="none"/>
          </a:ln>
        </p:spPr>
      </p:cxnSp>
      <p:cxnSp>
        <p:nvCxnSpPr>
          <p:cNvPr id="720" name="Google Shape;720;p44"/>
          <p:cNvCxnSpPr/>
          <p:nvPr/>
        </p:nvCxnSpPr>
        <p:spPr>
          <a:xfrm flipH="1" rot="10800000">
            <a:off x="1258550" y="4581225"/>
            <a:ext cx="6089400" cy="22500"/>
          </a:xfrm>
          <a:prstGeom prst="straightConnector1">
            <a:avLst/>
          </a:prstGeom>
          <a:noFill/>
          <a:ln cap="flat" cmpd="sng" w="28575">
            <a:solidFill>
              <a:srgbClr val="FF0000"/>
            </a:solidFill>
            <a:prstDash val="solid"/>
            <a:round/>
            <a:headEnd len="med" w="med" type="none"/>
            <a:tailEnd len="med" w="med" type="none"/>
          </a:ln>
        </p:spPr>
      </p:cxnSp>
      <p:cxnSp>
        <p:nvCxnSpPr>
          <p:cNvPr id="721" name="Google Shape;721;p44"/>
          <p:cNvCxnSpPr/>
          <p:nvPr/>
        </p:nvCxnSpPr>
        <p:spPr>
          <a:xfrm>
            <a:off x="1187900" y="2760563"/>
            <a:ext cx="15478200" cy="12600"/>
          </a:xfrm>
          <a:prstGeom prst="straightConnector1">
            <a:avLst/>
          </a:prstGeom>
          <a:noFill/>
          <a:ln cap="flat" cmpd="sng" w="28575">
            <a:solidFill>
              <a:srgbClr val="FF0000"/>
            </a:solidFill>
            <a:prstDash val="solid"/>
            <a:round/>
            <a:headEnd len="med" w="med" type="none"/>
            <a:tailEnd len="med" w="med" type="none"/>
          </a:ln>
        </p:spPr>
      </p:cxnSp>
      <p:cxnSp>
        <p:nvCxnSpPr>
          <p:cNvPr id="722" name="Google Shape;722;p44"/>
          <p:cNvCxnSpPr/>
          <p:nvPr/>
        </p:nvCxnSpPr>
        <p:spPr>
          <a:xfrm>
            <a:off x="8870600" y="3648638"/>
            <a:ext cx="7795500" cy="18300"/>
          </a:xfrm>
          <a:prstGeom prst="straightConnector1">
            <a:avLst/>
          </a:prstGeom>
          <a:noFill/>
          <a:ln cap="flat" cmpd="sng" w="28575">
            <a:solidFill>
              <a:srgbClr val="FF0000"/>
            </a:solidFill>
            <a:prstDash val="solid"/>
            <a:round/>
            <a:headEnd len="med" w="med" type="none"/>
            <a:tailEnd len="med" w="med" type="none"/>
          </a:ln>
        </p:spPr>
      </p:cxnSp>
      <p:sp>
        <p:nvSpPr>
          <p:cNvPr id="723" name="Google Shape;723;p44"/>
          <p:cNvSpPr/>
          <p:nvPr/>
        </p:nvSpPr>
        <p:spPr>
          <a:xfrm>
            <a:off x="14967875" y="8767775"/>
            <a:ext cx="1360800" cy="938700"/>
          </a:xfrm>
          <a:prstGeom prst="rightArrow">
            <a:avLst>
              <a:gd fmla="val 50000" name="adj1"/>
              <a:gd fmla="val 50000" name="adj2"/>
            </a:avLst>
          </a:prstGeom>
          <a:solidFill>
            <a:srgbClr val="00BF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000">
                <a:latin typeface="Calibri"/>
                <a:ea typeface="Calibri"/>
                <a:cs typeface="Calibri"/>
                <a:sym typeface="Calibri"/>
              </a:rPr>
              <a:t>6B</a:t>
            </a:r>
            <a:endParaRPr sz="3000">
              <a:latin typeface="Calibri"/>
              <a:ea typeface="Calibri"/>
              <a:cs typeface="Calibri"/>
              <a:sym typeface="Calibri"/>
            </a:endParaRPr>
          </a:p>
        </p:txBody>
      </p:sp>
      <p:sp>
        <p:nvSpPr>
          <p:cNvPr id="724" name="Google Shape;724;p44"/>
          <p:cNvSpPr txBox="1"/>
          <p:nvPr/>
        </p:nvSpPr>
        <p:spPr>
          <a:xfrm>
            <a:off x="1175475" y="5284100"/>
            <a:ext cx="5874900" cy="2916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US" sz="2900">
                <a:solidFill>
                  <a:schemeClr val="dk1"/>
                </a:solidFill>
                <a:latin typeface="Calibri"/>
                <a:ea typeface="Calibri"/>
                <a:cs typeface="Calibri"/>
                <a:sym typeface="Calibri"/>
              </a:rPr>
              <a:t>List of headings</a:t>
            </a:r>
            <a:endParaRPr b="1"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A. Life on Mars</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B. Is space the future for mankind?</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C. The difficulties of living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D. A successful outcome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E. A distant new world</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F. Imitating life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G. A long journey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H. Only an experiment</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t/>
            </a:r>
            <a:endParaRPr b="1" sz="2900">
              <a:solidFill>
                <a:schemeClr val="dk1"/>
              </a:solidFill>
              <a:latin typeface="Calibri"/>
              <a:ea typeface="Calibri"/>
              <a:cs typeface="Calibri"/>
              <a:sym typeface="Calibri"/>
            </a:endParaRPr>
          </a:p>
        </p:txBody>
      </p:sp>
      <p:sp>
        <p:nvSpPr>
          <p:cNvPr id="725" name="Google Shape;725;p44"/>
          <p:cNvSpPr txBox="1"/>
          <p:nvPr/>
        </p:nvSpPr>
        <p:spPr>
          <a:xfrm>
            <a:off x="8270125" y="5284100"/>
            <a:ext cx="8549100" cy="2916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US" sz="2900">
                <a:solidFill>
                  <a:schemeClr val="dk1"/>
                </a:solidFill>
                <a:latin typeface="Calibri"/>
                <a:ea typeface="Calibri"/>
                <a:cs typeface="Calibri"/>
                <a:sym typeface="Calibri"/>
              </a:rPr>
              <a:t>Danh sách tiêu đề</a:t>
            </a:r>
            <a:endParaRPr b="1"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A. Sự sống trên sao Hỏa</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B. Không gian có phải là tương lai của nhân loại không?</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C. Những khó khăn khi sống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D. Một kết quả thành công</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E. Một thế giới mới xa xôi</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F. Mô phỏng sự sống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G. Một hành trình dài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H. Chỉ là một thí nghiệm</a:t>
            </a:r>
            <a:endParaRPr sz="29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15"/>
                                        </p:tgtEl>
                                        <p:attrNameLst>
                                          <p:attrName>style.visibility</p:attrName>
                                        </p:attrNameLst>
                                      </p:cBhvr>
                                      <p:to>
                                        <p:strVal val="visible"/>
                                      </p:to>
                                    </p:set>
                                    <p:animEffect filter="fade" transition="in">
                                      <p:cBhvr>
                                        <p:cTn dur="500"/>
                                        <p:tgtEl>
                                          <p:spTgt spid="7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2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cxnSp>
        <p:nvCxnSpPr>
          <p:cNvPr id="731" name="Google Shape;731;p45"/>
          <p:cNvCxnSpPr/>
          <p:nvPr/>
        </p:nvCxnSpPr>
        <p:spPr>
          <a:xfrm>
            <a:off x="7537495" y="1580138"/>
            <a:ext cx="9743700" cy="7500"/>
          </a:xfrm>
          <a:prstGeom prst="straightConnector1">
            <a:avLst/>
          </a:prstGeom>
          <a:noFill/>
          <a:ln cap="flat" cmpd="sng" w="38100">
            <a:solidFill>
              <a:srgbClr val="018345"/>
            </a:solidFill>
            <a:prstDash val="solid"/>
            <a:round/>
            <a:headEnd len="sm" w="sm" type="none"/>
            <a:tailEnd len="sm" w="sm" type="none"/>
          </a:ln>
        </p:spPr>
      </p:cxnSp>
      <p:grpSp>
        <p:nvGrpSpPr>
          <p:cNvPr id="732" name="Google Shape;732;p45"/>
          <p:cNvGrpSpPr/>
          <p:nvPr/>
        </p:nvGrpSpPr>
        <p:grpSpPr>
          <a:xfrm rot="10800000">
            <a:off x="15785084" y="-536938"/>
            <a:ext cx="7681773" cy="4260605"/>
            <a:chOff x="0" y="-38100"/>
            <a:chExt cx="406400" cy="225405"/>
          </a:xfrm>
        </p:grpSpPr>
        <p:sp>
          <p:nvSpPr>
            <p:cNvPr id="733" name="Google Shape;733;p45"/>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734" name="Google Shape;734;p45"/>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35" name="Google Shape;735;p45"/>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736" name="Google Shape;736;p45"/>
          <p:cNvSpPr txBox="1"/>
          <p:nvPr/>
        </p:nvSpPr>
        <p:spPr>
          <a:xfrm>
            <a:off x="4977850" y="657400"/>
            <a:ext cx="15336900" cy="5388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3500">
                <a:solidFill>
                  <a:srgbClr val="018345"/>
                </a:solidFill>
                <a:latin typeface="Montserrat"/>
                <a:ea typeface="Montserrat"/>
                <a:cs typeface="Montserrat"/>
                <a:sym typeface="Montserrat"/>
              </a:rPr>
              <a:t>Bước 4: Học từ vựng (Khi ôn luyện)</a:t>
            </a:r>
            <a:endParaRPr b="1" sz="3500">
              <a:solidFill>
                <a:srgbClr val="018345"/>
              </a:solidFill>
              <a:latin typeface="Montserrat"/>
              <a:ea typeface="Montserrat"/>
              <a:cs typeface="Montserrat"/>
              <a:sym typeface="Montserrat"/>
            </a:endParaRPr>
          </a:p>
        </p:txBody>
      </p:sp>
      <p:sp>
        <p:nvSpPr>
          <p:cNvPr id="737" name="Google Shape;737;p45"/>
          <p:cNvSpPr txBox="1"/>
          <p:nvPr/>
        </p:nvSpPr>
        <p:spPr>
          <a:xfrm>
            <a:off x="7537500" y="2456275"/>
            <a:ext cx="9290100" cy="63777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1" lang="en-US" sz="3400">
                <a:solidFill>
                  <a:schemeClr val="dk1"/>
                </a:solidFill>
                <a:latin typeface="Calibri"/>
                <a:ea typeface="Calibri"/>
                <a:cs typeface="Calibri"/>
                <a:sym typeface="Calibri"/>
              </a:rPr>
              <a:t>Từ vựng</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Clr>
                <a:schemeClr val="dk1"/>
              </a:buClr>
              <a:buSzPts val="1100"/>
              <a:buFont typeface="Arial"/>
              <a:buNone/>
            </a:pPr>
            <a:r>
              <a:rPr lang="en-US" sz="3400">
                <a:solidFill>
                  <a:schemeClr val="dk1"/>
                </a:solidFill>
                <a:latin typeface="Calibri"/>
                <a:ea typeface="Calibri"/>
                <a:cs typeface="Calibri"/>
                <a:sym typeface="Calibri"/>
              </a:rPr>
              <a:t>collect: thu thập</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Clr>
                <a:schemeClr val="dk1"/>
              </a:buClr>
              <a:buSzPts val="1100"/>
              <a:buFont typeface="Arial"/>
              <a:buNone/>
            </a:pPr>
            <a:r>
              <a:rPr lang="en-US" sz="3400">
                <a:solidFill>
                  <a:schemeClr val="dk1"/>
                </a:solidFill>
                <a:latin typeface="Calibri"/>
                <a:ea typeface="Calibri"/>
                <a:cs typeface="Calibri"/>
                <a:sym typeface="Calibri"/>
              </a:rPr>
              <a:t>experiment: thí nghiệm</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Clr>
                <a:schemeClr val="dk1"/>
              </a:buClr>
              <a:buSzPts val="1100"/>
              <a:buFont typeface="Arial"/>
              <a:buNone/>
            </a:pPr>
            <a:r>
              <a:rPr lang="en-US" sz="3400">
                <a:solidFill>
                  <a:schemeClr val="dk1"/>
                </a:solidFill>
                <a:latin typeface="Calibri"/>
                <a:ea typeface="Calibri"/>
                <a:cs typeface="Calibri"/>
                <a:sym typeface="Calibri"/>
              </a:rPr>
              <a:t>capable of: có khả năng</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Clr>
                <a:schemeClr val="dk1"/>
              </a:buClr>
              <a:buSzPts val="1100"/>
              <a:buFont typeface="Arial"/>
              <a:buNone/>
            </a:pPr>
            <a:r>
              <a:rPr lang="en-US" sz="3400">
                <a:solidFill>
                  <a:schemeClr val="dk1"/>
                </a:solidFill>
                <a:latin typeface="Calibri"/>
                <a:ea typeface="Calibri"/>
                <a:cs typeface="Calibri"/>
                <a:sym typeface="Calibri"/>
              </a:rPr>
              <a:t>pressure: áp lực</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Clr>
                <a:schemeClr val="dk1"/>
              </a:buClr>
              <a:buSzPts val="1100"/>
              <a:buFont typeface="Arial"/>
              <a:buNone/>
            </a:pPr>
            <a:r>
              <a:rPr lang="en-US" sz="3400">
                <a:solidFill>
                  <a:schemeClr val="dk1"/>
                </a:solidFill>
                <a:latin typeface="Calibri"/>
                <a:ea typeface="Calibri"/>
                <a:cs typeface="Calibri"/>
                <a:sym typeface="Calibri"/>
              </a:rPr>
              <a:t>feasible: khả thi</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Clr>
                <a:schemeClr val="dk1"/>
              </a:buClr>
              <a:buSzPts val="1100"/>
              <a:buFont typeface="Arial"/>
              <a:buNone/>
            </a:pPr>
            <a:r>
              <a:rPr lang="en-US" sz="3400">
                <a:solidFill>
                  <a:schemeClr val="dk1"/>
                </a:solidFill>
                <a:latin typeface="Calibri"/>
                <a:ea typeface="Calibri"/>
                <a:cs typeface="Calibri"/>
                <a:sym typeface="Calibri"/>
              </a:rPr>
              <a:t>population: dân số</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400">
                <a:solidFill>
                  <a:schemeClr val="dk1"/>
                </a:solidFill>
                <a:latin typeface="Calibri"/>
                <a:ea typeface="Calibri"/>
                <a:cs typeface="Calibri"/>
                <a:sym typeface="Calibri"/>
              </a:rPr>
              <a:t>seek out: tìm kiếm</a:t>
            </a:r>
            <a:endParaRPr sz="34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36"/>
                                        </p:tgtEl>
                                        <p:attrNameLst>
                                          <p:attrName>style.visibility</p:attrName>
                                        </p:attrNameLst>
                                      </p:cBhvr>
                                      <p:to>
                                        <p:strVal val="visible"/>
                                      </p:to>
                                    </p:set>
                                    <p:animEffect filter="fade" transition="in">
                                      <p:cBhvr>
                                        <p:cTn dur="500"/>
                                        <p:tgtEl>
                                          <p:spTgt spid="7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37">
                                            <p:txEl>
                                              <p:pRg end="7" st="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1" name="Shape 741"/>
        <p:cNvGrpSpPr/>
        <p:nvPr/>
      </p:nvGrpSpPr>
      <p:grpSpPr>
        <a:xfrm>
          <a:off x="0" y="0"/>
          <a:ext cx="0" cy="0"/>
          <a:chOff x="0" y="0"/>
          <a:chExt cx="0" cy="0"/>
        </a:xfrm>
      </p:grpSpPr>
      <p:cxnSp>
        <p:nvCxnSpPr>
          <p:cNvPr id="742" name="Google Shape;742;p46"/>
          <p:cNvCxnSpPr/>
          <p:nvPr/>
        </p:nvCxnSpPr>
        <p:spPr>
          <a:xfrm>
            <a:off x="6400799" y="2235185"/>
            <a:ext cx="9982200" cy="0"/>
          </a:xfrm>
          <a:prstGeom prst="straightConnector1">
            <a:avLst/>
          </a:prstGeom>
          <a:noFill/>
          <a:ln cap="flat" cmpd="sng" w="38100">
            <a:solidFill>
              <a:srgbClr val="018345"/>
            </a:solidFill>
            <a:prstDash val="solid"/>
            <a:round/>
            <a:headEnd len="sm" w="sm" type="none"/>
            <a:tailEnd len="sm" w="sm" type="none"/>
          </a:ln>
        </p:spPr>
      </p:cxnSp>
      <p:cxnSp>
        <p:nvCxnSpPr>
          <p:cNvPr id="743" name="Google Shape;743;p46"/>
          <p:cNvCxnSpPr/>
          <p:nvPr/>
        </p:nvCxnSpPr>
        <p:spPr>
          <a:xfrm>
            <a:off x="-249883" y="5124450"/>
            <a:ext cx="5303400" cy="0"/>
          </a:xfrm>
          <a:prstGeom prst="straightConnector1">
            <a:avLst/>
          </a:prstGeom>
          <a:noFill/>
          <a:ln cap="flat" cmpd="sng" w="38100">
            <a:solidFill>
              <a:srgbClr val="FFFFFF"/>
            </a:solidFill>
            <a:prstDash val="solid"/>
            <a:round/>
            <a:headEnd len="sm" w="sm" type="none"/>
            <a:tailEnd len="sm" w="sm" type="none"/>
          </a:ln>
        </p:spPr>
      </p:cxnSp>
      <p:grpSp>
        <p:nvGrpSpPr>
          <p:cNvPr id="744" name="Google Shape;744;p46"/>
          <p:cNvGrpSpPr/>
          <p:nvPr/>
        </p:nvGrpSpPr>
        <p:grpSpPr>
          <a:xfrm rot="10800000">
            <a:off x="15044545" y="-741517"/>
            <a:ext cx="7681773" cy="4260605"/>
            <a:chOff x="0" y="-38100"/>
            <a:chExt cx="406400" cy="225405"/>
          </a:xfrm>
        </p:grpSpPr>
        <p:sp>
          <p:nvSpPr>
            <p:cNvPr id="745" name="Google Shape;745;p46"/>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746" name="Google Shape;746;p46"/>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747" name="Google Shape;747;p46"/>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748" name="Google Shape;748;p46"/>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749" name="Google Shape;749;p46"/>
          <p:cNvSpPr txBox="1"/>
          <p:nvPr/>
        </p:nvSpPr>
        <p:spPr>
          <a:xfrm>
            <a:off x="5232390" y="2564021"/>
            <a:ext cx="11760300" cy="831300"/>
          </a:xfrm>
          <a:prstGeom prst="rect">
            <a:avLst/>
          </a:prstGeom>
          <a:noFill/>
          <a:ln>
            <a:noFill/>
          </a:ln>
        </p:spPr>
        <p:txBody>
          <a:bodyPr anchorCtr="0" anchor="t" bIns="0" lIns="0" spcFirstLastPara="1" rIns="0" wrap="square" tIns="0">
            <a:spAutoFit/>
          </a:bodyPr>
          <a:lstStyle/>
          <a:p>
            <a:pPr indent="0" lvl="0" marL="0" marR="0" rtl="0" algn="ctr">
              <a:lnSpc>
                <a:spcPct val="180092"/>
              </a:lnSpc>
              <a:spcBef>
                <a:spcPts val="0"/>
              </a:spcBef>
              <a:spcAft>
                <a:spcPts val="0"/>
              </a:spcAft>
              <a:buNone/>
            </a:pPr>
            <a:r>
              <a:rPr b="1" lang="en-US" sz="5400">
                <a:solidFill>
                  <a:srgbClr val="018345"/>
                </a:solidFill>
                <a:latin typeface="Montserrat"/>
                <a:ea typeface="Montserrat"/>
                <a:cs typeface="Montserrat"/>
                <a:sym typeface="Montserrat"/>
              </a:rPr>
              <a:t>ĐOẠN 7</a:t>
            </a:r>
            <a:endParaRPr/>
          </a:p>
        </p:txBody>
      </p:sp>
      <p:sp>
        <p:nvSpPr>
          <p:cNvPr id="750" name="Google Shape;750;p46"/>
          <p:cNvSpPr txBox="1"/>
          <p:nvPr/>
        </p:nvSpPr>
        <p:spPr>
          <a:xfrm>
            <a:off x="6400800" y="1111738"/>
            <a:ext cx="9982200" cy="615600"/>
          </a:xfrm>
          <a:prstGeom prst="rect">
            <a:avLst/>
          </a:prstGeom>
          <a:noFill/>
          <a:ln>
            <a:noFill/>
          </a:ln>
        </p:spPr>
        <p:txBody>
          <a:bodyPr anchorCtr="0" anchor="t" bIns="0" lIns="0" spcFirstLastPara="1" rIns="0" wrap="square" tIns="0">
            <a:spAutoFit/>
          </a:bodyPr>
          <a:lstStyle/>
          <a:p>
            <a:pPr indent="0" lvl="0" marL="0" rtl="0" algn="ctr">
              <a:lnSpc>
                <a:spcPct val="119998"/>
              </a:lnSpc>
              <a:spcBef>
                <a:spcPts val="0"/>
              </a:spcBef>
              <a:spcAft>
                <a:spcPts val="0"/>
              </a:spcAft>
              <a:buSzPts val="1100"/>
              <a:buNone/>
            </a:pPr>
            <a:r>
              <a:rPr b="1" lang="en-US" sz="4000">
                <a:solidFill>
                  <a:srgbClr val="018345"/>
                </a:solidFill>
                <a:latin typeface="Montserrat"/>
                <a:ea typeface="Montserrat"/>
                <a:cs typeface="Montserrat"/>
                <a:sym typeface="Montserrat"/>
              </a:rPr>
              <a:t>Lặp lại các bước với các đoạn còn lại</a:t>
            </a:r>
            <a:endParaRPr b="1" sz="4000">
              <a:solidFill>
                <a:srgbClr val="018345"/>
              </a:solidFill>
              <a:latin typeface="Montserrat"/>
              <a:ea typeface="Montserrat"/>
              <a:cs typeface="Montserrat"/>
              <a:sym typeface="Montserrat"/>
            </a:endParaRPr>
          </a:p>
        </p:txBody>
      </p:sp>
      <p:sp>
        <p:nvSpPr>
          <p:cNvPr id="751" name="Google Shape;751;p46"/>
          <p:cNvSpPr txBox="1"/>
          <p:nvPr/>
        </p:nvSpPr>
        <p:spPr>
          <a:xfrm>
            <a:off x="-10653311" y="9715322"/>
            <a:ext cx="13923300" cy="288900"/>
          </a:xfrm>
          <a:prstGeom prst="rect">
            <a:avLst/>
          </a:prstGeom>
          <a:noFill/>
          <a:ln>
            <a:noFill/>
          </a:ln>
        </p:spPr>
        <p:txBody>
          <a:bodyPr anchorCtr="0" anchor="t" bIns="0" lIns="0" spcFirstLastPara="1" rIns="0" wrap="square" tIns="0">
            <a:spAutoFit/>
          </a:bodyPr>
          <a:lstStyle/>
          <a:p>
            <a:pPr indent="0" lvl="0" marL="0" marR="0" rtl="0" algn="r">
              <a:lnSpc>
                <a:spcPct val="111993"/>
              </a:lnSpc>
              <a:spcBef>
                <a:spcPts val="0"/>
              </a:spcBef>
              <a:spcAft>
                <a:spcPts val="0"/>
              </a:spcAft>
              <a:buNone/>
            </a:pPr>
            <a:r>
              <a:rPr lang="en-US" sz="1876">
                <a:solidFill>
                  <a:srgbClr val="FEFEFE"/>
                </a:solidFill>
                <a:latin typeface="Roboto"/>
                <a:ea typeface="Roboto"/>
                <a:cs typeface="Roboto"/>
                <a:sym typeface="Roboto"/>
              </a:rPr>
              <a:t>https://edulife.com.vn/</a:t>
            </a:r>
            <a:endParaRPr/>
          </a:p>
        </p:txBody>
      </p:sp>
      <p:grpSp>
        <p:nvGrpSpPr>
          <p:cNvPr id="752" name="Google Shape;752;p46"/>
          <p:cNvGrpSpPr/>
          <p:nvPr/>
        </p:nvGrpSpPr>
        <p:grpSpPr>
          <a:xfrm>
            <a:off x="-2718010" y="9274530"/>
            <a:ext cx="7950378" cy="1707223"/>
            <a:chOff x="0" y="-384760"/>
            <a:chExt cx="10600504" cy="2276297"/>
          </a:xfrm>
        </p:grpSpPr>
        <p:grpSp>
          <p:nvGrpSpPr>
            <p:cNvPr id="753" name="Google Shape;753;p46"/>
            <p:cNvGrpSpPr/>
            <p:nvPr/>
          </p:nvGrpSpPr>
          <p:grpSpPr>
            <a:xfrm>
              <a:off x="0" y="-384760"/>
              <a:ext cx="10600504" cy="2276297"/>
              <a:chOff x="0" y="-38100"/>
              <a:chExt cx="1049690" cy="225405"/>
            </a:xfrm>
          </p:grpSpPr>
          <p:sp>
            <p:nvSpPr>
              <p:cNvPr id="754" name="Google Shape;754;p46"/>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755" name="Google Shape;755;p46"/>
              <p:cNvSpPr txBox="1"/>
              <p:nvPr/>
            </p:nvSpPr>
            <p:spPr>
              <a:xfrm>
                <a:off x="127000" y="-38100"/>
                <a:ext cx="7956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56" name="Google Shape;756;p46"/>
            <p:cNvSpPr txBox="1"/>
            <p:nvPr/>
          </p:nvSpPr>
          <p:spPr>
            <a:xfrm>
              <a:off x="4182979" y="666743"/>
              <a:ext cx="3721200" cy="369300"/>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57" name="Google Shape;757;p46"/>
          <p:cNvSpPr/>
          <p:nvPr/>
        </p:nvSpPr>
        <p:spPr>
          <a:xfrm>
            <a:off x="9563099" y="4749873"/>
            <a:ext cx="3280418" cy="3297633"/>
          </a:xfrm>
          <a:custGeom>
            <a:rect b="b" l="l" r="r" t="t"/>
            <a:pathLst>
              <a:path extrusionOk="0" h="4310632" w="4025053">
                <a:moveTo>
                  <a:pt x="0" y="0"/>
                </a:moveTo>
                <a:lnTo>
                  <a:pt x="4025053" y="0"/>
                </a:lnTo>
                <a:lnTo>
                  <a:pt x="4025053" y="4310632"/>
                </a:lnTo>
                <a:lnTo>
                  <a:pt x="0" y="4310632"/>
                </a:lnTo>
                <a:lnTo>
                  <a:pt x="0" y="0"/>
                </a:lnTo>
                <a:close/>
              </a:path>
            </a:pathLst>
          </a:custGeom>
          <a:blipFill rotWithShape="1">
            <a:blip r:embed="rId5">
              <a:alphaModFix/>
            </a:blip>
            <a:stretch>
              <a:fillRect b="0" l="0" r="0" t="0"/>
            </a:stretch>
          </a:blipFill>
          <a:ln>
            <a:noFill/>
          </a:ln>
        </p:spPr>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750"/>
                                        </p:tgtEl>
                                        <p:attrNameLst>
                                          <p:attrName>style.visibility</p:attrName>
                                        </p:attrNameLst>
                                      </p:cBhvr>
                                      <p:to>
                                        <p:strVal val="visible"/>
                                      </p:to>
                                    </p:set>
                                    <p:anim calcmode="lin" valueType="num">
                                      <p:cBhvr additive="base">
                                        <p:cTn dur="500"/>
                                        <p:tgtEl>
                                          <p:spTgt spid="750"/>
                                        </p:tgtEl>
                                        <p:attrNameLst>
                                          <p:attrName>ppt_w</p:attrName>
                                        </p:attrNameLst>
                                      </p:cBhvr>
                                      <p:tavLst>
                                        <p:tav fmla="" tm="0">
                                          <p:val>
                                            <p:strVal val="0"/>
                                          </p:val>
                                        </p:tav>
                                        <p:tav fmla="" tm="100000">
                                          <p:val>
                                            <p:strVal val="#ppt_w"/>
                                          </p:val>
                                        </p:tav>
                                      </p:tavLst>
                                    </p:anim>
                                    <p:anim calcmode="lin" valueType="num">
                                      <p:cBhvr additive="base">
                                        <p:cTn dur="500"/>
                                        <p:tgtEl>
                                          <p:spTgt spid="750"/>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749"/>
                                        </p:tgtEl>
                                        <p:attrNameLst>
                                          <p:attrName>style.visibility</p:attrName>
                                        </p:attrNameLst>
                                      </p:cBhvr>
                                      <p:to>
                                        <p:strVal val="visible"/>
                                      </p:to>
                                    </p:set>
                                    <p:anim calcmode="lin" valueType="num">
                                      <p:cBhvr additive="base">
                                        <p:cTn dur="500"/>
                                        <p:tgtEl>
                                          <p:spTgt spid="749"/>
                                        </p:tgtEl>
                                        <p:attrNameLst>
                                          <p:attrName>ppt_w</p:attrName>
                                        </p:attrNameLst>
                                      </p:cBhvr>
                                      <p:tavLst>
                                        <p:tav fmla="" tm="0">
                                          <p:val>
                                            <p:strVal val="0"/>
                                          </p:val>
                                        </p:tav>
                                        <p:tav fmla="" tm="100000">
                                          <p:val>
                                            <p:strVal val="#ppt_w"/>
                                          </p:val>
                                        </p:tav>
                                      </p:tavLst>
                                    </p:anim>
                                    <p:anim calcmode="lin" valueType="num">
                                      <p:cBhvr additive="base">
                                        <p:cTn dur="500"/>
                                        <p:tgtEl>
                                          <p:spTgt spid="749"/>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cxnSp>
        <p:nvCxnSpPr>
          <p:cNvPr id="763" name="Google Shape;763;p47"/>
          <p:cNvCxnSpPr/>
          <p:nvPr/>
        </p:nvCxnSpPr>
        <p:spPr>
          <a:xfrm flipH="1" rot="10800000">
            <a:off x="3818195" y="1583913"/>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764" name="Google Shape;764;p47"/>
          <p:cNvGrpSpPr/>
          <p:nvPr/>
        </p:nvGrpSpPr>
        <p:grpSpPr>
          <a:xfrm rot="10800000">
            <a:off x="15785084" y="-536938"/>
            <a:ext cx="7681773" cy="4260605"/>
            <a:chOff x="0" y="-38100"/>
            <a:chExt cx="406400" cy="225405"/>
          </a:xfrm>
        </p:grpSpPr>
        <p:sp>
          <p:nvSpPr>
            <p:cNvPr id="765" name="Google Shape;765;p47"/>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766" name="Google Shape;766;p47"/>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67" name="Google Shape;767;p47"/>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768" name="Google Shape;768;p47"/>
          <p:cNvSpPr txBox="1"/>
          <p:nvPr/>
        </p:nvSpPr>
        <p:spPr>
          <a:xfrm>
            <a:off x="1258550" y="680075"/>
            <a:ext cx="15336900" cy="5388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3500">
                <a:solidFill>
                  <a:srgbClr val="018345"/>
                </a:solidFill>
                <a:latin typeface="Montserrat"/>
                <a:ea typeface="Montserrat"/>
                <a:cs typeface="Montserrat"/>
                <a:sym typeface="Montserrat"/>
              </a:rPr>
              <a:t>Bước 2: Đọc từng đoạn để hiểu nội dung</a:t>
            </a:r>
            <a:endParaRPr b="1" sz="3500">
              <a:solidFill>
                <a:srgbClr val="018345"/>
              </a:solidFill>
              <a:latin typeface="Montserrat"/>
              <a:ea typeface="Montserrat"/>
              <a:cs typeface="Montserrat"/>
              <a:sym typeface="Montserrat"/>
            </a:endParaRPr>
          </a:p>
        </p:txBody>
      </p:sp>
      <p:sp>
        <p:nvSpPr>
          <p:cNvPr id="769" name="Google Shape;769;p47"/>
          <p:cNvSpPr txBox="1"/>
          <p:nvPr/>
        </p:nvSpPr>
        <p:spPr>
          <a:xfrm>
            <a:off x="1034900" y="1809025"/>
            <a:ext cx="15784200" cy="3292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2900">
                <a:solidFill>
                  <a:schemeClr val="dk1"/>
                </a:solidFill>
                <a:latin typeface="Calibri"/>
                <a:ea typeface="Calibri"/>
                <a:cs typeface="Calibri"/>
                <a:sym typeface="Calibri"/>
              </a:rPr>
              <a:t>7</a:t>
            </a:r>
            <a:r>
              <a:rPr lang="en-US" sz="2900">
                <a:solidFill>
                  <a:schemeClr val="dk1"/>
                </a:solidFill>
                <a:latin typeface="Calibri"/>
                <a:ea typeface="Calibri"/>
                <a:cs typeface="Calibri"/>
                <a:sym typeface="Calibri"/>
              </a:rPr>
              <a:t>. </a:t>
            </a:r>
            <a:r>
              <a:rPr lang="en-US" sz="2900">
                <a:solidFill>
                  <a:schemeClr val="dk1"/>
                </a:solidFill>
                <a:latin typeface="Calibri"/>
                <a:ea typeface="Calibri"/>
                <a:cs typeface="Calibri"/>
                <a:sym typeface="Calibri"/>
              </a:rPr>
              <a:t>Although the dry and dusty landscape of Mars may not be the most suitable spot for future habitation, there are other planets that could sustain human life. To date about 700 planets with similarities to Earth have been identified outside our own solar system, and about 15 of these are potentially habitable. The most recent to be discovered – Kepler 22-b – has a surface temperature of about 22°C and orbits a star not unlike our own sun. Scientists believe that it may even contain water. However, although it may seem like a good candidate for a future space colony, it is 600 light years away, and so it is likely to remain beyond human reach for many generations to come.</a:t>
            </a:r>
            <a:endParaRPr sz="2900">
              <a:solidFill>
                <a:schemeClr val="dk1"/>
              </a:solidFill>
              <a:latin typeface="Calibri"/>
              <a:ea typeface="Calibri"/>
              <a:cs typeface="Calibri"/>
              <a:sym typeface="Calibri"/>
            </a:endParaRPr>
          </a:p>
        </p:txBody>
      </p:sp>
      <p:cxnSp>
        <p:nvCxnSpPr>
          <p:cNvPr id="770" name="Google Shape;770;p47"/>
          <p:cNvCxnSpPr/>
          <p:nvPr/>
        </p:nvCxnSpPr>
        <p:spPr>
          <a:xfrm>
            <a:off x="1404900" y="2313313"/>
            <a:ext cx="15478200" cy="12600"/>
          </a:xfrm>
          <a:prstGeom prst="straightConnector1">
            <a:avLst/>
          </a:prstGeom>
          <a:noFill/>
          <a:ln cap="flat" cmpd="sng" w="28575">
            <a:solidFill>
              <a:srgbClr val="FF0000"/>
            </a:solidFill>
            <a:prstDash val="solid"/>
            <a:round/>
            <a:headEnd len="med" w="med" type="none"/>
            <a:tailEnd len="med" w="med" type="none"/>
          </a:ln>
        </p:spPr>
      </p:cxnSp>
      <p:cxnSp>
        <p:nvCxnSpPr>
          <p:cNvPr id="771" name="Google Shape;771;p47"/>
          <p:cNvCxnSpPr/>
          <p:nvPr/>
        </p:nvCxnSpPr>
        <p:spPr>
          <a:xfrm>
            <a:off x="1187900" y="2760563"/>
            <a:ext cx="10383900" cy="36000"/>
          </a:xfrm>
          <a:prstGeom prst="straightConnector1">
            <a:avLst/>
          </a:prstGeom>
          <a:noFill/>
          <a:ln cap="flat" cmpd="sng" w="28575">
            <a:solidFill>
              <a:srgbClr val="FF0000"/>
            </a:solidFill>
            <a:prstDash val="solid"/>
            <a:round/>
            <a:headEnd len="med" w="med" type="none"/>
            <a:tailEnd len="med" w="med" type="none"/>
          </a:ln>
        </p:spPr>
      </p:cxnSp>
      <p:cxnSp>
        <p:nvCxnSpPr>
          <p:cNvPr id="772" name="Google Shape;772;p47"/>
          <p:cNvCxnSpPr/>
          <p:nvPr/>
        </p:nvCxnSpPr>
        <p:spPr>
          <a:xfrm>
            <a:off x="1187900" y="4520988"/>
            <a:ext cx="15478200" cy="12600"/>
          </a:xfrm>
          <a:prstGeom prst="straightConnector1">
            <a:avLst/>
          </a:prstGeom>
          <a:noFill/>
          <a:ln cap="flat" cmpd="sng" w="28575">
            <a:solidFill>
              <a:srgbClr val="FF0000"/>
            </a:solidFill>
            <a:prstDash val="solid"/>
            <a:round/>
            <a:headEnd len="med" w="med" type="none"/>
            <a:tailEnd len="med" w="med" type="none"/>
          </a:ln>
        </p:spPr>
      </p:cxnSp>
      <p:cxnSp>
        <p:nvCxnSpPr>
          <p:cNvPr id="773" name="Google Shape;773;p47"/>
          <p:cNvCxnSpPr/>
          <p:nvPr/>
        </p:nvCxnSpPr>
        <p:spPr>
          <a:xfrm>
            <a:off x="1187900" y="5015563"/>
            <a:ext cx="11681100" cy="10500"/>
          </a:xfrm>
          <a:prstGeom prst="straightConnector1">
            <a:avLst/>
          </a:prstGeom>
          <a:noFill/>
          <a:ln cap="flat" cmpd="sng" w="28575">
            <a:solidFill>
              <a:srgbClr val="FF0000"/>
            </a:solidFill>
            <a:prstDash val="solid"/>
            <a:round/>
            <a:headEnd len="med" w="med" type="none"/>
            <a:tailEnd len="med" w="med" type="none"/>
          </a:ln>
        </p:spPr>
      </p:cxnSp>
      <p:sp>
        <p:nvSpPr>
          <p:cNvPr id="774" name="Google Shape;774;p47"/>
          <p:cNvSpPr txBox="1"/>
          <p:nvPr/>
        </p:nvSpPr>
        <p:spPr>
          <a:xfrm>
            <a:off x="1175475" y="5284100"/>
            <a:ext cx="5874900" cy="2916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US" sz="2900">
                <a:solidFill>
                  <a:schemeClr val="dk1"/>
                </a:solidFill>
                <a:latin typeface="Calibri"/>
                <a:ea typeface="Calibri"/>
                <a:cs typeface="Calibri"/>
                <a:sym typeface="Calibri"/>
              </a:rPr>
              <a:t>List of headings</a:t>
            </a:r>
            <a:endParaRPr b="1"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A. Life on Mars</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B. Is space the future for mankind?</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C. The difficulties of living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D. A successful outcome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E. A distant new world</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F. Imitating life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G. A long journey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H. Only an experiment</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t/>
            </a:r>
            <a:endParaRPr b="1" sz="2900">
              <a:solidFill>
                <a:schemeClr val="dk1"/>
              </a:solidFill>
              <a:latin typeface="Calibri"/>
              <a:ea typeface="Calibri"/>
              <a:cs typeface="Calibri"/>
              <a:sym typeface="Calibri"/>
            </a:endParaRPr>
          </a:p>
        </p:txBody>
      </p:sp>
      <p:sp>
        <p:nvSpPr>
          <p:cNvPr id="775" name="Google Shape;775;p47"/>
          <p:cNvSpPr txBox="1"/>
          <p:nvPr/>
        </p:nvSpPr>
        <p:spPr>
          <a:xfrm>
            <a:off x="8270128" y="5284100"/>
            <a:ext cx="8408400" cy="2916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US" sz="2900">
                <a:solidFill>
                  <a:schemeClr val="dk1"/>
                </a:solidFill>
                <a:latin typeface="Calibri"/>
                <a:ea typeface="Calibri"/>
                <a:cs typeface="Calibri"/>
                <a:sym typeface="Calibri"/>
              </a:rPr>
              <a:t>Danh sách tiêu đề</a:t>
            </a:r>
            <a:endParaRPr b="1"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A. Sự sống trên sao Hỏa</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B. Không gian có phải là tương lai của nhân loại không?</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C. Những khó khăn khi sống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D. Một kết quả thành công</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E. Một thế giới mới xa xôi</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F. Mô phỏng sự sống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G. Một hành trình dài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H. Chỉ là một thí nghiệm</a:t>
            </a:r>
            <a:endParaRPr sz="29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68"/>
                                        </p:tgtEl>
                                        <p:attrNameLst>
                                          <p:attrName>style.visibility</p:attrName>
                                        </p:attrNameLst>
                                      </p:cBhvr>
                                      <p:to>
                                        <p:strVal val="visible"/>
                                      </p:to>
                                    </p:set>
                                    <p:animEffect filter="fade" transition="in">
                                      <p:cBhvr>
                                        <p:cTn dur="500"/>
                                        <p:tgtEl>
                                          <p:spTgt spid="7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0" name="Shape 780"/>
        <p:cNvGrpSpPr/>
        <p:nvPr/>
      </p:nvGrpSpPr>
      <p:grpSpPr>
        <a:xfrm>
          <a:off x="0" y="0"/>
          <a:ext cx="0" cy="0"/>
          <a:chOff x="0" y="0"/>
          <a:chExt cx="0" cy="0"/>
        </a:xfrm>
      </p:grpSpPr>
      <p:cxnSp>
        <p:nvCxnSpPr>
          <p:cNvPr id="781" name="Google Shape;781;p48"/>
          <p:cNvCxnSpPr/>
          <p:nvPr/>
        </p:nvCxnSpPr>
        <p:spPr>
          <a:xfrm flipH="1" rot="10800000">
            <a:off x="3818195" y="1583913"/>
            <a:ext cx="11243700" cy="18900"/>
          </a:xfrm>
          <a:prstGeom prst="straightConnector1">
            <a:avLst/>
          </a:prstGeom>
          <a:noFill/>
          <a:ln cap="flat" cmpd="sng" w="38100">
            <a:solidFill>
              <a:srgbClr val="018345"/>
            </a:solidFill>
            <a:prstDash val="solid"/>
            <a:round/>
            <a:headEnd len="sm" w="sm" type="none"/>
            <a:tailEnd len="sm" w="sm" type="none"/>
          </a:ln>
        </p:spPr>
      </p:cxnSp>
      <p:grpSp>
        <p:nvGrpSpPr>
          <p:cNvPr id="782" name="Google Shape;782;p48"/>
          <p:cNvGrpSpPr/>
          <p:nvPr/>
        </p:nvGrpSpPr>
        <p:grpSpPr>
          <a:xfrm rot="10800000">
            <a:off x="15785084" y="-536938"/>
            <a:ext cx="7681773" cy="4260605"/>
            <a:chOff x="0" y="-38100"/>
            <a:chExt cx="406400" cy="225405"/>
          </a:xfrm>
        </p:grpSpPr>
        <p:sp>
          <p:nvSpPr>
            <p:cNvPr id="783" name="Google Shape;783;p48"/>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784" name="Google Shape;784;p48"/>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785" name="Google Shape;785;p48"/>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786" name="Google Shape;786;p48"/>
          <p:cNvSpPr txBox="1"/>
          <p:nvPr/>
        </p:nvSpPr>
        <p:spPr>
          <a:xfrm>
            <a:off x="1258550" y="680075"/>
            <a:ext cx="15336900" cy="5388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3500">
                <a:solidFill>
                  <a:srgbClr val="018345"/>
                </a:solidFill>
                <a:latin typeface="Montserrat"/>
                <a:ea typeface="Montserrat"/>
                <a:cs typeface="Montserrat"/>
                <a:sym typeface="Montserrat"/>
              </a:rPr>
              <a:t>Bước 3: Chọn đáp án chính xác (Loại trừ các đáp án sai nếu có)</a:t>
            </a:r>
            <a:endParaRPr b="1" sz="3500">
              <a:solidFill>
                <a:srgbClr val="018345"/>
              </a:solidFill>
              <a:latin typeface="Montserrat"/>
              <a:ea typeface="Montserrat"/>
              <a:cs typeface="Montserrat"/>
              <a:sym typeface="Montserrat"/>
            </a:endParaRPr>
          </a:p>
        </p:txBody>
      </p:sp>
      <p:sp>
        <p:nvSpPr>
          <p:cNvPr id="787" name="Google Shape;787;p48"/>
          <p:cNvSpPr txBox="1"/>
          <p:nvPr/>
        </p:nvSpPr>
        <p:spPr>
          <a:xfrm>
            <a:off x="1034900" y="1809025"/>
            <a:ext cx="15784200" cy="3292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US" sz="2900">
                <a:solidFill>
                  <a:schemeClr val="dk1"/>
                </a:solidFill>
                <a:latin typeface="Calibri"/>
                <a:ea typeface="Calibri"/>
                <a:cs typeface="Calibri"/>
                <a:sym typeface="Calibri"/>
              </a:rPr>
              <a:t>7</a:t>
            </a:r>
            <a:r>
              <a:rPr lang="en-US" sz="2900">
                <a:solidFill>
                  <a:schemeClr val="dk1"/>
                </a:solidFill>
                <a:latin typeface="Calibri"/>
                <a:ea typeface="Calibri"/>
                <a:cs typeface="Calibri"/>
                <a:sym typeface="Calibri"/>
              </a:rPr>
              <a:t>. Although the dry and dusty landscape of Mars may not be the most suitable spot for future habitation, there are other planets that could sustain human life. To date about 700 planets with similarities to Earth have been identified outside our own solar system, and about 15 of these are potentially habitable. The most recent to be discovered – Kepler 22-b – has a surface temperature of about 22°C and orbits a star not unlike our own sun. Scientists believe that it may even contain water. However, although it may seem like a good candidate for a future space colony, it is 600 light years away, and so it is likely to remain beyond human reach for many generations to come.</a:t>
            </a:r>
            <a:endParaRPr sz="2900">
              <a:solidFill>
                <a:schemeClr val="dk1"/>
              </a:solidFill>
              <a:latin typeface="Calibri"/>
              <a:ea typeface="Calibri"/>
              <a:cs typeface="Calibri"/>
              <a:sym typeface="Calibri"/>
            </a:endParaRPr>
          </a:p>
        </p:txBody>
      </p:sp>
      <p:cxnSp>
        <p:nvCxnSpPr>
          <p:cNvPr id="788" name="Google Shape;788;p48"/>
          <p:cNvCxnSpPr/>
          <p:nvPr/>
        </p:nvCxnSpPr>
        <p:spPr>
          <a:xfrm>
            <a:off x="1404900" y="2313313"/>
            <a:ext cx="15478200" cy="12600"/>
          </a:xfrm>
          <a:prstGeom prst="straightConnector1">
            <a:avLst/>
          </a:prstGeom>
          <a:noFill/>
          <a:ln cap="flat" cmpd="sng" w="28575">
            <a:solidFill>
              <a:srgbClr val="FF0000"/>
            </a:solidFill>
            <a:prstDash val="solid"/>
            <a:round/>
            <a:headEnd len="med" w="med" type="none"/>
            <a:tailEnd len="med" w="med" type="none"/>
          </a:ln>
        </p:spPr>
      </p:cxnSp>
      <p:cxnSp>
        <p:nvCxnSpPr>
          <p:cNvPr id="789" name="Google Shape;789;p48"/>
          <p:cNvCxnSpPr/>
          <p:nvPr/>
        </p:nvCxnSpPr>
        <p:spPr>
          <a:xfrm>
            <a:off x="1187900" y="2760563"/>
            <a:ext cx="10383900" cy="36000"/>
          </a:xfrm>
          <a:prstGeom prst="straightConnector1">
            <a:avLst/>
          </a:prstGeom>
          <a:noFill/>
          <a:ln cap="flat" cmpd="sng" w="28575">
            <a:solidFill>
              <a:srgbClr val="FF0000"/>
            </a:solidFill>
            <a:prstDash val="solid"/>
            <a:round/>
            <a:headEnd len="med" w="med" type="none"/>
            <a:tailEnd len="med" w="med" type="none"/>
          </a:ln>
        </p:spPr>
      </p:cxnSp>
      <p:cxnSp>
        <p:nvCxnSpPr>
          <p:cNvPr id="790" name="Google Shape;790;p48"/>
          <p:cNvCxnSpPr/>
          <p:nvPr/>
        </p:nvCxnSpPr>
        <p:spPr>
          <a:xfrm>
            <a:off x="1187900" y="4520988"/>
            <a:ext cx="15478200" cy="12600"/>
          </a:xfrm>
          <a:prstGeom prst="straightConnector1">
            <a:avLst/>
          </a:prstGeom>
          <a:noFill/>
          <a:ln cap="flat" cmpd="sng" w="28575">
            <a:solidFill>
              <a:srgbClr val="FF0000"/>
            </a:solidFill>
            <a:prstDash val="solid"/>
            <a:round/>
            <a:headEnd len="med" w="med" type="none"/>
            <a:tailEnd len="med" w="med" type="none"/>
          </a:ln>
        </p:spPr>
      </p:cxnSp>
      <p:cxnSp>
        <p:nvCxnSpPr>
          <p:cNvPr id="791" name="Google Shape;791;p48"/>
          <p:cNvCxnSpPr/>
          <p:nvPr/>
        </p:nvCxnSpPr>
        <p:spPr>
          <a:xfrm>
            <a:off x="1187900" y="5015563"/>
            <a:ext cx="11681100" cy="10500"/>
          </a:xfrm>
          <a:prstGeom prst="straightConnector1">
            <a:avLst/>
          </a:prstGeom>
          <a:noFill/>
          <a:ln cap="flat" cmpd="sng" w="28575">
            <a:solidFill>
              <a:srgbClr val="FF0000"/>
            </a:solidFill>
            <a:prstDash val="solid"/>
            <a:round/>
            <a:headEnd len="med" w="med" type="none"/>
            <a:tailEnd len="med" w="med" type="none"/>
          </a:ln>
        </p:spPr>
      </p:cxnSp>
      <p:sp>
        <p:nvSpPr>
          <p:cNvPr id="792" name="Google Shape;792;p48"/>
          <p:cNvSpPr/>
          <p:nvPr/>
        </p:nvSpPr>
        <p:spPr>
          <a:xfrm>
            <a:off x="14967875" y="8767775"/>
            <a:ext cx="1360800" cy="938700"/>
          </a:xfrm>
          <a:prstGeom prst="rightArrow">
            <a:avLst>
              <a:gd fmla="val 50000" name="adj1"/>
              <a:gd fmla="val 50000" name="adj2"/>
            </a:avLst>
          </a:prstGeom>
          <a:solidFill>
            <a:srgbClr val="00BF6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3000">
                <a:latin typeface="Calibri"/>
                <a:ea typeface="Calibri"/>
                <a:cs typeface="Calibri"/>
                <a:sym typeface="Calibri"/>
              </a:rPr>
              <a:t>7E</a:t>
            </a:r>
            <a:endParaRPr sz="3000">
              <a:latin typeface="Calibri"/>
              <a:ea typeface="Calibri"/>
              <a:cs typeface="Calibri"/>
              <a:sym typeface="Calibri"/>
            </a:endParaRPr>
          </a:p>
        </p:txBody>
      </p:sp>
      <p:sp>
        <p:nvSpPr>
          <p:cNvPr id="793" name="Google Shape;793;p48"/>
          <p:cNvSpPr txBox="1"/>
          <p:nvPr/>
        </p:nvSpPr>
        <p:spPr>
          <a:xfrm>
            <a:off x="1175475" y="5284100"/>
            <a:ext cx="5874900" cy="2916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US" sz="2900">
                <a:solidFill>
                  <a:schemeClr val="dk1"/>
                </a:solidFill>
                <a:latin typeface="Calibri"/>
                <a:ea typeface="Calibri"/>
                <a:cs typeface="Calibri"/>
                <a:sym typeface="Calibri"/>
              </a:rPr>
              <a:t>List of headings</a:t>
            </a:r>
            <a:endParaRPr b="1"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A. Life on Mars</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B. Is space the future for mankind?</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C. The difficulties of living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D. A successful outcome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E. A distant new world</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F. Imitating life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G. A long journey in space</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H. Only an experiment</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t/>
            </a:r>
            <a:endParaRPr b="1" sz="2900">
              <a:solidFill>
                <a:schemeClr val="dk1"/>
              </a:solidFill>
              <a:latin typeface="Calibri"/>
              <a:ea typeface="Calibri"/>
              <a:cs typeface="Calibri"/>
              <a:sym typeface="Calibri"/>
            </a:endParaRPr>
          </a:p>
        </p:txBody>
      </p:sp>
      <p:sp>
        <p:nvSpPr>
          <p:cNvPr id="794" name="Google Shape;794;p48"/>
          <p:cNvSpPr txBox="1"/>
          <p:nvPr/>
        </p:nvSpPr>
        <p:spPr>
          <a:xfrm>
            <a:off x="8270124" y="5284100"/>
            <a:ext cx="8549100" cy="29166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None/>
            </a:pPr>
            <a:r>
              <a:rPr b="1" lang="en-US" sz="2900">
                <a:solidFill>
                  <a:schemeClr val="dk1"/>
                </a:solidFill>
                <a:latin typeface="Calibri"/>
                <a:ea typeface="Calibri"/>
                <a:cs typeface="Calibri"/>
                <a:sym typeface="Calibri"/>
              </a:rPr>
              <a:t>Danh sách tiêu đề</a:t>
            </a:r>
            <a:endParaRPr b="1"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A. Sự sống trên sao Hỏa</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B. Không gian có phải là tương lai của nhân loại không?</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C. Những khó khăn khi sống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D. Một kết quả thành công</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E. Một thế giới mới xa xôi</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F. Mô phỏng sự sống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G. Một hành trình dài trong không gian</a:t>
            </a:r>
            <a:endParaRPr sz="2900">
              <a:solidFill>
                <a:schemeClr val="dk1"/>
              </a:solidFill>
              <a:latin typeface="Calibri"/>
              <a:ea typeface="Calibri"/>
              <a:cs typeface="Calibri"/>
              <a:sym typeface="Calibri"/>
            </a:endParaRPr>
          </a:p>
          <a:p>
            <a:pPr indent="0" lvl="0" marL="0" rtl="0" algn="just">
              <a:lnSpc>
                <a:spcPct val="115000"/>
              </a:lnSpc>
              <a:spcBef>
                <a:spcPts val="0"/>
              </a:spcBef>
              <a:spcAft>
                <a:spcPts val="0"/>
              </a:spcAft>
              <a:buNone/>
            </a:pPr>
            <a:r>
              <a:rPr lang="en-US" sz="2900">
                <a:solidFill>
                  <a:schemeClr val="dk1"/>
                </a:solidFill>
                <a:latin typeface="Calibri"/>
                <a:ea typeface="Calibri"/>
                <a:cs typeface="Calibri"/>
                <a:sym typeface="Calibri"/>
              </a:rPr>
              <a:t>H. Chỉ là một thí nghiệm</a:t>
            </a:r>
            <a:endParaRPr sz="29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786"/>
                                        </p:tgtEl>
                                        <p:attrNameLst>
                                          <p:attrName>style.visibility</p:attrName>
                                        </p:attrNameLst>
                                      </p:cBhvr>
                                      <p:to>
                                        <p:strVal val="visible"/>
                                      </p:to>
                                    </p:set>
                                    <p:animEffect filter="fade" transition="in">
                                      <p:cBhvr>
                                        <p:cTn dur="500"/>
                                        <p:tgtEl>
                                          <p:spTgt spid="7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cxnSp>
        <p:nvCxnSpPr>
          <p:cNvPr id="800" name="Google Shape;800;p49"/>
          <p:cNvCxnSpPr/>
          <p:nvPr/>
        </p:nvCxnSpPr>
        <p:spPr>
          <a:xfrm>
            <a:off x="7537495" y="1580138"/>
            <a:ext cx="9743700" cy="7500"/>
          </a:xfrm>
          <a:prstGeom prst="straightConnector1">
            <a:avLst/>
          </a:prstGeom>
          <a:noFill/>
          <a:ln cap="flat" cmpd="sng" w="38100">
            <a:solidFill>
              <a:srgbClr val="018345"/>
            </a:solidFill>
            <a:prstDash val="solid"/>
            <a:round/>
            <a:headEnd len="sm" w="sm" type="none"/>
            <a:tailEnd len="sm" w="sm" type="none"/>
          </a:ln>
        </p:spPr>
      </p:cxnSp>
      <p:grpSp>
        <p:nvGrpSpPr>
          <p:cNvPr id="801" name="Google Shape;801;p49"/>
          <p:cNvGrpSpPr/>
          <p:nvPr/>
        </p:nvGrpSpPr>
        <p:grpSpPr>
          <a:xfrm rot="10800000">
            <a:off x="15785084" y="-536938"/>
            <a:ext cx="7681773" cy="4260605"/>
            <a:chOff x="0" y="-38100"/>
            <a:chExt cx="406400" cy="225405"/>
          </a:xfrm>
        </p:grpSpPr>
        <p:sp>
          <p:nvSpPr>
            <p:cNvPr id="802" name="Google Shape;802;p49"/>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803" name="Google Shape;803;p49"/>
            <p:cNvSpPr txBox="1"/>
            <p:nvPr/>
          </p:nvSpPr>
          <p:spPr>
            <a:xfrm>
              <a:off x="127000" y="-38100"/>
              <a:ext cx="152400" cy="225300"/>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804" name="Google Shape;804;p49"/>
          <p:cNvSpPr/>
          <p:nvPr/>
        </p:nvSpPr>
        <p:spPr>
          <a:xfrm>
            <a:off x="18099269" y="1809027"/>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3">
              <a:alphaModFix/>
            </a:blip>
            <a:stretch>
              <a:fillRect b="0" l="0" r="0" t="0"/>
            </a:stretch>
          </a:blipFill>
          <a:ln>
            <a:noFill/>
          </a:ln>
        </p:spPr>
      </p:sp>
      <p:sp>
        <p:nvSpPr>
          <p:cNvPr id="805" name="Google Shape;805;p49"/>
          <p:cNvSpPr txBox="1"/>
          <p:nvPr/>
        </p:nvSpPr>
        <p:spPr>
          <a:xfrm>
            <a:off x="4977850" y="657400"/>
            <a:ext cx="15336900" cy="538800"/>
          </a:xfrm>
          <a:prstGeom prst="rect">
            <a:avLst/>
          </a:prstGeom>
          <a:noFill/>
          <a:ln>
            <a:noFill/>
          </a:ln>
        </p:spPr>
        <p:txBody>
          <a:bodyPr anchorCtr="0" anchor="t" bIns="0" lIns="0" spcFirstLastPara="1" rIns="0" wrap="square" tIns="0">
            <a:spAutoFit/>
          </a:bodyPr>
          <a:lstStyle/>
          <a:p>
            <a:pPr indent="0" lvl="0" marL="0" rtl="0" algn="ctr">
              <a:lnSpc>
                <a:spcPct val="123833"/>
              </a:lnSpc>
              <a:spcBef>
                <a:spcPts val="0"/>
              </a:spcBef>
              <a:spcAft>
                <a:spcPts val="0"/>
              </a:spcAft>
              <a:buSzPts val="1100"/>
              <a:buNone/>
            </a:pPr>
            <a:r>
              <a:rPr b="1" lang="en-US" sz="3500">
                <a:solidFill>
                  <a:srgbClr val="018345"/>
                </a:solidFill>
                <a:latin typeface="Montserrat"/>
                <a:ea typeface="Montserrat"/>
                <a:cs typeface="Montserrat"/>
                <a:sym typeface="Montserrat"/>
              </a:rPr>
              <a:t>Bước 4: Học từ vựng (Khi ôn luyện)</a:t>
            </a:r>
            <a:endParaRPr b="1" sz="3500">
              <a:solidFill>
                <a:srgbClr val="018345"/>
              </a:solidFill>
              <a:latin typeface="Montserrat"/>
              <a:ea typeface="Montserrat"/>
              <a:cs typeface="Montserrat"/>
              <a:sym typeface="Montserrat"/>
            </a:endParaRPr>
          </a:p>
        </p:txBody>
      </p:sp>
      <p:sp>
        <p:nvSpPr>
          <p:cNvPr id="806" name="Google Shape;806;p49"/>
          <p:cNvSpPr txBox="1"/>
          <p:nvPr/>
        </p:nvSpPr>
        <p:spPr>
          <a:xfrm>
            <a:off x="7537500" y="2456275"/>
            <a:ext cx="9290100" cy="6377700"/>
          </a:xfrm>
          <a:prstGeom prst="rect">
            <a:avLst/>
          </a:prstGeom>
          <a:noFill/>
          <a:ln>
            <a:noFill/>
          </a:ln>
        </p:spPr>
        <p:txBody>
          <a:bodyPr anchorCtr="0" anchor="t" bIns="91425" lIns="91425" spcFirstLastPara="1" rIns="91425" wrap="square" tIns="91425">
            <a:noAutofit/>
          </a:bodyPr>
          <a:lstStyle/>
          <a:p>
            <a:pPr indent="0" lvl="0" marL="0" rtl="0" algn="just">
              <a:lnSpc>
                <a:spcPct val="150000"/>
              </a:lnSpc>
              <a:spcBef>
                <a:spcPts val="0"/>
              </a:spcBef>
              <a:spcAft>
                <a:spcPts val="0"/>
              </a:spcAft>
              <a:buNone/>
            </a:pPr>
            <a:r>
              <a:rPr b="1" lang="en-US" sz="3400">
                <a:solidFill>
                  <a:schemeClr val="dk1"/>
                </a:solidFill>
                <a:latin typeface="Calibri"/>
                <a:ea typeface="Calibri"/>
                <a:cs typeface="Calibri"/>
                <a:sym typeface="Calibri"/>
              </a:rPr>
              <a:t>Từ vựng</a:t>
            </a:r>
            <a:endParaRPr b="1"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Clr>
                <a:schemeClr val="dk1"/>
              </a:buClr>
              <a:buSzPts val="1100"/>
              <a:buFont typeface="Arial"/>
              <a:buNone/>
            </a:pPr>
            <a:r>
              <a:rPr lang="en-US" sz="3400">
                <a:solidFill>
                  <a:schemeClr val="dk1"/>
                </a:solidFill>
                <a:latin typeface="Calibri"/>
                <a:ea typeface="Calibri"/>
                <a:cs typeface="Calibri"/>
                <a:sym typeface="Calibri"/>
              </a:rPr>
              <a:t>dry and dusty: khô và bụi</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Clr>
                <a:schemeClr val="dk1"/>
              </a:buClr>
              <a:buSzPts val="1100"/>
              <a:buFont typeface="Arial"/>
              <a:buNone/>
            </a:pPr>
            <a:r>
              <a:rPr lang="en-US" sz="3400">
                <a:solidFill>
                  <a:schemeClr val="dk1"/>
                </a:solidFill>
                <a:latin typeface="Calibri"/>
                <a:ea typeface="Calibri"/>
                <a:cs typeface="Calibri"/>
                <a:sym typeface="Calibri"/>
              </a:rPr>
              <a:t>suitable: phù hợp</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Clr>
                <a:schemeClr val="dk1"/>
              </a:buClr>
              <a:buSzPts val="1100"/>
              <a:buFont typeface="Arial"/>
              <a:buNone/>
            </a:pPr>
            <a:r>
              <a:rPr lang="en-US" sz="3400">
                <a:solidFill>
                  <a:schemeClr val="dk1"/>
                </a:solidFill>
                <a:latin typeface="Calibri"/>
                <a:ea typeface="Calibri"/>
                <a:cs typeface="Calibri"/>
                <a:sym typeface="Calibri"/>
              </a:rPr>
              <a:t>habitation: nơi ở</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Clr>
                <a:schemeClr val="dk1"/>
              </a:buClr>
              <a:buSzPts val="1100"/>
              <a:buFont typeface="Arial"/>
              <a:buNone/>
            </a:pPr>
            <a:r>
              <a:rPr lang="en-US" sz="3400">
                <a:solidFill>
                  <a:schemeClr val="dk1"/>
                </a:solidFill>
                <a:latin typeface="Calibri"/>
                <a:ea typeface="Calibri"/>
                <a:cs typeface="Calibri"/>
                <a:sym typeface="Calibri"/>
              </a:rPr>
              <a:t>sustain: duy trì</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Clr>
                <a:schemeClr val="dk1"/>
              </a:buClr>
              <a:buSzPts val="1100"/>
              <a:buFont typeface="Arial"/>
              <a:buNone/>
            </a:pPr>
            <a:r>
              <a:rPr lang="en-US" sz="3400">
                <a:solidFill>
                  <a:schemeClr val="dk1"/>
                </a:solidFill>
                <a:latin typeface="Calibri"/>
                <a:ea typeface="Calibri"/>
                <a:cs typeface="Calibri"/>
                <a:sym typeface="Calibri"/>
              </a:rPr>
              <a:t>candidate: ứng viên</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Clr>
                <a:schemeClr val="dk1"/>
              </a:buClr>
              <a:buSzPts val="1100"/>
              <a:buFont typeface="Arial"/>
              <a:buNone/>
            </a:pPr>
            <a:r>
              <a:rPr lang="en-US" sz="3400">
                <a:solidFill>
                  <a:schemeClr val="dk1"/>
                </a:solidFill>
                <a:latin typeface="Calibri"/>
                <a:ea typeface="Calibri"/>
                <a:cs typeface="Calibri"/>
                <a:sym typeface="Calibri"/>
              </a:rPr>
              <a:t>human reach: tầm với của con người</a:t>
            </a:r>
            <a:endParaRPr sz="3400">
              <a:solidFill>
                <a:schemeClr val="dk1"/>
              </a:solidFill>
              <a:latin typeface="Calibri"/>
              <a:ea typeface="Calibri"/>
              <a:cs typeface="Calibri"/>
              <a:sym typeface="Calibri"/>
            </a:endParaRPr>
          </a:p>
          <a:p>
            <a:pPr indent="0" lvl="0" marL="0" rtl="0" algn="just">
              <a:lnSpc>
                <a:spcPct val="150000"/>
              </a:lnSpc>
              <a:spcBef>
                <a:spcPts val="0"/>
              </a:spcBef>
              <a:spcAft>
                <a:spcPts val="0"/>
              </a:spcAft>
              <a:buNone/>
            </a:pPr>
            <a:r>
              <a:rPr lang="en-US" sz="3400">
                <a:solidFill>
                  <a:schemeClr val="dk1"/>
                </a:solidFill>
                <a:latin typeface="Calibri"/>
                <a:ea typeface="Calibri"/>
                <a:cs typeface="Calibri"/>
                <a:sym typeface="Calibri"/>
              </a:rPr>
              <a:t>generation: thế hệ</a:t>
            </a:r>
            <a:endParaRPr sz="34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805"/>
                                        </p:tgtEl>
                                        <p:attrNameLst>
                                          <p:attrName>style.visibility</p:attrName>
                                        </p:attrNameLst>
                                      </p:cBhvr>
                                      <p:to>
                                        <p:strVal val="visible"/>
                                      </p:to>
                                    </p:set>
                                    <p:animEffect filter="fade" transition="in">
                                      <p:cBhvr>
                                        <p:cTn dur="500"/>
                                        <p:tgtEl>
                                          <p:spTgt spid="80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cxnSp>
        <p:nvCxnSpPr>
          <p:cNvPr id="811" name="Google Shape;811;p50"/>
          <p:cNvCxnSpPr/>
          <p:nvPr/>
        </p:nvCxnSpPr>
        <p:spPr>
          <a:xfrm>
            <a:off x="5693855" y="2235185"/>
            <a:ext cx="11307428" cy="0"/>
          </a:xfrm>
          <a:prstGeom prst="straightConnector1">
            <a:avLst/>
          </a:prstGeom>
          <a:noFill/>
          <a:ln cap="flat" cmpd="sng" w="38100">
            <a:solidFill>
              <a:srgbClr val="018345"/>
            </a:solidFill>
            <a:prstDash val="solid"/>
            <a:round/>
            <a:headEnd len="sm" w="sm" type="none"/>
            <a:tailEnd len="sm" w="sm" type="none"/>
          </a:ln>
        </p:spPr>
      </p:cxnSp>
      <p:cxnSp>
        <p:nvCxnSpPr>
          <p:cNvPr id="812" name="Google Shape;812;p50"/>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813" name="Google Shape;813;p50"/>
          <p:cNvGrpSpPr/>
          <p:nvPr/>
        </p:nvGrpSpPr>
        <p:grpSpPr>
          <a:xfrm rot="10800000">
            <a:off x="15044552" y="-741521"/>
            <a:ext cx="7681766" cy="4260610"/>
            <a:chOff x="0" y="-38100"/>
            <a:chExt cx="406400" cy="225405"/>
          </a:xfrm>
        </p:grpSpPr>
        <p:sp>
          <p:nvSpPr>
            <p:cNvPr id="814" name="Google Shape;814;p50"/>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815" name="Google Shape;815;p50"/>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816" name="Google Shape;816;p50"/>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817" name="Google Shape;817;p50"/>
          <p:cNvSpPr/>
          <p:nvPr/>
        </p:nvSpPr>
        <p:spPr>
          <a:xfrm>
            <a:off x="18157088" y="276119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sp>
        <p:nvSpPr>
          <p:cNvPr id="818" name="Google Shape;818;p50"/>
          <p:cNvSpPr txBox="1"/>
          <p:nvPr/>
        </p:nvSpPr>
        <p:spPr>
          <a:xfrm>
            <a:off x="6705600" y="2324100"/>
            <a:ext cx="9930052" cy="1266885"/>
          </a:xfrm>
          <a:prstGeom prst="rect">
            <a:avLst/>
          </a:prstGeom>
          <a:noFill/>
          <a:ln>
            <a:noFill/>
          </a:ln>
        </p:spPr>
        <p:txBody>
          <a:bodyPr anchorCtr="0" anchor="t" bIns="0" lIns="0" spcFirstLastPara="1" rIns="0" wrap="square" tIns="0">
            <a:spAutoFit/>
          </a:bodyPr>
          <a:lstStyle/>
          <a:p>
            <a:pPr indent="0" lvl="0" marL="0" marR="0" rtl="0" algn="ctr">
              <a:lnSpc>
                <a:spcPct val="150069"/>
              </a:lnSpc>
              <a:spcBef>
                <a:spcPts val="0"/>
              </a:spcBef>
              <a:spcAft>
                <a:spcPts val="0"/>
              </a:spcAft>
              <a:buNone/>
            </a:pPr>
            <a:r>
              <a:rPr b="1" lang="en-US" sz="7200">
                <a:solidFill>
                  <a:srgbClr val="018345"/>
                </a:solidFill>
                <a:latin typeface="Montserrat"/>
                <a:ea typeface="Montserrat"/>
                <a:cs typeface="Montserrat"/>
                <a:sym typeface="Montserrat"/>
              </a:rPr>
              <a:t>Luyện tập</a:t>
            </a:r>
            <a:endParaRPr b="1" sz="7200">
              <a:solidFill>
                <a:srgbClr val="018345"/>
              </a:solidFill>
              <a:latin typeface="Montserrat"/>
              <a:ea typeface="Montserrat"/>
              <a:cs typeface="Montserrat"/>
              <a:sym typeface="Montserrat"/>
            </a:endParaRPr>
          </a:p>
        </p:txBody>
      </p:sp>
      <p:sp>
        <p:nvSpPr>
          <p:cNvPr id="819" name="Google Shape;819;p50"/>
          <p:cNvSpPr txBox="1"/>
          <p:nvPr/>
        </p:nvSpPr>
        <p:spPr>
          <a:xfrm>
            <a:off x="10182106" y="339710"/>
            <a:ext cx="2202732" cy="1895475"/>
          </a:xfrm>
          <a:prstGeom prst="rect">
            <a:avLst/>
          </a:prstGeom>
          <a:noFill/>
          <a:ln>
            <a:noFill/>
          </a:ln>
        </p:spPr>
        <p:txBody>
          <a:bodyPr anchorCtr="0" anchor="t" bIns="0" lIns="0" spcFirstLastPara="1" rIns="0" wrap="square" tIns="0">
            <a:spAutoFit/>
          </a:bodyPr>
          <a:lstStyle/>
          <a:p>
            <a:pPr indent="0" lvl="0" marL="0" marR="0" rtl="0" algn="ctr">
              <a:lnSpc>
                <a:spcPct val="119998"/>
              </a:lnSpc>
              <a:spcBef>
                <a:spcPts val="0"/>
              </a:spcBef>
              <a:spcAft>
                <a:spcPts val="0"/>
              </a:spcAft>
              <a:buNone/>
            </a:pPr>
            <a:r>
              <a:rPr b="1" lang="en-US" sz="12461">
                <a:solidFill>
                  <a:srgbClr val="018345"/>
                </a:solidFill>
                <a:latin typeface="Montserrat"/>
                <a:ea typeface="Montserrat"/>
                <a:cs typeface="Montserrat"/>
                <a:sym typeface="Montserrat"/>
              </a:rPr>
              <a:t>05</a:t>
            </a:r>
            <a:endParaRPr/>
          </a:p>
        </p:txBody>
      </p:sp>
      <p:grpSp>
        <p:nvGrpSpPr>
          <p:cNvPr id="820" name="Google Shape;820;p50"/>
          <p:cNvGrpSpPr/>
          <p:nvPr/>
        </p:nvGrpSpPr>
        <p:grpSpPr>
          <a:xfrm>
            <a:off x="-2718010" y="9274528"/>
            <a:ext cx="7950400" cy="1707231"/>
            <a:chOff x="0" y="-384762"/>
            <a:chExt cx="10600533" cy="2276307"/>
          </a:xfrm>
        </p:grpSpPr>
        <p:grpSp>
          <p:nvGrpSpPr>
            <p:cNvPr id="821" name="Google Shape;821;p50"/>
            <p:cNvGrpSpPr/>
            <p:nvPr/>
          </p:nvGrpSpPr>
          <p:grpSpPr>
            <a:xfrm>
              <a:off x="0" y="-384762"/>
              <a:ext cx="10600533" cy="2276307"/>
              <a:chOff x="0" y="-38100"/>
              <a:chExt cx="1049690" cy="225405"/>
            </a:xfrm>
          </p:grpSpPr>
          <p:sp>
            <p:nvSpPr>
              <p:cNvPr id="822" name="Google Shape;822;p50"/>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823" name="Google Shape;823;p50"/>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824" name="Google Shape;824;p50"/>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pic>
        <p:nvPicPr>
          <p:cNvPr id="825" name="Google Shape;825;p50"/>
          <p:cNvPicPr preferRelativeResize="0"/>
          <p:nvPr/>
        </p:nvPicPr>
        <p:blipFill rotWithShape="1">
          <a:blip r:embed="rId5">
            <a:alphaModFix/>
          </a:blip>
          <a:srcRect b="0" l="0" r="0" t="0"/>
          <a:stretch/>
        </p:blipFill>
        <p:spPr>
          <a:xfrm>
            <a:off x="8915400" y="3956510"/>
            <a:ext cx="5962650" cy="5962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3" presetSubtype="16">
                                  <p:stCondLst>
                                    <p:cond delay="0"/>
                                  </p:stCondLst>
                                  <p:childTnLst>
                                    <p:set>
                                      <p:cBhvr>
                                        <p:cTn dur="1" fill="hold">
                                          <p:stCondLst>
                                            <p:cond delay="0"/>
                                          </p:stCondLst>
                                        </p:cTn>
                                        <p:tgtEl>
                                          <p:spTgt spid="819"/>
                                        </p:tgtEl>
                                        <p:attrNameLst>
                                          <p:attrName>style.visibility</p:attrName>
                                        </p:attrNameLst>
                                      </p:cBhvr>
                                      <p:to>
                                        <p:strVal val="visible"/>
                                      </p:to>
                                    </p:set>
                                    <p:anim calcmode="lin" valueType="num">
                                      <p:cBhvr additive="base">
                                        <p:cTn dur="500"/>
                                        <p:tgtEl>
                                          <p:spTgt spid="819"/>
                                        </p:tgtEl>
                                        <p:attrNameLst>
                                          <p:attrName>ppt_w</p:attrName>
                                        </p:attrNameLst>
                                      </p:cBhvr>
                                      <p:tavLst>
                                        <p:tav fmla="" tm="0">
                                          <p:val>
                                            <p:strVal val="0"/>
                                          </p:val>
                                        </p:tav>
                                        <p:tav fmla="" tm="100000">
                                          <p:val>
                                            <p:strVal val="#ppt_w"/>
                                          </p:val>
                                        </p:tav>
                                      </p:tavLst>
                                    </p:anim>
                                    <p:anim calcmode="lin" valueType="num">
                                      <p:cBhvr additive="base">
                                        <p:cTn dur="500"/>
                                        <p:tgtEl>
                                          <p:spTgt spid="819"/>
                                        </p:tgtEl>
                                        <p:attrNameLst>
                                          <p:attrName>ppt_h</p:attrName>
                                        </p:attrNameLst>
                                      </p:cBhvr>
                                      <p:tavLst>
                                        <p:tav fmla="" tm="0">
                                          <p:val>
                                            <p:strVal val="0"/>
                                          </p:val>
                                        </p:tav>
                                        <p:tav fmla="" tm="100000">
                                          <p:val>
                                            <p:strVal val="#ppt_h"/>
                                          </p:val>
                                        </p:tav>
                                      </p:tavLst>
                                    </p:anim>
                                  </p:childTnLst>
                                </p:cTn>
                              </p:par>
                              <p:par>
                                <p:cTn fill="hold" nodeType="withEffect" presetClass="entr" presetID="23" presetSubtype="16">
                                  <p:stCondLst>
                                    <p:cond delay="0"/>
                                  </p:stCondLst>
                                  <p:childTnLst>
                                    <p:set>
                                      <p:cBhvr>
                                        <p:cTn dur="1" fill="hold">
                                          <p:stCondLst>
                                            <p:cond delay="0"/>
                                          </p:stCondLst>
                                        </p:cTn>
                                        <p:tgtEl>
                                          <p:spTgt spid="818"/>
                                        </p:tgtEl>
                                        <p:attrNameLst>
                                          <p:attrName>style.visibility</p:attrName>
                                        </p:attrNameLst>
                                      </p:cBhvr>
                                      <p:to>
                                        <p:strVal val="visible"/>
                                      </p:to>
                                    </p:set>
                                    <p:anim calcmode="lin" valueType="num">
                                      <p:cBhvr additive="base">
                                        <p:cTn dur="500"/>
                                        <p:tgtEl>
                                          <p:spTgt spid="818"/>
                                        </p:tgtEl>
                                        <p:attrNameLst>
                                          <p:attrName>ppt_w</p:attrName>
                                        </p:attrNameLst>
                                      </p:cBhvr>
                                      <p:tavLst>
                                        <p:tav fmla="" tm="0">
                                          <p:val>
                                            <p:strVal val="0"/>
                                          </p:val>
                                        </p:tav>
                                        <p:tav fmla="" tm="100000">
                                          <p:val>
                                            <p:strVal val="#ppt_w"/>
                                          </p:val>
                                        </p:tav>
                                      </p:tavLst>
                                    </p:anim>
                                    <p:anim calcmode="lin" valueType="num">
                                      <p:cBhvr additive="base">
                                        <p:cTn dur="500"/>
                                        <p:tgtEl>
                                          <p:spTgt spid="818"/>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0" name="Shape 830"/>
        <p:cNvGrpSpPr/>
        <p:nvPr/>
      </p:nvGrpSpPr>
      <p:grpSpPr>
        <a:xfrm>
          <a:off x="0" y="0"/>
          <a:ext cx="0" cy="0"/>
          <a:chOff x="0" y="0"/>
          <a:chExt cx="0" cy="0"/>
        </a:xfrm>
      </p:grpSpPr>
      <p:cxnSp>
        <p:nvCxnSpPr>
          <p:cNvPr id="831" name="Google Shape;831;p51"/>
          <p:cNvCxnSpPr/>
          <p:nvPr/>
        </p:nvCxnSpPr>
        <p:spPr>
          <a:xfrm>
            <a:off x="5693855" y="2057171"/>
            <a:ext cx="11307428" cy="0"/>
          </a:xfrm>
          <a:prstGeom prst="straightConnector1">
            <a:avLst/>
          </a:prstGeom>
          <a:noFill/>
          <a:ln cap="flat" cmpd="sng" w="38100">
            <a:solidFill>
              <a:srgbClr val="018345"/>
            </a:solidFill>
            <a:prstDash val="solid"/>
            <a:round/>
            <a:headEnd len="sm" w="sm" type="none"/>
            <a:tailEnd len="sm" w="sm" type="none"/>
          </a:ln>
        </p:spPr>
      </p:cxnSp>
      <p:cxnSp>
        <p:nvCxnSpPr>
          <p:cNvPr id="832" name="Google Shape;832;p51"/>
          <p:cNvCxnSpPr/>
          <p:nvPr/>
        </p:nvCxnSpPr>
        <p:spPr>
          <a:xfrm>
            <a:off x="-249883" y="5124450"/>
            <a:ext cx="5303520" cy="0"/>
          </a:xfrm>
          <a:prstGeom prst="straightConnector1">
            <a:avLst/>
          </a:prstGeom>
          <a:noFill/>
          <a:ln cap="flat" cmpd="sng" w="38100">
            <a:solidFill>
              <a:srgbClr val="FFFFFF"/>
            </a:solidFill>
            <a:prstDash val="solid"/>
            <a:round/>
            <a:headEnd len="sm" w="sm" type="none"/>
            <a:tailEnd len="sm" w="sm" type="none"/>
          </a:ln>
        </p:spPr>
      </p:cxnSp>
      <p:grpSp>
        <p:nvGrpSpPr>
          <p:cNvPr id="833" name="Google Shape;833;p51"/>
          <p:cNvGrpSpPr/>
          <p:nvPr/>
        </p:nvGrpSpPr>
        <p:grpSpPr>
          <a:xfrm rot="10800000">
            <a:off x="15044552" y="-741521"/>
            <a:ext cx="7681766" cy="4260610"/>
            <a:chOff x="0" y="-38100"/>
            <a:chExt cx="406400" cy="225405"/>
          </a:xfrm>
        </p:grpSpPr>
        <p:sp>
          <p:nvSpPr>
            <p:cNvPr id="834" name="Google Shape;834;p51"/>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345">
                <a:alpha val="80000"/>
              </a:srgbClr>
            </a:solidFill>
            <a:ln>
              <a:noFill/>
            </a:ln>
          </p:spPr>
        </p:sp>
        <p:sp>
          <p:nvSpPr>
            <p:cNvPr id="835" name="Google Shape;835;p51"/>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descr="Books with solid fill" id="836" name="Google Shape;836;p51"/>
          <p:cNvSpPr/>
          <p:nvPr/>
        </p:nvSpPr>
        <p:spPr>
          <a:xfrm>
            <a:off x="3241317" y="6937835"/>
            <a:ext cx="796998" cy="796998"/>
          </a:xfrm>
          <a:custGeom>
            <a:rect b="b" l="l" r="r" t="t"/>
            <a:pathLst>
              <a:path extrusionOk="0" h="796998" w="796998">
                <a:moveTo>
                  <a:pt x="0" y="0"/>
                </a:moveTo>
                <a:lnTo>
                  <a:pt x="796998" y="0"/>
                </a:lnTo>
                <a:lnTo>
                  <a:pt x="796998" y="796998"/>
                </a:lnTo>
                <a:lnTo>
                  <a:pt x="0" y="796998"/>
                </a:lnTo>
                <a:lnTo>
                  <a:pt x="0" y="0"/>
                </a:lnTo>
                <a:close/>
              </a:path>
            </a:pathLst>
          </a:custGeom>
          <a:blipFill rotWithShape="1">
            <a:blip r:embed="rId3">
              <a:alphaModFix/>
            </a:blip>
            <a:stretch>
              <a:fillRect b="0" l="0" r="0" t="0"/>
            </a:stretch>
          </a:blipFill>
          <a:ln>
            <a:noFill/>
          </a:ln>
        </p:spPr>
      </p:sp>
      <p:sp>
        <p:nvSpPr>
          <p:cNvPr id="837" name="Google Shape;837;p51"/>
          <p:cNvSpPr/>
          <p:nvPr/>
        </p:nvSpPr>
        <p:spPr>
          <a:xfrm>
            <a:off x="18157088" y="1714500"/>
            <a:ext cx="647242" cy="647242"/>
          </a:xfrm>
          <a:custGeom>
            <a:rect b="b" l="l" r="r" t="t"/>
            <a:pathLst>
              <a:path extrusionOk="0" h="647242" w="647242">
                <a:moveTo>
                  <a:pt x="0" y="0"/>
                </a:moveTo>
                <a:lnTo>
                  <a:pt x="647242" y="0"/>
                </a:lnTo>
                <a:lnTo>
                  <a:pt x="647242" y="647242"/>
                </a:lnTo>
                <a:lnTo>
                  <a:pt x="0" y="647242"/>
                </a:lnTo>
                <a:lnTo>
                  <a:pt x="0" y="0"/>
                </a:lnTo>
                <a:close/>
              </a:path>
            </a:pathLst>
          </a:custGeom>
          <a:blipFill rotWithShape="1">
            <a:blip r:embed="rId4">
              <a:alphaModFix/>
            </a:blip>
            <a:stretch>
              <a:fillRect b="0" l="0" r="0" t="0"/>
            </a:stretch>
          </a:blipFill>
          <a:ln>
            <a:noFill/>
          </a:ln>
        </p:spPr>
      </p:sp>
      <p:grpSp>
        <p:nvGrpSpPr>
          <p:cNvPr id="838" name="Google Shape;838;p51"/>
          <p:cNvGrpSpPr/>
          <p:nvPr/>
        </p:nvGrpSpPr>
        <p:grpSpPr>
          <a:xfrm rot="10800000">
            <a:off x="15828686" y="-13843"/>
            <a:ext cx="7681766" cy="4260610"/>
            <a:chOff x="0" y="-38100"/>
            <a:chExt cx="406400" cy="225405"/>
          </a:xfrm>
        </p:grpSpPr>
        <p:sp>
          <p:nvSpPr>
            <p:cNvPr id="839" name="Google Shape;839;p51"/>
            <p:cNvSpPr/>
            <p:nvPr/>
          </p:nvSpPr>
          <p:spPr>
            <a:xfrm>
              <a:off x="0" y="0"/>
              <a:ext cx="406400" cy="187305"/>
            </a:xfrm>
            <a:custGeom>
              <a:rect b="b" l="l" r="r" t="t"/>
              <a:pathLst>
                <a:path extrusionOk="0" h="187305" w="406400">
                  <a:moveTo>
                    <a:pt x="203200" y="0"/>
                  </a:moveTo>
                  <a:lnTo>
                    <a:pt x="203200" y="0"/>
                  </a:lnTo>
                  <a:lnTo>
                    <a:pt x="406400" y="187305"/>
                  </a:lnTo>
                  <a:lnTo>
                    <a:pt x="0" y="187305"/>
                  </a:lnTo>
                  <a:lnTo>
                    <a:pt x="203200" y="0"/>
                  </a:lnTo>
                  <a:close/>
                </a:path>
              </a:pathLst>
            </a:custGeom>
            <a:solidFill>
              <a:srgbClr val="018146">
                <a:alpha val="80000"/>
              </a:srgbClr>
            </a:solidFill>
            <a:ln>
              <a:noFill/>
            </a:ln>
          </p:spPr>
        </p:sp>
        <p:sp>
          <p:nvSpPr>
            <p:cNvPr id="840" name="Google Shape;840;p51"/>
            <p:cNvSpPr txBox="1"/>
            <p:nvPr/>
          </p:nvSpPr>
          <p:spPr>
            <a:xfrm>
              <a:off x="127000" y="-38100"/>
              <a:ext cx="15240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841" name="Google Shape;841;p51"/>
          <p:cNvSpPr txBox="1"/>
          <p:nvPr/>
        </p:nvSpPr>
        <p:spPr>
          <a:xfrm>
            <a:off x="5696245" y="2603735"/>
            <a:ext cx="11565445" cy="5114861"/>
          </a:xfrm>
          <a:prstGeom prst="rect">
            <a:avLst/>
          </a:prstGeom>
          <a:noFill/>
          <a:ln>
            <a:noFill/>
          </a:ln>
        </p:spPr>
        <p:txBody>
          <a:bodyPr anchorCtr="0" anchor="t" bIns="0" lIns="0" spcFirstLastPara="1" rIns="0" wrap="square" tIns="0">
            <a:spAutoFit/>
          </a:bodyPr>
          <a:lstStyle/>
          <a:p>
            <a:pPr indent="0" lvl="0" marL="0" marR="0" rtl="0" algn="ctr">
              <a:lnSpc>
                <a:spcPct val="134999"/>
              </a:lnSpc>
              <a:spcBef>
                <a:spcPts val="0"/>
              </a:spcBef>
              <a:spcAft>
                <a:spcPts val="0"/>
              </a:spcAft>
              <a:buNone/>
            </a:pPr>
            <a:r>
              <a:rPr b="1" lang="en-US" sz="10003">
                <a:solidFill>
                  <a:srgbClr val="018345"/>
                </a:solidFill>
                <a:latin typeface="Roboto"/>
                <a:ea typeface="Roboto"/>
                <a:cs typeface="Roboto"/>
                <a:sym typeface="Roboto"/>
              </a:rPr>
              <a:t>Cảm ơn các bạn đã chú ý theo dõi!</a:t>
            </a:r>
            <a:endParaRPr/>
          </a:p>
          <a:p>
            <a:pPr indent="0" lvl="0" marL="0" marR="0" rtl="0" algn="ctr">
              <a:lnSpc>
                <a:spcPct val="134999"/>
              </a:lnSpc>
              <a:spcBef>
                <a:spcPts val="0"/>
              </a:spcBef>
              <a:spcAft>
                <a:spcPts val="0"/>
              </a:spcAft>
              <a:buNone/>
            </a:pPr>
            <a:r>
              <a:t/>
            </a:r>
            <a:endParaRPr b="1" sz="10003">
              <a:solidFill>
                <a:srgbClr val="018345"/>
              </a:solidFill>
              <a:latin typeface="Roboto"/>
              <a:ea typeface="Roboto"/>
              <a:cs typeface="Roboto"/>
              <a:sym typeface="Roboto"/>
            </a:endParaRPr>
          </a:p>
        </p:txBody>
      </p:sp>
      <p:grpSp>
        <p:nvGrpSpPr>
          <p:cNvPr id="842" name="Google Shape;842;p51"/>
          <p:cNvGrpSpPr/>
          <p:nvPr/>
        </p:nvGrpSpPr>
        <p:grpSpPr>
          <a:xfrm>
            <a:off x="5693855" y="6543482"/>
            <a:ext cx="11567835" cy="1261722"/>
            <a:chOff x="5693855" y="7590172"/>
            <a:chExt cx="11567835" cy="1261722"/>
          </a:xfrm>
        </p:grpSpPr>
        <p:grpSp>
          <p:nvGrpSpPr>
            <p:cNvPr id="843" name="Google Shape;843;p51"/>
            <p:cNvGrpSpPr/>
            <p:nvPr/>
          </p:nvGrpSpPr>
          <p:grpSpPr>
            <a:xfrm>
              <a:off x="5693855" y="7590172"/>
              <a:ext cx="11567834" cy="1261722"/>
              <a:chOff x="0" y="-38100"/>
              <a:chExt cx="3046672" cy="332305"/>
            </a:xfrm>
          </p:grpSpPr>
          <p:sp>
            <p:nvSpPr>
              <p:cNvPr id="844" name="Google Shape;844;p51"/>
              <p:cNvSpPr/>
              <p:nvPr/>
            </p:nvSpPr>
            <p:spPr>
              <a:xfrm>
                <a:off x="0" y="0"/>
                <a:ext cx="3046672" cy="294205"/>
              </a:xfrm>
              <a:custGeom>
                <a:rect b="b" l="l" r="r" t="t"/>
                <a:pathLst>
                  <a:path extrusionOk="0" h="294205" w="3046672">
                    <a:moveTo>
                      <a:pt x="0" y="0"/>
                    </a:moveTo>
                    <a:lnTo>
                      <a:pt x="3046672" y="0"/>
                    </a:lnTo>
                    <a:lnTo>
                      <a:pt x="3046672" y="294205"/>
                    </a:lnTo>
                    <a:lnTo>
                      <a:pt x="0" y="294205"/>
                    </a:lnTo>
                    <a:close/>
                  </a:path>
                </a:pathLst>
              </a:custGeom>
              <a:solidFill>
                <a:srgbClr val="006B37"/>
              </a:solidFill>
              <a:ln>
                <a:noFill/>
              </a:ln>
            </p:spPr>
          </p:sp>
          <p:sp>
            <p:nvSpPr>
              <p:cNvPr id="845" name="Google Shape;845;p51"/>
              <p:cNvSpPr txBox="1"/>
              <p:nvPr/>
            </p:nvSpPr>
            <p:spPr>
              <a:xfrm>
                <a:off x="0" y="-38100"/>
                <a:ext cx="3046672" cy="3323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846" name="Google Shape;846;p51"/>
            <p:cNvSpPr txBox="1"/>
            <p:nvPr/>
          </p:nvSpPr>
          <p:spPr>
            <a:xfrm>
              <a:off x="5696245" y="7961575"/>
              <a:ext cx="11565445" cy="596901"/>
            </a:xfrm>
            <a:prstGeom prst="rect">
              <a:avLst/>
            </a:prstGeom>
            <a:noFill/>
            <a:ln>
              <a:noFill/>
            </a:ln>
          </p:spPr>
          <p:txBody>
            <a:bodyPr anchorCtr="0" anchor="t" bIns="0" lIns="0" spcFirstLastPara="1" rIns="0" wrap="square" tIns="0">
              <a:spAutoFit/>
            </a:bodyPr>
            <a:lstStyle/>
            <a:p>
              <a:pPr indent="0" lvl="0" marL="0" marR="0" rtl="0" algn="ctr">
                <a:lnSpc>
                  <a:spcPct val="140011"/>
                </a:lnSpc>
                <a:spcBef>
                  <a:spcPts val="0"/>
                </a:spcBef>
                <a:spcAft>
                  <a:spcPts val="0"/>
                </a:spcAft>
                <a:buNone/>
              </a:pPr>
              <a:r>
                <a:rPr lang="en-US" sz="3499">
                  <a:solidFill>
                    <a:srgbClr val="FFFFFF"/>
                  </a:solidFill>
                  <a:latin typeface="Roboto"/>
                  <a:ea typeface="Roboto"/>
                  <a:cs typeface="Roboto"/>
                  <a:sym typeface="Roboto"/>
                </a:rPr>
                <a:t>Hẹn gặp lại các bạn ở những bài học tiếp theo</a:t>
              </a:r>
              <a:endParaRPr sz="3499">
                <a:solidFill>
                  <a:srgbClr val="FFFFFF"/>
                </a:solidFill>
                <a:latin typeface="Roboto"/>
                <a:ea typeface="Roboto"/>
                <a:cs typeface="Roboto"/>
                <a:sym typeface="Roboto"/>
              </a:endParaRPr>
            </a:p>
          </p:txBody>
        </p:sp>
      </p:grpSp>
      <p:grpSp>
        <p:nvGrpSpPr>
          <p:cNvPr id="847" name="Google Shape;847;p51"/>
          <p:cNvGrpSpPr/>
          <p:nvPr/>
        </p:nvGrpSpPr>
        <p:grpSpPr>
          <a:xfrm>
            <a:off x="-2718010" y="9274528"/>
            <a:ext cx="7950400" cy="1707231"/>
            <a:chOff x="0" y="-384762"/>
            <a:chExt cx="10600533" cy="2276307"/>
          </a:xfrm>
        </p:grpSpPr>
        <p:grpSp>
          <p:nvGrpSpPr>
            <p:cNvPr id="848" name="Google Shape;848;p51"/>
            <p:cNvGrpSpPr/>
            <p:nvPr/>
          </p:nvGrpSpPr>
          <p:grpSpPr>
            <a:xfrm>
              <a:off x="0" y="-384762"/>
              <a:ext cx="10600533" cy="2276307"/>
              <a:chOff x="0" y="-38100"/>
              <a:chExt cx="1049690" cy="225405"/>
            </a:xfrm>
          </p:grpSpPr>
          <p:sp>
            <p:nvSpPr>
              <p:cNvPr id="849" name="Google Shape;849;p51"/>
              <p:cNvSpPr/>
              <p:nvPr/>
            </p:nvSpPr>
            <p:spPr>
              <a:xfrm>
                <a:off x="0" y="0"/>
                <a:ext cx="1049690" cy="187305"/>
              </a:xfrm>
              <a:custGeom>
                <a:rect b="b" l="l" r="r" t="t"/>
                <a:pathLst>
                  <a:path extrusionOk="0" h="187305" w="1049690">
                    <a:moveTo>
                      <a:pt x="203200" y="0"/>
                    </a:moveTo>
                    <a:lnTo>
                      <a:pt x="846490" y="0"/>
                    </a:lnTo>
                    <a:lnTo>
                      <a:pt x="1049690" y="187305"/>
                    </a:lnTo>
                    <a:lnTo>
                      <a:pt x="0" y="187305"/>
                    </a:lnTo>
                    <a:lnTo>
                      <a:pt x="203200" y="0"/>
                    </a:lnTo>
                    <a:close/>
                  </a:path>
                </a:pathLst>
              </a:custGeom>
              <a:solidFill>
                <a:srgbClr val="018345"/>
              </a:solidFill>
              <a:ln>
                <a:noFill/>
              </a:ln>
            </p:spPr>
          </p:sp>
          <p:sp>
            <p:nvSpPr>
              <p:cNvPr id="850" name="Google Shape;850;p51"/>
              <p:cNvSpPr txBox="1"/>
              <p:nvPr/>
            </p:nvSpPr>
            <p:spPr>
              <a:xfrm>
                <a:off x="127000" y="-38100"/>
                <a:ext cx="795690" cy="225405"/>
              </a:xfrm>
              <a:prstGeom prst="rect">
                <a:avLst/>
              </a:prstGeom>
              <a:noFill/>
              <a:ln>
                <a:noFill/>
              </a:ln>
            </p:spPr>
            <p:txBody>
              <a:bodyPr anchorCtr="0" anchor="ctr" bIns="50800" lIns="50800" spcFirstLastPara="1" rIns="50800" wrap="square" tIns="50800">
                <a:noAutofit/>
              </a:bodyPr>
              <a:lstStyle/>
              <a:p>
                <a:pPr indent="0" lvl="0" marL="0" marR="0" rtl="0" algn="ctr">
                  <a:lnSpc>
                    <a:spcPct val="116666"/>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851" name="Google Shape;851;p51"/>
            <p:cNvSpPr txBox="1"/>
            <p:nvPr/>
          </p:nvSpPr>
          <p:spPr>
            <a:xfrm>
              <a:off x="4182979" y="666743"/>
              <a:ext cx="3721150" cy="529484"/>
            </a:xfrm>
            <a:prstGeom prst="rect">
              <a:avLst/>
            </a:prstGeom>
            <a:noFill/>
            <a:ln>
              <a:noFill/>
            </a:ln>
          </p:spPr>
          <p:txBody>
            <a:bodyPr anchorCtr="0" anchor="t" bIns="0" lIns="0" spcFirstLastPara="1" rIns="0" wrap="square" tIns="0">
              <a:spAutoFit/>
            </a:bodyPr>
            <a:lstStyle/>
            <a:p>
              <a:pPr indent="0" lvl="0" marL="0" marR="0" rtl="0" algn="l">
                <a:lnSpc>
                  <a:spcPct val="179277"/>
                </a:lnSpc>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841"/>
                                        </p:tgtEl>
                                        <p:attrNameLst>
                                          <p:attrName>style.visibility</p:attrName>
                                        </p:attrNameLst>
                                      </p:cBhvr>
                                      <p:to>
                                        <p:strVal val="visible"/>
                                      </p:to>
                                    </p:set>
                                  </p:childTnLst>
                                </p:cTn>
                              </p:par>
                              <p:par>
                                <p:cTn fill="hold" nodeType="withEffect" presetClass="entr" presetID="23" presetSubtype="16">
                                  <p:stCondLst>
                                    <p:cond delay="0"/>
                                  </p:stCondLst>
                                  <p:childTnLst>
                                    <p:set>
                                      <p:cBhvr>
                                        <p:cTn dur="1" fill="hold">
                                          <p:stCondLst>
                                            <p:cond delay="0"/>
                                          </p:stCondLst>
                                        </p:cTn>
                                        <p:tgtEl>
                                          <p:spTgt spid="841"/>
                                        </p:tgtEl>
                                        <p:attrNameLst>
                                          <p:attrName>style.visibility</p:attrName>
                                        </p:attrNameLst>
                                      </p:cBhvr>
                                      <p:to>
                                        <p:strVal val="visible"/>
                                      </p:to>
                                    </p:set>
                                    <p:anim calcmode="lin" valueType="num">
                                      <p:cBhvr additive="base">
                                        <p:cTn dur="500"/>
                                        <p:tgtEl>
                                          <p:spTgt spid="841"/>
                                        </p:tgtEl>
                                        <p:attrNameLst>
                                          <p:attrName>ppt_w</p:attrName>
                                        </p:attrNameLst>
                                      </p:cBhvr>
                                      <p:tavLst>
                                        <p:tav fmla="" tm="0">
                                          <p:val>
                                            <p:strVal val="0"/>
                                          </p:val>
                                        </p:tav>
                                        <p:tav fmla="" tm="100000">
                                          <p:val>
                                            <p:strVal val="#ppt_w"/>
                                          </p:val>
                                        </p:tav>
                                      </p:tavLst>
                                    </p:anim>
                                    <p:anim calcmode="lin" valueType="num">
                                      <p:cBhvr additive="base">
                                        <p:cTn dur="500"/>
                                        <p:tgtEl>
                                          <p:spTgt spid="841"/>
                                        </p:tgtEl>
                                        <p:attrNameLst>
                                          <p:attrName>ppt_h</p:attrName>
                                        </p:attrNameLst>
                                      </p:cBhvr>
                                      <p:tavLst>
                                        <p:tav fmla="" tm="0">
                                          <p:val>
                                            <p:strVal val="0"/>
                                          </p:val>
                                        </p:tav>
                                        <p:tav fmla="" tm="100000">
                                          <p:val>
                                            <p:strVal val="#ppt_h"/>
                                          </p:val>
                                        </p:tav>
                                      </p:tavLst>
                                    </p:anim>
                                  </p:childTnLst>
                                </p:cTn>
                              </p:par>
                              <p:par>
                                <p:cTn fill="hold" nodeType="withEffect" presetClass="entr" presetID="10" presetSubtype="0">
                                  <p:stCondLst>
                                    <p:cond delay="500"/>
                                  </p:stCondLst>
                                  <p:childTnLst>
                                    <p:set>
                                      <p:cBhvr>
                                        <p:cTn dur="1" fill="hold">
                                          <p:stCondLst>
                                            <p:cond delay="0"/>
                                          </p:stCondLst>
                                        </p:cTn>
                                        <p:tgtEl>
                                          <p:spTgt spid="842"/>
                                        </p:tgtEl>
                                        <p:attrNameLst>
                                          <p:attrName>style.visibility</p:attrName>
                                        </p:attrNameLst>
                                      </p:cBhvr>
                                      <p:to>
                                        <p:strVal val="visible"/>
                                      </p:to>
                                    </p:set>
                                    <p:animEffect filter="fade" transition="in">
                                      <p:cBhvr>
                                        <p:cTn dur="500"/>
                                        <p:tgtEl>
                                          <p:spTgt spid="8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