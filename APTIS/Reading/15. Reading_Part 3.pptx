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10287000" cx="18288000"/>
  <p:notesSz cx="6858000" cy="9144000"/>
  <p:embeddedFontLst>
    <p:embeddedFont>
      <p:font typeface="Roboto"/>
      <p:regular r:id="rId33"/>
      <p:bold r:id="rId34"/>
      <p:italic r:id="rId35"/>
      <p:boldItalic r:id="rId36"/>
    </p:embeddedFont>
    <p:embeddedFont>
      <p:font typeface="Montserrat"/>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italic.fntdata"/><Relationship Id="rId12" Type="http://schemas.openxmlformats.org/officeDocument/2006/relationships/slide" Target="slides/slide7.xml"/><Relationship Id="rId34" Type="http://schemas.openxmlformats.org/officeDocument/2006/relationships/font" Target="fonts/Roboto-bold.fntdata"/><Relationship Id="rId15" Type="http://schemas.openxmlformats.org/officeDocument/2006/relationships/slide" Target="slides/slide10.xml"/><Relationship Id="rId37" Type="http://schemas.openxmlformats.org/officeDocument/2006/relationships/font" Target="fonts/Montserrat-regular.fntdata"/><Relationship Id="rId14" Type="http://schemas.openxmlformats.org/officeDocument/2006/relationships/slide" Target="slides/slide9.xml"/><Relationship Id="rId36" Type="http://schemas.openxmlformats.org/officeDocument/2006/relationships/font" Target="fonts/Roboto-boldItalic.fntdata"/><Relationship Id="rId17" Type="http://schemas.openxmlformats.org/officeDocument/2006/relationships/slide" Target="slides/slide12.xml"/><Relationship Id="rId39" Type="http://schemas.openxmlformats.org/officeDocument/2006/relationships/font" Target="fonts/Montserrat-italic.fntdata"/><Relationship Id="rId16" Type="http://schemas.openxmlformats.org/officeDocument/2006/relationships/slide" Target="slides/slide11.xml"/><Relationship Id="rId38" Type="http://schemas.openxmlformats.org/officeDocument/2006/relationships/font" Target="fonts/Montserrat-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74da48dafa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g274da48dafa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Phần 3	</a:t>
            </a:r>
            <a:endParaRPr/>
          </a:p>
          <a:p>
            <a:pPr indent="0" lvl="0" marL="0" rtl="0" algn="l">
              <a:spcBef>
                <a:spcPts val="0"/>
              </a:spcBef>
              <a:spcAft>
                <a:spcPts val="0"/>
              </a:spcAft>
              <a:buNone/>
            </a:pPr>
            <a:r>
              <a:rPr lang="en-US"/>
              <a:t>Nội dung: Quan điểm của nhân vật</a:t>
            </a:r>
            <a:endParaRPr/>
          </a:p>
          <a:p>
            <a:pPr indent="0" lvl="0" marL="0" rtl="0" algn="l">
              <a:spcBef>
                <a:spcPts val="0"/>
              </a:spcBef>
              <a:spcAft>
                <a:spcPts val="0"/>
              </a:spcAft>
              <a:buNone/>
            </a:pPr>
            <a:r>
              <a:rPr lang="en-US"/>
              <a:t>Dạng bài: Nối quan điểm của nhân vật với mệnh đề thích hợp	</a:t>
            </a:r>
            <a:endParaRPr/>
          </a:p>
          <a:p>
            <a:pPr indent="0" lvl="0" marL="0" rtl="0" algn="l">
              <a:spcBef>
                <a:spcPts val="0"/>
              </a:spcBef>
              <a:spcAft>
                <a:spcPts val="0"/>
              </a:spcAft>
              <a:buNone/>
            </a:pPr>
            <a:r>
              <a:rPr lang="en-US"/>
              <a:t>Yêu cầu: Có 4 quan điểm của 4 nhân vật, và 7 mệnh đề. Nối quan điểm với các mệnh đề thích hợp</a:t>
            </a:r>
            <a:endParaRPr/>
          </a:p>
        </p:txBody>
      </p:sp>
      <p:sp>
        <p:nvSpPr>
          <p:cNvPr id="165" name="Google Shape;1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Lưu ý về thời gian: </a:t>
            </a:r>
            <a:endParaRPr/>
          </a:p>
          <a:p>
            <a:pPr indent="0" lvl="0" marL="0" rtl="0" algn="l">
              <a:spcBef>
                <a:spcPts val="0"/>
              </a:spcBef>
              <a:spcAft>
                <a:spcPts val="0"/>
              </a:spcAft>
              <a:buClr>
                <a:schemeClr val="dk1"/>
              </a:buClr>
              <a:buSzPts val="1100"/>
              <a:buFont typeface="Arial"/>
              <a:buNone/>
            </a:pPr>
            <a:r>
              <a:rPr lang="en-US"/>
              <a:t>- </a:t>
            </a:r>
            <a:r>
              <a:rPr lang="en-US"/>
              <a:t>Đừng dành quá nhiều thời gian cho một câu hỏi. Học cách "tự điều chỉnh" bằng cách luyện tập làm bài kiểm tra sử dụng đồng hồ đếm giờ. Đánh dấu câu hỏi để xem lại sau nếu không chắc chắn.</a:t>
            </a:r>
            <a:endParaRPr/>
          </a:p>
          <a:p>
            <a:pPr indent="0" lvl="0" marL="0" rtl="0" algn="l">
              <a:spcBef>
                <a:spcPts val="0"/>
              </a:spcBef>
              <a:spcAft>
                <a:spcPts val="0"/>
              </a:spcAft>
              <a:buClr>
                <a:schemeClr val="dk1"/>
              </a:buClr>
              <a:buSzPts val="1100"/>
              <a:buFont typeface="Arial"/>
              <a:buNone/>
            </a:pPr>
            <a:r>
              <a:rPr lang="en-US"/>
              <a:t>- Đừng để bất kỳ câu trả lời nào trống: Kiểm tra trang tóm tắt để xem có bỏ sót câu hỏi nào không vì nếu trả lời sai cũng không bị mất điểm.</a:t>
            </a:r>
            <a:endParaRPr/>
          </a:p>
          <a:p>
            <a:pPr indent="0" lvl="0" marL="0" rtl="0" algn="l">
              <a:spcBef>
                <a:spcPts val="0"/>
              </a:spcBef>
              <a:spcAft>
                <a:spcPts val="0"/>
              </a:spcAft>
              <a:buClr>
                <a:schemeClr val="dk1"/>
              </a:buClr>
              <a:buSzPts val="1100"/>
              <a:buFont typeface="Arial"/>
              <a:buNone/>
            </a:pPr>
            <a:r>
              <a:rPr lang="en-US"/>
              <a:t>- Đừng mong đợi hiểu mọi từ: vốn từ vựng rộng là rất quan trọng để đạt điểm cao trong bài kiểm tra, tuy nhiên cần ưu tiên hiểu ý của tác giả chứ không phải tập trung vào những từ khó, điều đó sẽ làm mất thời gian.</a:t>
            </a:r>
            <a:endParaRPr/>
          </a:p>
          <a:p>
            <a:pPr indent="0" lvl="0" marL="0" rtl="0" algn="l">
              <a:spcBef>
                <a:spcPts val="0"/>
              </a:spcBef>
              <a:spcAft>
                <a:spcPts val="0"/>
              </a:spcAft>
              <a:buClr>
                <a:schemeClr val="dk1"/>
              </a:buClr>
              <a:buSzPts val="1100"/>
              <a:buFont typeface="Arial"/>
              <a:buNone/>
            </a:pPr>
            <a:r>
              <a:rPr lang="en-US"/>
              <a:t>- Làm câu dễ trước câu khó sau: Điều đó tránh lãng phí thời gian làm bài thi quý giá. Bằng cách này, bạn có thể tập trung vào tất cả những câu hỏi mà bạn biết câu trả lời. Bạn có thể quay lại những câu hỏi khó ở cuối nếu bạn có thời gian.</a:t>
            </a:r>
            <a:endParaRPr/>
          </a:p>
          <a:p>
            <a:pPr indent="0" lvl="0" marL="0" marR="0" rtl="0" algn="l">
              <a:lnSpc>
                <a:spcPct val="100000"/>
              </a:lnSpc>
              <a:spcBef>
                <a:spcPts val="0"/>
              </a:spcBef>
              <a:spcAft>
                <a:spcPts val="0"/>
              </a:spcAft>
              <a:buClr>
                <a:schemeClr val="dk1"/>
              </a:buClr>
              <a:buSzPts val="1200"/>
              <a:buFont typeface="Calibri"/>
              <a:buNone/>
            </a:pPr>
            <a:r>
              <a:rPr lang="en-US"/>
              <a:t>- Đọc câu hỏi trước và đoạn văn sau: để hiểu được yêu cầu đề bài, từ đó việc đọc và tìm thông tin sẽ dễ dàng hơn</a:t>
            </a:r>
            <a:endParaRPr/>
          </a:p>
        </p:txBody>
      </p:sp>
      <p:sp>
        <p:nvSpPr>
          <p:cNvPr id="222" name="Google Shape;2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e10642e1dc_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2e10642e1dc_1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đọc đề mẫu giải thích yêu cầu đề bài</a:t>
            </a:r>
            <a:endParaRPr/>
          </a:p>
        </p:txBody>
      </p:sp>
      <p:sp>
        <p:nvSpPr>
          <p:cNvPr id="259" name="Google Shape;259;g2e10642e1dc_1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72a6e38b79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g272a6e38b79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72a6e38b79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g272a6e38b79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giải thích câu hỏi</a:t>
            </a:r>
            <a:endParaRPr/>
          </a:p>
          <a:p>
            <a:pPr indent="0" lvl="0" marL="0" rtl="0" algn="l">
              <a:spcBef>
                <a:spcPts val="0"/>
              </a:spcBef>
              <a:spcAft>
                <a:spcPts val="0"/>
              </a:spcAft>
              <a:buNone/>
            </a:pPr>
            <a:r>
              <a:rPr lang="en-US"/>
              <a:t>HV suy nghĩ tìm thông tin </a:t>
            </a:r>
            <a:endParaRPr/>
          </a:p>
          <a:p>
            <a:pPr indent="0" lvl="0" marL="0" rtl="0" algn="l">
              <a:spcBef>
                <a:spcPts val="0"/>
              </a:spcBef>
              <a:spcAft>
                <a:spcPts val="0"/>
              </a:spcAft>
              <a:buNone/>
            </a:pPr>
            <a:r>
              <a:rPr lang="en-US"/>
              <a:t>GV xác định thông tin trong bài</a:t>
            </a:r>
            <a:endParaRPr/>
          </a:p>
          <a:p>
            <a:pPr indent="0" lvl="0" marL="0" rtl="0" algn="l">
              <a:spcBef>
                <a:spcPts val="0"/>
              </a:spcBef>
              <a:spcAft>
                <a:spcPts val="0"/>
              </a:spcAft>
              <a:buNone/>
            </a:pPr>
            <a:r>
              <a:rPr lang="en-US"/>
              <a:t>GV giải thích đáp án</a:t>
            </a:r>
            <a:endParaRPr/>
          </a:p>
        </p:txBody>
      </p:sp>
      <p:sp>
        <p:nvSpPr>
          <p:cNvPr id="351" name="Google Shape;351;g272a6e38b79_0_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72a6e38b79_0_2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g272a6e38b79_0_2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giải thích câu hỏi</a:t>
            </a:r>
            <a:endParaRPr/>
          </a:p>
          <a:p>
            <a:pPr indent="0" lvl="0" marL="0" rtl="0" algn="l">
              <a:spcBef>
                <a:spcPts val="0"/>
              </a:spcBef>
              <a:spcAft>
                <a:spcPts val="0"/>
              </a:spcAft>
              <a:buNone/>
            </a:pPr>
            <a:r>
              <a:rPr lang="en-US"/>
              <a:t>HV suy nghĩ tìm thông tin </a:t>
            </a:r>
            <a:endParaRPr/>
          </a:p>
          <a:p>
            <a:pPr indent="0" lvl="0" marL="0" rtl="0" algn="l">
              <a:spcBef>
                <a:spcPts val="0"/>
              </a:spcBef>
              <a:spcAft>
                <a:spcPts val="0"/>
              </a:spcAft>
              <a:buNone/>
            </a:pPr>
            <a:r>
              <a:rPr lang="en-US"/>
              <a:t>GV xác định thông tin trong bài</a:t>
            </a:r>
            <a:endParaRPr/>
          </a:p>
          <a:p>
            <a:pPr indent="0" lvl="0" marL="0" rtl="0" algn="l">
              <a:spcBef>
                <a:spcPts val="0"/>
              </a:spcBef>
              <a:spcAft>
                <a:spcPts val="0"/>
              </a:spcAft>
              <a:buNone/>
            </a:pPr>
            <a:r>
              <a:rPr lang="en-US"/>
              <a:t>GV giải thích đáp án</a:t>
            </a:r>
            <a:endParaRPr/>
          </a:p>
        </p:txBody>
      </p:sp>
      <p:sp>
        <p:nvSpPr>
          <p:cNvPr id="369" name="Google Shape;369;g272a6e38b79_0_2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72a6e38b79_0_3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g272a6e38b79_0_3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giải thích câu hỏi</a:t>
            </a:r>
            <a:endParaRPr/>
          </a:p>
          <a:p>
            <a:pPr indent="0" lvl="0" marL="0" rtl="0" algn="l">
              <a:spcBef>
                <a:spcPts val="0"/>
              </a:spcBef>
              <a:spcAft>
                <a:spcPts val="0"/>
              </a:spcAft>
              <a:buNone/>
            </a:pPr>
            <a:r>
              <a:rPr lang="en-US"/>
              <a:t>HV suy nghĩ tìm thông tin </a:t>
            </a:r>
            <a:endParaRPr/>
          </a:p>
          <a:p>
            <a:pPr indent="0" lvl="0" marL="0" rtl="0" algn="l">
              <a:spcBef>
                <a:spcPts val="0"/>
              </a:spcBef>
              <a:spcAft>
                <a:spcPts val="0"/>
              </a:spcAft>
              <a:buNone/>
            </a:pPr>
            <a:r>
              <a:rPr lang="en-US"/>
              <a:t>GV xác định thông tin trong bài</a:t>
            </a:r>
            <a:endParaRPr/>
          </a:p>
          <a:p>
            <a:pPr indent="0" lvl="0" marL="0" rtl="0" algn="l">
              <a:spcBef>
                <a:spcPts val="0"/>
              </a:spcBef>
              <a:spcAft>
                <a:spcPts val="0"/>
              </a:spcAft>
              <a:buNone/>
            </a:pPr>
            <a:r>
              <a:rPr lang="en-US"/>
              <a:t>GV giải thích đáp án</a:t>
            </a:r>
            <a:endParaRPr/>
          </a:p>
        </p:txBody>
      </p:sp>
      <p:sp>
        <p:nvSpPr>
          <p:cNvPr id="387" name="Google Shape;387;g272a6e38b79_0_3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272a6e38b79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g272a6e38b79_0_1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giải thích câu hỏi</a:t>
            </a:r>
            <a:endParaRPr/>
          </a:p>
          <a:p>
            <a:pPr indent="0" lvl="0" marL="0" rtl="0" algn="l">
              <a:spcBef>
                <a:spcPts val="0"/>
              </a:spcBef>
              <a:spcAft>
                <a:spcPts val="0"/>
              </a:spcAft>
              <a:buNone/>
            </a:pPr>
            <a:r>
              <a:rPr lang="en-US"/>
              <a:t>HV suy nghĩ tìm thông tin </a:t>
            </a:r>
            <a:endParaRPr/>
          </a:p>
          <a:p>
            <a:pPr indent="0" lvl="0" marL="0" rtl="0" algn="l">
              <a:spcBef>
                <a:spcPts val="0"/>
              </a:spcBef>
              <a:spcAft>
                <a:spcPts val="0"/>
              </a:spcAft>
              <a:buNone/>
            </a:pPr>
            <a:r>
              <a:rPr lang="en-US"/>
              <a:t>GV xác định thông tin trong bài</a:t>
            </a:r>
            <a:endParaRPr/>
          </a:p>
          <a:p>
            <a:pPr indent="0" lvl="0" marL="0" rtl="0" algn="l">
              <a:spcBef>
                <a:spcPts val="0"/>
              </a:spcBef>
              <a:spcAft>
                <a:spcPts val="0"/>
              </a:spcAft>
              <a:buNone/>
            </a:pPr>
            <a:r>
              <a:rPr lang="en-US"/>
              <a:t>GV giải thích đáp án</a:t>
            </a:r>
            <a:endParaRPr/>
          </a:p>
        </p:txBody>
      </p:sp>
      <p:sp>
        <p:nvSpPr>
          <p:cNvPr id="405" name="Google Shape;405;g272a6e38b79_0_1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72a6e38b79_0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g272a6e38b79_0_1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giải thích câu hỏi</a:t>
            </a:r>
            <a:endParaRPr/>
          </a:p>
          <a:p>
            <a:pPr indent="0" lvl="0" marL="0" rtl="0" algn="l">
              <a:spcBef>
                <a:spcPts val="0"/>
              </a:spcBef>
              <a:spcAft>
                <a:spcPts val="0"/>
              </a:spcAft>
              <a:buNone/>
            </a:pPr>
            <a:r>
              <a:rPr lang="en-US"/>
              <a:t>HV suy nghĩ tìm thông tin </a:t>
            </a:r>
            <a:endParaRPr/>
          </a:p>
          <a:p>
            <a:pPr indent="0" lvl="0" marL="0" rtl="0" algn="l">
              <a:spcBef>
                <a:spcPts val="0"/>
              </a:spcBef>
              <a:spcAft>
                <a:spcPts val="0"/>
              </a:spcAft>
              <a:buNone/>
            </a:pPr>
            <a:r>
              <a:rPr lang="en-US"/>
              <a:t>GV xác định thông tin trong bài</a:t>
            </a:r>
            <a:endParaRPr/>
          </a:p>
          <a:p>
            <a:pPr indent="0" lvl="0" marL="0" rtl="0" algn="l">
              <a:spcBef>
                <a:spcPts val="0"/>
              </a:spcBef>
              <a:spcAft>
                <a:spcPts val="0"/>
              </a:spcAft>
              <a:buNone/>
            </a:pPr>
            <a:r>
              <a:rPr lang="en-US"/>
              <a:t>GV giải thích đáp án</a:t>
            </a:r>
            <a:endParaRPr/>
          </a:p>
        </p:txBody>
      </p:sp>
      <p:sp>
        <p:nvSpPr>
          <p:cNvPr id="424" name="Google Shape;424;g272a6e38b79_0_1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72a6e38b79_0_3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g272a6e38b79_0_3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giải thích câu hỏi</a:t>
            </a:r>
            <a:endParaRPr/>
          </a:p>
          <a:p>
            <a:pPr indent="0" lvl="0" marL="0" rtl="0" algn="l">
              <a:spcBef>
                <a:spcPts val="0"/>
              </a:spcBef>
              <a:spcAft>
                <a:spcPts val="0"/>
              </a:spcAft>
              <a:buNone/>
            </a:pPr>
            <a:r>
              <a:rPr lang="en-US"/>
              <a:t>HV suy nghĩ tìm thông tin </a:t>
            </a:r>
            <a:endParaRPr/>
          </a:p>
          <a:p>
            <a:pPr indent="0" lvl="0" marL="0" rtl="0" algn="l">
              <a:spcBef>
                <a:spcPts val="0"/>
              </a:spcBef>
              <a:spcAft>
                <a:spcPts val="0"/>
              </a:spcAft>
              <a:buNone/>
            </a:pPr>
            <a:r>
              <a:rPr lang="en-US"/>
              <a:t>GV xác định thông tin trong bài</a:t>
            </a:r>
            <a:endParaRPr/>
          </a:p>
          <a:p>
            <a:pPr indent="0" lvl="0" marL="0" rtl="0" algn="l">
              <a:spcBef>
                <a:spcPts val="0"/>
              </a:spcBef>
              <a:spcAft>
                <a:spcPts val="0"/>
              </a:spcAft>
              <a:buNone/>
            </a:pPr>
            <a:r>
              <a:rPr lang="en-US"/>
              <a:t>GV giải thích đáp án</a:t>
            </a:r>
            <a:endParaRPr/>
          </a:p>
        </p:txBody>
      </p:sp>
      <p:sp>
        <p:nvSpPr>
          <p:cNvPr id="443" name="Google Shape;443;g272a6e38b79_0_3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72a6e38b79_0_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g272a6e38b79_0_1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giải thích câu hỏi</a:t>
            </a:r>
            <a:endParaRPr/>
          </a:p>
          <a:p>
            <a:pPr indent="0" lvl="0" marL="0" rtl="0" algn="l">
              <a:spcBef>
                <a:spcPts val="0"/>
              </a:spcBef>
              <a:spcAft>
                <a:spcPts val="0"/>
              </a:spcAft>
              <a:buNone/>
            </a:pPr>
            <a:r>
              <a:rPr lang="en-US"/>
              <a:t>HV suy nghĩ tìm thông tin </a:t>
            </a:r>
            <a:endParaRPr/>
          </a:p>
          <a:p>
            <a:pPr indent="0" lvl="0" marL="0" rtl="0" algn="l">
              <a:spcBef>
                <a:spcPts val="0"/>
              </a:spcBef>
              <a:spcAft>
                <a:spcPts val="0"/>
              </a:spcAft>
              <a:buNone/>
            </a:pPr>
            <a:r>
              <a:rPr lang="en-US"/>
              <a:t>GV xác định thông tin trong bài</a:t>
            </a:r>
            <a:endParaRPr/>
          </a:p>
          <a:p>
            <a:pPr indent="0" lvl="0" marL="0" rtl="0" algn="l">
              <a:spcBef>
                <a:spcPts val="0"/>
              </a:spcBef>
              <a:spcAft>
                <a:spcPts val="0"/>
              </a:spcAft>
              <a:buNone/>
            </a:pPr>
            <a:r>
              <a:rPr lang="en-US"/>
              <a:t>GV giải thích đáp án</a:t>
            </a:r>
            <a:endParaRPr/>
          </a:p>
        </p:txBody>
      </p:sp>
      <p:sp>
        <p:nvSpPr>
          <p:cNvPr id="461" name="Google Shape;461;g272a6e38b79_0_1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72a6e38b79_0_3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g272a6e38b79_0_3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giải thích câu hỏi</a:t>
            </a:r>
            <a:endParaRPr/>
          </a:p>
          <a:p>
            <a:pPr indent="0" lvl="0" marL="0" rtl="0" algn="l">
              <a:spcBef>
                <a:spcPts val="0"/>
              </a:spcBef>
              <a:spcAft>
                <a:spcPts val="0"/>
              </a:spcAft>
              <a:buNone/>
            </a:pPr>
            <a:r>
              <a:rPr lang="en-US"/>
              <a:t>HV suy nghĩ tìm thông tin </a:t>
            </a:r>
            <a:endParaRPr/>
          </a:p>
          <a:p>
            <a:pPr indent="0" lvl="0" marL="0" rtl="0" algn="l">
              <a:spcBef>
                <a:spcPts val="0"/>
              </a:spcBef>
              <a:spcAft>
                <a:spcPts val="0"/>
              </a:spcAft>
              <a:buNone/>
            </a:pPr>
            <a:r>
              <a:rPr lang="en-US"/>
              <a:t>GV xác định thông tin trong bài</a:t>
            </a:r>
            <a:endParaRPr/>
          </a:p>
          <a:p>
            <a:pPr indent="0" lvl="0" marL="0" rtl="0" algn="l">
              <a:spcBef>
                <a:spcPts val="0"/>
              </a:spcBef>
              <a:spcAft>
                <a:spcPts val="0"/>
              </a:spcAft>
              <a:buNone/>
            </a:pPr>
            <a:r>
              <a:rPr lang="en-US"/>
              <a:t>GV giải thích đáp án</a:t>
            </a:r>
            <a:endParaRPr/>
          </a:p>
        </p:txBody>
      </p:sp>
      <p:sp>
        <p:nvSpPr>
          <p:cNvPr id="481" name="Google Shape;481;g272a6e38b79_0_3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272a6e38b79_0_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8" name="Google Shape;498;g272a6e38b79_0_2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giải thích câu hỏi</a:t>
            </a:r>
            <a:endParaRPr/>
          </a:p>
          <a:p>
            <a:pPr indent="0" lvl="0" marL="0" rtl="0" algn="l">
              <a:spcBef>
                <a:spcPts val="0"/>
              </a:spcBef>
              <a:spcAft>
                <a:spcPts val="0"/>
              </a:spcAft>
              <a:buNone/>
            </a:pPr>
            <a:r>
              <a:rPr lang="en-US"/>
              <a:t>HV suy nghĩ tìm thông tin </a:t>
            </a:r>
            <a:endParaRPr/>
          </a:p>
          <a:p>
            <a:pPr indent="0" lvl="0" marL="0" rtl="0" algn="l">
              <a:spcBef>
                <a:spcPts val="0"/>
              </a:spcBef>
              <a:spcAft>
                <a:spcPts val="0"/>
              </a:spcAft>
              <a:buNone/>
            </a:pPr>
            <a:r>
              <a:rPr lang="en-US"/>
              <a:t>GV xác định thông tin trong bài</a:t>
            </a:r>
            <a:endParaRPr/>
          </a:p>
          <a:p>
            <a:pPr indent="0" lvl="0" marL="0" rtl="0" algn="l">
              <a:spcBef>
                <a:spcPts val="0"/>
              </a:spcBef>
              <a:spcAft>
                <a:spcPts val="0"/>
              </a:spcAft>
              <a:buNone/>
            </a:pPr>
            <a:r>
              <a:rPr lang="en-US"/>
              <a:t>GV giải thích đáp án</a:t>
            </a:r>
            <a:endParaRPr/>
          </a:p>
        </p:txBody>
      </p:sp>
      <p:sp>
        <p:nvSpPr>
          <p:cNvPr id="499" name="Google Shape;499;g272a6e38b79_0_2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272a6e38b79_0_3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g272a6e38b79_0_3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giải thích câu hỏi</a:t>
            </a:r>
            <a:endParaRPr/>
          </a:p>
          <a:p>
            <a:pPr indent="0" lvl="0" marL="0" rtl="0" algn="l">
              <a:spcBef>
                <a:spcPts val="0"/>
              </a:spcBef>
              <a:spcAft>
                <a:spcPts val="0"/>
              </a:spcAft>
              <a:buNone/>
            </a:pPr>
            <a:r>
              <a:rPr lang="en-US"/>
              <a:t>HV suy nghĩ tìm thông tin </a:t>
            </a:r>
            <a:endParaRPr/>
          </a:p>
          <a:p>
            <a:pPr indent="0" lvl="0" marL="0" rtl="0" algn="l">
              <a:spcBef>
                <a:spcPts val="0"/>
              </a:spcBef>
              <a:spcAft>
                <a:spcPts val="0"/>
              </a:spcAft>
              <a:buNone/>
            </a:pPr>
            <a:r>
              <a:rPr lang="en-US"/>
              <a:t>GV xác định thông tin trong bài</a:t>
            </a:r>
            <a:endParaRPr/>
          </a:p>
          <a:p>
            <a:pPr indent="0" lvl="0" marL="0" rtl="0" algn="l">
              <a:spcBef>
                <a:spcPts val="0"/>
              </a:spcBef>
              <a:spcAft>
                <a:spcPts val="0"/>
              </a:spcAft>
              <a:buNone/>
            </a:pPr>
            <a:r>
              <a:rPr lang="en-US"/>
              <a:t>GV giải thích đáp án</a:t>
            </a:r>
            <a:endParaRPr/>
          </a:p>
        </p:txBody>
      </p:sp>
      <p:sp>
        <p:nvSpPr>
          <p:cNvPr id="518" name="Google Shape;518;g272a6e38b79_0_3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272a6e38b79_0_2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g272a6e38b79_0_2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giải thích câu hỏi</a:t>
            </a:r>
            <a:endParaRPr/>
          </a:p>
          <a:p>
            <a:pPr indent="0" lvl="0" marL="0" rtl="0" algn="l">
              <a:spcBef>
                <a:spcPts val="0"/>
              </a:spcBef>
              <a:spcAft>
                <a:spcPts val="0"/>
              </a:spcAft>
              <a:buNone/>
            </a:pPr>
            <a:r>
              <a:rPr lang="en-US"/>
              <a:t>HV suy nghĩ tìm thông tin </a:t>
            </a:r>
            <a:endParaRPr/>
          </a:p>
          <a:p>
            <a:pPr indent="0" lvl="0" marL="0" rtl="0" algn="l">
              <a:spcBef>
                <a:spcPts val="0"/>
              </a:spcBef>
              <a:spcAft>
                <a:spcPts val="0"/>
              </a:spcAft>
              <a:buNone/>
            </a:pPr>
            <a:r>
              <a:rPr lang="en-US"/>
              <a:t>GV xác định thông tin trong bài</a:t>
            </a:r>
            <a:endParaRPr/>
          </a:p>
          <a:p>
            <a:pPr indent="0" lvl="0" marL="0" rtl="0" algn="l">
              <a:spcBef>
                <a:spcPts val="0"/>
              </a:spcBef>
              <a:spcAft>
                <a:spcPts val="0"/>
              </a:spcAft>
              <a:buNone/>
            </a:pPr>
            <a:r>
              <a:rPr lang="en-US"/>
              <a:t>GV giải thích đáp án</a:t>
            </a:r>
            <a:endParaRPr/>
          </a:p>
        </p:txBody>
      </p:sp>
      <p:sp>
        <p:nvSpPr>
          <p:cNvPr id="537" name="Google Shape;537;g272a6e38b79_0_2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72a6e38b79_0_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g272a6e38b79_0_3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giải thích câu hỏi</a:t>
            </a:r>
            <a:endParaRPr/>
          </a:p>
          <a:p>
            <a:pPr indent="0" lvl="0" marL="0" rtl="0" algn="l">
              <a:spcBef>
                <a:spcPts val="0"/>
              </a:spcBef>
              <a:spcAft>
                <a:spcPts val="0"/>
              </a:spcAft>
              <a:buNone/>
            </a:pPr>
            <a:r>
              <a:rPr lang="en-US"/>
              <a:t>HV suy nghĩ tìm thông tin </a:t>
            </a:r>
            <a:endParaRPr/>
          </a:p>
          <a:p>
            <a:pPr indent="0" lvl="0" marL="0" rtl="0" algn="l">
              <a:spcBef>
                <a:spcPts val="0"/>
              </a:spcBef>
              <a:spcAft>
                <a:spcPts val="0"/>
              </a:spcAft>
              <a:buNone/>
            </a:pPr>
            <a:r>
              <a:rPr lang="en-US"/>
              <a:t>GV xác định thông tin trong bài</a:t>
            </a:r>
            <a:endParaRPr/>
          </a:p>
          <a:p>
            <a:pPr indent="0" lvl="0" marL="0" rtl="0" algn="l">
              <a:spcBef>
                <a:spcPts val="0"/>
              </a:spcBef>
              <a:spcAft>
                <a:spcPts val="0"/>
              </a:spcAft>
              <a:buNone/>
            </a:pPr>
            <a:r>
              <a:rPr lang="en-US"/>
              <a:t>GV giải thích đáp án</a:t>
            </a:r>
            <a:endParaRPr/>
          </a:p>
        </p:txBody>
      </p:sp>
      <p:sp>
        <p:nvSpPr>
          <p:cNvPr id="556" name="Google Shape;556;g272a6e38b79_0_3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272a6e38b79_0_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272a6e38b79_0_2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giải thích câu hỏi</a:t>
            </a:r>
            <a:endParaRPr/>
          </a:p>
          <a:p>
            <a:pPr indent="0" lvl="0" marL="0" rtl="0" algn="l">
              <a:spcBef>
                <a:spcPts val="0"/>
              </a:spcBef>
              <a:spcAft>
                <a:spcPts val="0"/>
              </a:spcAft>
              <a:buNone/>
            </a:pPr>
            <a:r>
              <a:rPr lang="en-US"/>
              <a:t>HV suy nghĩ tìm thông tin </a:t>
            </a:r>
            <a:endParaRPr/>
          </a:p>
          <a:p>
            <a:pPr indent="0" lvl="0" marL="0" rtl="0" algn="l">
              <a:spcBef>
                <a:spcPts val="0"/>
              </a:spcBef>
              <a:spcAft>
                <a:spcPts val="0"/>
              </a:spcAft>
              <a:buNone/>
            </a:pPr>
            <a:r>
              <a:rPr lang="en-US"/>
              <a:t>GV xác định thông tin trong bài</a:t>
            </a:r>
            <a:endParaRPr/>
          </a:p>
          <a:p>
            <a:pPr indent="0" lvl="0" marL="0" rtl="0" algn="l">
              <a:spcBef>
                <a:spcPts val="0"/>
              </a:spcBef>
              <a:spcAft>
                <a:spcPts val="0"/>
              </a:spcAft>
              <a:buNone/>
            </a:pPr>
            <a:r>
              <a:rPr lang="en-US"/>
              <a:t>GV giải thích đáp án</a:t>
            </a:r>
            <a:endParaRPr/>
          </a:p>
        </p:txBody>
      </p:sp>
      <p:sp>
        <p:nvSpPr>
          <p:cNvPr id="575" name="Google Shape;575;g272a6e38b79_0_2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272a6e38b79_0_4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g272a6e38b79_0_4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giải thích câu hỏi</a:t>
            </a:r>
            <a:endParaRPr/>
          </a:p>
          <a:p>
            <a:pPr indent="0" lvl="0" marL="0" rtl="0" algn="l">
              <a:spcBef>
                <a:spcPts val="0"/>
              </a:spcBef>
              <a:spcAft>
                <a:spcPts val="0"/>
              </a:spcAft>
              <a:buNone/>
            </a:pPr>
            <a:r>
              <a:rPr lang="en-US"/>
              <a:t>HV suy nghĩ tìm thông tin </a:t>
            </a:r>
            <a:endParaRPr/>
          </a:p>
          <a:p>
            <a:pPr indent="0" lvl="0" marL="0" rtl="0" algn="l">
              <a:spcBef>
                <a:spcPts val="0"/>
              </a:spcBef>
              <a:spcAft>
                <a:spcPts val="0"/>
              </a:spcAft>
              <a:buNone/>
            </a:pPr>
            <a:r>
              <a:rPr lang="en-US"/>
              <a:t>GV xác định thông tin trong bài</a:t>
            </a:r>
            <a:endParaRPr/>
          </a:p>
          <a:p>
            <a:pPr indent="0" lvl="0" marL="0" rtl="0" algn="l">
              <a:spcBef>
                <a:spcPts val="0"/>
              </a:spcBef>
              <a:spcAft>
                <a:spcPts val="0"/>
              </a:spcAft>
              <a:buNone/>
            </a:pPr>
            <a:r>
              <a:rPr lang="en-US"/>
              <a:t>GV giải thích đáp án</a:t>
            </a:r>
            <a:endParaRPr/>
          </a:p>
        </p:txBody>
      </p:sp>
      <p:sp>
        <p:nvSpPr>
          <p:cNvPr id="595" name="Google Shape;595;g272a6e38b79_0_4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8.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87" name="Shape 87"/>
        <p:cNvGrpSpPr/>
        <p:nvPr/>
      </p:nvGrpSpPr>
      <p:grpSpPr>
        <a:xfrm>
          <a:off x="0" y="0"/>
          <a:ext cx="0" cy="0"/>
          <a:chOff x="0" y="0"/>
          <a:chExt cx="0" cy="0"/>
        </a:xfrm>
      </p:grpSpPr>
      <p:sp>
        <p:nvSpPr>
          <p:cNvPr id="88" name="Google Shape;88;p13"/>
          <p:cNvSpPr txBox="1"/>
          <p:nvPr/>
        </p:nvSpPr>
        <p:spPr>
          <a:xfrm>
            <a:off x="4788018" y="1722907"/>
            <a:ext cx="13410900" cy="160320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0" i="0" lang="en-US" sz="10416" u="none" cap="none" strike="noStrike">
                <a:solidFill>
                  <a:srgbClr val="FFFFFF"/>
                </a:solidFill>
                <a:latin typeface="Arial"/>
                <a:ea typeface="Arial"/>
                <a:cs typeface="Arial"/>
                <a:sym typeface="Arial"/>
              </a:rPr>
              <a:t>APTIS</a:t>
            </a:r>
            <a:endParaRPr/>
          </a:p>
        </p:txBody>
      </p:sp>
      <p:grpSp>
        <p:nvGrpSpPr>
          <p:cNvPr id="89" name="Google Shape;89;p13"/>
          <p:cNvGrpSpPr/>
          <p:nvPr/>
        </p:nvGrpSpPr>
        <p:grpSpPr>
          <a:xfrm>
            <a:off x="7338936" y="4396612"/>
            <a:ext cx="8594227" cy="2222588"/>
            <a:chOff x="0" y="-192881"/>
            <a:chExt cx="11458969" cy="2963451"/>
          </a:xfrm>
        </p:grpSpPr>
        <p:grpSp>
          <p:nvGrpSpPr>
            <p:cNvPr id="90" name="Google Shape;90;p13"/>
            <p:cNvGrpSpPr/>
            <p:nvPr/>
          </p:nvGrpSpPr>
          <p:grpSpPr>
            <a:xfrm>
              <a:off x="0" y="-192881"/>
              <a:ext cx="11458969" cy="2963451"/>
              <a:chOff x="0" y="-38100"/>
              <a:chExt cx="2263500" cy="585373"/>
            </a:xfrm>
          </p:grpSpPr>
          <p:sp>
            <p:nvSpPr>
              <p:cNvPr id="91" name="Google Shape;91;p13"/>
              <p:cNvSpPr/>
              <p:nvPr/>
            </p:nvSpPr>
            <p:spPr>
              <a:xfrm>
                <a:off x="0" y="0"/>
                <a:ext cx="2263363" cy="547273"/>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txBox="1"/>
              <p:nvPr/>
            </p:nvSpPr>
            <p:spPr>
              <a:xfrm>
                <a:off x="0" y="-38100"/>
                <a:ext cx="2263500" cy="585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3" name="Google Shape;93;p13"/>
            <p:cNvSpPr txBox="1"/>
            <p:nvPr/>
          </p:nvSpPr>
          <p:spPr>
            <a:xfrm>
              <a:off x="793233" y="91935"/>
              <a:ext cx="9871800" cy="2557200"/>
            </a:xfrm>
            <a:prstGeom prst="rect">
              <a:avLst/>
            </a:prstGeom>
            <a:noFill/>
            <a:ln>
              <a:noFill/>
            </a:ln>
          </p:spPr>
          <p:txBody>
            <a:bodyPr anchorCtr="0" anchor="t" bIns="0" lIns="0" spcFirstLastPara="1" rIns="0" wrap="square" tIns="0">
              <a:spAutoFit/>
            </a:bodyPr>
            <a:lstStyle/>
            <a:p>
              <a:pPr indent="0" lvl="0" marL="0" marR="0" rtl="0" algn="ctr">
                <a:lnSpc>
                  <a:spcPct val="112006"/>
                </a:lnSpc>
                <a:spcBef>
                  <a:spcPts val="0"/>
                </a:spcBef>
                <a:spcAft>
                  <a:spcPts val="0"/>
                </a:spcAft>
                <a:buNone/>
              </a:pPr>
              <a:r>
                <a:rPr lang="en-US" sz="12460">
                  <a:solidFill>
                    <a:srgbClr val="018345"/>
                  </a:solidFill>
                </a:rPr>
                <a:t>Reading</a:t>
              </a:r>
              <a:endParaRPr/>
            </a:p>
          </p:txBody>
        </p:sp>
      </p:grpSp>
      <p:cxnSp>
        <p:nvCxnSpPr>
          <p:cNvPr id="94" name="Google Shape;94;p13"/>
          <p:cNvCxnSpPr/>
          <p:nvPr/>
        </p:nvCxnSpPr>
        <p:spPr>
          <a:xfrm>
            <a:off x="5559805" y="3724211"/>
            <a:ext cx="116994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nvSpPr>
        <p:spPr>
          <a:xfrm>
            <a:off x="4867241" y="698293"/>
            <a:ext cx="13215300" cy="1473300"/>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None/>
            </a:pPr>
            <a:r>
              <a:rPr b="0" i="0" lang="en-US" sz="10264" u="none" cap="none" strike="noStrike">
                <a:solidFill>
                  <a:srgbClr val="018345"/>
                </a:solidFill>
                <a:latin typeface="Arial"/>
                <a:ea typeface="Arial"/>
                <a:cs typeface="Arial"/>
                <a:sym typeface="Arial"/>
              </a:rPr>
              <a:t>Table of contents</a:t>
            </a:r>
            <a:endParaRPr/>
          </a:p>
        </p:txBody>
      </p:sp>
      <p:cxnSp>
        <p:nvCxnSpPr>
          <p:cNvPr id="101" name="Google Shape;101;p14"/>
          <p:cNvCxnSpPr/>
          <p:nvPr/>
        </p:nvCxnSpPr>
        <p:spPr>
          <a:xfrm>
            <a:off x="5943600" y="2152650"/>
            <a:ext cx="11579700" cy="0"/>
          </a:xfrm>
          <a:prstGeom prst="straightConnector1">
            <a:avLst/>
          </a:prstGeom>
          <a:noFill/>
          <a:ln cap="flat" cmpd="sng" w="38100">
            <a:solidFill>
              <a:srgbClr val="018345"/>
            </a:solidFill>
            <a:prstDash val="solid"/>
            <a:round/>
            <a:headEnd len="sm" w="sm" type="none"/>
            <a:tailEnd len="sm" w="sm" type="none"/>
          </a:ln>
        </p:spPr>
      </p:cxnSp>
      <p:grpSp>
        <p:nvGrpSpPr>
          <p:cNvPr id="102" name="Google Shape;102;p14"/>
          <p:cNvGrpSpPr/>
          <p:nvPr/>
        </p:nvGrpSpPr>
        <p:grpSpPr>
          <a:xfrm rot="10800000">
            <a:off x="14951196" y="-741517"/>
            <a:ext cx="7681773" cy="4260605"/>
            <a:chOff x="0" y="-38100"/>
            <a:chExt cx="406400" cy="225405"/>
          </a:xfrm>
        </p:grpSpPr>
        <p:sp>
          <p:nvSpPr>
            <p:cNvPr id="103" name="Google Shape;103;p1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4" name="Google Shape;104;p1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05" name="Google Shape;105;p1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grpSp>
        <p:nvGrpSpPr>
          <p:cNvPr id="106" name="Google Shape;106;p14"/>
          <p:cNvGrpSpPr/>
          <p:nvPr/>
        </p:nvGrpSpPr>
        <p:grpSpPr>
          <a:xfrm>
            <a:off x="6890434" y="2552819"/>
            <a:ext cx="10092911" cy="1384957"/>
            <a:chOff x="6375842" y="6151456"/>
            <a:chExt cx="10542000" cy="1434000"/>
          </a:xfrm>
        </p:grpSpPr>
        <p:sp>
          <p:nvSpPr>
            <p:cNvPr id="107" name="Google Shape;107;p14"/>
            <p:cNvSpPr/>
            <p:nvPr/>
          </p:nvSpPr>
          <p:spPr>
            <a:xfrm>
              <a:off x="6375842" y="6278356"/>
              <a:ext cx="10542000" cy="12891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08" name="Google Shape;108;p14"/>
            <p:cNvSpPr txBox="1"/>
            <p:nvPr/>
          </p:nvSpPr>
          <p:spPr>
            <a:xfrm>
              <a:off x="6375842" y="6151456"/>
              <a:ext cx="10542000" cy="1434000"/>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09" name="Google Shape;109;p14"/>
            <p:cNvSpPr/>
            <p:nvPr/>
          </p:nvSpPr>
          <p:spPr>
            <a:xfrm>
              <a:off x="6375842" y="6296117"/>
              <a:ext cx="1253681" cy="1253681"/>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txBox="1"/>
            <p:nvPr/>
          </p:nvSpPr>
          <p:spPr>
            <a:xfrm>
              <a:off x="7917301" y="6581020"/>
              <a:ext cx="8651100" cy="510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3200" u="none" cap="none" strike="noStrike">
                  <a:solidFill>
                    <a:srgbClr val="FFFFFF"/>
                  </a:solidFill>
                  <a:latin typeface="Montserrat"/>
                  <a:ea typeface="Montserrat"/>
                  <a:cs typeface="Montserrat"/>
                  <a:sym typeface="Montserrat"/>
                </a:rPr>
                <a:t>Bài </a:t>
              </a:r>
              <a:r>
                <a:rPr b="1" lang="en-US" sz="3200">
                  <a:solidFill>
                    <a:srgbClr val="FFFFFF"/>
                  </a:solidFill>
                  <a:latin typeface="Montserrat"/>
                  <a:ea typeface="Montserrat"/>
                  <a:cs typeface="Montserrat"/>
                  <a:sym typeface="Montserrat"/>
                </a:rPr>
                <a:t>đọc Part 3 Aptis</a:t>
              </a:r>
              <a:endParaRPr/>
            </a:p>
          </p:txBody>
        </p:sp>
        <p:sp>
          <p:nvSpPr>
            <p:cNvPr descr="Books with solid fill" id="111" name="Google Shape;111;p14"/>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grpSp>
      <p:sp>
        <p:nvSpPr>
          <p:cNvPr id="112" name="Google Shape;112;p14"/>
          <p:cNvSpPr txBox="1"/>
          <p:nvPr/>
        </p:nvSpPr>
        <p:spPr>
          <a:xfrm>
            <a:off x="6487860" y="5519116"/>
            <a:ext cx="10092900" cy="1384800"/>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13" name="Google Shape;113;p14"/>
          <p:cNvSpPr txBox="1"/>
          <p:nvPr/>
        </p:nvSpPr>
        <p:spPr>
          <a:xfrm>
            <a:off x="-10653311" y="9715322"/>
            <a:ext cx="13923300" cy="285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b="0" i="0" lang="en-US" sz="1876" u="none" cap="none" strike="noStrike">
                <a:solidFill>
                  <a:srgbClr val="FEFEFE"/>
                </a:solidFill>
                <a:latin typeface="Roboto"/>
                <a:ea typeface="Roboto"/>
                <a:cs typeface="Roboto"/>
                <a:sym typeface="Roboto"/>
              </a:rPr>
              <a:t>https://edulife.com.vn/</a:t>
            </a:r>
            <a:endParaRPr/>
          </a:p>
        </p:txBody>
      </p:sp>
      <p:grpSp>
        <p:nvGrpSpPr>
          <p:cNvPr id="114" name="Google Shape;114;p14"/>
          <p:cNvGrpSpPr/>
          <p:nvPr/>
        </p:nvGrpSpPr>
        <p:grpSpPr>
          <a:xfrm>
            <a:off x="-2718010" y="9274530"/>
            <a:ext cx="7950378" cy="1707223"/>
            <a:chOff x="0" y="-384760"/>
            <a:chExt cx="10600504" cy="2276297"/>
          </a:xfrm>
        </p:grpSpPr>
        <p:grpSp>
          <p:nvGrpSpPr>
            <p:cNvPr id="115" name="Google Shape;115;p14"/>
            <p:cNvGrpSpPr/>
            <p:nvPr/>
          </p:nvGrpSpPr>
          <p:grpSpPr>
            <a:xfrm>
              <a:off x="0" y="-384760"/>
              <a:ext cx="10600504" cy="2276297"/>
              <a:chOff x="0" y="-38100"/>
              <a:chExt cx="1049690" cy="225405"/>
            </a:xfrm>
          </p:grpSpPr>
          <p:sp>
            <p:nvSpPr>
              <p:cNvPr id="116" name="Google Shape;116;p1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17" name="Google Shape;117;p14"/>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14"/>
            <p:cNvSpPr txBox="1"/>
            <p:nvPr/>
          </p:nvSpPr>
          <p:spPr>
            <a:xfrm>
              <a:off x="4182979" y="666743"/>
              <a:ext cx="3721200" cy="5295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 name="Google Shape;119;p14"/>
          <p:cNvGrpSpPr/>
          <p:nvPr/>
        </p:nvGrpSpPr>
        <p:grpSpPr>
          <a:xfrm>
            <a:off x="6934400" y="4203458"/>
            <a:ext cx="10121692" cy="1245030"/>
            <a:chOff x="6934120" y="7048419"/>
            <a:chExt cx="9882535" cy="1159030"/>
          </a:xfrm>
        </p:grpSpPr>
        <p:grpSp>
          <p:nvGrpSpPr>
            <p:cNvPr id="120" name="Google Shape;120;p14"/>
            <p:cNvGrpSpPr/>
            <p:nvPr/>
          </p:nvGrpSpPr>
          <p:grpSpPr>
            <a:xfrm>
              <a:off x="6934120" y="7048419"/>
              <a:ext cx="9882535" cy="1159030"/>
              <a:chOff x="6487861" y="7950596"/>
              <a:chExt cx="10571817" cy="1289100"/>
            </a:xfrm>
          </p:grpSpPr>
          <p:sp>
            <p:nvSpPr>
              <p:cNvPr id="121" name="Google Shape;121;p14"/>
              <p:cNvSpPr/>
              <p:nvPr/>
            </p:nvSpPr>
            <p:spPr>
              <a:xfrm>
                <a:off x="6517678" y="7950596"/>
                <a:ext cx="10542000" cy="12891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22" name="Google Shape;122;p14"/>
              <p:cNvSpPr/>
              <p:nvPr/>
            </p:nvSpPr>
            <p:spPr>
              <a:xfrm>
                <a:off x="6487861" y="796836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3" name="Google Shape;123;p14"/>
              <p:cNvSpPr txBox="1"/>
              <p:nvPr/>
            </p:nvSpPr>
            <p:spPr>
              <a:xfrm>
                <a:off x="8010142" y="8239170"/>
                <a:ext cx="7896000" cy="510000"/>
              </a:xfrm>
              <a:prstGeom prst="rect">
                <a:avLst/>
              </a:prstGeom>
              <a:noFill/>
              <a:ln>
                <a:noFill/>
              </a:ln>
            </p:spPr>
            <p:txBody>
              <a:bodyPr anchorCtr="0" anchor="t" bIns="0" lIns="0" spcFirstLastPara="1" rIns="0" wrap="square" tIns="0">
                <a:spAutoFit/>
              </a:bodyPr>
              <a:lstStyle/>
              <a:p>
                <a:pPr indent="0" lvl="0" marL="0" marR="0" rtl="0" algn="l">
                  <a:lnSpc>
                    <a:spcPct val="303906"/>
                  </a:lnSpc>
                  <a:spcBef>
                    <a:spcPts val="0"/>
                  </a:spcBef>
                  <a:spcAft>
                    <a:spcPts val="0"/>
                  </a:spcAft>
                  <a:buNone/>
                </a:pPr>
                <a:r>
                  <a:rPr b="1" lang="en-US" sz="3200">
                    <a:solidFill>
                      <a:schemeClr val="lt1"/>
                    </a:solidFill>
                    <a:latin typeface="Montserrat"/>
                    <a:ea typeface="Montserrat"/>
                    <a:cs typeface="Montserrat"/>
                    <a:sym typeface="Montserrat"/>
                  </a:rPr>
                  <a:t>Những lưu ý khi làm bài đọc Aptis</a:t>
                </a:r>
                <a:endParaRPr b="1" sz="3200">
                  <a:solidFill>
                    <a:schemeClr val="lt1"/>
                  </a:solidFill>
                  <a:latin typeface="Montserrat"/>
                  <a:ea typeface="Montserrat"/>
                  <a:cs typeface="Montserrat"/>
                  <a:sym typeface="Montserrat"/>
                </a:endParaRPr>
              </a:p>
            </p:txBody>
          </p:sp>
        </p:grpSp>
        <p:pic>
          <p:nvPicPr>
            <p:cNvPr descr="Envelope with solid fill" id="124" name="Google Shape;124;p14"/>
            <p:cNvPicPr preferRelativeResize="0"/>
            <p:nvPr/>
          </p:nvPicPr>
          <p:blipFill rotWithShape="1">
            <a:blip r:embed="rId4">
              <a:alphaModFix/>
            </a:blip>
            <a:srcRect b="0" l="0" r="0" t="0"/>
            <a:stretch/>
          </p:blipFill>
          <p:spPr>
            <a:xfrm>
              <a:off x="7167192" y="7214481"/>
              <a:ext cx="773941" cy="773941"/>
            </a:xfrm>
            <a:prstGeom prst="rect">
              <a:avLst/>
            </a:prstGeom>
            <a:noFill/>
            <a:ln>
              <a:noFill/>
            </a:ln>
          </p:spPr>
        </p:pic>
      </p:grpSp>
      <p:grpSp>
        <p:nvGrpSpPr>
          <p:cNvPr id="125" name="Google Shape;125;p14"/>
          <p:cNvGrpSpPr/>
          <p:nvPr/>
        </p:nvGrpSpPr>
        <p:grpSpPr>
          <a:xfrm>
            <a:off x="6962357" y="5727617"/>
            <a:ext cx="10150411" cy="1245213"/>
            <a:chOff x="6962073" y="8572500"/>
            <a:chExt cx="9910575" cy="1159200"/>
          </a:xfrm>
        </p:grpSpPr>
        <p:sp>
          <p:nvSpPr>
            <p:cNvPr id="126" name="Google Shape;126;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27" name="Google Shape;127;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8" name="Google Shape;128;p14"/>
            <p:cNvSpPr txBox="1"/>
            <p:nvPr/>
          </p:nvSpPr>
          <p:spPr>
            <a:xfrm>
              <a:off x="8403048" y="8840948"/>
              <a:ext cx="8469600" cy="524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Đề mẫu</a:t>
              </a:r>
              <a:endParaRPr b="1" sz="3200">
                <a:solidFill>
                  <a:srgbClr val="FFFFFF"/>
                </a:solidFill>
                <a:latin typeface="Montserrat"/>
                <a:ea typeface="Montserrat"/>
                <a:cs typeface="Montserrat"/>
                <a:sym typeface="Montserrat"/>
              </a:endParaRPr>
            </a:p>
          </p:txBody>
        </p:sp>
        <p:pic>
          <p:nvPicPr>
            <p:cNvPr descr="Pencil with solid fill" id="129" name="Google Shape;129;p14"/>
            <p:cNvPicPr preferRelativeResize="0"/>
            <p:nvPr/>
          </p:nvPicPr>
          <p:blipFill rotWithShape="1">
            <a:blip r:embed="rId5">
              <a:alphaModFix/>
            </a:blip>
            <a:srcRect b="0" l="0" r="0" t="0"/>
            <a:stretch/>
          </p:blipFill>
          <p:spPr>
            <a:xfrm>
              <a:off x="7147974" y="8738481"/>
              <a:ext cx="797413" cy="797413"/>
            </a:xfrm>
            <a:prstGeom prst="rect">
              <a:avLst/>
            </a:prstGeom>
            <a:noFill/>
            <a:ln>
              <a:noFill/>
            </a:ln>
          </p:spPr>
        </p:pic>
      </p:grpSp>
      <p:grpSp>
        <p:nvGrpSpPr>
          <p:cNvPr id="130" name="Google Shape;130;p14"/>
          <p:cNvGrpSpPr/>
          <p:nvPr/>
        </p:nvGrpSpPr>
        <p:grpSpPr>
          <a:xfrm>
            <a:off x="6947647" y="7174698"/>
            <a:ext cx="10121659" cy="1245114"/>
            <a:chOff x="6947521" y="8856561"/>
            <a:chExt cx="9366703" cy="1016502"/>
          </a:xfrm>
        </p:grpSpPr>
        <p:grpSp>
          <p:nvGrpSpPr>
            <p:cNvPr id="131" name="Google Shape;131;p14"/>
            <p:cNvGrpSpPr/>
            <p:nvPr/>
          </p:nvGrpSpPr>
          <p:grpSpPr>
            <a:xfrm>
              <a:off x="6947521" y="8856561"/>
              <a:ext cx="9366703" cy="1016502"/>
              <a:chOff x="6962073" y="8572500"/>
              <a:chExt cx="9882573" cy="1159200"/>
            </a:xfrm>
          </p:grpSpPr>
          <p:sp>
            <p:nvSpPr>
              <p:cNvPr id="132" name="Google Shape;132;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3" name="Google Shape;133;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34" name="Google Shape;134;p14"/>
              <p:cNvSpPr txBox="1"/>
              <p:nvPr/>
            </p:nvSpPr>
            <p:spPr>
              <a:xfrm>
                <a:off x="8459833" y="8840948"/>
                <a:ext cx="8087400" cy="536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Hướng dẫn trả lời</a:t>
                </a:r>
                <a:endParaRPr b="1" sz="3200">
                  <a:solidFill>
                    <a:srgbClr val="FFFFFF"/>
                  </a:solidFill>
                  <a:latin typeface="Montserrat"/>
                  <a:ea typeface="Montserrat"/>
                  <a:cs typeface="Montserrat"/>
                  <a:sym typeface="Montserrat"/>
                </a:endParaRPr>
              </a:p>
            </p:txBody>
          </p:sp>
        </p:grpSp>
        <p:pic>
          <p:nvPicPr>
            <p:cNvPr descr="Books on shelf with solid fill" id="135" name="Google Shape;135;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grpSp>
        <p:nvGrpSpPr>
          <p:cNvPr id="136" name="Google Shape;136;p14"/>
          <p:cNvGrpSpPr/>
          <p:nvPr/>
        </p:nvGrpSpPr>
        <p:grpSpPr>
          <a:xfrm>
            <a:off x="7010637" y="8669603"/>
            <a:ext cx="10121659" cy="1245114"/>
            <a:chOff x="6947521" y="8856561"/>
            <a:chExt cx="9366703" cy="1016502"/>
          </a:xfrm>
        </p:grpSpPr>
        <p:grpSp>
          <p:nvGrpSpPr>
            <p:cNvPr id="137" name="Google Shape;137;p14"/>
            <p:cNvGrpSpPr/>
            <p:nvPr/>
          </p:nvGrpSpPr>
          <p:grpSpPr>
            <a:xfrm>
              <a:off x="6947521" y="8856561"/>
              <a:ext cx="9366703" cy="1016502"/>
              <a:chOff x="6962073" y="8572500"/>
              <a:chExt cx="9882573" cy="1159200"/>
            </a:xfrm>
          </p:grpSpPr>
          <p:sp>
            <p:nvSpPr>
              <p:cNvPr id="138" name="Google Shape;138;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9" name="Google Shape;139;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40" name="Google Shape;140;p14"/>
              <p:cNvSpPr txBox="1"/>
              <p:nvPr/>
            </p:nvSpPr>
            <p:spPr>
              <a:xfrm>
                <a:off x="8459833" y="8840948"/>
                <a:ext cx="8087400" cy="536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Luyện tập</a:t>
                </a:r>
                <a:endParaRPr b="1" sz="3200">
                  <a:solidFill>
                    <a:srgbClr val="FFFFFF"/>
                  </a:solidFill>
                  <a:latin typeface="Montserrat"/>
                  <a:ea typeface="Montserrat"/>
                  <a:cs typeface="Montserrat"/>
                  <a:sym typeface="Montserrat"/>
                </a:endParaRPr>
              </a:p>
            </p:txBody>
          </p:sp>
        </p:grpSp>
        <p:pic>
          <p:nvPicPr>
            <p:cNvPr descr="Books on shelf with solid fill" id="141" name="Google Shape;141;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ppt_w</p:attrName>
                                        </p:attrNameLst>
                                      </p:cBhvr>
                                      <p:tavLst>
                                        <p:tav fmla="" tm="0">
                                          <p:val>
                                            <p:strVal val="0"/>
                                          </p:val>
                                        </p:tav>
                                        <p:tav fmla="" tm="100000">
                                          <p:val>
                                            <p:strVal val="#ppt_w"/>
                                          </p:val>
                                        </p:tav>
                                      </p:tavLst>
                                    </p:anim>
                                    <p:anim calcmode="lin" valueType="num">
                                      <p:cBhvr additive="base">
                                        <p:cTn dur="500"/>
                                        <p:tgtEl>
                                          <p:spTgt spid="1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15"/>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147" name="Google Shape;147;p1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48" name="Google Shape;148;p15"/>
          <p:cNvGrpSpPr/>
          <p:nvPr/>
        </p:nvGrpSpPr>
        <p:grpSpPr>
          <a:xfrm rot="10800000">
            <a:off x="15044552" y="-741521"/>
            <a:ext cx="7681766" cy="4260610"/>
            <a:chOff x="0" y="-38100"/>
            <a:chExt cx="406400" cy="225405"/>
          </a:xfrm>
        </p:grpSpPr>
        <p:sp>
          <p:nvSpPr>
            <p:cNvPr id="149" name="Google Shape;149;p1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0" name="Google Shape;150;p1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151" name="Google Shape;151;p1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52" name="Google Shape;152;p1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53" name="Google Shape;153;p15"/>
          <p:cNvSpPr/>
          <p:nvPr/>
        </p:nvSpPr>
        <p:spPr>
          <a:xfrm>
            <a:off x="9121603" y="5737772"/>
            <a:ext cx="5199117" cy="4549228"/>
          </a:xfrm>
          <a:custGeom>
            <a:rect b="b" l="l" r="r" t="t"/>
            <a:pathLst>
              <a:path extrusionOk="0" h="4549228" w="5199117">
                <a:moveTo>
                  <a:pt x="0" y="0"/>
                </a:moveTo>
                <a:lnTo>
                  <a:pt x="5199117" y="0"/>
                </a:lnTo>
                <a:lnTo>
                  <a:pt x="5199117" y="4549228"/>
                </a:lnTo>
                <a:lnTo>
                  <a:pt x="0" y="4549228"/>
                </a:lnTo>
                <a:lnTo>
                  <a:pt x="0" y="0"/>
                </a:lnTo>
                <a:close/>
              </a:path>
            </a:pathLst>
          </a:custGeom>
          <a:blipFill rotWithShape="1">
            <a:blip r:embed="rId5">
              <a:alphaModFix/>
            </a:blip>
            <a:stretch>
              <a:fillRect b="0" l="0" r="0" t="0"/>
            </a:stretch>
          </a:blipFill>
          <a:ln>
            <a:noFill/>
          </a:ln>
        </p:spPr>
      </p:sp>
      <p:sp>
        <p:nvSpPr>
          <p:cNvPr id="154" name="Google Shape;154;p15"/>
          <p:cNvSpPr txBox="1"/>
          <p:nvPr/>
        </p:nvSpPr>
        <p:spPr>
          <a:xfrm>
            <a:off x="7315200" y="2540878"/>
            <a:ext cx="8643900" cy="2851500"/>
          </a:xfrm>
          <a:prstGeom prst="rect">
            <a:avLst/>
          </a:prstGeom>
          <a:noFill/>
          <a:ln>
            <a:noFill/>
          </a:ln>
        </p:spPr>
        <p:txBody>
          <a:bodyPr anchorCtr="0" anchor="t" bIns="0" lIns="0" spcFirstLastPara="1" rIns="0" wrap="square" tIns="0">
            <a:spAutoFit/>
          </a:bodyPr>
          <a:lstStyle/>
          <a:p>
            <a:pPr indent="0" lvl="0" marL="0" marR="0" rtl="0" algn="ctr">
              <a:lnSpc>
                <a:spcPct val="110511"/>
              </a:lnSpc>
              <a:spcBef>
                <a:spcPts val="0"/>
              </a:spcBef>
              <a:spcAft>
                <a:spcPts val="0"/>
              </a:spcAft>
              <a:buNone/>
            </a:pPr>
            <a:r>
              <a:rPr b="1" lang="en-US" sz="8800">
                <a:solidFill>
                  <a:srgbClr val="018345"/>
                </a:solidFill>
                <a:latin typeface="Montserrat"/>
                <a:ea typeface="Montserrat"/>
                <a:cs typeface="Montserrat"/>
                <a:sym typeface="Montserrat"/>
              </a:rPr>
              <a:t>Bài đọc APTIS part 3</a:t>
            </a:r>
            <a:endParaRPr/>
          </a:p>
        </p:txBody>
      </p:sp>
      <p:sp>
        <p:nvSpPr>
          <p:cNvPr id="155" name="Google Shape;155;p15"/>
          <p:cNvSpPr txBox="1"/>
          <p:nvPr/>
        </p:nvSpPr>
        <p:spPr>
          <a:xfrm>
            <a:off x="10210111" y="339710"/>
            <a:ext cx="214672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01</a:t>
            </a:r>
            <a:endParaRPr/>
          </a:p>
        </p:txBody>
      </p:sp>
      <p:sp>
        <p:nvSpPr>
          <p:cNvPr id="156" name="Google Shape;156;p15"/>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157" name="Google Shape;157;p15"/>
          <p:cNvGrpSpPr/>
          <p:nvPr/>
        </p:nvGrpSpPr>
        <p:grpSpPr>
          <a:xfrm>
            <a:off x="-2718010" y="9274528"/>
            <a:ext cx="7950400" cy="1707231"/>
            <a:chOff x="0" y="-384762"/>
            <a:chExt cx="10600533" cy="2276307"/>
          </a:xfrm>
        </p:grpSpPr>
        <p:grpSp>
          <p:nvGrpSpPr>
            <p:cNvPr id="158" name="Google Shape;158;p15"/>
            <p:cNvGrpSpPr/>
            <p:nvPr/>
          </p:nvGrpSpPr>
          <p:grpSpPr>
            <a:xfrm>
              <a:off x="0" y="-384762"/>
              <a:ext cx="10600533" cy="2276307"/>
              <a:chOff x="0" y="-38100"/>
              <a:chExt cx="1049690" cy="225405"/>
            </a:xfrm>
          </p:grpSpPr>
          <p:sp>
            <p:nvSpPr>
              <p:cNvPr id="159" name="Google Shape;159;p1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60" name="Google Shape;160;p1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1" name="Google Shape;161;p1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ppt_w</p:attrName>
                                        </p:attrNameLst>
                                      </p:cBhvr>
                                      <p:tavLst>
                                        <p:tav fmla="" tm="0">
                                          <p:val>
                                            <p:strVal val="0"/>
                                          </p:val>
                                        </p:tav>
                                        <p:tav fmla="" tm="100000">
                                          <p:val>
                                            <p:strVal val="#ppt_w"/>
                                          </p:val>
                                        </p:tav>
                                      </p:tavLst>
                                    </p:anim>
                                    <p:anim calcmode="lin" valueType="num">
                                      <p:cBhvr additive="base">
                                        <p:cTn dur="500"/>
                                        <p:tgtEl>
                                          <p:spTgt spid="1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cxnSp>
        <p:nvCxnSpPr>
          <p:cNvPr id="167" name="Google Shape;167;p16"/>
          <p:cNvCxnSpPr/>
          <p:nvPr/>
        </p:nvCxnSpPr>
        <p:spPr>
          <a:xfrm flipH="1" rot="10800000">
            <a:off x="7543801" y="1599849"/>
            <a:ext cx="9909107" cy="50383"/>
          </a:xfrm>
          <a:prstGeom prst="straightConnector1">
            <a:avLst/>
          </a:prstGeom>
          <a:noFill/>
          <a:ln cap="flat" cmpd="sng" w="38100">
            <a:solidFill>
              <a:srgbClr val="018345"/>
            </a:solidFill>
            <a:prstDash val="solid"/>
            <a:round/>
            <a:headEnd len="sm" w="sm" type="none"/>
            <a:tailEnd len="sm" w="sm" type="none"/>
          </a:ln>
        </p:spPr>
      </p:cxnSp>
      <p:cxnSp>
        <p:nvCxnSpPr>
          <p:cNvPr id="168" name="Google Shape;168;p1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69" name="Google Shape;169;p16"/>
          <p:cNvGrpSpPr/>
          <p:nvPr/>
        </p:nvGrpSpPr>
        <p:grpSpPr>
          <a:xfrm rot="10800000">
            <a:off x="15785091" y="-536942"/>
            <a:ext cx="7681766" cy="4260610"/>
            <a:chOff x="0" y="-38100"/>
            <a:chExt cx="406400" cy="225405"/>
          </a:xfrm>
        </p:grpSpPr>
        <p:sp>
          <p:nvSpPr>
            <p:cNvPr id="170" name="Google Shape;170;p1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71" name="Google Shape;171;p1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2" name="Google Shape;172;p1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173" name="Google Shape;173;p16"/>
          <p:cNvGrpSpPr/>
          <p:nvPr/>
        </p:nvGrpSpPr>
        <p:grpSpPr>
          <a:xfrm>
            <a:off x="-2718010" y="9274528"/>
            <a:ext cx="7950400" cy="1707231"/>
            <a:chOff x="0" y="-384762"/>
            <a:chExt cx="10600533" cy="2276307"/>
          </a:xfrm>
        </p:grpSpPr>
        <p:grpSp>
          <p:nvGrpSpPr>
            <p:cNvPr id="174" name="Google Shape;174;p16"/>
            <p:cNvGrpSpPr/>
            <p:nvPr/>
          </p:nvGrpSpPr>
          <p:grpSpPr>
            <a:xfrm>
              <a:off x="0" y="-384762"/>
              <a:ext cx="10600533" cy="2276307"/>
              <a:chOff x="0" y="-38100"/>
              <a:chExt cx="1049690" cy="225405"/>
            </a:xfrm>
          </p:grpSpPr>
          <p:sp>
            <p:nvSpPr>
              <p:cNvPr id="175" name="Google Shape;175;p1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76" name="Google Shape;176;p1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7" name="Google Shape;177;p1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8" name="Google Shape;178;p16"/>
          <p:cNvSpPr txBox="1"/>
          <p:nvPr/>
        </p:nvSpPr>
        <p:spPr>
          <a:xfrm>
            <a:off x="6293296" y="622074"/>
            <a:ext cx="11880900" cy="7851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5100">
                <a:solidFill>
                  <a:srgbClr val="018345"/>
                </a:solidFill>
                <a:latin typeface="Montserrat"/>
                <a:ea typeface="Montserrat"/>
                <a:cs typeface="Montserrat"/>
                <a:sym typeface="Montserrat"/>
              </a:rPr>
              <a:t>Part 3 Reading Aptis</a:t>
            </a:r>
            <a:endParaRPr b="1" sz="5100">
              <a:solidFill>
                <a:srgbClr val="018345"/>
              </a:solidFill>
              <a:latin typeface="Montserrat"/>
              <a:ea typeface="Montserrat"/>
              <a:cs typeface="Montserrat"/>
              <a:sym typeface="Montserrat"/>
            </a:endParaRPr>
          </a:p>
        </p:txBody>
      </p:sp>
      <p:grpSp>
        <p:nvGrpSpPr>
          <p:cNvPr id="179" name="Google Shape;179;p16"/>
          <p:cNvGrpSpPr/>
          <p:nvPr/>
        </p:nvGrpSpPr>
        <p:grpSpPr>
          <a:xfrm>
            <a:off x="7443312" y="2271732"/>
            <a:ext cx="9580866" cy="6801415"/>
            <a:chOff x="8028289" y="2279932"/>
            <a:chExt cx="8036291" cy="6330431"/>
          </a:xfrm>
        </p:grpSpPr>
        <p:grpSp>
          <p:nvGrpSpPr>
            <p:cNvPr id="180" name="Google Shape;180;p16"/>
            <p:cNvGrpSpPr/>
            <p:nvPr/>
          </p:nvGrpSpPr>
          <p:grpSpPr>
            <a:xfrm>
              <a:off x="8028289" y="2279932"/>
              <a:ext cx="8036291" cy="6330431"/>
              <a:chOff x="913302" y="76899"/>
              <a:chExt cx="8036291" cy="6330431"/>
            </a:xfrm>
          </p:grpSpPr>
          <p:sp>
            <p:nvSpPr>
              <p:cNvPr id="181" name="Google Shape;181;p16"/>
              <p:cNvSpPr/>
              <p:nvPr/>
            </p:nvSpPr>
            <p:spPr>
              <a:xfrm>
                <a:off x="2991522" y="365952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p:cNvSpPr/>
              <p:nvPr/>
            </p:nvSpPr>
            <p:spPr>
              <a:xfrm>
                <a:off x="2791890" y="397944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
              <p:cNvSpPr/>
              <p:nvPr/>
            </p:nvSpPr>
            <p:spPr>
              <a:xfrm>
                <a:off x="2553972" y="4256426"/>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a:off x="2838380"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31428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a:off x="3446391" y="7689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
              <p:cNvSpPr/>
              <p:nvPr/>
            </p:nvSpPr>
            <p:spPr>
              <a:xfrm>
                <a:off x="37499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6"/>
              <p:cNvSpPr/>
              <p:nvPr/>
            </p:nvSpPr>
            <p:spPr>
              <a:xfrm>
                <a:off x="4054402"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
              <p:cNvSpPr/>
              <p:nvPr/>
            </p:nvSpPr>
            <p:spPr>
              <a:xfrm>
                <a:off x="3446391" y="459715"/>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
              <p:cNvSpPr/>
              <p:nvPr/>
            </p:nvSpPr>
            <p:spPr>
              <a:xfrm>
                <a:off x="3446391" y="842531"/>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
              <p:cNvSpPr/>
              <p:nvPr/>
            </p:nvSpPr>
            <p:spPr>
              <a:xfrm>
                <a:off x="1592279" y="5088830"/>
                <a:ext cx="6815100" cy="13185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
              <p:cNvSpPr txBox="1"/>
              <p:nvPr/>
            </p:nvSpPr>
            <p:spPr>
              <a:xfrm>
                <a:off x="1769765" y="5153238"/>
                <a:ext cx="6815100" cy="118980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3700">
                    <a:solidFill>
                      <a:schemeClr val="lt1"/>
                    </a:solidFill>
                    <a:latin typeface="Roboto"/>
                    <a:ea typeface="Roboto"/>
                    <a:cs typeface="Roboto"/>
                    <a:sym typeface="Roboto"/>
                  </a:rPr>
                  <a:t>Có 4 quan điểm của 4 nhân vật, và 7 mệnh đề.</a:t>
                </a:r>
                <a:endParaRPr b="1" sz="3700">
                  <a:solidFill>
                    <a:schemeClr val="lt1"/>
                  </a:solidFill>
                  <a:latin typeface="Roboto"/>
                  <a:ea typeface="Roboto"/>
                  <a:cs typeface="Roboto"/>
                  <a:sym typeface="Roboto"/>
                </a:endParaRPr>
              </a:p>
            </p:txBody>
          </p:sp>
          <p:sp>
            <p:nvSpPr>
              <p:cNvPr id="193" name="Google Shape;193;p16"/>
              <p:cNvSpPr/>
              <p:nvPr/>
            </p:nvSpPr>
            <p:spPr>
              <a:xfrm>
                <a:off x="913302" y="4312071"/>
                <a:ext cx="1268100" cy="1318500"/>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
              <p:cNvSpPr/>
              <p:nvPr/>
            </p:nvSpPr>
            <p:spPr>
              <a:xfrm>
                <a:off x="3669724" y="2510116"/>
                <a:ext cx="4915139" cy="1318386"/>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6"/>
              <p:cNvSpPr txBox="1"/>
              <p:nvPr/>
            </p:nvSpPr>
            <p:spPr>
              <a:xfrm>
                <a:off x="3446393" y="2516929"/>
                <a:ext cx="5503200" cy="1189800"/>
              </a:xfrm>
              <a:prstGeom prst="rect">
                <a:avLst/>
              </a:prstGeom>
              <a:noFill/>
              <a:ln>
                <a:noFill/>
              </a:ln>
            </p:spPr>
            <p:txBody>
              <a:bodyPr anchorCtr="0" anchor="ctr" bIns="182875" lIns="1040350" spcFirstLastPara="1" rIns="182875" wrap="square" tIns="182875">
                <a:noAutofit/>
              </a:bodyPr>
              <a:lstStyle/>
              <a:p>
                <a:pPr indent="0" lvl="0" marL="0" rtl="0" algn="l">
                  <a:lnSpc>
                    <a:spcPct val="90000"/>
                  </a:lnSpc>
                  <a:spcBef>
                    <a:spcPts val="0"/>
                  </a:spcBef>
                  <a:spcAft>
                    <a:spcPts val="0"/>
                  </a:spcAft>
                  <a:buClr>
                    <a:schemeClr val="dk1"/>
                  </a:buClr>
                  <a:buSzPts val="1100"/>
                  <a:buFont typeface="Arial"/>
                  <a:buNone/>
                </a:pPr>
                <a:r>
                  <a:rPr b="1" lang="en-US" sz="3700">
                    <a:solidFill>
                      <a:schemeClr val="lt1"/>
                    </a:solidFill>
                    <a:latin typeface="Roboto"/>
                    <a:ea typeface="Roboto"/>
                    <a:cs typeface="Roboto"/>
                    <a:sym typeface="Roboto"/>
                  </a:rPr>
                  <a:t>Nối quan điểm với các mệnh đề thích hợp</a:t>
                </a:r>
                <a:endParaRPr b="1" sz="3700">
                  <a:solidFill>
                    <a:schemeClr val="lt1"/>
                  </a:solidFill>
                  <a:latin typeface="Roboto"/>
                  <a:ea typeface="Roboto"/>
                  <a:cs typeface="Roboto"/>
                  <a:sym typeface="Roboto"/>
                </a:endParaRPr>
              </a:p>
            </p:txBody>
          </p:sp>
          <p:sp>
            <p:nvSpPr>
              <p:cNvPr id="196" name="Google Shape;196;p16"/>
              <p:cNvSpPr/>
              <p:nvPr/>
            </p:nvSpPr>
            <p:spPr>
              <a:xfrm>
                <a:off x="2781864" y="1520629"/>
                <a:ext cx="1458600" cy="1674300"/>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Bullseye with solid fill" id="197" name="Google Shape;197;p16"/>
            <p:cNvPicPr preferRelativeResize="0"/>
            <p:nvPr/>
          </p:nvPicPr>
          <p:blipFill rotWithShape="1">
            <a:blip r:embed="rId4">
              <a:alphaModFix/>
            </a:blip>
            <a:srcRect b="0" l="0" r="0" t="0"/>
            <a:stretch/>
          </p:blipFill>
          <p:spPr>
            <a:xfrm>
              <a:off x="8077200" y="6515100"/>
              <a:ext cx="1219200" cy="1219200"/>
            </a:xfrm>
            <a:prstGeom prst="rect">
              <a:avLst/>
            </a:prstGeom>
            <a:noFill/>
            <a:ln>
              <a:noFill/>
            </a:ln>
          </p:spPr>
        </p:pic>
        <p:pic>
          <p:nvPicPr>
            <p:cNvPr descr="Lightbulb and gear with solid fill" id="198" name="Google Shape;198;p16"/>
            <p:cNvPicPr preferRelativeResize="0"/>
            <p:nvPr/>
          </p:nvPicPr>
          <p:blipFill rotWithShape="1">
            <a:blip r:embed="rId5">
              <a:alphaModFix/>
            </a:blip>
            <a:srcRect b="0" l="0" r="0" t="0"/>
            <a:stretch/>
          </p:blipFill>
          <p:spPr>
            <a:xfrm>
              <a:off x="10001250" y="3943350"/>
              <a:ext cx="1200150" cy="12001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cxnSp>
        <p:nvCxnSpPr>
          <p:cNvPr id="203" name="Google Shape;203;p17"/>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04" name="Google Shape;204;p1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05" name="Google Shape;205;p17"/>
          <p:cNvGrpSpPr/>
          <p:nvPr/>
        </p:nvGrpSpPr>
        <p:grpSpPr>
          <a:xfrm rot="10800000">
            <a:off x="15044552" y="-741521"/>
            <a:ext cx="7681766" cy="4260610"/>
            <a:chOff x="0" y="-38100"/>
            <a:chExt cx="406400" cy="225405"/>
          </a:xfrm>
        </p:grpSpPr>
        <p:sp>
          <p:nvSpPr>
            <p:cNvPr id="206" name="Google Shape;206;p1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07" name="Google Shape;207;p1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08" name="Google Shape;208;p1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09" name="Google Shape;209;p17"/>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10" name="Google Shape;210;p17"/>
          <p:cNvSpPr txBox="1"/>
          <p:nvPr/>
        </p:nvSpPr>
        <p:spPr>
          <a:xfrm>
            <a:off x="5511794" y="2502271"/>
            <a:ext cx="11760300" cy="2512800"/>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Lưu ý khi làm bài đọc APTIS</a:t>
            </a:r>
            <a:endParaRPr/>
          </a:p>
        </p:txBody>
      </p:sp>
      <p:sp>
        <p:nvSpPr>
          <p:cNvPr id="211" name="Google Shape;211;p17"/>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02</a:t>
            </a:r>
            <a:endParaRPr/>
          </a:p>
        </p:txBody>
      </p:sp>
      <p:sp>
        <p:nvSpPr>
          <p:cNvPr id="212" name="Google Shape;212;p17"/>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13" name="Google Shape;213;p17"/>
          <p:cNvGrpSpPr/>
          <p:nvPr/>
        </p:nvGrpSpPr>
        <p:grpSpPr>
          <a:xfrm>
            <a:off x="-2718010" y="9274528"/>
            <a:ext cx="7950400" cy="1707231"/>
            <a:chOff x="0" y="-384762"/>
            <a:chExt cx="10600533" cy="2276307"/>
          </a:xfrm>
        </p:grpSpPr>
        <p:grpSp>
          <p:nvGrpSpPr>
            <p:cNvPr id="214" name="Google Shape;214;p17"/>
            <p:cNvGrpSpPr/>
            <p:nvPr/>
          </p:nvGrpSpPr>
          <p:grpSpPr>
            <a:xfrm>
              <a:off x="0" y="-384762"/>
              <a:ext cx="10600533" cy="2276307"/>
              <a:chOff x="0" y="-38100"/>
              <a:chExt cx="1049690" cy="225405"/>
            </a:xfrm>
          </p:grpSpPr>
          <p:sp>
            <p:nvSpPr>
              <p:cNvPr id="215" name="Google Shape;215;p1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16" name="Google Shape;216;p1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7" name="Google Shape;217;p1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Stressed Out Woman Cartoon Images – Browse 1,008 Stock Photos, Vectors, and  Video | Adobe Stock" id="218" name="Google Shape;218;p17"/>
          <p:cNvPicPr preferRelativeResize="0"/>
          <p:nvPr/>
        </p:nvPicPr>
        <p:blipFill rotWithShape="1">
          <a:blip r:embed="rId5">
            <a:alphaModFix/>
          </a:blip>
          <a:srcRect b="0" l="0" r="0" t="0"/>
          <a:stretch/>
        </p:blipFill>
        <p:spPr>
          <a:xfrm>
            <a:off x="8305800" y="4969014"/>
            <a:ext cx="7127824" cy="39906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11"/>
                                        </p:tgtEl>
                                        <p:attrNameLst>
                                          <p:attrName>style.visibility</p:attrName>
                                        </p:attrNameLst>
                                      </p:cBhvr>
                                      <p:to>
                                        <p:strVal val="visible"/>
                                      </p:to>
                                    </p:set>
                                    <p:anim calcmode="lin" valueType="num">
                                      <p:cBhvr additive="base">
                                        <p:cTn dur="500"/>
                                        <p:tgtEl>
                                          <p:spTgt spid="211"/>
                                        </p:tgtEl>
                                        <p:attrNameLst>
                                          <p:attrName>ppt_w</p:attrName>
                                        </p:attrNameLst>
                                      </p:cBhvr>
                                      <p:tavLst>
                                        <p:tav fmla="" tm="0">
                                          <p:val>
                                            <p:strVal val="0"/>
                                          </p:val>
                                        </p:tav>
                                        <p:tav fmla="" tm="100000">
                                          <p:val>
                                            <p:strVal val="#ppt_w"/>
                                          </p:val>
                                        </p:tav>
                                      </p:tavLst>
                                    </p:anim>
                                    <p:anim calcmode="lin" valueType="num">
                                      <p:cBhvr additive="base">
                                        <p:cTn dur="500"/>
                                        <p:tgtEl>
                                          <p:spTgt spid="21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10"/>
                                        </p:tgtEl>
                                        <p:attrNameLst>
                                          <p:attrName>style.visibility</p:attrName>
                                        </p:attrNameLst>
                                      </p:cBhvr>
                                      <p:to>
                                        <p:strVal val="visible"/>
                                      </p:to>
                                    </p:set>
                                    <p:anim calcmode="lin" valueType="num">
                                      <p:cBhvr additive="base">
                                        <p:cTn dur="500"/>
                                        <p:tgtEl>
                                          <p:spTgt spid="210"/>
                                        </p:tgtEl>
                                        <p:attrNameLst>
                                          <p:attrName>ppt_w</p:attrName>
                                        </p:attrNameLst>
                                      </p:cBhvr>
                                      <p:tavLst>
                                        <p:tav fmla="" tm="0">
                                          <p:val>
                                            <p:strVal val="0"/>
                                          </p:val>
                                        </p:tav>
                                        <p:tav fmla="" tm="100000">
                                          <p:val>
                                            <p:strVal val="#ppt_w"/>
                                          </p:val>
                                        </p:tav>
                                      </p:tavLst>
                                    </p:anim>
                                    <p:anim calcmode="lin" valueType="num">
                                      <p:cBhvr additive="base">
                                        <p:cTn dur="500"/>
                                        <p:tgtEl>
                                          <p:spTgt spid="21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cxnSp>
        <p:nvCxnSpPr>
          <p:cNvPr id="224" name="Google Shape;224;p18"/>
          <p:cNvCxnSpPr/>
          <p:nvPr/>
        </p:nvCxnSpPr>
        <p:spPr>
          <a:xfrm flipH="1" rot="10800000">
            <a:off x="3996287" y="236970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225" name="Google Shape;225;p18"/>
          <p:cNvGrpSpPr/>
          <p:nvPr/>
        </p:nvGrpSpPr>
        <p:grpSpPr>
          <a:xfrm rot="10800000">
            <a:off x="15785091" y="-536942"/>
            <a:ext cx="7681766" cy="4260610"/>
            <a:chOff x="0" y="-38100"/>
            <a:chExt cx="406400" cy="225405"/>
          </a:xfrm>
        </p:grpSpPr>
        <p:sp>
          <p:nvSpPr>
            <p:cNvPr id="226" name="Google Shape;226;p1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27" name="Google Shape;227;p1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8" name="Google Shape;228;p18"/>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29" name="Google Shape;229;p18"/>
          <p:cNvSpPr txBox="1"/>
          <p:nvPr/>
        </p:nvSpPr>
        <p:spPr>
          <a:xfrm>
            <a:off x="3358927" y="1151432"/>
            <a:ext cx="11880900" cy="7389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 khi làm bài đọc APTIS</a:t>
            </a:r>
            <a:endParaRPr/>
          </a:p>
        </p:txBody>
      </p:sp>
      <p:grpSp>
        <p:nvGrpSpPr>
          <p:cNvPr id="230" name="Google Shape;230;p18"/>
          <p:cNvGrpSpPr/>
          <p:nvPr/>
        </p:nvGrpSpPr>
        <p:grpSpPr>
          <a:xfrm>
            <a:off x="-2718010" y="9274528"/>
            <a:ext cx="7950400" cy="1707231"/>
            <a:chOff x="0" y="-384762"/>
            <a:chExt cx="10600533" cy="2276307"/>
          </a:xfrm>
        </p:grpSpPr>
        <p:grpSp>
          <p:nvGrpSpPr>
            <p:cNvPr id="231" name="Google Shape;231;p18"/>
            <p:cNvGrpSpPr/>
            <p:nvPr/>
          </p:nvGrpSpPr>
          <p:grpSpPr>
            <a:xfrm>
              <a:off x="0" y="-384762"/>
              <a:ext cx="10600533" cy="2276307"/>
              <a:chOff x="0" y="-38100"/>
              <a:chExt cx="1049690" cy="225405"/>
            </a:xfrm>
          </p:grpSpPr>
          <p:sp>
            <p:nvSpPr>
              <p:cNvPr id="232" name="Google Shape;232;p1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33" name="Google Shape;233;p1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4" name="Google Shape;234;p1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5" name="Google Shape;235;p18"/>
          <p:cNvSpPr txBox="1"/>
          <p:nvPr/>
        </p:nvSpPr>
        <p:spPr>
          <a:xfrm>
            <a:off x="3915197" y="3175163"/>
            <a:ext cx="10768500" cy="4402200"/>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Đừng dành quá nhiều thời gian cho một câu hỏi</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Calibri"/>
              <a:buChar char="⮚"/>
            </a:pPr>
            <a:r>
              <a:rPr lang="en-US" sz="4000">
                <a:solidFill>
                  <a:schemeClr val="dk1"/>
                </a:solidFill>
                <a:latin typeface="Calibri"/>
                <a:ea typeface="Calibri"/>
                <a:cs typeface="Calibri"/>
                <a:sym typeface="Calibri"/>
              </a:rPr>
              <a:t>Đừng để bất kỳ câu trả lời nào trống</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Calibri"/>
              <a:buChar char="⮚"/>
            </a:pPr>
            <a:r>
              <a:rPr lang="en-US" sz="4000">
                <a:solidFill>
                  <a:schemeClr val="dk1"/>
                </a:solidFill>
                <a:latin typeface="Calibri"/>
                <a:ea typeface="Calibri"/>
                <a:cs typeface="Calibri"/>
                <a:sym typeface="Calibri"/>
              </a:rPr>
              <a:t>Đừng mong đợi hiểu mọi từ</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Calibri"/>
              <a:buChar char="⮚"/>
            </a:pPr>
            <a:r>
              <a:rPr lang="en-US" sz="4000">
                <a:solidFill>
                  <a:schemeClr val="dk1"/>
                </a:solidFill>
                <a:latin typeface="Calibri"/>
                <a:ea typeface="Calibri"/>
                <a:cs typeface="Calibri"/>
                <a:sym typeface="Calibri"/>
              </a:rPr>
              <a:t>Làm câu dễ trước câu khó sau</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Calibri"/>
              <a:buChar char="⮚"/>
            </a:pPr>
            <a:r>
              <a:rPr lang="en-US" sz="4000">
                <a:solidFill>
                  <a:schemeClr val="dk1"/>
                </a:solidFill>
                <a:latin typeface="Calibri"/>
                <a:ea typeface="Calibri"/>
                <a:cs typeface="Calibri"/>
                <a:sym typeface="Calibri"/>
              </a:rPr>
              <a:t>Đọc câu hỏi trước và đoạn văn sau</a:t>
            </a:r>
            <a:endParaRPr sz="40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19"/>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41" name="Google Shape;241;p19"/>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42" name="Google Shape;242;p19"/>
          <p:cNvGrpSpPr/>
          <p:nvPr/>
        </p:nvGrpSpPr>
        <p:grpSpPr>
          <a:xfrm rot="10800000">
            <a:off x="15044552" y="-741521"/>
            <a:ext cx="7681766" cy="4260610"/>
            <a:chOff x="0" y="-38100"/>
            <a:chExt cx="406400" cy="225405"/>
          </a:xfrm>
        </p:grpSpPr>
        <p:sp>
          <p:nvSpPr>
            <p:cNvPr id="243" name="Google Shape;243;p1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44" name="Google Shape;244;p1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45" name="Google Shape;245;p19"/>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46" name="Google Shape;246;p19"/>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47" name="Google Shape;247;p19"/>
          <p:cNvSpPr txBox="1"/>
          <p:nvPr/>
        </p:nvSpPr>
        <p:spPr>
          <a:xfrm>
            <a:off x="5511794" y="2502271"/>
            <a:ext cx="11760209" cy="1142044"/>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Đề mẫu</a:t>
            </a:r>
            <a:endParaRPr b="1" sz="6600">
              <a:solidFill>
                <a:srgbClr val="018345"/>
              </a:solidFill>
              <a:latin typeface="Montserrat"/>
              <a:ea typeface="Montserrat"/>
              <a:cs typeface="Montserrat"/>
              <a:sym typeface="Montserrat"/>
            </a:endParaRPr>
          </a:p>
        </p:txBody>
      </p:sp>
      <p:sp>
        <p:nvSpPr>
          <p:cNvPr id="248" name="Google Shape;248;p19"/>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03</a:t>
            </a:r>
            <a:endParaRPr/>
          </a:p>
        </p:txBody>
      </p:sp>
      <p:sp>
        <p:nvSpPr>
          <p:cNvPr id="249" name="Google Shape;249;p19"/>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50" name="Google Shape;250;p19"/>
          <p:cNvGrpSpPr/>
          <p:nvPr/>
        </p:nvGrpSpPr>
        <p:grpSpPr>
          <a:xfrm>
            <a:off x="-2718010" y="9274528"/>
            <a:ext cx="7950400" cy="1707231"/>
            <a:chOff x="0" y="-384762"/>
            <a:chExt cx="10600533" cy="2276307"/>
          </a:xfrm>
        </p:grpSpPr>
        <p:grpSp>
          <p:nvGrpSpPr>
            <p:cNvPr id="251" name="Google Shape;251;p19"/>
            <p:cNvGrpSpPr/>
            <p:nvPr/>
          </p:nvGrpSpPr>
          <p:grpSpPr>
            <a:xfrm>
              <a:off x="0" y="-384762"/>
              <a:ext cx="10600533" cy="2276307"/>
              <a:chOff x="0" y="-38100"/>
              <a:chExt cx="1049690" cy="225405"/>
            </a:xfrm>
          </p:grpSpPr>
          <p:sp>
            <p:nvSpPr>
              <p:cNvPr id="252" name="Google Shape;252;p1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53" name="Google Shape;253;p1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4" name="Google Shape;254;p1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255" name="Google Shape;255;p19"/>
          <p:cNvPicPr preferRelativeResize="0"/>
          <p:nvPr/>
        </p:nvPicPr>
        <p:blipFill rotWithShape="1">
          <a:blip r:embed="rId5">
            <a:alphaModFix/>
          </a:blip>
          <a:srcRect b="10096" l="0" r="0" t="10547"/>
          <a:stretch/>
        </p:blipFill>
        <p:spPr>
          <a:xfrm>
            <a:off x="7772400" y="4099418"/>
            <a:ext cx="6391277" cy="50719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500"/>
                                        <p:tgtEl>
                                          <p:spTgt spid="248"/>
                                        </p:tgtEl>
                                        <p:attrNameLst>
                                          <p:attrName>ppt_w</p:attrName>
                                        </p:attrNameLst>
                                      </p:cBhvr>
                                      <p:tavLst>
                                        <p:tav fmla="" tm="0">
                                          <p:val>
                                            <p:strVal val="0"/>
                                          </p:val>
                                        </p:tav>
                                        <p:tav fmla="" tm="100000">
                                          <p:val>
                                            <p:strVal val="#ppt_w"/>
                                          </p:val>
                                        </p:tav>
                                      </p:tavLst>
                                    </p:anim>
                                    <p:anim calcmode="lin" valueType="num">
                                      <p:cBhvr additive="base">
                                        <p:cTn dur="500"/>
                                        <p:tgtEl>
                                          <p:spTgt spid="24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47"/>
                                        </p:tgtEl>
                                        <p:attrNameLst>
                                          <p:attrName>style.visibility</p:attrName>
                                        </p:attrNameLst>
                                      </p:cBhvr>
                                      <p:to>
                                        <p:strVal val="visible"/>
                                      </p:to>
                                    </p:set>
                                    <p:anim calcmode="lin" valueType="num">
                                      <p:cBhvr additive="base">
                                        <p:cTn dur="500"/>
                                        <p:tgtEl>
                                          <p:spTgt spid="247"/>
                                        </p:tgtEl>
                                        <p:attrNameLst>
                                          <p:attrName>ppt_w</p:attrName>
                                        </p:attrNameLst>
                                      </p:cBhvr>
                                      <p:tavLst>
                                        <p:tav fmla="" tm="0">
                                          <p:val>
                                            <p:strVal val="0"/>
                                          </p:val>
                                        </p:tav>
                                        <p:tav fmla="" tm="100000">
                                          <p:val>
                                            <p:strVal val="#ppt_w"/>
                                          </p:val>
                                        </p:tav>
                                      </p:tavLst>
                                    </p:anim>
                                    <p:anim calcmode="lin" valueType="num">
                                      <p:cBhvr additive="base">
                                        <p:cTn dur="500"/>
                                        <p:tgtEl>
                                          <p:spTgt spid="24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cxnSp>
        <p:nvCxnSpPr>
          <p:cNvPr id="261" name="Google Shape;261;p20"/>
          <p:cNvCxnSpPr/>
          <p:nvPr/>
        </p:nvCxnSpPr>
        <p:spPr>
          <a:xfrm flipH="1" rot="10800000">
            <a:off x="4154501" y="1758625"/>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262" name="Google Shape;262;p20"/>
          <p:cNvGrpSpPr/>
          <p:nvPr/>
        </p:nvGrpSpPr>
        <p:grpSpPr>
          <a:xfrm rot="10800000">
            <a:off x="15785084" y="-536938"/>
            <a:ext cx="7681773" cy="4260605"/>
            <a:chOff x="0" y="-38100"/>
            <a:chExt cx="406400" cy="225405"/>
          </a:xfrm>
        </p:grpSpPr>
        <p:sp>
          <p:nvSpPr>
            <p:cNvPr id="263" name="Google Shape;263;p2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64" name="Google Shape;264;p2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5" name="Google Shape;265;p2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266" name="Google Shape;266;p20"/>
          <p:cNvGrpSpPr/>
          <p:nvPr/>
        </p:nvGrpSpPr>
        <p:grpSpPr>
          <a:xfrm>
            <a:off x="-2718010" y="9274530"/>
            <a:ext cx="7950378" cy="1707223"/>
            <a:chOff x="0" y="-384760"/>
            <a:chExt cx="10600504" cy="2276297"/>
          </a:xfrm>
        </p:grpSpPr>
        <p:grpSp>
          <p:nvGrpSpPr>
            <p:cNvPr id="267" name="Google Shape;267;p20"/>
            <p:cNvGrpSpPr/>
            <p:nvPr/>
          </p:nvGrpSpPr>
          <p:grpSpPr>
            <a:xfrm>
              <a:off x="0" y="-384760"/>
              <a:ext cx="10600504" cy="2276297"/>
              <a:chOff x="0" y="-38100"/>
              <a:chExt cx="1049690" cy="225405"/>
            </a:xfrm>
          </p:grpSpPr>
          <p:sp>
            <p:nvSpPr>
              <p:cNvPr id="268" name="Google Shape;268;p2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69" name="Google Shape;269;p20"/>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0" name="Google Shape;270;p20"/>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1" name="Google Shape;271;p20"/>
          <p:cNvSpPr txBox="1"/>
          <p:nvPr/>
        </p:nvSpPr>
        <p:spPr>
          <a:xfrm>
            <a:off x="3203547" y="602375"/>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pic>
        <p:nvPicPr>
          <p:cNvPr id="272" name="Google Shape;272;p20"/>
          <p:cNvPicPr preferRelativeResize="0"/>
          <p:nvPr/>
        </p:nvPicPr>
        <p:blipFill>
          <a:blip r:embed="rId4">
            <a:alphaModFix/>
          </a:blip>
          <a:stretch>
            <a:fillRect/>
          </a:stretch>
        </p:blipFill>
        <p:spPr>
          <a:xfrm>
            <a:off x="2425525" y="2041864"/>
            <a:ext cx="13366950" cy="7968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cxnSp>
        <p:nvCxnSpPr>
          <p:cNvPr id="277" name="Google Shape;277;p21"/>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78" name="Google Shape;278;p21"/>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79" name="Google Shape;279;p21"/>
          <p:cNvGrpSpPr/>
          <p:nvPr/>
        </p:nvGrpSpPr>
        <p:grpSpPr>
          <a:xfrm rot="10800000">
            <a:off x="15044552" y="-741521"/>
            <a:ext cx="7681766" cy="4260610"/>
            <a:chOff x="0" y="-38100"/>
            <a:chExt cx="406400" cy="225405"/>
          </a:xfrm>
        </p:grpSpPr>
        <p:sp>
          <p:nvSpPr>
            <p:cNvPr id="280" name="Google Shape;280;p2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81" name="Google Shape;281;p2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82" name="Google Shape;282;p21"/>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83" name="Google Shape;283;p21"/>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84" name="Google Shape;284;p21"/>
          <p:cNvSpPr txBox="1"/>
          <p:nvPr/>
        </p:nvSpPr>
        <p:spPr>
          <a:xfrm>
            <a:off x="5232390" y="2564021"/>
            <a:ext cx="11760209" cy="1104085"/>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Hướng dẫn trả lời</a:t>
            </a:r>
            <a:endParaRPr/>
          </a:p>
        </p:txBody>
      </p:sp>
      <p:sp>
        <p:nvSpPr>
          <p:cNvPr id="285" name="Google Shape;285;p21"/>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04</a:t>
            </a:r>
            <a:endParaRPr/>
          </a:p>
        </p:txBody>
      </p:sp>
      <p:sp>
        <p:nvSpPr>
          <p:cNvPr id="286" name="Google Shape;286;p21"/>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87" name="Google Shape;287;p21"/>
          <p:cNvGrpSpPr/>
          <p:nvPr/>
        </p:nvGrpSpPr>
        <p:grpSpPr>
          <a:xfrm>
            <a:off x="-2718010" y="9274528"/>
            <a:ext cx="7950400" cy="1707231"/>
            <a:chOff x="0" y="-384762"/>
            <a:chExt cx="10600533" cy="2276307"/>
          </a:xfrm>
        </p:grpSpPr>
        <p:grpSp>
          <p:nvGrpSpPr>
            <p:cNvPr id="288" name="Google Shape;288;p21"/>
            <p:cNvGrpSpPr/>
            <p:nvPr/>
          </p:nvGrpSpPr>
          <p:grpSpPr>
            <a:xfrm>
              <a:off x="0" y="-384762"/>
              <a:ext cx="10600533" cy="2276307"/>
              <a:chOff x="0" y="-38100"/>
              <a:chExt cx="1049690" cy="225405"/>
            </a:xfrm>
          </p:grpSpPr>
          <p:sp>
            <p:nvSpPr>
              <p:cNvPr id="289" name="Google Shape;289;p2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90" name="Google Shape;290;p2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1" name="Google Shape;291;p21"/>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2" name="Google Shape;292;p21"/>
          <p:cNvSpPr/>
          <p:nvPr/>
        </p:nvSpPr>
        <p:spPr>
          <a:xfrm>
            <a:off x="9563099" y="4749873"/>
            <a:ext cx="3276055" cy="3301942"/>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500"/>
                                        <p:tgtEl>
                                          <p:spTgt spid="285"/>
                                        </p:tgtEl>
                                        <p:attrNameLst>
                                          <p:attrName>ppt_w</p:attrName>
                                        </p:attrNameLst>
                                      </p:cBhvr>
                                      <p:tavLst>
                                        <p:tav fmla="" tm="0">
                                          <p:val>
                                            <p:strVal val="0"/>
                                          </p:val>
                                        </p:tav>
                                        <p:tav fmla="" tm="100000">
                                          <p:val>
                                            <p:strVal val="#ppt_w"/>
                                          </p:val>
                                        </p:tav>
                                      </p:tavLst>
                                    </p:anim>
                                    <p:anim calcmode="lin" valueType="num">
                                      <p:cBhvr additive="base">
                                        <p:cTn dur="500"/>
                                        <p:tgtEl>
                                          <p:spTgt spid="28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84"/>
                                        </p:tgtEl>
                                        <p:attrNameLst>
                                          <p:attrName>style.visibility</p:attrName>
                                        </p:attrNameLst>
                                      </p:cBhvr>
                                      <p:to>
                                        <p:strVal val="visible"/>
                                      </p:to>
                                    </p:set>
                                    <p:anim calcmode="lin" valueType="num">
                                      <p:cBhvr additive="base">
                                        <p:cTn dur="500"/>
                                        <p:tgtEl>
                                          <p:spTgt spid="284"/>
                                        </p:tgtEl>
                                        <p:attrNameLst>
                                          <p:attrName>ppt_w</p:attrName>
                                        </p:attrNameLst>
                                      </p:cBhvr>
                                      <p:tavLst>
                                        <p:tav fmla="" tm="0">
                                          <p:val>
                                            <p:strVal val="0"/>
                                          </p:val>
                                        </p:tav>
                                        <p:tav fmla="" tm="100000">
                                          <p:val>
                                            <p:strVal val="#ppt_w"/>
                                          </p:val>
                                        </p:tav>
                                      </p:tavLst>
                                    </p:anim>
                                    <p:anim calcmode="lin" valueType="num">
                                      <p:cBhvr additive="base">
                                        <p:cTn dur="500"/>
                                        <p:tgtEl>
                                          <p:spTgt spid="28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cxnSp>
        <p:nvCxnSpPr>
          <p:cNvPr id="297" name="Google Shape;297;p22"/>
          <p:cNvCxnSpPr/>
          <p:nvPr/>
        </p:nvCxnSpPr>
        <p:spPr>
          <a:xfrm>
            <a:off x="6400799" y="2235185"/>
            <a:ext cx="9982200" cy="0"/>
          </a:xfrm>
          <a:prstGeom prst="straightConnector1">
            <a:avLst/>
          </a:prstGeom>
          <a:noFill/>
          <a:ln cap="flat" cmpd="sng" w="38100">
            <a:solidFill>
              <a:srgbClr val="018345"/>
            </a:solidFill>
            <a:prstDash val="solid"/>
            <a:round/>
            <a:headEnd len="sm" w="sm" type="none"/>
            <a:tailEnd len="sm" w="sm" type="none"/>
          </a:ln>
        </p:spPr>
      </p:cxnSp>
      <p:grpSp>
        <p:nvGrpSpPr>
          <p:cNvPr id="298" name="Google Shape;298;p22"/>
          <p:cNvGrpSpPr/>
          <p:nvPr/>
        </p:nvGrpSpPr>
        <p:grpSpPr>
          <a:xfrm rot="10800000">
            <a:off x="15044545" y="-741517"/>
            <a:ext cx="7681773" cy="4260605"/>
            <a:chOff x="0" y="-38100"/>
            <a:chExt cx="406400" cy="225405"/>
          </a:xfrm>
        </p:grpSpPr>
        <p:sp>
          <p:nvSpPr>
            <p:cNvPr id="299" name="Google Shape;299;p2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00" name="Google Shape;300;p2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301" name="Google Shape;301;p22"/>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02" name="Google Shape;302;p22"/>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03" name="Google Shape;303;p22"/>
          <p:cNvSpPr txBox="1"/>
          <p:nvPr/>
        </p:nvSpPr>
        <p:spPr>
          <a:xfrm>
            <a:off x="5232365" y="973134"/>
            <a:ext cx="11760300" cy="831300"/>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Các bước làm bài</a:t>
            </a:r>
            <a:endParaRPr/>
          </a:p>
        </p:txBody>
      </p:sp>
      <p:sp>
        <p:nvSpPr>
          <p:cNvPr id="304" name="Google Shape;304;p22"/>
          <p:cNvSpPr txBox="1"/>
          <p:nvPr/>
        </p:nvSpPr>
        <p:spPr>
          <a:xfrm>
            <a:off x="-10653311" y="9715322"/>
            <a:ext cx="13923300" cy="288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305" name="Google Shape;305;p22"/>
          <p:cNvGrpSpPr/>
          <p:nvPr/>
        </p:nvGrpSpPr>
        <p:grpSpPr>
          <a:xfrm>
            <a:off x="-2718010" y="9274530"/>
            <a:ext cx="7950378" cy="1707223"/>
            <a:chOff x="0" y="-384760"/>
            <a:chExt cx="10600504" cy="2276297"/>
          </a:xfrm>
        </p:grpSpPr>
        <p:grpSp>
          <p:nvGrpSpPr>
            <p:cNvPr id="306" name="Google Shape;306;p22"/>
            <p:cNvGrpSpPr/>
            <p:nvPr/>
          </p:nvGrpSpPr>
          <p:grpSpPr>
            <a:xfrm>
              <a:off x="0" y="-384760"/>
              <a:ext cx="10600504" cy="2276297"/>
              <a:chOff x="0" y="-38100"/>
              <a:chExt cx="1049690" cy="225405"/>
            </a:xfrm>
          </p:grpSpPr>
          <p:sp>
            <p:nvSpPr>
              <p:cNvPr id="307" name="Google Shape;307;p2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08" name="Google Shape;308;p22"/>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9" name="Google Shape;309;p22"/>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0" name="Google Shape;310;p22"/>
          <p:cNvSpPr txBox="1"/>
          <p:nvPr/>
        </p:nvSpPr>
        <p:spPr>
          <a:xfrm>
            <a:off x="6264725" y="2870075"/>
            <a:ext cx="11245200" cy="6630600"/>
          </a:xfrm>
          <a:prstGeom prst="rect">
            <a:avLst/>
          </a:prstGeom>
          <a:noFill/>
          <a:ln>
            <a:noFill/>
          </a:ln>
        </p:spPr>
        <p:txBody>
          <a:bodyPr anchorCtr="0" anchor="t" bIns="91425" lIns="91425" spcFirstLastPara="1" rIns="91425" wrap="square" tIns="91425">
            <a:noAutofit/>
          </a:bodyPr>
          <a:lstStyle/>
          <a:p>
            <a:pPr indent="0" lvl="0" marL="0" rtl="0" algn="just">
              <a:lnSpc>
                <a:spcPct val="200000"/>
              </a:lnSpc>
              <a:spcBef>
                <a:spcPts val="0"/>
              </a:spcBef>
              <a:spcAft>
                <a:spcPts val="0"/>
              </a:spcAft>
              <a:buNone/>
            </a:pPr>
            <a:r>
              <a:rPr b="1" lang="en-US" sz="3400">
                <a:solidFill>
                  <a:schemeClr val="dk1"/>
                </a:solidFill>
                <a:latin typeface="Calibri"/>
                <a:ea typeface="Calibri"/>
                <a:cs typeface="Calibri"/>
                <a:sym typeface="Calibri"/>
              </a:rPr>
              <a:t>Bước 1: </a:t>
            </a:r>
            <a:r>
              <a:rPr lang="en-US" sz="3400">
                <a:solidFill>
                  <a:schemeClr val="dk1"/>
                </a:solidFill>
                <a:latin typeface="Calibri"/>
                <a:ea typeface="Calibri"/>
                <a:cs typeface="Calibri"/>
                <a:sym typeface="Calibri"/>
              </a:rPr>
              <a:t>Đọc hiểu câu hỏi và gạch chân từ khóa quan trọng (thường là danh từ, động từ, tính từ, trạng từ, từ để hỏi)</a:t>
            </a:r>
            <a:endParaRPr sz="34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b="1" lang="en-US" sz="3400">
                <a:solidFill>
                  <a:schemeClr val="dk1"/>
                </a:solidFill>
                <a:latin typeface="Calibri"/>
                <a:ea typeface="Calibri"/>
                <a:cs typeface="Calibri"/>
                <a:sym typeface="Calibri"/>
              </a:rPr>
              <a:t>Bước 2: </a:t>
            </a:r>
            <a:r>
              <a:rPr lang="en-US" sz="3400">
                <a:solidFill>
                  <a:schemeClr val="dk1"/>
                </a:solidFill>
                <a:latin typeface="Calibri"/>
                <a:ea typeface="Calibri"/>
                <a:cs typeface="Calibri"/>
                <a:sym typeface="Calibri"/>
              </a:rPr>
              <a:t>Dựa vào từ khóa để xác định vị trí thông tin trong bài</a:t>
            </a:r>
            <a:endParaRPr sz="34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b="1" lang="en-US" sz="3400">
                <a:solidFill>
                  <a:schemeClr val="dk1"/>
                </a:solidFill>
                <a:latin typeface="Calibri"/>
                <a:ea typeface="Calibri"/>
                <a:cs typeface="Calibri"/>
                <a:sym typeface="Calibri"/>
              </a:rPr>
              <a:t>Bước 3:</a:t>
            </a:r>
            <a:r>
              <a:rPr lang="en-US" sz="3400">
                <a:solidFill>
                  <a:schemeClr val="dk1"/>
                </a:solidFill>
                <a:latin typeface="Calibri"/>
                <a:ea typeface="Calibri"/>
                <a:cs typeface="Calibri"/>
                <a:sym typeface="Calibri"/>
              </a:rPr>
              <a:t> Đọc hiểu nội dung trong bài</a:t>
            </a:r>
            <a:endParaRPr sz="34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b="1" lang="en-US" sz="3400">
                <a:solidFill>
                  <a:schemeClr val="dk1"/>
                </a:solidFill>
                <a:latin typeface="Calibri"/>
                <a:ea typeface="Calibri"/>
                <a:cs typeface="Calibri"/>
                <a:sym typeface="Calibri"/>
              </a:rPr>
              <a:t>Bước 4: </a:t>
            </a:r>
            <a:r>
              <a:rPr lang="en-US" sz="3400">
                <a:solidFill>
                  <a:schemeClr val="dk1"/>
                </a:solidFill>
                <a:latin typeface="Calibri"/>
                <a:ea typeface="Calibri"/>
                <a:cs typeface="Calibri"/>
                <a:sym typeface="Calibri"/>
              </a:rPr>
              <a:t>Chọn đáp án chính xác (</a:t>
            </a:r>
            <a:r>
              <a:rPr lang="en-US" sz="3400">
                <a:solidFill>
                  <a:schemeClr val="dk1"/>
                </a:solidFill>
                <a:latin typeface="Calibri"/>
                <a:ea typeface="Calibri"/>
                <a:cs typeface="Calibri"/>
                <a:sym typeface="Calibri"/>
              </a:rPr>
              <a:t>Loại trừ các đáp án sai nếu có)</a:t>
            </a:r>
            <a:endParaRPr sz="34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b="1" lang="en-US" sz="3400">
                <a:solidFill>
                  <a:schemeClr val="dk1"/>
                </a:solidFill>
                <a:latin typeface="Calibri"/>
                <a:ea typeface="Calibri"/>
                <a:cs typeface="Calibri"/>
                <a:sym typeface="Calibri"/>
              </a:rPr>
              <a:t>Bước 5:</a:t>
            </a:r>
            <a:r>
              <a:rPr lang="en-US" sz="3400">
                <a:solidFill>
                  <a:schemeClr val="dk1"/>
                </a:solidFill>
                <a:latin typeface="Calibri"/>
                <a:ea typeface="Calibri"/>
                <a:cs typeface="Calibri"/>
                <a:sym typeface="Calibri"/>
              </a:rPr>
              <a:t> Học từ vựng (Khi ôn luyện)</a:t>
            </a:r>
            <a:endParaRPr sz="3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03"/>
                                        </p:tgtEl>
                                        <p:attrNameLst>
                                          <p:attrName>style.visibility</p:attrName>
                                        </p:attrNameLst>
                                      </p:cBhvr>
                                      <p:to>
                                        <p:strVal val="visible"/>
                                      </p:to>
                                    </p:set>
                                    <p:anim calcmode="lin" valueType="num">
                                      <p:cBhvr additive="base">
                                        <p:cTn dur="500"/>
                                        <p:tgtEl>
                                          <p:spTgt spid="303"/>
                                        </p:tgtEl>
                                        <p:attrNameLst>
                                          <p:attrName>ppt_w</p:attrName>
                                        </p:attrNameLst>
                                      </p:cBhvr>
                                      <p:tavLst>
                                        <p:tav fmla="" tm="0">
                                          <p:val>
                                            <p:strVal val="0"/>
                                          </p:val>
                                        </p:tav>
                                        <p:tav fmla="" tm="100000">
                                          <p:val>
                                            <p:strVal val="#ppt_w"/>
                                          </p:val>
                                        </p:tav>
                                      </p:tavLst>
                                    </p:anim>
                                    <p:anim calcmode="lin" valueType="num">
                                      <p:cBhvr additive="base">
                                        <p:cTn dur="500"/>
                                        <p:tgtEl>
                                          <p:spTgt spid="30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cxnSp>
        <p:nvCxnSpPr>
          <p:cNvPr id="316" name="Google Shape;316;p23"/>
          <p:cNvCxnSpPr/>
          <p:nvPr/>
        </p:nvCxnSpPr>
        <p:spPr>
          <a:xfrm flipH="1" rot="10800000">
            <a:off x="3840870" y="151055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317" name="Google Shape;317;p23"/>
          <p:cNvGrpSpPr/>
          <p:nvPr/>
        </p:nvGrpSpPr>
        <p:grpSpPr>
          <a:xfrm rot="10800000">
            <a:off x="15785091" y="-536942"/>
            <a:ext cx="7681766" cy="4260610"/>
            <a:chOff x="0" y="-38100"/>
            <a:chExt cx="406400" cy="225405"/>
          </a:xfrm>
        </p:grpSpPr>
        <p:sp>
          <p:nvSpPr>
            <p:cNvPr id="318" name="Google Shape;318;p2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19" name="Google Shape;319;p23"/>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0" name="Google Shape;320;p2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21" name="Google Shape;321;p23"/>
          <p:cNvSpPr txBox="1"/>
          <p:nvPr/>
        </p:nvSpPr>
        <p:spPr>
          <a:xfrm>
            <a:off x="2451125" y="319500"/>
            <a:ext cx="140232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Bước 1: Đọc câu hỏi và tìm từ khóa</a:t>
            </a:r>
            <a:endParaRPr b="1" sz="6000">
              <a:solidFill>
                <a:srgbClr val="018345"/>
              </a:solidFill>
              <a:latin typeface="Montserrat"/>
              <a:ea typeface="Montserrat"/>
              <a:cs typeface="Montserrat"/>
              <a:sym typeface="Montserrat"/>
            </a:endParaRPr>
          </a:p>
        </p:txBody>
      </p:sp>
      <p:sp>
        <p:nvSpPr>
          <p:cNvPr id="322" name="Google Shape;322;p23"/>
          <p:cNvSpPr txBox="1"/>
          <p:nvPr/>
        </p:nvSpPr>
        <p:spPr>
          <a:xfrm>
            <a:off x="1529825" y="1529450"/>
            <a:ext cx="15865800" cy="849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n-US" sz="3300">
                <a:solidFill>
                  <a:schemeClr val="dk1"/>
                </a:solidFill>
                <a:latin typeface="Calibri"/>
                <a:ea typeface="Calibri"/>
                <a:cs typeface="Calibri"/>
                <a:sym typeface="Calibri"/>
              </a:rPr>
              <a:t>Four people respond in the comments section of an online magazine article about education and work. Read their comments and answer the questions below.</a:t>
            </a:r>
            <a:endParaRPr b="1" sz="33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t/>
            </a:r>
            <a:endParaRPr b="1" sz="33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rPr lang="en-US" sz="3300">
                <a:solidFill>
                  <a:schemeClr val="dk1"/>
                </a:solidFill>
                <a:latin typeface="Calibri"/>
                <a:ea typeface="Calibri"/>
                <a:cs typeface="Calibri"/>
                <a:sym typeface="Calibri"/>
              </a:rPr>
              <a:t>1. Who thinks you should study when you are older?</a:t>
            </a:r>
            <a:endParaRPr sz="33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t/>
            </a:r>
            <a:endParaRPr sz="33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rPr lang="en-US" sz="3300">
                <a:solidFill>
                  <a:schemeClr val="dk1"/>
                </a:solidFill>
                <a:latin typeface="Calibri"/>
                <a:ea typeface="Calibri"/>
                <a:cs typeface="Calibri"/>
                <a:sym typeface="Calibri"/>
              </a:rPr>
              <a:t>2. Who thinks formal qualifications are too expensive?</a:t>
            </a:r>
            <a:endParaRPr sz="33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t/>
            </a:r>
            <a:endParaRPr sz="33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rPr lang="en-US" sz="3300">
                <a:solidFill>
                  <a:schemeClr val="dk1"/>
                </a:solidFill>
                <a:latin typeface="Calibri"/>
                <a:ea typeface="Calibri"/>
                <a:cs typeface="Calibri"/>
                <a:sym typeface="Calibri"/>
              </a:rPr>
              <a:t>3. Who thinks you should go to university when you are young?</a:t>
            </a:r>
            <a:endParaRPr sz="33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t/>
            </a:r>
            <a:endParaRPr sz="33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rPr lang="en-US" sz="3300">
                <a:solidFill>
                  <a:schemeClr val="dk1"/>
                </a:solidFill>
                <a:latin typeface="Calibri"/>
                <a:ea typeface="Calibri"/>
                <a:cs typeface="Calibri"/>
                <a:sym typeface="Calibri"/>
              </a:rPr>
              <a:t>4. Who thinks you should study independently?</a:t>
            </a:r>
            <a:endParaRPr sz="33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t/>
            </a:r>
            <a:endParaRPr sz="33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rPr lang="en-US" sz="3300">
                <a:solidFill>
                  <a:schemeClr val="dk1"/>
                </a:solidFill>
                <a:latin typeface="Calibri"/>
                <a:ea typeface="Calibri"/>
                <a:cs typeface="Calibri"/>
                <a:sym typeface="Calibri"/>
              </a:rPr>
              <a:t>5. Who thinks you should combine a job with studying?</a:t>
            </a:r>
            <a:endParaRPr sz="33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t/>
            </a:r>
            <a:endParaRPr sz="33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rPr lang="en-US" sz="3300">
                <a:solidFill>
                  <a:schemeClr val="dk1"/>
                </a:solidFill>
                <a:latin typeface="Calibri"/>
                <a:ea typeface="Calibri"/>
                <a:cs typeface="Calibri"/>
                <a:sym typeface="Calibri"/>
              </a:rPr>
              <a:t>6. Who think you should choose a course that is practical?</a:t>
            </a:r>
            <a:endParaRPr sz="33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t/>
            </a:r>
            <a:endParaRPr sz="3300">
              <a:solidFill>
                <a:schemeClr val="dk1"/>
              </a:solidFill>
              <a:latin typeface="Calibri"/>
              <a:ea typeface="Calibri"/>
              <a:cs typeface="Calibri"/>
              <a:sym typeface="Calibri"/>
            </a:endParaRPr>
          </a:p>
          <a:p>
            <a:pPr indent="0" lvl="0" marL="0" rtl="0" algn="just">
              <a:spcBef>
                <a:spcPts val="0"/>
              </a:spcBef>
              <a:spcAft>
                <a:spcPts val="0"/>
              </a:spcAft>
              <a:buNone/>
            </a:pPr>
            <a:r>
              <a:rPr lang="en-US" sz="3300">
                <a:solidFill>
                  <a:schemeClr val="dk1"/>
                </a:solidFill>
                <a:latin typeface="Calibri"/>
                <a:ea typeface="Calibri"/>
                <a:cs typeface="Calibri"/>
                <a:sym typeface="Calibri"/>
              </a:rPr>
              <a:t>7. Who thinks you should get a job immediately after leaving school?</a:t>
            </a:r>
            <a:endParaRPr sz="3300">
              <a:solidFill>
                <a:schemeClr val="dk1"/>
              </a:solidFill>
              <a:latin typeface="Calibri"/>
              <a:ea typeface="Calibri"/>
              <a:cs typeface="Calibri"/>
              <a:sym typeface="Calibri"/>
            </a:endParaRPr>
          </a:p>
        </p:txBody>
      </p:sp>
      <p:cxnSp>
        <p:nvCxnSpPr>
          <p:cNvPr id="323" name="Google Shape;323;p23"/>
          <p:cNvCxnSpPr/>
          <p:nvPr/>
        </p:nvCxnSpPr>
        <p:spPr>
          <a:xfrm>
            <a:off x="2046900" y="3627050"/>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324" name="Google Shape;324;p23"/>
          <p:cNvCxnSpPr/>
          <p:nvPr/>
        </p:nvCxnSpPr>
        <p:spPr>
          <a:xfrm>
            <a:off x="2046900" y="4626100"/>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325" name="Google Shape;325;p23"/>
          <p:cNvCxnSpPr/>
          <p:nvPr/>
        </p:nvCxnSpPr>
        <p:spPr>
          <a:xfrm>
            <a:off x="2046900" y="5625150"/>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326" name="Google Shape;326;p23"/>
          <p:cNvCxnSpPr/>
          <p:nvPr/>
        </p:nvCxnSpPr>
        <p:spPr>
          <a:xfrm>
            <a:off x="2046900" y="6666550"/>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327" name="Google Shape;327;p23"/>
          <p:cNvCxnSpPr/>
          <p:nvPr/>
        </p:nvCxnSpPr>
        <p:spPr>
          <a:xfrm>
            <a:off x="2046900" y="7686775"/>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328" name="Google Shape;328;p23"/>
          <p:cNvCxnSpPr/>
          <p:nvPr/>
        </p:nvCxnSpPr>
        <p:spPr>
          <a:xfrm>
            <a:off x="2046900" y="8664675"/>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329" name="Google Shape;329;p23"/>
          <p:cNvCxnSpPr/>
          <p:nvPr/>
        </p:nvCxnSpPr>
        <p:spPr>
          <a:xfrm>
            <a:off x="2046900" y="9684925"/>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330" name="Google Shape;330;p23"/>
          <p:cNvCxnSpPr/>
          <p:nvPr/>
        </p:nvCxnSpPr>
        <p:spPr>
          <a:xfrm>
            <a:off x="6072800" y="3627050"/>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331" name="Google Shape;331;p23"/>
          <p:cNvCxnSpPr/>
          <p:nvPr/>
        </p:nvCxnSpPr>
        <p:spPr>
          <a:xfrm>
            <a:off x="9463700" y="3627050"/>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332" name="Google Shape;332;p23"/>
          <p:cNvCxnSpPr/>
          <p:nvPr/>
        </p:nvCxnSpPr>
        <p:spPr>
          <a:xfrm flipH="1" rot="10800000">
            <a:off x="4156025" y="4621900"/>
            <a:ext cx="3300600" cy="4200"/>
          </a:xfrm>
          <a:prstGeom prst="straightConnector1">
            <a:avLst/>
          </a:prstGeom>
          <a:noFill/>
          <a:ln cap="flat" cmpd="sng" w="28575">
            <a:solidFill>
              <a:srgbClr val="FF0000"/>
            </a:solidFill>
            <a:prstDash val="solid"/>
            <a:round/>
            <a:headEnd len="med" w="med" type="none"/>
            <a:tailEnd len="med" w="med" type="none"/>
          </a:ln>
        </p:spPr>
      </p:cxnSp>
      <p:cxnSp>
        <p:nvCxnSpPr>
          <p:cNvPr id="333" name="Google Shape;333;p23"/>
          <p:cNvCxnSpPr/>
          <p:nvPr/>
        </p:nvCxnSpPr>
        <p:spPr>
          <a:xfrm flipH="1" rot="10800000">
            <a:off x="8892750" y="4624000"/>
            <a:ext cx="1802100" cy="4200"/>
          </a:xfrm>
          <a:prstGeom prst="straightConnector1">
            <a:avLst/>
          </a:prstGeom>
          <a:noFill/>
          <a:ln cap="flat" cmpd="sng" w="28575">
            <a:solidFill>
              <a:srgbClr val="FF0000"/>
            </a:solidFill>
            <a:prstDash val="solid"/>
            <a:round/>
            <a:headEnd len="med" w="med" type="none"/>
            <a:tailEnd len="med" w="med" type="none"/>
          </a:ln>
        </p:spPr>
      </p:cxnSp>
      <p:cxnSp>
        <p:nvCxnSpPr>
          <p:cNvPr id="334" name="Google Shape;334;p23"/>
          <p:cNvCxnSpPr/>
          <p:nvPr/>
        </p:nvCxnSpPr>
        <p:spPr>
          <a:xfrm>
            <a:off x="11262875" y="5625150"/>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335" name="Google Shape;335;p23"/>
          <p:cNvCxnSpPr/>
          <p:nvPr/>
        </p:nvCxnSpPr>
        <p:spPr>
          <a:xfrm>
            <a:off x="5975450" y="6666550"/>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336" name="Google Shape;336;p23"/>
          <p:cNvCxnSpPr/>
          <p:nvPr/>
        </p:nvCxnSpPr>
        <p:spPr>
          <a:xfrm flipH="1" rot="10800000">
            <a:off x="7456625" y="6664450"/>
            <a:ext cx="1802100" cy="4200"/>
          </a:xfrm>
          <a:prstGeom prst="straightConnector1">
            <a:avLst/>
          </a:prstGeom>
          <a:noFill/>
          <a:ln cap="flat" cmpd="sng" w="28575">
            <a:solidFill>
              <a:srgbClr val="FF0000"/>
            </a:solidFill>
            <a:prstDash val="solid"/>
            <a:round/>
            <a:headEnd len="med" w="med" type="none"/>
            <a:tailEnd len="med" w="med" type="none"/>
          </a:ln>
        </p:spPr>
      </p:cxnSp>
      <p:cxnSp>
        <p:nvCxnSpPr>
          <p:cNvPr id="337" name="Google Shape;337;p23"/>
          <p:cNvCxnSpPr/>
          <p:nvPr/>
        </p:nvCxnSpPr>
        <p:spPr>
          <a:xfrm>
            <a:off x="6072800" y="7703150"/>
            <a:ext cx="1539900" cy="4800"/>
          </a:xfrm>
          <a:prstGeom prst="straightConnector1">
            <a:avLst/>
          </a:prstGeom>
          <a:noFill/>
          <a:ln cap="flat" cmpd="sng" w="28575">
            <a:solidFill>
              <a:srgbClr val="FF0000"/>
            </a:solidFill>
            <a:prstDash val="solid"/>
            <a:round/>
            <a:headEnd len="med" w="med" type="none"/>
            <a:tailEnd len="med" w="med" type="none"/>
          </a:ln>
        </p:spPr>
      </p:cxnSp>
      <p:cxnSp>
        <p:nvCxnSpPr>
          <p:cNvPr id="338" name="Google Shape;338;p23"/>
          <p:cNvCxnSpPr/>
          <p:nvPr/>
        </p:nvCxnSpPr>
        <p:spPr>
          <a:xfrm>
            <a:off x="9463700" y="7684375"/>
            <a:ext cx="1539900" cy="4800"/>
          </a:xfrm>
          <a:prstGeom prst="straightConnector1">
            <a:avLst/>
          </a:prstGeom>
          <a:noFill/>
          <a:ln cap="flat" cmpd="sng" w="28575">
            <a:solidFill>
              <a:srgbClr val="FF0000"/>
            </a:solidFill>
            <a:prstDash val="solid"/>
            <a:round/>
            <a:headEnd len="med" w="med" type="none"/>
            <a:tailEnd len="med" w="med" type="none"/>
          </a:ln>
        </p:spPr>
      </p:cxnSp>
      <p:cxnSp>
        <p:nvCxnSpPr>
          <p:cNvPr id="339" name="Google Shape;339;p23"/>
          <p:cNvCxnSpPr/>
          <p:nvPr/>
        </p:nvCxnSpPr>
        <p:spPr>
          <a:xfrm>
            <a:off x="5908550" y="8664675"/>
            <a:ext cx="1172100" cy="0"/>
          </a:xfrm>
          <a:prstGeom prst="straightConnector1">
            <a:avLst/>
          </a:prstGeom>
          <a:noFill/>
          <a:ln cap="flat" cmpd="sng" w="28575">
            <a:solidFill>
              <a:srgbClr val="FF0000"/>
            </a:solidFill>
            <a:prstDash val="solid"/>
            <a:round/>
            <a:headEnd len="med" w="med" type="none"/>
            <a:tailEnd len="med" w="med" type="none"/>
          </a:ln>
        </p:spPr>
      </p:cxnSp>
      <p:cxnSp>
        <p:nvCxnSpPr>
          <p:cNvPr id="340" name="Google Shape;340;p23"/>
          <p:cNvCxnSpPr/>
          <p:nvPr/>
        </p:nvCxnSpPr>
        <p:spPr>
          <a:xfrm>
            <a:off x="7734600" y="8664675"/>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341" name="Google Shape;341;p23"/>
          <p:cNvCxnSpPr/>
          <p:nvPr/>
        </p:nvCxnSpPr>
        <p:spPr>
          <a:xfrm>
            <a:off x="9722975" y="8662275"/>
            <a:ext cx="1539900" cy="4800"/>
          </a:xfrm>
          <a:prstGeom prst="straightConnector1">
            <a:avLst/>
          </a:prstGeom>
          <a:noFill/>
          <a:ln cap="flat" cmpd="sng" w="28575">
            <a:solidFill>
              <a:srgbClr val="FF0000"/>
            </a:solidFill>
            <a:prstDash val="solid"/>
            <a:round/>
            <a:headEnd len="med" w="med" type="none"/>
            <a:tailEnd len="med" w="med" type="none"/>
          </a:ln>
        </p:spPr>
      </p:cxnSp>
      <p:cxnSp>
        <p:nvCxnSpPr>
          <p:cNvPr id="342" name="Google Shape;342;p23"/>
          <p:cNvCxnSpPr/>
          <p:nvPr/>
        </p:nvCxnSpPr>
        <p:spPr>
          <a:xfrm flipH="1" rot="10800000">
            <a:off x="6017150" y="9699450"/>
            <a:ext cx="554100" cy="2400"/>
          </a:xfrm>
          <a:prstGeom prst="straightConnector1">
            <a:avLst/>
          </a:prstGeom>
          <a:noFill/>
          <a:ln cap="flat" cmpd="sng" w="28575">
            <a:solidFill>
              <a:srgbClr val="FF0000"/>
            </a:solidFill>
            <a:prstDash val="solid"/>
            <a:round/>
            <a:headEnd len="med" w="med" type="none"/>
            <a:tailEnd len="med" w="med" type="none"/>
          </a:ln>
        </p:spPr>
      </p:cxnSp>
      <p:cxnSp>
        <p:nvCxnSpPr>
          <p:cNvPr id="343" name="Google Shape;343;p23"/>
          <p:cNvCxnSpPr/>
          <p:nvPr/>
        </p:nvCxnSpPr>
        <p:spPr>
          <a:xfrm flipH="1" rot="10800000">
            <a:off x="6916400" y="9699450"/>
            <a:ext cx="554100" cy="2400"/>
          </a:xfrm>
          <a:prstGeom prst="straightConnector1">
            <a:avLst/>
          </a:prstGeom>
          <a:noFill/>
          <a:ln cap="flat" cmpd="sng" w="28575">
            <a:solidFill>
              <a:srgbClr val="FF0000"/>
            </a:solidFill>
            <a:prstDash val="solid"/>
            <a:round/>
            <a:headEnd len="med" w="med" type="none"/>
            <a:tailEnd len="med" w="med" type="none"/>
          </a:ln>
        </p:spPr>
      </p:cxnSp>
      <p:cxnSp>
        <p:nvCxnSpPr>
          <p:cNvPr id="344" name="Google Shape;344;p23"/>
          <p:cNvCxnSpPr/>
          <p:nvPr/>
        </p:nvCxnSpPr>
        <p:spPr>
          <a:xfrm>
            <a:off x="7734600" y="9743600"/>
            <a:ext cx="1539900" cy="4800"/>
          </a:xfrm>
          <a:prstGeom prst="straightConnector1">
            <a:avLst/>
          </a:prstGeom>
          <a:noFill/>
          <a:ln cap="flat" cmpd="sng" w="28575">
            <a:solidFill>
              <a:srgbClr val="FF0000"/>
            </a:solidFill>
            <a:prstDash val="solid"/>
            <a:round/>
            <a:headEnd len="med" w="med" type="none"/>
            <a:tailEnd len="med" w="med" type="none"/>
          </a:ln>
        </p:spPr>
      </p:cxnSp>
      <p:cxnSp>
        <p:nvCxnSpPr>
          <p:cNvPr id="345" name="Google Shape;345;p23"/>
          <p:cNvCxnSpPr/>
          <p:nvPr/>
        </p:nvCxnSpPr>
        <p:spPr>
          <a:xfrm flipH="1" rot="10800000">
            <a:off x="7879350" y="7665463"/>
            <a:ext cx="554100" cy="2400"/>
          </a:xfrm>
          <a:prstGeom prst="straightConnector1">
            <a:avLst/>
          </a:prstGeom>
          <a:noFill/>
          <a:ln cap="flat" cmpd="sng" w="28575">
            <a:solidFill>
              <a:srgbClr val="FF0000"/>
            </a:solidFill>
            <a:prstDash val="solid"/>
            <a:round/>
            <a:headEnd len="med" w="med" type="none"/>
            <a:tailEnd len="med" w="med" type="none"/>
          </a:ln>
        </p:spPr>
      </p:cxnSp>
      <p:cxnSp>
        <p:nvCxnSpPr>
          <p:cNvPr id="346" name="Google Shape;346;p23"/>
          <p:cNvCxnSpPr/>
          <p:nvPr/>
        </p:nvCxnSpPr>
        <p:spPr>
          <a:xfrm flipH="1" rot="10800000">
            <a:off x="9722975" y="9743900"/>
            <a:ext cx="3300600" cy="4200"/>
          </a:xfrm>
          <a:prstGeom prst="straightConnector1">
            <a:avLst/>
          </a:prstGeom>
          <a:noFill/>
          <a:ln cap="flat" cmpd="sng" w="28575">
            <a:solidFill>
              <a:srgbClr val="FF0000"/>
            </a:solidFill>
            <a:prstDash val="solid"/>
            <a:round/>
            <a:headEnd len="med" w="med" type="none"/>
            <a:tailEnd len="med" w="med" type="none"/>
          </a:ln>
        </p:spPr>
      </p:cxnSp>
      <p:cxnSp>
        <p:nvCxnSpPr>
          <p:cNvPr id="347" name="Google Shape;347;p23"/>
          <p:cNvCxnSpPr/>
          <p:nvPr/>
        </p:nvCxnSpPr>
        <p:spPr>
          <a:xfrm flipH="1" rot="10800000">
            <a:off x="6012650" y="5663025"/>
            <a:ext cx="2747400" cy="123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500"/>
                                        <p:tgtEl>
                                          <p:spTgt spid="3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cxnSp>
        <p:nvCxnSpPr>
          <p:cNvPr id="353" name="Google Shape;353;p24"/>
          <p:cNvCxnSpPr/>
          <p:nvPr/>
        </p:nvCxnSpPr>
        <p:spPr>
          <a:xfrm flipH="1" rot="10800000">
            <a:off x="3840870" y="151055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354" name="Google Shape;354;p24"/>
          <p:cNvGrpSpPr/>
          <p:nvPr/>
        </p:nvGrpSpPr>
        <p:grpSpPr>
          <a:xfrm rot="10800000">
            <a:off x="15785084" y="-536938"/>
            <a:ext cx="7681773" cy="4260605"/>
            <a:chOff x="0" y="-38100"/>
            <a:chExt cx="406400" cy="225405"/>
          </a:xfrm>
        </p:grpSpPr>
        <p:sp>
          <p:nvSpPr>
            <p:cNvPr id="355" name="Google Shape;355;p2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56" name="Google Shape;356;p2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7" name="Google Shape;357;p2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58" name="Google Shape;358;p24"/>
          <p:cNvSpPr txBox="1"/>
          <p:nvPr/>
        </p:nvSpPr>
        <p:spPr>
          <a:xfrm>
            <a:off x="1144800" y="563725"/>
            <a:ext cx="15218700" cy="569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700">
                <a:solidFill>
                  <a:srgbClr val="018345"/>
                </a:solidFill>
                <a:latin typeface="Montserrat"/>
                <a:ea typeface="Montserrat"/>
                <a:cs typeface="Montserrat"/>
                <a:sym typeface="Montserrat"/>
              </a:rPr>
              <a:t>Bước 2, 3 : Xác định vị trí thông tin và đọc hiểu</a:t>
            </a:r>
            <a:endParaRPr b="1" sz="3700">
              <a:solidFill>
                <a:srgbClr val="018345"/>
              </a:solidFill>
              <a:latin typeface="Montserrat"/>
              <a:ea typeface="Montserrat"/>
              <a:cs typeface="Montserrat"/>
              <a:sym typeface="Montserrat"/>
            </a:endParaRPr>
          </a:p>
        </p:txBody>
      </p:sp>
      <p:sp>
        <p:nvSpPr>
          <p:cNvPr id="359" name="Google Shape;359;p24"/>
          <p:cNvSpPr txBox="1"/>
          <p:nvPr/>
        </p:nvSpPr>
        <p:spPr>
          <a:xfrm>
            <a:off x="1529825" y="1529450"/>
            <a:ext cx="9441600" cy="754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3300">
                <a:solidFill>
                  <a:schemeClr val="dk1"/>
                </a:solidFill>
                <a:latin typeface="Calibri"/>
                <a:ea typeface="Calibri"/>
                <a:cs typeface="Calibri"/>
                <a:sym typeface="Calibri"/>
              </a:rPr>
              <a:t>1. Who thinks you should study when you are older?</a:t>
            </a:r>
            <a:endParaRPr sz="3300">
              <a:solidFill>
                <a:schemeClr val="dk1"/>
              </a:solidFill>
              <a:latin typeface="Calibri"/>
              <a:ea typeface="Calibri"/>
              <a:cs typeface="Calibri"/>
              <a:sym typeface="Calibri"/>
            </a:endParaRPr>
          </a:p>
        </p:txBody>
      </p:sp>
      <p:cxnSp>
        <p:nvCxnSpPr>
          <p:cNvPr id="360" name="Google Shape;360;p24"/>
          <p:cNvCxnSpPr/>
          <p:nvPr/>
        </p:nvCxnSpPr>
        <p:spPr>
          <a:xfrm>
            <a:off x="1998050" y="2132650"/>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361" name="Google Shape;361;p24"/>
          <p:cNvCxnSpPr/>
          <p:nvPr/>
        </p:nvCxnSpPr>
        <p:spPr>
          <a:xfrm>
            <a:off x="6023950" y="2132650"/>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362" name="Google Shape;362;p24"/>
          <p:cNvCxnSpPr/>
          <p:nvPr/>
        </p:nvCxnSpPr>
        <p:spPr>
          <a:xfrm>
            <a:off x="9414850" y="2132650"/>
            <a:ext cx="843600" cy="0"/>
          </a:xfrm>
          <a:prstGeom prst="straightConnector1">
            <a:avLst/>
          </a:prstGeom>
          <a:noFill/>
          <a:ln cap="flat" cmpd="sng" w="28575">
            <a:solidFill>
              <a:srgbClr val="FF0000"/>
            </a:solidFill>
            <a:prstDash val="solid"/>
            <a:round/>
            <a:headEnd len="med" w="med" type="none"/>
            <a:tailEnd len="med" w="med" type="none"/>
          </a:ln>
        </p:spPr>
      </p:cxnSp>
      <p:sp>
        <p:nvSpPr>
          <p:cNvPr id="363" name="Google Shape;363;p24"/>
          <p:cNvSpPr txBox="1"/>
          <p:nvPr/>
        </p:nvSpPr>
        <p:spPr>
          <a:xfrm>
            <a:off x="1144800" y="2283650"/>
            <a:ext cx="16381200" cy="8057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US" sz="2500">
                <a:solidFill>
                  <a:schemeClr val="dk1"/>
                </a:solidFill>
                <a:latin typeface="Calibri"/>
                <a:ea typeface="Calibri"/>
                <a:cs typeface="Calibri"/>
                <a:sym typeface="Calibri"/>
              </a:rPr>
              <a:t>Person A</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As you get older, responsibilities like a job and family dominate your life. It can be hard to balance things. Studying at university is demanding. So you should do it at an age when you are independent and carefree. It is also important to learn how the world of business works. Spending unpaid time in a company is a great way to get that experience. Any course that can give you an opportunity to do that is worth considering.</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B</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Life doesn't really get serious until you hit your mid-twenties. Before that, try out different things and get some life experience. It's only as you approach your thirties that you need to get serious about your career. That's the time to start thinking about further education. Many colleges offer inexpensive courses for more mature students. Going back to student life for a year is a great idea and you can then return to the world of work at management level.</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C</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Nowadays it is popular for school leavers to take a break before they think about an occupation or a place at university I think the most important thing is to start working as soon as you can. You need practical experience for your CV and that can be more valuable than a diploma. Nevertheless, your studies do not have to stop just because you are working. Colleges and universities offer options for people who want to do both.</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D</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I think we should all keep learning, but you don't need a piece of paper from an institution to prove it. There are many free courses available online. Of course, not all are good, but a little research will help you identify which one is best for you. A lot of young people get into debt because they have to pay for their studies. With the resources available online these days you can take control. You won't regret it.</a:t>
            </a:r>
            <a:endParaRPr sz="2500">
              <a:solidFill>
                <a:schemeClr val="dk1"/>
              </a:solidFill>
              <a:latin typeface="Calibri"/>
              <a:ea typeface="Calibri"/>
              <a:cs typeface="Calibri"/>
              <a:sym typeface="Calibri"/>
            </a:endParaRPr>
          </a:p>
        </p:txBody>
      </p:sp>
      <p:cxnSp>
        <p:nvCxnSpPr>
          <p:cNvPr id="364" name="Google Shape;364;p24"/>
          <p:cNvCxnSpPr/>
          <p:nvPr/>
        </p:nvCxnSpPr>
        <p:spPr>
          <a:xfrm flipH="1" rot="10800000">
            <a:off x="2841650" y="5415025"/>
            <a:ext cx="14532600" cy="19800"/>
          </a:xfrm>
          <a:prstGeom prst="straightConnector1">
            <a:avLst/>
          </a:prstGeom>
          <a:noFill/>
          <a:ln cap="flat" cmpd="sng" w="28575">
            <a:solidFill>
              <a:srgbClr val="FF0000"/>
            </a:solidFill>
            <a:prstDash val="solid"/>
            <a:round/>
            <a:headEnd len="med" w="med" type="none"/>
            <a:tailEnd len="med" w="med" type="none"/>
          </a:ln>
        </p:spPr>
      </p:cxnSp>
      <p:cxnSp>
        <p:nvCxnSpPr>
          <p:cNvPr id="365" name="Google Shape;365;p24"/>
          <p:cNvCxnSpPr/>
          <p:nvPr/>
        </p:nvCxnSpPr>
        <p:spPr>
          <a:xfrm>
            <a:off x="1252475" y="5803700"/>
            <a:ext cx="4332600" cy="195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cxnSp>
        <p:nvCxnSpPr>
          <p:cNvPr id="371" name="Google Shape;371;p25"/>
          <p:cNvCxnSpPr/>
          <p:nvPr/>
        </p:nvCxnSpPr>
        <p:spPr>
          <a:xfrm flipH="1" rot="10800000">
            <a:off x="3840870" y="151055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372" name="Google Shape;372;p25"/>
          <p:cNvGrpSpPr/>
          <p:nvPr/>
        </p:nvGrpSpPr>
        <p:grpSpPr>
          <a:xfrm rot="10800000">
            <a:off x="15785084" y="-536938"/>
            <a:ext cx="7681773" cy="4260605"/>
            <a:chOff x="0" y="-38100"/>
            <a:chExt cx="406400" cy="225405"/>
          </a:xfrm>
        </p:grpSpPr>
        <p:sp>
          <p:nvSpPr>
            <p:cNvPr id="373" name="Google Shape;373;p2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74" name="Google Shape;374;p25"/>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5" name="Google Shape;375;p2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76" name="Google Shape;376;p25"/>
          <p:cNvSpPr txBox="1"/>
          <p:nvPr/>
        </p:nvSpPr>
        <p:spPr>
          <a:xfrm>
            <a:off x="1144800" y="563725"/>
            <a:ext cx="15218700" cy="569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700">
                <a:solidFill>
                  <a:srgbClr val="018345"/>
                </a:solidFill>
                <a:latin typeface="Montserrat"/>
                <a:ea typeface="Montserrat"/>
                <a:cs typeface="Montserrat"/>
                <a:sym typeface="Montserrat"/>
              </a:rPr>
              <a:t>Bước 4, 5: Chọn đáp án chính xác và học từ vựng</a:t>
            </a:r>
            <a:endParaRPr b="1" sz="3700">
              <a:solidFill>
                <a:srgbClr val="018345"/>
              </a:solidFill>
              <a:latin typeface="Montserrat"/>
              <a:ea typeface="Montserrat"/>
              <a:cs typeface="Montserrat"/>
              <a:sym typeface="Montserrat"/>
            </a:endParaRPr>
          </a:p>
        </p:txBody>
      </p:sp>
      <p:sp>
        <p:nvSpPr>
          <p:cNvPr id="377" name="Google Shape;377;p25"/>
          <p:cNvSpPr txBox="1"/>
          <p:nvPr/>
        </p:nvSpPr>
        <p:spPr>
          <a:xfrm>
            <a:off x="1696163" y="2237725"/>
            <a:ext cx="9441600" cy="754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3300">
                <a:solidFill>
                  <a:schemeClr val="dk1"/>
                </a:solidFill>
                <a:latin typeface="Calibri"/>
                <a:ea typeface="Calibri"/>
                <a:cs typeface="Calibri"/>
                <a:sym typeface="Calibri"/>
              </a:rPr>
              <a:t>1. Who thinks you should study when you are older?</a:t>
            </a:r>
            <a:endParaRPr sz="3300">
              <a:solidFill>
                <a:schemeClr val="dk1"/>
              </a:solidFill>
              <a:latin typeface="Calibri"/>
              <a:ea typeface="Calibri"/>
              <a:cs typeface="Calibri"/>
              <a:sym typeface="Calibri"/>
            </a:endParaRPr>
          </a:p>
        </p:txBody>
      </p:sp>
      <p:cxnSp>
        <p:nvCxnSpPr>
          <p:cNvPr id="378" name="Google Shape;378;p25"/>
          <p:cNvCxnSpPr/>
          <p:nvPr/>
        </p:nvCxnSpPr>
        <p:spPr>
          <a:xfrm>
            <a:off x="2164388" y="2840925"/>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379" name="Google Shape;379;p25"/>
          <p:cNvCxnSpPr/>
          <p:nvPr/>
        </p:nvCxnSpPr>
        <p:spPr>
          <a:xfrm>
            <a:off x="6190288" y="2840925"/>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380" name="Google Shape;380;p25"/>
          <p:cNvCxnSpPr/>
          <p:nvPr/>
        </p:nvCxnSpPr>
        <p:spPr>
          <a:xfrm>
            <a:off x="9581188" y="2840925"/>
            <a:ext cx="843600" cy="0"/>
          </a:xfrm>
          <a:prstGeom prst="straightConnector1">
            <a:avLst/>
          </a:prstGeom>
          <a:noFill/>
          <a:ln cap="flat" cmpd="sng" w="28575">
            <a:solidFill>
              <a:srgbClr val="FF0000"/>
            </a:solidFill>
            <a:prstDash val="solid"/>
            <a:round/>
            <a:headEnd len="med" w="med" type="none"/>
            <a:tailEnd len="med" w="med" type="none"/>
          </a:ln>
        </p:spPr>
      </p:cxnSp>
      <p:sp>
        <p:nvSpPr>
          <p:cNvPr id="381" name="Google Shape;381;p25"/>
          <p:cNvSpPr/>
          <p:nvPr/>
        </p:nvSpPr>
        <p:spPr>
          <a:xfrm>
            <a:off x="11137763" y="2359375"/>
            <a:ext cx="1199400" cy="510900"/>
          </a:xfrm>
          <a:prstGeom prst="rightArrow">
            <a:avLst>
              <a:gd fmla="val 50000" name="adj1"/>
              <a:gd fmla="val 50000" name="adj2"/>
            </a:avLst>
          </a:prstGeom>
          <a:solidFill>
            <a:srgbClr val="00BF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2" name="Google Shape;382;p25"/>
          <p:cNvSpPr txBox="1"/>
          <p:nvPr/>
        </p:nvSpPr>
        <p:spPr>
          <a:xfrm>
            <a:off x="12672213" y="2218825"/>
            <a:ext cx="758700" cy="75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B</a:t>
            </a:r>
            <a:endParaRPr sz="3200">
              <a:solidFill>
                <a:schemeClr val="dk1"/>
              </a:solidFill>
              <a:latin typeface="Calibri"/>
              <a:ea typeface="Calibri"/>
              <a:cs typeface="Calibri"/>
              <a:sym typeface="Calibri"/>
            </a:endParaRPr>
          </a:p>
        </p:txBody>
      </p:sp>
      <p:sp>
        <p:nvSpPr>
          <p:cNvPr id="383" name="Google Shape;383;p25"/>
          <p:cNvSpPr txBox="1"/>
          <p:nvPr/>
        </p:nvSpPr>
        <p:spPr>
          <a:xfrm>
            <a:off x="1818288" y="3388250"/>
            <a:ext cx="15411000" cy="5452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Từ vựng</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study: học</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older: lớn tuổi hơn</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approach your thirties: bước vào độ tuổi 30</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get serious about your career: nghiêm túc với sự nghiệp</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start: bắt đầu</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further education: học lên cao</a:t>
            </a:r>
            <a:endParaRPr sz="33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cxnSp>
        <p:nvCxnSpPr>
          <p:cNvPr id="389" name="Google Shape;389;p26"/>
          <p:cNvCxnSpPr/>
          <p:nvPr/>
        </p:nvCxnSpPr>
        <p:spPr>
          <a:xfrm flipH="1" rot="10800000">
            <a:off x="3840870" y="151055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390" name="Google Shape;390;p26"/>
          <p:cNvGrpSpPr/>
          <p:nvPr/>
        </p:nvGrpSpPr>
        <p:grpSpPr>
          <a:xfrm rot="10800000">
            <a:off x="15785084" y="-536938"/>
            <a:ext cx="7681773" cy="4260605"/>
            <a:chOff x="0" y="-38100"/>
            <a:chExt cx="406400" cy="225405"/>
          </a:xfrm>
        </p:grpSpPr>
        <p:sp>
          <p:nvSpPr>
            <p:cNvPr id="391" name="Google Shape;391;p2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92" name="Google Shape;392;p26"/>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3" name="Google Shape;393;p2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94" name="Google Shape;394;p26"/>
          <p:cNvSpPr txBox="1"/>
          <p:nvPr/>
        </p:nvSpPr>
        <p:spPr>
          <a:xfrm>
            <a:off x="1144800" y="563725"/>
            <a:ext cx="15218700" cy="569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700">
                <a:solidFill>
                  <a:srgbClr val="018345"/>
                </a:solidFill>
                <a:latin typeface="Montserrat"/>
                <a:ea typeface="Montserrat"/>
                <a:cs typeface="Montserrat"/>
                <a:sym typeface="Montserrat"/>
              </a:rPr>
              <a:t>Bước 2, 3 : Xác định vị trí thông tin và đọc hiểu</a:t>
            </a:r>
            <a:endParaRPr b="1" sz="3700">
              <a:solidFill>
                <a:srgbClr val="018345"/>
              </a:solidFill>
              <a:latin typeface="Montserrat"/>
              <a:ea typeface="Montserrat"/>
              <a:cs typeface="Montserrat"/>
              <a:sym typeface="Montserrat"/>
            </a:endParaRPr>
          </a:p>
        </p:txBody>
      </p:sp>
      <p:sp>
        <p:nvSpPr>
          <p:cNvPr id="395" name="Google Shape;395;p26"/>
          <p:cNvSpPr txBox="1"/>
          <p:nvPr/>
        </p:nvSpPr>
        <p:spPr>
          <a:xfrm>
            <a:off x="1529825" y="1529450"/>
            <a:ext cx="9441600" cy="754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3300">
                <a:solidFill>
                  <a:schemeClr val="dk1"/>
                </a:solidFill>
                <a:latin typeface="Calibri"/>
                <a:ea typeface="Calibri"/>
                <a:cs typeface="Calibri"/>
                <a:sym typeface="Calibri"/>
              </a:rPr>
              <a:t>2. Who thinks formal qualifications are too expensive?</a:t>
            </a:r>
            <a:endParaRPr sz="3300">
              <a:solidFill>
                <a:schemeClr val="dk1"/>
              </a:solidFill>
              <a:latin typeface="Calibri"/>
              <a:ea typeface="Calibri"/>
              <a:cs typeface="Calibri"/>
              <a:sym typeface="Calibri"/>
            </a:endParaRPr>
          </a:p>
        </p:txBody>
      </p:sp>
      <p:sp>
        <p:nvSpPr>
          <p:cNvPr id="396" name="Google Shape;396;p26"/>
          <p:cNvSpPr txBox="1"/>
          <p:nvPr/>
        </p:nvSpPr>
        <p:spPr>
          <a:xfrm>
            <a:off x="1144800" y="2283650"/>
            <a:ext cx="16381200" cy="8057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US" sz="2500">
                <a:solidFill>
                  <a:schemeClr val="dk1"/>
                </a:solidFill>
                <a:latin typeface="Calibri"/>
                <a:ea typeface="Calibri"/>
                <a:cs typeface="Calibri"/>
                <a:sym typeface="Calibri"/>
              </a:rPr>
              <a:t>Person A</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As you get older, responsibilities like a job and family dominate your life. It can be hard to balance things. Studying at university is demanding. So you should do it at an age when you are independent and carefree. It is also important to learn how the world of business works. Spending unpaid time in a company is a great way to get that experience. Any course that can give you an opportunity to do that is worth considering.</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B</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Life doesn't really get serious until you hit your mid-twenties. Before that, try out different things and get some life experience. It's only as you approach your thirties that you need to get serious about your career. That's the time to start thinking about further education. Many colleges offer inexpensive courses for more mature students. Going back to student life for a year is a great idea and you can then return to the world of work at management level.</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C</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Nowadays it is popular for school leavers to take a break before they think about an occupation or a place at university I think the most important thing is to start working as soon as you can. You need practical experience for your CV and that can be more valuable than a diploma. Nevertheless, your studies do not have to stop just because you are working. Colleges and universities offer options for people who want to do both.</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D</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I think we should all keep learning, but you don't need a piece of paper from an institution to prove it. There are many free courses available online. Of course, not all are good, but a little research will help you identify which one is best for you. A lot of young people get into debt because they have to pay for their studies. With the resources available online these days you can take control. You won't regret it.</a:t>
            </a:r>
            <a:endParaRPr sz="2500">
              <a:solidFill>
                <a:schemeClr val="dk1"/>
              </a:solidFill>
              <a:latin typeface="Calibri"/>
              <a:ea typeface="Calibri"/>
              <a:cs typeface="Calibri"/>
              <a:sym typeface="Calibri"/>
            </a:endParaRPr>
          </a:p>
        </p:txBody>
      </p:sp>
      <p:cxnSp>
        <p:nvCxnSpPr>
          <p:cNvPr id="397" name="Google Shape;397;p26"/>
          <p:cNvCxnSpPr/>
          <p:nvPr/>
        </p:nvCxnSpPr>
        <p:spPr>
          <a:xfrm>
            <a:off x="2107475" y="2133700"/>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398" name="Google Shape;398;p26"/>
          <p:cNvCxnSpPr/>
          <p:nvPr/>
        </p:nvCxnSpPr>
        <p:spPr>
          <a:xfrm flipH="1" rot="10800000">
            <a:off x="4216600" y="2129500"/>
            <a:ext cx="3300600" cy="4200"/>
          </a:xfrm>
          <a:prstGeom prst="straightConnector1">
            <a:avLst/>
          </a:prstGeom>
          <a:noFill/>
          <a:ln cap="flat" cmpd="sng" w="28575">
            <a:solidFill>
              <a:srgbClr val="FF0000"/>
            </a:solidFill>
            <a:prstDash val="solid"/>
            <a:round/>
            <a:headEnd len="med" w="med" type="none"/>
            <a:tailEnd len="med" w="med" type="none"/>
          </a:ln>
        </p:spPr>
      </p:cxnSp>
      <p:cxnSp>
        <p:nvCxnSpPr>
          <p:cNvPr id="399" name="Google Shape;399;p26"/>
          <p:cNvCxnSpPr/>
          <p:nvPr/>
        </p:nvCxnSpPr>
        <p:spPr>
          <a:xfrm flipH="1" rot="10800000">
            <a:off x="8953325" y="2131600"/>
            <a:ext cx="1802100" cy="4200"/>
          </a:xfrm>
          <a:prstGeom prst="straightConnector1">
            <a:avLst/>
          </a:prstGeom>
          <a:noFill/>
          <a:ln cap="flat" cmpd="sng" w="28575">
            <a:solidFill>
              <a:srgbClr val="FF0000"/>
            </a:solidFill>
            <a:prstDash val="solid"/>
            <a:round/>
            <a:headEnd len="med" w="med" type="none"/>
            <a:tailEnd len="med" w="med" type="none"/>
          </a:ln>
        </p:spPr>
      </p:cxnSp>
      <p:cxnSp>
        <p:nvCxnSpPr>
          <p:cNvPr id="400" name="Google Shape;400;p26"/>
          <p:cNvCxnSpPr/>
          <p:nvPr/>
        </p:nvCxnSpPr>
        <p:spPr>
          <a:xfrm>
            <a:off x="1329525" y="9604375"/>
            <a:ext cx="9445500" cy="19800"/>
          </a:xfrm>
          <a:prstGeom prst="straightConnector1">
            <a:avLst/>
          </a:prstGeom>
          <a:noFill/>
          <a:ln cap="flat" cmpd="sng" w="28575">
            <a:solidFill>
              <a:srgbClr val="FF0000"/>
            </a:solidFill>
            <a:prstDash val="solid"/>
            <a:round/>
            <a:headEnd len="med" w="med" type="none"/>
            <a:tailEnd len="med" w="med" type="none"/>
          </a:ln>
        </p:spPr>
      </p:cxnSp>
      <p:cxnSp>
        <p:nvCxnSpPr>
          <p:cNvPr id="401" name="Google Shape;401;p26"/>
          <p:cNvCxnSpPr/>
          <p:nvPr/>
        </p:nvCxnSpPr>
        <p:spPr>
          <a:xfrm>
            <a:off x="16868700" y="9292725"/>
            <a:ext cx="657300" cy="159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500"/>
                                        <p:tgtEl>
                                          <p:spTgt spid="3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cxnSp>
        <p:nvCxnSpPr>
          <p:cNvPr id="407" name="Google Shape;407;p27"/>
          <p:cNvCxnSpPr/>
          <p:nvPr/>
        </p:nvCxnSpPr>
        <p:spPr>
          <a:xfrm flipH="1" rot="10800000">
            <a:off x="3840870" y="151055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08" name="Google Shape;408;p27"/>
          <p:cNvGrpSpPr/>
          <p:nvPr/>
        </p:nvGrpSpPr>
        <p:grpSpPr>
          <a:xfrm rot="10800000">
            <a:off x="15785084" y="-536938"/>
            <a:ext cx="7681773" cy="4260605"/>
            <a:chOff x="0" y="-38100"/>
            <a:chExt cx="406400" cy="225405"/>
          </a:xfrm>
        </p:grpSpPr>
        <p:sp>
          <p:nvSpPr>
            <p:cNvPr id="409" name="Google Shape;409;p2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10" name="Google Shape;410;p27"/>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1" name="Google Shape;411;p2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12" name="Google Shape;412;p27"/>
          <p:cNvSpPr txBox="1"/>
          <p:nvPr/>
        </p:nvSpPr>
        <p:spPr>
          <a:xfrm>
            <a:off x="1144800" y="563725"/>
            <a:ext cx="15218700" cy="569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700">
                <a:solidFill>
                  <a:srgbClr val="018345"/>
                </a:solidFill>
                <a:latin typeface="Montserrat"/>
                <a:ea typeface="Montserrat"/>
                <a:cs typeface="Montserrat"/>
                <a:sym typeface="Montserrat"/>
              </a:rPr>
              <a:t>Bước 4, 5: Chọn đáp án chính xác và học từ vựng</a:t>
            </a:r>
            <a:endParaRPr b="1" sz="3700">
              <a:solidFill>
                <a:srgbClr val="018345"/>
              </a:solidFill>
              <a:latin typeface="Montserrat"/>
              <a:ea typeface="Montserrat"/>
              <a:cs typeface="Montserrat"/>
              <a:sym typeface="Montserrat"/>
            </a:endParaRPr>
          </a:p>
        </p:txBody>
      </p:sp>
      <p:sp>
        <p:nvSpPr>
          <p:cNvPr id="413" name="Google Shape;413;p27"/>
          <p:cNvSpPr txBox="1"/>
          <p:nvPr/>
        </p:nvSpPr>
        <p:spPr>
          <a:xfrm>
            <a:off x="1447700" y="2203850"/>
            <a:ext cx="9441600" cy="754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3300">
                <a:solidFill>
                  <a:schemeClr val="dk1"/>
                </a:solidFill>
                <a:latin typeface="Calibri"/>
                <a:ea typeface="Calibri"/>
                <a:cs typeface="Calibri"/>
                <a:sym typeface="Calibri"/>
              </a:rPr>
              <a:t>2. Who thinks formal qualifications are too expensive?</a:t>
            </a:r>
            <a:endParaRPr sz="3300">
              <a:solidFill>
                <a:schemeClr val="dk1"/>
              </a:solidFill>
              <a:latin typeface="Calibri"/>
              <a:ea typeface="Calibri"/>
              <a:cs typeface="Calibri"/>
              <a:sym typeface="Calibri"/>
            </a:endParaRPr>
          </a:p>
        </p:txBody>
      </p:sp>
      <p:sp>
        <p:nvSpPr>
          <p:cNvPr id="414" name="Google Shape;414;p27"/>
          <p:cNvSpPr/>
          <p:nvPr/>
        </p:nvSpPr>
        <p:spPr>
          <a:xfrm>
            <a:off x="10889300" y="2325500"/>
            <a:ext cx="1199400" cy="510900"/>
          </a:xfrm>
          <a:prstGeom prst="rightArrow">
            <a:avLst>
              <a:gd fmla="val 50000" name="adj1"/>
              <a:gd fmla="val 50000" name="adj2"/>
            </a:avLst>
          </a:prstGeom>
          <a:solidFill>
            <a:srgbClr val="00BF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15" name="Google Shape;415;p27"/>
          <p:cNvSpPr txBox="1"/>
          <p:nvPr/>
        </p:nvSpPr>
        <p:spPr>
          <a:xfrm>
            <a:off x="12423750" y="2184950"/>
            <a:ext cx="758700" cy="75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D</a:t>
            </a:r>
            <a:endParaRPr sz="3200">
              <a:solidFill>
                <a:schemeClr val="dk1"/>
              </a:solidFill>
              <a:latin typeface="Calibri"/>
              <a:ea typeface="Calibri"/>
              <a:cs typeface="Calibri"/>
              <a:sym typeface="Calibri"/>
            </a:endParaRPr>
          </a:p>
        </p:txBody>
      </p:sp>
      <p:cxnSp>
        <p:nvCxnSpPr>
          <p:cNvPr id="416" name="Google Shape;416;p27"/>
          <p:cNvCxnSpPr/>
          <p:nvPr/>
        </p:nvCxnSpPr>
        <p:spPr>
          <a:xfrm>
            <a:off x="2025350" y="2808100"/>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417" name="Google Shape;417;p27"/>
          <p:cNvCxnSpPr/>
          <p:nvPr/>
        </p:nvCxnSpPr>
        <p:spPr>
          <a:xfrm flipH="1" rot="10800000">
            <a:off x="4134475" y="2803900"/>
            <a:ext cx="3300600" cy="4200"/>
          </a:xfrm>
          <a:prstGeom prst="straightConnector1">
            <a:avLst/>
          </a:prstGeom>
          <a:noFill/>
          <a:ln cap="flat" cmpd="sng" w="28575">
            <a:solidFill>
              <a:srgbClr val="FF0000"/>
            </a:solidFill>
            <a:prstDash val="solid"/>
            <a:round/>
            <a:headEnd len="med" w="med" type="none"/>
            <a:tailEnd len="med" w="med" type="none"/>
          </a:ln>
        </p:spPr>
      </p:cxnSp>
      <p:cxnSp>
        <p:nvCxnSpPr>
          <p:cNvPr id="418" name="Google Shape;418;p27"/>
          <p:cNvCxnSpPr/>
          <p:nvPr/>
        </p:nvCxnSpPr>
        <p:spPr>
          <a:xfrm flipH="1" rot="10800000">
            <a:off x="8871200" y="2806000"/>
            <a:ext cx="1802100" cy="4200"/>
          </a:xfrm>
          <a:prstGeom prst="straightConnector1">
            <a:avLst/>
          </a:prstGeom>
          <a:noFill/>
          <a:ln cap="flat" cmpd="sng" w="28575">
            <a:solidFill>
              <a:srgbClr val="FF0000"/>
            </a:solidFill>
            <a:prstDash val="solid"/>
            <a:round/>
            <a:headEnd len="med" w="med" type="none"/>
            <a:tailEnd len="med" w="med" type="none"/>
          </a:ln>
        </p:spPr>
      </p:cxnSp>
      <p:cxnSp>
        <p:nvCxnSpPr>
          <p:cNvPr id="419" name="Google Shape;419;p27"/>
          <p:cNvCxnSpPr/>
          <p:nvPr/>
        </p:nvCxnSpPr>
        <p:spPr>
          <a:xfrm>
            <a:off x="16765675" y="9251250"/>
            <a:ext cx="657300" cy="15900"/>
          </a:xfrm>
          <a:prstGeom prst="straightConnector1">
            <a:avLst/>
          </a:prstGeom>
          <a:noFill/>
          <a:ln cap="flat" cmpd="sng" w="28575">
            <a:solidFill>
              <a:srgbClr val="FF0000"/>
            </a:solidFill>
            <a:prstDash val="solid"/>
            <a:round/>
            <a:headEnd len="med" w="med" type="none"/>
            <a:tailEnd len="med" w="med" type="none"/>
          </a:ln>
        </p:spPr>
      </p:cxnSp>
      <p:sp>
        <p:nvSpPr>
          <p:cNvPr id="420" name="Google Shape;420;p27"/>
          <p:cNvSpPr txBox="1"/>
          <p:nvPr/>
        </p:nvSpPr>
        <p:spPr>
          <a:xfrm>
            <a:off x="2066738" y="3338350"/>
            <a:ext cx="15411000" cy="5452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Từ vựng</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formal qualification: bằng cấp chính thức</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expensive: đắt</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young people: người trẻ</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debt: nợ nần</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pay for their studies: trả cho việc học</a:t>
            </a:r>
            <a:endParaRPr sz="33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500"/>
                                        <p:tgtEl>
                                          <p:spTgt spid="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cxnSp>
        <p:nvCxnSpPr>
          <p:cNvPr id="426" name="Google Shape;426;p28"/>
          <p:cNvCxnSpPr/>
          <p:nvPr/>
        </p:nvCxnSpPr>
        <p:spPr>
          <a:xfrm flipH="1" rot="10800000">
            <a:off x="3840870" y="151055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27" name="Google Shape;427;p28"/>
          <p:cNvGrpSpPr/>
          <p:nvPr/>
        </p:nvGrpSpPr>
        <p:grpSpPr>
          <a:xfrm rot="10800000">
            <a:off x="15785084" y="-536938"/>
            <a:ext cx="7681773" cy="4260605"/>
            <a:chOff x="0" y="-38100"/>
            <a:chExt cx="406400" cy="225405"/>
          </a:xfrm>
        </p:grpSpPr>
        <p:sp>
          <p:nvSpPr>
            <p:cNvPr id="428" name="Google Shape;428;p2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29" name="Google Shape;429;p28"/>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0" name="Google Shape;430;p2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31" name="Google Shape;431;p28"/>
          <p:cNvSpPr txBox="1"/>
          <p:nvPr/>
        </p:nvSpPr>
        <p:spPr>
          <a:xfrm>
            <a:off x="1144800" y="563725"/>
            <a:ext cx="15218700" cy="569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700">
                <a:solidFill>
                  <a:srgbClr val="018345"/>
                </a:solidFill>
                <a:latin typeface="Montserrat"/>
                <a:ea typeface="Montserrat"/>
                <a:cs typeface="Montserrat"/>
                <a:sym typeface="Montserrat"/>
              </a:rPr>
              <a:t>Bước 2, 3 : Xác định vị trí thông tin và đọc hiểu</a:t>
            </a:r>
            <a:endParaRPr b="1" sz="3700">
              <a:solidFill>
                <a:srgbClr val="018345"/>
              </a:solidFill>
              <a:latin typeface="Montserrat"/>
              <a:ea typeface="Montserrat"/>
              <a:cs typeface="Montserrat"/>
              <a:sym typeface="Montserrat"/>
            </a:endParaRPr>
          </a:p>
        </p:txBody>
      </p:sp>
      <p:sp>
        <p:nvSpPr>
          <p:cNvPr id="432" name="Google Shape;432;p28"/>
          <p:cNvSpPr txBox="1"/>
          <p:nvPr/>
        </p:nvSpPr>
        <p:spPr>
          <a:xfrm>
            <a:off x="1529825" y="1529450"/>
            <a:ext cx="11586900" cy="754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3300">
                <a:solidFill>
                  <a:schemeClr val="dk1"/>
                </a:solidFill>
                <a:latin typeface="Calibri"/>
                <a:ea typeface="Calibri"/>
                <a:cs typeface="Calibri"/>
                <a:sym typeface="Calibri"/>
              </a:rPr>
              <a:t>3. Who thinks you should go to university when you are young?</a:t>
            </a:r>
            <a:endParaRPr sz="3300">
              <a:solidFill>
                <a:schemeClr val="dk1"/>
              </a:solidFill>
              <a:latin typeface="Calibri"/>
              <a:ea typeface="Calibri"/>
              <a:cs typeface="Calibri"/>
              <a:sym typeface="Calibri"/>
            </a:endParaRPr>
          </a:p>
          <a:p>
            <a:pPr indent="0" lvl="0" marL="0" rtl="0" algn="just">
              <a:spcBef>
                <a:spcPts val="0"/>
              </a:spcBef>
              <a:spcAft>
                <a:spcPts val="0"/>
              </a:spcAft>
              <a:buNone/>
            </a:pPr>
            <a:r>
              <a:t/>
            </a:r>
            <a:endParaRPr sz="3300">
              <a:solidFill>
                <a:schemeClr val="dk1"/>
              </a:solidFill>
              <a:latin typeface="Calibri"/>
              <a:ea typeface="Calibri"/>
              <a:cs typeface="Calibri"/>
              <a:sym typeface="Calibri"/>
            </a:endParaRPr>
          </a:p>
        </p:txBody>
      </p:sp>
      <p:sp>
        <p:nvSpPr>
          <p:cNvPr id="433" name="Google Shape;433;p28"/>
          <p:cNvSpPr txBox="1"/>
          <p:nvPr/>
        </p:nvSpPr>
        <p:spPr>
          <a:xfrm>
            <a:off x="1144800" y="2283650"/>
            <a:ext cx="16381200" cy="8057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US" sz="2500">
                <a:solidFill>
                  <a:schemeClr val="dk1"/>
                </a:solidFill>
                <a:latin typeface="Calibri"/>
                <a:ea typeface="Calibri"/>
                <a:cs typeface="Calibri"/>
                <a:sym typeface="Calibri"/>
              </a:rPr>
              <a:t>Person A</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As you get older, responsibilities like a job and family dominate your life. It can be hard to balance things. Studying at university is demanding. So you should do it at an age when you are independent and carefree. It is also important to learn how the world of business works. Spending unpaid time in a company is a great way to get that experience. Any course that can give you an opportunity to do that is worth considering.</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B</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Life doesn't really get serious until you hit your mid-twenties. Before that, try out different things and get some life experience. It's only as you approach your thirties that you need to get serious about your career. That's the time to start thinking about further education. Many colleges offer inexpensive courses for more mature students. Going back to student life for a year is a great idea and you can then return to the world of work at management level.</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C</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Nowadays it is popular for school leavers to take a break before they think about an occupation or a place at university I think the most important thing is to start working as soon as you can. You need practical experience for your CV and that can be more valuable than a diploma. Nevertheless, your studies do not have to stop just because you are working. Colleges and universities offer options for people who want to do both.</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D</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I think we should all keep learning, but you don't need a piece of paper from an institution to prove it. There are many free courses available online. Of course, not all are good, but a little research will help you identify which one is best for you. A lot of young people get into debt because they have to pay for their studies. With the resources available online these days you can take control. You won't regret it.</a:t>
            </a:r>
            <a:endParaRPr sz="2500">
              <a:solidFill>
                <a:schemeClr val="dk1"/>
              </a:solidFill>
              <a:latin typeface="Calibri"/>
              <a:ea typeface="Calibri"/>
              <a:cs typeface="Calibri"/>
              <a:sym typeface="Calibri"/>
            </a:endParaRPr>
          </a:p>
        </p:txBody>
      </p:sp>
      <p:cxnSp>
        <p:nvCxnSpPr>
          <p:cNvPr id="434" name="Google Shape;434;p28"/>
          <p:cNvCxnSpPr/>
          <p:nvPr/>
        </p:nvCxnSpPr>
        <p:spPr>
          <a:xfrm>
            <a:off x="2007200" y="2107563"/>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435" name="Google Shape;435;p28"/>
          <p:cNvCxnSpPr/>
          <p:nvPr/>
        </p:nvCxnSpPr>
        <p:spPr>
          <a:xfrm>
            <a:off x="11223175" y="2107563"/>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436" name="Google Shape;436;p28"/>
          <p:cNvCxnSpPr/>
          <p:nvPr/>
        </p:nvCxnSpPr>
        <p:spPr>
          <a:xfrm flipH="1" rot="10800000">
            <a:off x="5972950" y="2145438"/>
            <a:ext cx="2747400" cy="12300"/>
          </a:xfrm>
          <a:prstGeom prst="straightConnector1">
            <a:avLst/>
          </a:prstGeom>
          <a:noFill/>
          <a:ln cap="flat" cmpd="sng" w="28575">
            <a:solidFill>
              <a:srgbClr val="FF0000"/>
            </a:solidFill>
            <a:prstDash val="solid"/>
            <a:round/>
            <a:headEnd len="med" w="med" type="none"/>
            <a:tailEnd len="med" w="med" type="none"/>
          </a:ln>
        </p:spPr>
      </p:cxnSp>
      <p:cxnSp>
        <p:nvCxnSpPr>
          <p:cNvPr id="437" name="Google Shape;437;p28"/>
          <p:cNvCxnSpPr/>
          <p:nvPr/>
        </p:nvCxnSpPr>
        <p:spPr>
          <a:xfrm>
            <a:off x="4612650" y="3512350"/>
            <a:ext cx="9099300" cy="19800"/>
          </a:xfrm>
          <a:prstGeom prst="straightConnector1">
            <a:avLst/>
          </a:prstGeom>
          <a:noFill/>
          <a:ln cap="flat" cmpd="sng" w="28575">
            <a:solidFill>
              <a:srgbClr val="FF0000"/>
            </a:solidFill>
            <a:prstDash val="solid"/>
            <a:round/>
            <a:headEnd len="med" w="med" type="none"/>
            <a:tailEnd len="med" w="med" type="none"/>
          </a:ln>
        </p:spPr>
      </p:cxnSp>
      <p:cxnSp>
        <p:nvCxnSpPr>
          <p:cNvPr id="438" name="Google Shape;438;p28"/>
          <p:cNvCxnSpPr/>
          <p:nvPr/>
        </p:nvCxnSpPr>
        <p:spPr>
          <a:xfrm>
            <a:off x="1144800" y="3528388"/>
            <a:ext cx="3141600" cy="3900"/>
          </a:xfrm>
          <a:prstGeom prst="straightConnector1">
            <a:avLst/>
          </a:prstGeom>
          <a:noFill/>
          <a:ln cap="flat" cmpd="sng" w="28575">
            <a:solidFill>
              <a:srgbClr val="FF0000"/>
            </a:solidFill>
            <a:prstDash val="solid"/>
            <a:round/>
            <a:headEnd len="med" w="med" type="none"/>
            <a:tailEnd len="med" w="med" type="none"/>
          </a:ln>
        </p:spPr>
      </p:cxnSp>
      <p:cxnSp>
        <p:nvCxnSpPr>
          <p:cNvPr id="439" name="Google Shape;439;p28"/>
          <p:cNvCxnSpPr/>
          <p:nvPr/>
        </p:nvCxnSpPr>
        <p:spPr>
          <a:xfrm>
            <a:off x="15959575" y="3123738"/>
            <a:ext cx="1463400" cy="117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cxnSp>
        <p:nvCxnSpPr>
          <p:cNvPr id="445" name="Google Shape;445;p29"/>
          <p:cNvCxnSpPr/>
          <p:nvPr/>
        </p:nvCxnSpPr>
        <p:spPr>
          <a:xfrm flipH="1" rot="10800000">
            <a:off x="3840870" y="151055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46" name="Google Shape;446;p29"/>
          <p:cNvGrpSpPr/>
          <p:nvPr/>
        </p:nvGrpSpPr>
        <p:grpSpPr>
          <a:xfrm rot="10800000">
            <a:off x="15785084" y="-536938"/>
            <a:ext cx="7681773" cy="4260605"/>
            <a:chOff x="0" y="-38100"/>
            <a:chExt cx="406400" cy="225405"/>
          </a:xfrm>
        </p:grpSpPr>
        <p:sp>
          <p:nvSpPr>
            <p:cNvPr id="447" name="Google Shape;447;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48" name="Google Shape;448;p29"/>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9" name="Google Shape;449;p2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50" name="Google Shape;450;p29"/>
          <p:cNvSpPr txBox="1"/>
          <p:nvPr/>
        </p:nvSpPr>
        <p:spPr>
          <a:xfrm>
            <a:off x="1144800" y="563725"/>
            <a:ext cx="15218700" cy="569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700">
                <a:solidFill>
                  <a:srgbClr val="018345"/>
                </a:solidFill>
                <a:latin typeface="Montserrat"/>
                <a:ea typeface="Montserrat"/>
                <a:cs typeface="Montserrat"/>
                <a:sym typeface="Montserrat"/>
              </a:rPr>
              <a:t>Bước 4, 5: Chọn đáp án chính xác và học từ vựng</a:t>
            </a:r>
            <a:endParaRPr b="1" sz="3700">
              <a:solidFill>
                <a:srgbClr val="018345"/>
              </a:solidFill>
              <a:latin typeface="Montserrat"/>
              <a:ea typeface="Montserrat"/>
              <a:cs typeface="Montserrat"/>
              <a:sym typeface="Montserrat"/>
            </a:endParaRPr>
          </a:p>
        </p:txBody>
      </p:sp>
      <p:sp>
        <p:nvSpPr>
          <p:cNvPr id="451" name="Google Shape;451;p29"/>
          <p:cNvSpPr txBox="1"/>
          <p:nvPr/>
        </p:nvSpPr>
        <p:spPr>
          <a:xfrm>
            <a:off x="1518538" y="1906875"/>
            <a:ext cx="11586900" cy="754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3300">
                <a:solidFill>
                  <a:schemeClr val="dk1"/>
                </a:solidFill>
                <a:latin typeface="Calibri"/>
                <a:ea typeface="Calibri"/>
                <a:cs typeface="Calibri"/>
                <a:sym typeface="Calibri"/>
              </a:rPr>
              <a:t>3. Who thinks you should go to university when you are young?</a:t>
            </a:r>
            <a:endParaRPr sz="3300">
              <a:solidFill>
                <a:schemeClr val="dk1"/>
              </a:solidFill>
              <a:latin typeface="Calibri"/>
              <a:ea typeface="Calibri"/>
              <a:cs typeface="Calibri"/>
              <a:sym typeface="Calibri"/>
            </a:endParaRPr>
          </a:p>
          <a:p>
            <a:pPr indent="0" lvl="0" marL="0" rtl="0" algn="just">
              <a:spcBef>
                <a:spcPts val="0"/>
              </a:spcBef>
              <a:spcAft>
                <a:spcPts val="0"/>
              </a:spcAft>
              <a:buNone/>
            </a:pPr>
            <a:r>
              <a:t/>
            </a:r>
            <a:endParaRPr sz="3300">
              <a:solidFill>
                <a:schemeClr val="dk1"/>
              </a:solidFill>
              <a:latin typeface="Calibri"/>
              <a:ea typeface="Calibri"/>
              <a:cs typeface="Calibri"/>
              <a:sym typeface="Calibri"/>
            </a:endParaRPr>
          </a:p>
        </p:txBody>
      </p:sp>
      <p:sp>
        <p:nvSpPr>
          <p:cNvPr id="452" name="Google Shape;452;p29"/>
          <p:cNvSpPr/>
          <p:nvPr/>
        </p:nvSpPr>
        <p:spPr>
          <a:xfrm>
            <a:off x="13269488" y="2047425"/>
            <a:ext cx="1199400" cy="510900"/>
          </a:xfrm>
          <a:prstGeom prst="rightArrow">
            <a:avLst>
              <a:gd fmla="val 50000" name="adj1"/>
              <a:gd fmla="val 50000" name="adj2"/>
            </a:avLst>
          </a:prstGeom>
          <a:solidFill>
            <a:srgbClr val="00BF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3" name="Google Shape;453;p29"/>
          <p:cNvSpPr txBox="1"/>
          <p:nvPr/>
        </p:nvSpPr>
        <p:spPr>
          <a:xfrm>
            <a:off x="14803938" y="1906875"/>
            <a:ext cx="758700" cy="75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A</a:t>
            </a:r>
            <a:endParaRPr sz="3200">
              <a:solidFill>
                <a:schemeClr val="dk1"/>
              </a:solidFill>
              <a:latin typeface="Calibri"/>
              <a:ea typeface="Calibri"/>
              <a:cs typeface="Calibri"/>
              <a:sym typeface="Calibri"/>
            </a:endParaRPr>
          </a:p>
        </p:txBody>
      </p:sp>
      <p:cxnSp>
        <p:nvCxnSpPr>
          <p:cNvPr id="454" name="Google Shape;454;p29"/>
          <p:cNvCxnSpPr/>
          <p:nvPr/>
        </p:nvCxnSpPr>
        <p:spPr>
          <a:xfrm>
            <a:off x="1995913" y="2484988"/>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455" name="Google Shape;455;p29"/>
          <p:cNvCxnSpPr/>
          <p:nvPr/>
        </p:nvCxnSpPr>
        <p:spPr>
          <a:xfrm>
            <a:off x="11211888" y="2484988"/>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456" name="Google Shape;456;p29"/>
          <p:cNvCxnSpPr/>
          <p:nvPr/>
        </p:nvCxnSpPr>
        <p:spPr>
          <a:xfrm flipH="1" rot="10800000">
            <a:off x="5961663" y="2522863"/>
            <a:ext cx="2747400" cy="12300"/>
          </a:xfrm>
          <a:prstGeom prst="straightConnector1">
            <a:avLst/>
          </a:prstGeom>
          <a:noFill/>
          <a:ln cap="flat" cmpd="sng" w="28575">
            <a:solidFill>
              <a:srgbClr val="FF0000"/>
            </a:solidFill>
            <a:prstDash val="solid"/>
            <a:round/>
            <a:headEnd len="med" w="med" type="none"/>
            <a:tailEnd len="med" w="med" type="none"/>
          </a:ln>
        </p:spPr>
      </p:cxnSp>
      <p:sp>
        <p:nvSpPr>
          <p:cNvPr id="457" name="Google Shape;457;p29"/>
          <p:cNvSpPr txBox="1"/>
          <p:nvPr/>
        </p:nvSpPr>
        <p:spPr>
          <a:xfrm>
            <a:off x="1995913" y="3352100"/>
            <a:ext cx="15411000" cy="5942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Từ vựng</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university: đại học</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demanding: đòi hỏi nhiều nỗ lực</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S + should + V (nguyên thể): Khuyên ai đó nên làm gì</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age: độ tuổi</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independent: độc lập</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depend on: dựa vào</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carefree: không nhiều lo lắng</a:t>
            </a:r>
            <a:endParaRPr sz="33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500"/>
                                        <p:tgtEl>
                                          <p:spTgt spid="4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cxnSp>
        <p:nvCxnSpPr>
          <p:cNvPr id="463" name="Google Shape;463;p30"/>
          <p:cNvCxnSpPr/>
          <p:nvPr/>
        </p:nvCxnSpPr>
        <p:spPr>
          <a:xfrm flipH="1" rot="10800000">
            <a:off x="3840870" y="151055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64" name="Google Shape;464;p30"/>
          <p:cNvGrpSpPr/>
          <p:nvPr/>
        </p:nvGrpSpPr>
        <p:grpSpPr>
          <a:xfrm rot="10800000">
            <a:off x="15785084" y="-536938"/>
            <a:ext cx="7681773" cy="4260605"/>
            <a:chOff x="0" y="-38100"/>
            <a:chExt cx="406400" cy="225405"/>
          </a:xfrm>
        </p:grpSpPr>
        <p:sp>
          <p:nvSpPr>
            <p:cNvPr id="465" name="Google Shape;465;p3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66" name="Google Shape;466;p3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7" name="Google Shape;467;p3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68" name="Google Shape;468;p30"/>
          <p:cNvSpPr txBox="1"/>
          <p:nvPr/>
        </p:nvSpPr>
        <p:spPr>
          <a:xfrm>
            <a:off x="1144800" y="563725"/>
            <a:ext cx="15218700" cy="569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700">
                <a:solidFill>
                  <a:srgbClr val="018345"/>
                </a:solidFill>
                <a:latin typeface="Montserrat"/>
                <a:ea typeface="Montserrat"/>
                <a:cs typeface="Montserrat"/>
                <a:sym typeface="Montserrat"/>
              </a:rPr>
              <a:t>Bước 2, 3 : Xác định vị trí thông tin và đọc hiểu</a:t>
            </a:r>
            <a:endParaRPr b="1" sz="3700">
              <a:solidFill>
                <a:srgbClr val="018345"/>
              </a:solidFill>
              <a:latin typeface="Montserrat"/>
              <a:ea typeface="Montserrat"/>
              <a:cs typeface="Montserrat"/>
              <a:sym typeface="Montserrat"/>
            </a:endParaRPr>
          </a:p>
        </p:txBody>
      </p:sp>
      <p:sp>
        <p:nvSpPr>
          <p:cNvPr id="469" name="Google Shape;469;p30"/>
          <p:cNvSpPr txBox="1"/>
          <p:nvPr/>
        </p:nvSpPr>
        <p:spPr>
          <a:xfrm>
            <a:off x="1529825" y="1529450"/>
            <a:ext cx="11586900" cy="754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3300">
                <a:solidFill>
                  <a:schemeClr val="dk1"/>
                </a:solidFill>
                <a:latin typeface="Calibri"/>
                <a:ea typeface="Calibri"/>
                <a:cs typeface="Calibri"/>
                <a:sym typeface="Calibri"/>
              </a:rPr>
              <a:t>4. Who thinks you should study independently?</a:t>
            </a:r>
            <a:endParaRPr sz="3300">
              <a:solidFill>
                <a:schemeClr val="dk1"/>
              </a:solidFill>
              <a:latin typeface="Calibri"/>
              <a:ea typeface="Calibri"/>
              <a:cs typeface="Calibri"/>
              <a:sym typeface="Calibri"/>
            </a:endParaRPr>
          </a:p>
          <a:p>
            <a:pPr indent="0" lvl="0" marL="0" rtl="0" algn="just">
              <a:spcBef>
                <a:spcPts val="0"/>
              </a:spcBef>
              <a:spcAft>
                <a:spcPts val="0"/>
              </a:spcAft>
              <a:buNone/>
            </a:pPr>
            <a:r>
              <a:t/>
            </a:r>
            <a:endParaRPr sz="3300">
              <a:solidFill>
                <a:schemeClr val="dk1"/>
              </a:solidFill>
              <a:latin typeface="Calibri"/>
              <a:ea typeface="Calibri"/>
              <a:cs typeface="Calibri"/>
              <a:sym typeface="Calibri"/>
            </a:endParaRPr>
          </a:p>
        </p:txBody>
      </p:sp>
      <p:sp>
        <p:nvSpPr>
          <p:cNvPr id="470" name="Google Shape;470;p30"/>
          <p:cNvSpPr txBox="1"/>
          <p:nvPr/>
        </p:nvSpPr>
        <p:spPr>
          <a:xfrm>
            <a:off x="1144800" y="2283650"/>
            <a:ext cx="16381200" cy="8057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US" sz="2500">
                <a:solidFill>
                  <a:schemeClr val="dk1"/>
                </a:solidFill>
                <a:latin typeface="Calibri"/>
                <a:ea typeface="Calibri"/>
                <a:cs typeface="Calibri"/>
                <a:sym typeface="Calibri"/>
              </a:rPr>
              <a:t>Person A</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As you get older, responsibilities like a job and family dominate your life. It can be hard to balance things. Studying at university is demanding. So you should do it at an age when you are independent and carefree. It is also important to learn how the world of business works. Spending unpaid time in a company is a great way to get that experience. Any course that can give you an opportunity to do that is worth considering.</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B</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Life doesn't really get serious until you hit your mid-twenties. Before that, try out different things and get some life experience. It's only as you approach your thirties that you need to get serious about your career. That's the time to start thinking about further education. Many colleges offer inexpensive courses for more mature students. Going back to student life for a year is a great idea and you can then return to the world of work at management level.</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C</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Nowadays it is popular for school leavers to take a break before they think about an occupation or a place at university I think the most important thing is to start working as soon as you can. You need practical experience for your CV and that can be more valuable than a diploma. Nevertheless, your studies do not have to stop just because you are working. Colleges and universities offer options for people who want to do both.</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D</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I think we should all keep learning, but you don't need a piece of paper from an institution to prove it. There are many free courses available online. Of course, not all are good, but a little research will help you identify which one is best for you. A lot of young people get into debt because they have to pay for their studies. With the resources available online these days you can take control. You won't regret it.</a:t>
            </a:r>
            <a:endParaRPr sz="2500">
              <a:solidFill>
                <a:schemeClr val="dk1"/>
              </a:solidFill>
              <a:latin typeface="Calibri"/>
              <a:ea typeface="Calibri"/>
              <a:cs typeface="Calibri"/>
              <a:sym typeface="Calibri"/>
            </a:endParaRPr>
          </a:p>
        </p:txBody>
      </p:sp>
      <p:cxnSp>
        <p:nvCxnSpPr>
          <p:cNvPr id="471" name="Google Shape;471;p30"/>
          <p:cNvCxnSpPr/>
          <p:nvPr/>
        </p:nvCxnSpPr>
        <p:spPr>
          <a:xfrm flipH="1" rot="10800000">
            <a:off x="1285925" y="8810650"/>
            <a:ext cx="16156800" cy="19800"/>
          </a:xfrm>
          <a:prstGeom prst="straightConnector1">
            <a:avLst/>
          </a:prstGeom>
          <a:noFill/>
          <a:ln cap="flat" cmpd="sng" w="28575">
            <a:solidFill>
              <a:srgbClr val="FF0000"/>
            </a:solidFill>
            <a:prstDash val="solid"/>
            <a:round/>
            <a:headEnd len="med" w="med" type="none"/>
            <a:tailEnd len="med" w="med" type="none"/>
          </a:ln>
        </p:spPr>
      </p:cxnSp>
      <p:cxnSp>
        <p:nvCxnSpPr>
          <p:cNvPr id="472" name="Google Shape;472;p30"/>
          <p:cNvCxnSpPr/>
          <p:nvPr/>
        </p:nvCxnSpPr>
        <p:spPr>
          <a:xfrm>
            <a:off x="2126275" y="2132650"/>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473" name="Google Shape;473;p30"/>
          <p:cNvCxnSpPr/>
          <p:nvPr/>
        </p:nvCxnSpPr>
        <p:spPr>
          <a:xfrm>
            <a:off x="6054825" y="2132650"/>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474" name="Google Shape;474;p30"/>
          <p:cNvCxnSpPr/>
          <p:nvPr/>
        </p:nvCxnSpPr>
        <p:spPr>
          <a:xfrm flipH="1" rot="10800000">
            <a:off x="7536000" y="2130550"/>
            <a:ext cx="1802100" cy="4200"/>
          </a:xfrm>
          <a:prstGeom prst="straightConnector1">
            <a:avLst/>
          </a:prstGeom>
          <a:noFill/>
          <a:ln cap="flat" cmpd="sng" w="28575">
            <a:solidFill>
              <a:srgbClr val="FF0000"/>
            </a:solidFill>
            <a:prstDash val="solid"/>
            <a:round/>
            <a:headEnd len="med" w="med" type="none"/>
            <a:tailEnd len="med" w="med" type="none"/>
          </a:ln>
        </p:spPr>
      </p:cxnSp>
      <p:cxnSp>
        <p:nvCxnSpPr>
          <p:cNvPr id="475" name="Google Shape;475;p30"/>
          <p:cNvCxnSpPr/>
          <p:nvPr/>
        </p:nvCxnSpPr>
        <p:spPr>
          <a:xfrm>
            <a:off x="1285925" y="9237038"/>
            <a:ext cx="3141600" cy="3900"/>
          </a:xfrm>
          <a:prstGeom prst="straightConnector1">
            <a:avLst/>
          </a:prstGeom>
          <a:noFill/>
          <a:ln cap="flat" cmpd="sng" w="28575">
            <a:solidFill>
              <a:srgbClr val="FF0000"/>
            </a:solidFill>
            <a:prstDash val="solid"/>
            <a:round/>
            <a:headEnd len="med" w="med" type="none"/>
            <a:tailEnd len="med" w="med" type="none"/>
          </a:ln>
        </p:spPr>
      </p:cxnSp>
      <p:cxnSp>
        <p:nvCxnSpPr>
          <p:cNvPr id="476" name="Google Shape;476;p30"/>
          <p:cNvCxnSpPr/>
          <p:nvPr/>
        </p:nvCxnSpPr>
        <p:spPr>
          <a:xfrm flipH="1" rot="10800000">
            <a:off x="10933925" y="9587900"/>
            <a:ext cx="6508800" cy="36300"/>
          </a:xfrm>
          <a:prstGeom prst="straightConnector1">
            <a:avLst/>
          </a:prstGeom>
          <a:noFill/>
          <a:ln cap="flat" cmpd="sng" w="28575">
            <a:solidFill>
              <a:srgbClr val="FF0000"/>
            </a:solidFill>
            <a:prstDash val="solid"/>
            <a:round/>
            <a:headEnd len="med" w="med" type="none"/>
            <a:tailEnd len="med" w="med" type="none"/>
          </a:ln>
        </p:spPr>
      </p:cxnSp>
      <p:cxnSp>
        <p:nvCxnSpPr>
          <p:cNvPr id="477" name="Google Shape;477;p30"/>
          <p:cNvCxnSpPr/>
          <p:nvPr/>
        </p:nvCxnSpPr>
        <p:spPr>
          <a:xfrm flipH="1" rot="10800000">
            <a:off x="1285925" y="10002175"/>
            <a:ext cx="1802100" cy="42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500"/>
                                        <p:tgtEl>
                                          <p:spTgt spid="4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cxnSp>
        <p:nvCxnSpPr>
          <p:cNvPr id="483" name="Google Shape;483;p31"/>
          <p:cNvCxnSpPr/>
          <p:nvPr/>
        </p:nvCxnSpPr>
        <p:spPr>
          <a:xfrm flipH="1" rot="10800000">
            <a:off x="3840870" y="151055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84" name="Google Shape;484;p31"/>
          <p:cNvGrpSpPr/>
          <p:nvPr/>
        </p:nvGrpSpPr>
        <p:grpSpPr>
          <a:xfrm rot="10800000">
            <a:off x="15785084" y="-536938"/>
            <a:ext cx="7681773" cy="4260605"/>
            <a:chOff x="0" y="-38100"/>
            <a:chExt cx="406400" cy="225405"/>
          </a:xfrm>
        </p:grpSpPr>
        <p:sp>
          <p:nvSpPr>
            <p:cNvPr id="485" name="Google Shape;485;p3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86" name="Google Shape;486;p3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7" name="Google Shape;487;p3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88" name="Google Shape;488;p31"/>
          <p:cNvSpPr txBox="1"/>
          <p:nvPr/>
        </p:nvSpPr>
        <p:spPr>
          <a:xfrm>
            <a:off x="1144800" y="563725"/>
            <a:ext cx="15218700" cy="569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700">
                <a:solidFill>
                  <a:srgbClr val="018345"/>
                </a:solidFill>
                <a:latin typeface="Montserrat"/>
                <a:ea typeface="Montserrat"/>
                <a:cs typeface="Montserrat"/>
                <a:sym typeface="Montserrat"/>
              </a:rPr>
              <a:t>Bước 4, 5: Chọn đáp án chính xác và học từ vựng</a:t>
            </a:r>
            <a:endParaRPr b="1" sz="3700">
              <a:solidFill>
                <a:srgbClr val="018345"/>
              </a:solidFill>
              <a:latin typeface="Montserrat"/>
              <a:ea typeface="Montserrat"/>
              <a:cs typeface="Montserrat"/>
              <a:sym typeface="Montserrat"/>
            </a:endParaRPr>
          </a:p>
        </p:txBody>
      </p:sp>
      <p:sp>
        <p:nvSpPr>
          <p:cNvPr id="489" name="Google Shape;489;p31"/>
          <p:cNvSpPr txBox="1"/>
          <p:nvPr/>
        </p:nvSpPr>
        <p:spPr>
          <a:xfrm>
            <a:off x="1627500" y="1906875"/>
            <a:ext cx="11586900" cy="754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3300">
                <a:solidFill>
                  <a:schemeClr val="dk1"/>
                </a:solidFill>
                <a:latin typeface="Calibri"/>
                <a:ea typeface="Calibri"/>
                <a:cs typeface="Calibri"/>
                <a:sym typeface="Calibri"/>
              </a:rPr>
              <a:t>4. Who thinks you should study independently?</a:t>
            </a:r>
            <a:endParaRPr sz="3300">
              <a:solidFill>
                <a:schemeClr val="dk1"/>
              </a:solidFill>
              <a:latin typeface="Calibri"/>
              <a:ea typeface="Calibri"/>
              <a:cs typeface="Calibri"/>
              <a:sym typeface="Calibri"/>
            </a:endParaRPr>
          </a:p>
          <a:p>
            <a:pPr indent="0" lvl="0" marL="0" rtl="0" algn="just">
              <a:spcBef>
                <a:spcPts val="0"/>
              </a:spcBef>
              <a:spcAft>
                <a:spcPts val="0"/>
              </a:spcAft>
              <a:buNone/>
            </a:pPr>
            <a:r>
              <a:t/>
            </a:r>
            <a:endParaRPr sz="3300">
              <a:solidFill>
                <a:schemeClr val="dk1"/>
              </a:solidFill>
              <a:latin typeface="Calibri"/>
              <a:ea typeface="Calibri"/>
              <a:cs typeface="Calibri"/>
              <a:sym typeface="Calibri"/>
            </a:endParaRPr>
          </a:p>
        </p:txBody>
      </p:sp>
      <p:sp>
        <p:nvSpPr>
          <p:cNvPr id="490" name="Google Shape;490;p31"/>
          <p:cNvSpPr/>
          <p:nvPr/>
        </p:nvSpPr>
        <p:spPr>
          <a:xfrm>
            <a:off x="10818600" y="2047425"/>
            <a:ext cx="1199400" cy="510900"/>
          </a:xfrm>
          <a:prstGeom prst="rightArrow">
            <a:avLst>
              <a:gd fmla="val 50000" name="adj1"/>
              <a:gd fmla="val 50000" name="adj2"/>
            </a:avLst>
          </a:prstGeom>
          <a:solidFill>
            <a:srgbClr val="00BF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91" name="Google Shape;491;p31"/>
          <p:cNvSpPr txBox="1"/>
          <p:nvPr/>
        </p:nvSpPr>
        <p:spPr>
          <a:xfrm>
            <a:off x="12353050" y="1906875"/>
            <a:ext cx="758700" cy="75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D</a:t>
            </a:r>
            <a:endParaRPr sz="3200">
              <a:solidFill>
                <a:schemeClr val="dk1"/>
              </a:solidFill>
              <a:latin typeface="Calibri"/>
              <a:ea typeface="Calibri"/>
              <a:cs typeface="Calibri"/>
              <a:sym typeface="Calibri"/>
            </a:endParaRPr>
          </a:p>
        </p:txBody>
      </p:sp>
      <p:cxnSp>
        <p:nvCxnSpPr>
          <p:cNvPr id="492" name="Google Shape;492;p31"/>
          <p:cNvCxnSpPr/>
          <p:nvPr/>
        </p:nvCxnSpPr>
        <p:spPr>
          <a:xfrm>
            <a:off x="2223950" y="2510075"/>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493" name="Google Shape;493;p31"/>
          <p:cNvCxnSpPr/>
          <p:nvPr/>
        </p:nvCxnSpPr>
        <p:spPr>
          <a:xfrm>
            <a:off x="6152500" y="2510075"/>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494" name="Google Shape;494;p31"/>
          <p:cNvCxnSpPr/>
          <p:nvPr/>
        </p:nvCxnSpPr>
        <p:spPr>
          <a:xfrm flipH="1" rot="10800000">
            <a:off x="7633675" y="2507975"/>
            <a:ext cx="1802100" cy="4200"/>
          </a:xfrm>
          <a:prstGeom prst="straightConnector1">
            <a:avLst/>
          </a:prstGeom>
          <a:noFill/>
          <a:ln cap="flat" cmpd="sng" w="28575">
            <a:solidFill>
              <a:srgbClr val="FF0000"/>
            </a:solidFill>
            <a:prstDash val="solid"/>
            <a:round/>
            <a:headEnd len="med" w="med" type="none"/>
            <a:tailEnd len="med" w="med" type="none"/>
          </a:ln>
        </p:spPr>
      </p:cxnSp>
      <p:sp>
        <p:nvSpPr>
          <p:cNvPr id="495" name="Google Shape;495;p31"/>
          <p:cNvSpPr txBox="1"/>
          <p:nvPr/>
        </p:nvSpPr>
        <p:spPr>
          <a:xfrm>
            <a:off x="2126275" y="2839200"/>
            <a:ext cx="15411000" cy="6930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Từ vựng</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keep learning: tiếp tục học</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a piece of paper: tấm bằng (dịch theo ngữ cảnh)</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a piece of paper: tờ giấy (nghĩa đen/ không đặt vào ngữ cảnh bài này)</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institution: tổ chức</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courses: những khóa học</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available: sẵn có</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resource: nguồn</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take control: kiểm soát</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t/>
            </a:r>
            <a:endParaRPr sz="33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500"/>
                                        <p:tgtEl>
                                          <p:spTgt spid="4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cxnSp>
        <p:nvCxnSpPr>
          <p:cNvPr id="501" name="Google Shape;501;p32"/>
          <p:cNvCxnSpPr/>
          <p:nvPr/>
        </p:nvCxnSpPr>
        <p:spPr>
          <a:xfrm flipH="1" rot="10800000">
            <a:off x="3840870" y="151055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502" name="Google Shape;502;p32"/>
          <p:cNvGrpSpPr/>
          <p:nvPr/>
        </p:nvGrpSpPr>
        <p:grpSpPr>
          <a:xfrm rot="10800000">
            <a:off x="15785084" y="-536938"/>
            <a:ext cx="7681773" cy="4260605"/>
            <a:chOff x="0" y="-38100"/>
            <a:chExt cx="406400" cy="225405"/>
          </a:xfrm>
        </p:grpSpPr>
        <p:sp>
          <p:nvSpPr>
            <p:cNvPr id="503" name="Google Shape;503;p3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04" name="Google Shape;504;p3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5" name="Google Shape;505;p3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06" name="Google Shape;506;p32"/>
          <p:cNvSpPr txBox="1"/>
          <p:nvPr/>
        </p:nvSpPr>
        <p:spPr>
          <a:xfrm>
            <a:off x="1144800" y="563725"/>
            <a:ext cx="15218700" cy="569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700">
                <a:solidFill>
                  <a:srgbClr val="018345"/>
                </a:solidFill>
                <a:latin typeface="Montserrat"/>
                <a:ea typeface="Montserrat"/>
                <a:cs typeface="Montserrat"/>
                <a:sym typeface="Montserrat"/>
              </a:rPr>
              <a:t>Bước 2, 3 : Xác định vị trí thông tin và đọc hiểu</a:t>
            </a:r>
            <a:endParaRPr b="1" sz="3700">
              <a:solidFill>
                <a:srgbClr val="018345"/>
              </a:solidFill>
              <a:latin typeface="Montserrat"/>
              <a:ea typeface="Montserrat"/>
              <a:cs typeface="Montserrat"/>
              <a:sym typeface="Montserrat"/>
            </a:endParaRPr>
          </a:p>
        </p:txBody>
      </p:sp>
      <p:sp>
        <p:nvSpPr>
          <p:cNvPr id="507" name="Google Shape;507;p32"/>
          <p:cNvSpPr txBox="1"/>
          <p:nvPr/>
        </p:nvSpPr>
        <p:spPr>
          <a:xfrm>
            <a:off x="1529825" y="1529450"/>
            <a:ext cx="11586900" cy="754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3300">
                <a:solidFill>
                  <a:schemeClr val="dk1"/>
                </a:solidFill>
                <a:latin typeface="Calibri"/>
                <a:ea typeface="Calibri"/>
                <a:cs typeface="Calibri"/>
                <a:sym typeface="Calibri"/>
              </a:rPr>
              <a:t>5. Who thinks you should combine a job with studying?</a:t>
            </a:r>
            <a:endParaRPr sz="3300">
              <a:solidFill>
                <a:schemeClr val="dk1"/>
              </a:solidFill>
              <a:latin typeface="Calibri"/>
              <a:ea typeface="Calibri"/>
              <a:cs typeface="Calibri"/>
              <a:sym typeface="Calibri"/>
            </a:endParaRPr>
          </a:p>
          <a:p>
            <a:pPr indent="0" lvl="0" marL="0" rtl="0" algn="just">
              <a:spcBef>
                <a:spcPts val="0"/>
              </a:spcBef>
              <a:spcAft>
                <a:spcPts val="0"/>
              </a:spcAft>
              <a:buNone/>
            </a:pPr>
            <a:r>
              <a:t/>
            </a:r>
            <a:endParaRPr sz="3300">
              <a:solidFill>
                <a:schemeClr val="dk1"/>
              </a:solidFill>
              <a:latin typeface="Calibri"/>
              <a:ea typeface="Calibri"/>
              <a:cs typeface="Calibri"/>
              <a:sym typeface="Calibri"/>
            </a:endParaRPr>
          </a:p>
        </p:txBody>
      </p:sp>
      <p:sp>
        <p:nvSpPr>
          <p:cNvPr id="508" name="Google Shape;508;p32"/>
          <p:cNvSpPr txBox="1"/>
          <p:nvPr/>
        </p:nvSpPr>
        <p:spPr>
          <a:xfrm>
            <a:off x="1144800" y="2283650"/>
            <a:ext cx="16381200" cy="8057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US" sz="2500">
                <a:solidFill>
                  <a:schemeClr val="dk1"/>
                </a:solidFill>
                <a:latin typeface="Calibri"/>
                <a:ea typeface="Calibri"/>
                <a:cs typeface="Calibri"/>
                <a:sym typeface="Calibri"/>
              </a:rPr>
              <a:t>Person A</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As you get older, responsibilities like a job and family dominate your life. It can be hard to balance things. Studying at university is demanding. So you should do it at an age when you are independent and carefree. It is also important to learn how the world of business works. Spending unpaid time in a company is a great way to get that experience. Any course that can give you an opportunity to do that is worth considering.</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B</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Life doesn't really get serious until you hit your mid-twenties. Before that, try out different things and get some life experience. It's only as you approach your thirties that you need to get serious about your career. That's the time to start thinking about further education. Many colleges offer inexpensive courses for more mature students. Going back to student life for a year is a great idea and you can then return to the world of work at management level.</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C</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Nowadays it is popular for school leavers to take a break before they think about an occupation or a place at university I think the most important thing is to start working as soon as you can. You need practical experience for your CV and that can be more valuable than a diploma. Nevertheless, your studies do not have to stop just because you are working. Colleges and universities offer options for people who want to do both.</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D</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I think we should all keep learning, but you don't need a piece of paper from an institution to prove it. There are many free courses available online. Of course, not all are good, but a little research will help you identify which one is best for you. A lot of young people get into debt because they have to pay for their studies. With the resources available online these days you can take control. You won't regret it.</a:t>
            </a:r>
            <a:endParaRPr sz="2500">
              <a:solidFill>
                <a:schemeClr val="dk1"/>
              </a:solidFill>
              <a:latin typeface="Calibri"/>
              <a:ea typeface="Calibri"/>
              <a:cs typeface="Calibri"/>
              <a:sym typeface="Calibri"/>
            </a:endParaRPr>
          </a:p>
        </p:txBody>
      </p:sp>
      <p:cxnSp>
        <p:nvCxnSpPr>
          <p:cNvPr id="509" name="Google Shape;509;p32"/>
          <p:cNvCxnSpPr/>
          <p:nvPr/>
        </p:nvCxnSpPr>
        <p:spPr>
          <a:xfrm>
            <a:off x="5437200" y="7739075"/>
            <a:ext cx="11976600" cy="0"/>
          </a:xfrm>
          <a:prstGeom prst="straightConnector1">
            <a:avLst/>
          </a:prstGeom>
          <a:noFill/>
          <a:ln cap="flat" cmpd="sng" w="28575">
            <a:solidFill>
              <a:srgbClr val="FF0000"/>
            </a:solidFill>
            <a:prstDash val="solid"/>
            <a:round/>
            <a:headEnd len="med" w="med" type="none"/>
            <a:tailEnd len="med" w="med" type="none"/>
          </a:ln>
        </p:spPr>
      </p:cxnSp>
      <p:cxnSp>
        <p:nvCxnSpPr>
          <p:cNvPr id="510" name="Google Shape;510;p32"/>
          <p:cNvCxnSpPr/>
          <p:nvPr/>
        </p:nvCxnSpPr>
        <p:spPr>
          <a:xfrm flipH="1" rot="10800000">
            <a:off x="1285925" y="8076475"/>
            <a:ext cx="7346100" cy="39600"/>
          </a:xfrm>
          <a:prstGeom prst="straightConnector1">
            <a:avLst/>
          </a:prstGeom>
          <a:noFill/>
          <a:ln cap="flat" cmpd="sng" w="28575">
            <a:solidFill>
              <a:srgbClr val="FF0000"/>
            </a:solidFill>
            <a:prstDash val="solid"/>
            <a:round/>
            <a:headEnd len="med" w="med" type="none"/>
            <a:tailEnd len="med" w="med" type="none"/>
          </a:ln>
        </p:spPr>
      </p:cxnSp>
      <p:cxnSp>
        <p:nvCxnSpPr>
          <p:cNvPr id="511" name="Google Shape;511;p32"/>
          <p:cNvCxnSpPr/>
          <p:nvPr/>
        </p:nvCxnSpPr>
        <p:spPr>
          <a:xfrm>
            <a:off x="2106425" y="2132713"/>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512" name="Google Shape;512;p32"/>
          <p:cNvCxnSpPr/>
          <p:nvPr/>
        </p:nvCxnSpPr>
        <p:spPr>
          <a:xfrm>
            <a:off x="6132325" y="2149088"/>
            <a:ext cx="1539900" cy="4800"/>
          </a:xfrm>
          <a:prstGeom prst="straightConnector1">
            <a:avLst/>
          </a:prstGeom>
          <a:noFill/>
          <a:ln cap="flat" cmpd="sng" w="28575">
            <a:solidFill>
              <a:srgbClr val="FF0000"/>
            </a:solidFill>
            <a:prstDash val="solid"/>
            <a:round/>
            <a:headEnd len="med" w="med" type="none"/>
            <a:tailEnd len="med" w="med" type="none"/>
          </a:ln>
        </p:spPr>
      </p:cxnSp>
      <p:cxnSp>
        <p:nvCxnSpPr>
          <p:cNvPr id="513" name="Google Shape;513;p32"/>
          <p:cNvCxnSpPr/>
          <p:nvPr/>
        </p:nvCxnSpPr>
        <p:spPr>
          <a:xfrm>
            <a:off x="9523225" y="2130313"/>
            <a:ext cx="1539900" cy="4800"/>
          </a:xfrm>
          <a:prstGeom prst="straightConnector1">
            <a:avLst/>
          </a:prstGeom>
          <a:noFill/>
          <a:ln cap="flat" cmpd="sng" w="28575">
            <a:solidFill>
              <a:srgbClr val="FF0000"/>
            </a:solidFill>
            <a:prstDash val="solid"/>
            <a:round/>
            <a:headEnd len="med" w="med" type="none"/>
            <a:tailEnd len="med" w="med" type="none"/>
          </a:ln>
        </p:spPr>
      </p:cxnSp>
      <p:cxnSp>
        <p:nvCxnSpPr>
          <p:cNvPr id="514" name="Google Shape;514;p32"/>
          <p:cNvCxnSpPr/>
          <p:nvPr/>
        </p:nvCxnSpPr>
        <p:spPr>
          <a:xfrm flipH="1" rot="10800000">
            <a:off x="7938875" y="2111400"/>
            <a:ext cx="554100" cy="24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500"/>
                                        <p:tgtEl>
                                          <p:spTgt spid="5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cxnSp>
        <p:nvCxnSpPr>
          <p:cNvPr id="520" name="Google Shape;520;p33"/>
          <p:cNvCxnSpPr/>
          <p:nvPr/>
        </p:nvCxnSpPr>
        <p:spPr>
          <a:xfrm flipH="1" rot="10800000">
            <a:off x="3840870" y="151055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521" name="Google Shape;521;p33"/>
          <p:cNvGrpSpPr/>
          <p:nvPr/>
        </p:nvGrpSpPr>
        <p:grpSpPr>
          <a:xfrm rot="10800000">
            <a:off x="15785084" y="-536938"/>
            <a:ext cx="7681773" cy="4260605"/>
            <a:chOff x="0" y="-38100"/>
            <a:chExt cx="406400" cy="225405"/>
          </a:xfrm>
        </p:grpSpPr>
        <p:sp>
          <p:nvSpPr>
            <p:cNvPr id="522" name="Google Shape;522;p3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23" name="Google Shape;523;p3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4" name="Google Shape;524;p3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25" name="Google Shape;525;p33"/>
          <p:cNvSpPr txBox="1"/>
          <p:nvPr/>
        </p:nvSpPr>
        <p:spPr>
          <a:xfrm>
            <a:off x="1144800" y="563725"/>
            <a:ext cx="15218700" cy="569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700">
                <a:solidFill>
                  <a:srgbClr val="018345"/>
                </a:solidFill>
                <a:latin typeface="Montserrat"/>
                <a:ea typeface="Montserrat"/>
                <a:cs typeface="Montserrat"/>
                <a:sym typeface="Montserrat"/>
              </a:rPr>
              <a:t>Bước 4, 5: Chọn đáp án chính xác và học từ vựng</a:t>
            </a:r>
            <a:endParaRPr b="1" sz="3700">
              <a:solidFill>
                <a:srgbClr val="018345"/>
              </a:solidFill>
              <a:latin typeface="Montserrat"/>
              <a:ea typeface="Montserrat"/>
              <a:cs typeface="Montserrat"/>
              <a:sym typeface="Montserrat"/>
            </a:endParaRPr>
          </a:p>
        </p:txBody>
      </p:sp>
      <p:sp>
        <p:nvSpPr>
          <p:cNvPr id="526" name="Google Shape;526;p33"/>
          <p:cNvSpPr txBox="1"/>
          <p:nvPr/>
        </p:nvSpPr>
        <p:spPr>
          <a:xfrm>
            <a:off x="1676375" y="2213300"/>
            <a:ext cx="11586900" cy="754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3300">
                <a:solidFill>
                  <a:schemeClr val="dk1"/>
                </a:solidFill>
                <a:latin typeface="Calibri"/>
                <a:ea typeface="Calibri"/>
                <a:cs typeface="Calibri"/>
                <a:sym typeface="Calibri"/>
              </a:rPr>
              <a:t>5. Who thinks you should combine a job with studying?</a:t>
            </a:r>
            <a:endParaRPr sz="3300">
              <a:solidFill>
                <a:schemeClr val="dk1"/>
              </a:solidFill>
              <a:latin typeface="Calibri"/>
              <a:ea typeface="Calibri"/>
              <a:cs typeface="Calibri"/>
              <a:sym typeface="Calibri"/>
            </a:endParaRPr>
          </a:p>
          <a:p>
            <a:pPr indent="0" lvl="0" marL="0" rtl="0" algn="just">
              <a:spcBef>
                <a:spcPts val="0"/>
              </a:spcBef>
              <a:spcAft>
                <a:spcPts val="0"/>
              </a:spcAft>
              <a:buNone/>
            </a:pPr>
            <a:r>
              <a:t/>
            </a:r>
            <a:endParaRPr sz="3300">
              <a:solidFill>
                <a:schemeClr val="dk1"/>
              </a:solidFill>
              <a:latin typeface="Calibri"/>
              <a:ea typeface="Calibri"/>
              <a:cs typeface="Calibri"/>
              <a:sym typeface="Calibri"/>
            </a:endParaRPr>
          </a:p>
        </p:txBody>
      </p:sp>
      <p:sp>
        <p:nvSpPr>
          <p:cNvPr id="527" name="Google Shape;527;p33"/>
          <p:cNvSpPr/>
          <p:nvPr/>
        </p:nvSpPr>
        <p:spPr>
          <a:xfrm>
            <a:off x="11939050" y="2334950"/>
            <a:ext cx="1199400" cy="510900"/>
          </a:xfrm>
          <a:prstGeom prst="rightArrow">
            <a:avLst>
              <a:gd fmla="val 50000" name="adj1"/>
              <a:gd fmla="val 50000" name="adj2"/>
            </a:avLst>
          </a:prstGeom>
          <a:solidFill>
            <a:srgbClr val="00BF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28" name="Google Shape;528;p33"/>
          <p:cNvSpPr txBox="1"/>
          <p:nvPr/>
        </p:nvSpPr>
        <p:spPr>
          <a:xfrm>
            <a:off x="13473500" y="2194400"/>
            <a:ext cx="758700" cy="75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C</a:t>
            </a:r>
            <a:endParaRPr sz="3200">
              <a:solidFill>
                <a:schemeClr val="dk1"/>
              </a:solidFill>
              <a:latin typeface="Calibri"/>
              <a:ea typeface="Calibri"/>
              <a:cs typeface="Calibri"/>
              <a:sym typeface="Calibri"/>
            </a:endParaRPr>
          </a:p>
        </p:txBody>
      </p:sp>
      <p:cxnSp>
        <p:nvCxnSpPr>
          <p:cNvPr id="529" name="Google Shape;529;p33"/>
          <p:cNvCxnSpPr/>
          <p:nvPr/>
        </p:nvCxnSpPr>
        <p:spPr>
          <a:xfrm>
            <a:off x="2252975" y="2816563"/>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530" name="Google Shape;530;p33"/>
          <p:cNvCxnSpPr/>
          <p:nvPr/>
        </p:nvCxnSpPr>
        <p:spPr>
          <a:xfrm>
            <a:off x="6278875" y="2832938"/>
            <a:ext cx="1539900" cy="4800"/>
          </a:xfrm>
          <a:prstGeom prst="straightConnector1">
            <a:avLst/>
          </a:prstGeom>
          <a:noFill/>
          <a:ln cap="flat" cmpd="sng" w="28575">
            <a:solidFill>
              <a:srgbClr val="FF0000"/>
            </a:solidFill>
            <a:prstDash val="solid"/>
            <a:round/>
            <a:headEnd len="med" w="med" type="none"/>
            <a:tailEnd len="med" w="med" type="none"/>
          </a:ln>
        </p:spPr>
      </p:cxnSp>
      <p:cxnSp>
        <p:nvCxnSpPr>
          <p:cNvPr id="531" name="Google Shape;531;p33"/>
          <p:cNvCxnSpPr/>
          <p:nvPr/>
        </p:nvCxnSpPr>
        <p:spPr>
          <a:xfrm>
            <a:off x="9669775" y="2814163"/>
            <a:ext cx="1539900" cy="4800"/>
          </a:xfrm>
          <a:prstGeom prst="straightConnector1">
            <a:avLst/>
          </a:prstGeom>
          <a:noFill/>
          <a:ln cap="flat" cmpd="sng" w="28575">
            <a:solidFill>
              <a:srgbClr val="FF0000"/>
            </a:solidFill>
            <a:prstDash val="solid"/>
            <a:round/>
            <a:headEnd len="med" w="med" type="none"/>
            <a:tailEnd len="med" w="med" type="none"/>
          </a:ln>
        </p:spPr>
      </p:cxnSp>
      <p:cxnSp>
        <p:nvCxnSpPr>
          <p:cNvPr id="532" name="Google Shape;532;p33"/>
          <p:cNvCxnSpPr/>
          <p:nvPr/>
        </p:nvCxnSpPr>
        <p:spPr>
          <a:xfrm flipH="1" rot="10800000">
            <a:off x="8085425" y="2795250"/>
            <a:ext cx="554100" cy="2400"/>
          </a:xfrm>
          <a:prstGeom prst="straightConnector1">
            <a:avLst/>
          </a:prstGeom>
          <a:noFill/>
          <a:ln cap="flat" cmpd="sng" w="28575">
            <a:solidFill>
              <a:srgbClr val="FF0000"/>
            </a:solidFill>
            <a:prstDash val="solid"/>
            <a:round/>
            <a:headEnd len="med" w="med" type="none"/>
            <a:tailEnd len="med" w="med" type="none"/>
          </a:ln>
        </p:spPr>
      </p:cxnSp>
      <p:sp>
        <p:nvSpPr>
          <p:cNvPr id="533" name="Google Shape;533;p33"/>
          <p:cNvSpPr txBox="1"/>
          <p:nvPr/>
        </p:nvSpPr>
        <p:spPr>
          <a:xfrm>
            <a:off x="2272825" y="3523050"/>
            <a:ext cx="15411000" cy="5415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Từ vựng</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combine: kết hợp</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nevertheless = however: tuy nhiên</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stop: dừng lại</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because = as: bởi vì</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college: cao đẳng</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option: lựa chọn</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both: cả hai</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3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500"/>
                                        <p:tgtEl>
                                          <p:spTgt spid="5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cxnSp>
        <p:nvCxnSpPr>
          <p:cNvPr id="539" name="Google Shape;539;p34"/>
          <p:cNvCxnSpPr/>
          <p:nvPr/>
        </p:nvCxnSpPr>
        <p:spPr>
          <a:xfrm flipH="1" rot="10800000">
            <a:off x="3840870" y="151055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540" name="Google Shape;540;p34"/>
          <p:cNvGrpSpPr/>
          <p:nvPr/>
        </p:nvGrpSpPr>
        <p:grpSpPr>
          <a:xfrm rot="10800000">
            <a:off x="15785084" y="-536938"/>
            <a:ext cx="7681773" cy="4260605"/>
            <a:chOff x="0" y="-38100"/>
            <a:chExt cx="406400" cy="225405"/>
          </a:xfrm>
        </p:grpSpPr>
        <p:sp>
          <p:nvSpPr>
            <p:cNvPr id="541" name="Google Shape;541;p3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42" name="Google Shape;542;p3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3" name="Google Shape;543;p3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44" name="Google Shape;544;p34"/>
          <p:cNvSpPr txBox="1"/>
          <p:nvPr/>
        </p:nvSpPr>
        <p:spPr>
          <a:xfrm>
            <a:off x="1144800" y="563725"/>
            <a:ext cx="15218700" cy="569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700">
                <a:solidFill>
                  <a:srgbClr val="018345"/>
                </a:solidFill>
                <a:latin typeface="Montserrat"/>
                <a:ea typeface="Montserrat"/>
                <a:cs typeface="Montserrat"/>
                <a:sym typeface="Montserrat"/>
              </a:rPr>
              <a:t>Bước 2, 3 : Xác định vị trí thông tin và đọc hiểu</a:t>
            </a:r>
            <a:endParaRPr b="1" sz="3700">
              <a:solidFill>
                <a:srgbClr val="018345"/>
              </a:solidFill>
              <a:latin typeface="Montserrat"/>
              <a:ea typeface="Montserrat"/>
              <a:cs typeface="Montserrat"/>
              <a:sym typeface="Montserrat"/>
            </a:endParaRPr>
          </a:p>
        </p:txBody>
      </p:sp>
      <p:sp>
        <p:nvSpPr>
          <p:cNvPr id="545" name="Google Shape;545;p34"/>
          <p:cNvSpPr txBox="1"/>
          <p:nvPr/>
        </p:nvSpPr>
        <p:spPr>
          <a:xfrm>
            <a:off x="1529825" y="1529450"/>
            <a:ext cx="11586900" cy="754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3300">
                <a:solidFill>
                  <a:schemeClr val="dk1"/>
                </a:solidFill>
                <a:latin typeface="Calibri"/>
                <a:ea typeface="Calibri"/>
                <a:cs typeface="Calibri"/>
                <a:sym typeface="Calibri"/>
              </a:rPr>
              <a:t>6. Who think you should choose a course that is practical?</a:t>
            </a:r>
            <a:endParaRPr sz="3300">
              <a:solidFill>
                <a:schemeClr val="dk1"/>
              </a:solidFill>
              <a:latin typeface="Calibri"/>
              <a:ea typeface="Calibri"/>
              <a:cs typeface="Calibri"/>
              <a:sym typeface="Calibri"/>
            </a:endParaRPr>
          </a:p>
          <a:p>
            <a:pPr indent="0" lvl="0" marL="0" rtl="0" algn="just">
              <a:spcBef>
                <a:spcPts val="0"/>
              </a:spcBef>
              <a:spcAft>
                <a:spcPts val="0"/>
              </a:spcAft>
              <a:buNone/>
            </a:pPr>
            <a:r>
              <a:t/>
            </a:r>
            <a:endParaRPr sz="3300">
              <a:solidFill>
                <a:schemeClr val="dk1"/>
              </a:solidFill>
              <a:latin typeface="Calibri"/>
              <a:ea typeface="Calibri"/>
              <a:cs typeface="Calibri"/>
              <a:sym typeface="Calibri"/>
            </a:endParaRPr>
          </a:p>
        </p:txBody>
      </p:sp>
      <p:sp>
        <p:nvSpPr>
          <p:cNvPr id="546" name="Google Shape;546;p34"/>
          <p:cNvSpPr txBox="1"/>
          <p:nvPr/>
        </p:nvSpPr>
        <p:spPr>
          <a:xfrm>
            <a:off x="1144800" y="2283650"/>
            <a:ext cx="16381200" cy="8057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US" sz="2500">
                <a:solidFill>
                  <a:schemeClr val="dk1"/>
                </a:solidFill>
                <a:latin typeface="Calibri"/>
                <a:ea typeface="Calibri"/>
                <a:cs typeface="Calibri"/>
                <a:sym typeface="Calibri"/>
              </a:rPr>
              <a:t>Person A</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As you get older, responsibilities like a job and family dominate your life. It can be hard to balance things. Studying at university is demanding. So you should do it at an age when you are independent and carefree. It is also important to learn how the world of business works. Spending unpaid time in a company is a great way to get that experience. Any course that can give you an opportunity to do that is worth considering.</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B</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Life doesn't really get serious until you hit your mid-twenties. Before that, try out different things and get some life experience. It's only as you approach your thirties that you need to get serious about your career. That's the time to start thinking about further education. Many colleges offer inexpensive courses for more mature students. Going back to student life for a year is a great idea and you can then return to the world of work at management level.</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C</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Nowadays it is popular for school leavers to take a break before they think about an occupation or a place at university I think the most important thing is to start working as soon as you can. You need practical experience for your CV and that can be more valuable than a diploma. Nevertheless, your studies do not have to stop just because you are working. Colleges and universities offer options for people who want to do both.</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D</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I think we should all keep learning, but you don't need a piece of paper from an institution to prove it. There are many free courses available online. Of course, not all are good, but a little research will help you identify which one is best for you. A lot of young people get into debt because they have to pay for their studies. With the resources available online these days you can take control. You won't regret it.</a:t>
            </a:r>
            <a:endParaRPr sz="2500">
              <a:solidFill>
                <a:schemeClr val="dk1"/>
              </a:solidFill>
              <a:latin typeface="Calibri"/>
              <a:ea typeface="Calibri"/>
              <a:cs typeface="Calibri"/>
              <a:sym typeface="Calibri"/>
            </a:endParaRPr>
          </a:p>
        </p:txBody>
      </p:sp>
      <p:cxnSp>
        <p:nvCxnSpPr>
          <p:cNvPr id="547" name="Google Shape;547;p34"/>
          <p:cNvCxnSpPr/>
          <p:nvPr/>
        </p:nvCxnSpPr>
        <p:spPr>
          <a:xfrm>
            <a:off x="5727975" y="3889375"/>
            <a:ext cx="11655300" cy="0"/>
          </a:xfrm>
          <a:prstGeom prst="straightConnector1">
            <a:avLst/>
          </a:prstGeom>
          <a:noFill/>
          <a:ln cap="flat" cmpd="sng" w="28575">
            <a:solidFill>
              <a:srgbClr val="FF0000"/>
            </a:solidFill>
            <a:prstDash val="solid"/>
            <a:round/>
            <a:headEnd len="med" w="med" type="none"/>
            <a:tailEnd len="med" w="med" type="none"/>
          </a:ln>
        </p:spPr>
      </p:cxnSp>
      <p:cxnSp>
        <p:nvCxnSpPr>
          <p:cNvPr id="548" name="Google Shape;548;p34"/>
          <p:cNvCxnSpPr/>
          <p:nvPr/>
        </p:nvCxnSpPr>
        <p:spPr>
          <a:xfrm flipH="1" rot="10800000">
            <a:off x="1325625" y="4266475"/>
            <a:ext cx="7346100" cy="39600"/>
          </a:xfrm>
          <a:prstGeom prst="straightConnector1">
            <a:avLst/>
          </a:prstGeom>
          <a:noFill/>
          <a:ln cap="flat" cmpd="sng" w="28575">
            <a:solidFill>
              <a:srgbClr val="FF0000"/>
            </a:solidFill>
            <a:prstDash val="solid"/>
            <a:round/>
            <a:headEnd len="med" w="med" type="none"/>
            <a:tailEnd len="med" w="med" type="none"/>
          </a:ln>
        </p:spPr>
      </p:cxnSp>
      <p:cxnSp>
        <p:nvCxnSpPr>
          <p:cNvPr id="549" name="Google Shape;549;p34"/>
          <p:cNvCxnSpPr/>
          <p:nvPr/>
        </p:nvCxnSpPr>
        <p:spPr>
          <a:xfrm>
            <a:off x="2046900" y="2132650"/>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550" name="Google Shape;550;p34"/>
          <p:cNvCxnSpPr/>
          <p:nvPr/>
        </p:nvCxnSpPr>
        <p:spPr>
          <a:xfrm>
            <a:off x="5908550" y="2132650"/>
            <a:ext cx="1172100" cy="0"/>
          </a:xfrm>
          <a:prstGeom prst="straightConnector1">
            <a:avLst/>
          </a:prstGeom>
          <a:noFill/>
          <a:ln cap="flat" cmpd="sng" w="28575">
            <a:solidFill>
              <a:srgbClr val="FF0000"/>
            </a:solidFill>
            <a:prstDash val="solid"/>
            <a:round/>
            <a:headEnd len="med" w="med" type="none"/>
            <a:tailEnd len="med" w="med" type="none"/>
          </a:ln>
        </p:spPr>
      </p:cxnSp>
      <p:cxnSp>
        <p:nvCxnSpPr>
          <p:cNvPr id="551" name="Google Shape;551;p34"/>
          <p:cNvCxnSpPr/>
          <p:nvPr/>
        </p:nvCxnSpPr>
        <p:spPr>
          <a:xfrm>
            <a:off x="7734600" y="2132650"/>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552" name="Google Shape;552;p34"/>
          <p:cNvCxnSpPr/>
          <p:nvPr/>
        </p:nvCxnSpPr>
        <p:spPr>
          <a:xfrm>
            <a:off x="9722975" y="2130250"/>
            <a:ext cx="1539900" cy="48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500"/>
                                        <p:tgtEl>
                                          <p:spTgt spid="5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cxnSp>
        <p:nvCxnSpPr>
          <p:cNvPr id="558" name="Google Shape;558;p35"/>
          <p:cNvCxnSpPr/>
          <p:nvPr/>
        </p:nvCxnSpPr>
        <p:spPr>
          <a:xfrm flipH="1" rot="10800000">
            <a:off x="3840870" y="151055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559" name="Google Shape;559;p35"/>
          <p:cNvGrpSpPr/>
          <p:nvPr/>
        </p:nvGrpSpPr>
        <p:grpSpPr>
          <a:xfrm rot="10800000">
            <a:off x="15785084" y="-536938"/>
            <a:ext cx="7681773" cy="4260605"/>
            <a:chOff x="0" y="-38100"/>
            <a:chExt cx="406400" cy="225405"/>
          </a:xfrm>
        </p:grpSpPr>
        <p:sp>
          <p:nvSpPr>
            <p:cNvPr id="560" name="Google Shape;560;p3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61" name="Google Shape;561;p35"/>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2" name="Google Shape;562;p3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63" name="Google Shape;563;p35"/>
          <p:cNvSpPr txBox="1"/>
          <p:nvPr/>
        </p:nvSpPr>
        <p:spPr>
          <a:xfrm>
            <a:off x="1144800" y="563725"/>
            <a:ext cx="15218700" cy="569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700">
                <a:solidFill>
                  <a:srgbClr val="018345"/>
                </a:solidFill>
                <a:latin typeface="Montserrat"/>
                <a:ea typeface="Montserrat"/>
                <a:cs typeface="Montserrat"/>
                <a:sym typeface="Montserrat"/>
              </a:rPr>
              <a:t>Bước 4, 5: Chọn đáp án chính xác và học từ vựng</a:t>
            </a:r>
            <a:endParaRPr b="1" sz="3700">
              <a:solidFill>
                <a:srgbClr val="018345"/>
              </a:solidFill>
              <a:latin typeface="Montserrat"/>
              <a:ea typeface="Montserrat"/>
              <a:cs typeface="Montserrat"/>
              <a:sym typeface="Montserrat"/>
            </a:endParaRPr>
          </a:p>
        </p:txBody>
      </p:sp>
      <p:sp>
        <p:nvSpPr>
          <p:cNvPr id="564" name="Google Shape;564;p35"/>
          <p:cNvSpPr txBox="1"/>
          <p:nvPr/>
        </p:nvSpPr>
        <p:spPr>
          <a:xfrm>
            <a:off x="1651950" y="1827925"/>
            <a:ext cx="11586900" cy="754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3300">
                <a:solidFill>
                  <a:schemeClr val="dk1"/>
                </a:solidFill>
                <a:latin typeface="Calibri"/>
                <a:ea typeface="Calibri"/>
                <a:cs typeface="Calibri"/>
                <a:sym typeface="Calibri"/>
              </a:rPr>
              <a:t>6. Who think you should choose a course that is practical?</a:t>
            </a:r>
            <a:endParaRPr sz="3300">
              <a:solidFill>
                <a:schemeClr val="dk1"/>
              </a:solidFill>
              <a:latin typeface="Calibri"/>
              <a:ea typeface="Calibri"/>
              <a:cs typeface="Calibri"/>
              <a:sym typeface="Calibri"/>
            </a:endParaRPr>
          </a:p>
          <a:p>
            <a:pPr indent="0" lvl="0" marL="0" rtl="0" algn="just">
              <a:spcBef>
                <a:spcPts val="0"/>
              </a:spcBef>
              <a:spcAft>
                <a:spcPts val="0"/>
              </a:spcAft>
              <a:buNone/>
            </a:pPr>
            <a:r>
              <a:t/>
            </a:r>
            <a:endParaRPr sz="3300">
              <a:solidFill>
                <a:schemeClr val="dk1"/>
              </a:solidFill>
              <a:latin typeface="Calibri"/>
              <a:ea typeface="Calibri"/>
              <a:cs typeface="Calibri"/>
              <a:sym typeface="Calibri"/>
            </a:endParaRPr>
          </a:p>
        </p:txBody>
      </p:sp>
      <p:sp>
        <p:nvSpPr>
          <p:cNvPr id="565" name="Google Shape;565;p35"/>
          <p:cNvSpPr/>
          <p:nvPr/>
        </p:nvSpPr>
        <p:spPr>
          <a:xfrm>
            <a:off x="11914625" y="1949575"/>
            <a:ext cx="1199400" cy="510900"/>
          </a:xfrm>
          <a:prstGeom prst="rightArrow">
            <a:avLst>
              <a:gd fmla="val 50000" name="adj1"/>
              <a:gd fmla="val 50000" name="adj2"/>
            </a:avLst>
          </a:prstGeom>
          <a:solidFill>
            <a:srgbClr val="00BF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66" name="Google Shape;566;p35"/>
          <p:cNvSpPr txBox="1"/>
          <p:nvPr/>
        </p:nvSpPr>
        <p:spPr>
          <a:xfrm>
            <a:off x="13449075" y="1809025"/>
            <a:ext cx="758700" cy="75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A</a:t>
            </a:r>
            <a:endParaRPr sz="3200">
              <a:solidFill>
                <a:schemeClr val="dk1"/>
              </a:solidFill>
              <a:latin typeface="Calibri"/>
              <a:ea typeface="Calibri"/>
              <a:cs typeface="Calibri"/>
              <a:sym typeface="Calibri"/>
            </a:endParaRPr>
          </a:p>
        </p:txBody>
      </p:sp>
      <p:cxnSp>
        <p:nvCxnSpPr>
          <p:cNvPr id="567" name="Google Shape;567;p35"/>
          <p:cNvCxnSpPr/>
          <p:nvPr/>
        </p:nvCxnSpPr>
        <p:spPr>
          <a:xfrm>
            <a:off x="2169025" y="2431125"/>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568" name="Google Shape;568;p35"/>
          <p:cNvCxnSpPr/>
          <p:nvPr/>
        </p:nvCxnSpPr>
        <p:spPr>
          <a:xfrm>
            <a:off x="6030675" y="2431125"/>
            <a:ext cx="1172100" cy="0"/>
          </a:xfrm>
          <a:prstGeom prst="straightConnector1">
            <a:avLst/>
          </a:prstGeom>
          <a:noFill/>
          <a:ln cap="flat" cmpd="sng" w="28575">
            <a:solidFill>
              <a:srgbClr val="FF0000"/>
            </a:solidFill>
            <a:prstDash val="solid"/>
            <a:round/>
            <a:headEnd len="med" w="med" type="none"/>
            <a:tailEnd len="med" w="med" type="none"/>
          </a:ln>
        </p:spPr>
      </p:cxnSp>
      <p:cxnSp>
        <p:nvCxnSpPr>
          <p:cNvPr id="569" name="Google Shape;569;p35"/>
          <p:cNvCxnSpPr/>
          <p:nvPr/>
        </p:nvCxnSpPr>
        <p:spPr>
          <a:xfrm>
            <a:off x="7856725" y="2431125"/>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570" name="Google Shape;570;p35"/>
          <p:cNvCxnSpPr/>
          <p:nvPr/>
        </p:nvCxnSpPr>
        <p:spPr>
          <a:xfrm>
            <a:off x="9845100" y="2428725"/>
            <a:ext cx="1539900" cy="4800"/>
          </a:xfrm>
          <a:prstGeom prst="straightConnector1">
            <a:avLst/>
          </a:prstGeom>
          <a:noFill/>
          <a:ln cap="flat" cmpd="sng" w="28575">
            <a:solidFill>
              <a:srgbClr val="FF0000"/>
            </a:solidFill>
            <a:prstDash val="solid"/>
            <a:round/>
            <a:headEnd len="med" w="med" type="none"/>
            <a:tailEnd len="med" w="med" type="none"/>
          </a:ln>
        </p:spPr>
      </p:cxnSp>
      <p:sp>
        <p:nvSpPr>
          <p:cNvPr id="571" name="Google Shape;571;p35"/>
          <p:cNvSpPr txBox="1"/>
          <p:nvPr/>
        </p:nvSpPr>
        <p:spPr>
          <a:xfrm>
            <a:off x="2468175" y="2842800"/>
            <a:ext cx="15411000" cy="6319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200">
                <a:solidFill>
                  <a:schemeClr val="dk1"/>
                </a:solidFill>
                <a:latin typeface="Calibri"/>
                <a:ea typeface="Calibri"/>
                <a:cs typeface="Calibri"/>
                <a:sym typeface="Calibri"/>
              </a:rPr>
              <a:t>Từ vựng</a:t>
            </a:r>
            <a:endParaRPr b="1"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choose a course: chọn 1 khóa học</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practical: thực tế (kinh nghiệm thực tế)</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spending time: dành thời gian</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unpaid: không được trả lương</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company: công ty</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great way: cách tốt</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get experience: có kinh nghiệm</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opportunity = chance: cơ hội</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worth considering: xứng đáng cân nhắc</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63"/>
                                        </p:tgtEl>
                                        <p:attrNameLst>
                                          <p:attrName>style.visibility</p:attrName>
                                        </p:attrNameLst>
                                      </p:cBhvr>
                                      <p:to>
                                        <p:strVal val="visible"/>
                                      </p:to>
                                    </p:set>
                                    <p:animEffect filter="fade" transition="in">
                                      <p:cBhvr>
                                        <p:cTn dur="500"/>
                                        <p:tgtEl>
                                          <p:spTgt spid="5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cxnSp>
        <p:nvCxnSpPr>
          <p:cNvPr id="577" name="Google Shape;577;p36"/>
          <p:cNvCxnSpPr/>
          <p:nvPr/>
        </p:nvCxnSpPr>
        <p:spPr>
          <a:xfrm flipH="1" rot="10800000">
            <a:off x="3840870" y="151055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578" name="Google Shape;578;p36"/>
          <p:cNvGrpSpPr/>
          <p:nvPr/>
        </p:nvGrpSpPr>
        <p:grpSpPr>
          <a:xfrm rot="10800000">
            <a:off x="15785084" y="-536938"/>
            <a:ext cx="7681773" cy="4260605"/>
            <a:chOff x="0" y="-38100"/>
            <a:chExt cx="406400" cy="225405"/>
          </a:xfrm>
        </p:grpSpPr>
        <p:sp>
          <p:nvSpPr>
            <p:cNvPr id="579" name="Google Shape;579;p3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80" name="Google Shape;580;p36"/>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81" name="Google Shape;581;p3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82" name="Google Shape;582;p36"/>
          <p:cNvSpPr txBox="1"/>
          <p:nvPr/>
        </p:nvSpPr>
        <p:spPr>
          <a:xfrm>
            <a:off x="1144800" y="563725"/>
            <a:ext cx="15218700" cy="569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700">
                <a:solidFill>
                  <a:srgbClr val="018345"/>
                </a:solidFill>
                <a:latin typeface="Montserrat"/>
                <a:ea typeface="Montserrat"/>
                <a:cs typeface="Montserrat"/>
                <a:sym typeface="Montserrat"/>
              </a:rPr>
              <a:t>Bước 2, 3 : Xác định vị trí thông tin và đọc hiểu</a:t>
            </a:r>
            <a:endParaRPr b="1" sz="3700">
              <a:solidFill>
                <a:srgbClr val="018345"/>
              </a:solidFill>
              <a:latin typeface="Montserrat"/>
              <a:ea typeface="Montserrat"/>
              <a:cs typeface="Montserrat"/>
              <a:sym typeface="Montserrat"/>
            </a:endParaRPr>
          </a:p>
        </p:txBody>
      </p:sp>
      <p:sp>
        <p:nvSpPr>
          <p:cNvPr id="583" name="Google Shape;583;p36"/>
          <p:cNvSpPr txBox="1"/>
          <p:nvPr/>
        </p:nvSpPr>
        <p:spPr>
          <a:xfrm>
            <a:off x="1529825" y="1529450"/>
            <a:ext cx="12659400" cy="754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3300">
                <a:solidFill>
                  <a:schemeClr val="dk1"/>
                </a:solidFill>
                <a:latin typeface="Calibri"/>
                <a:ea typeface="Calibri"/>
                <a:cs typeface="Calibri"/>
                <a:sym typeface="Calibri"/>
              </a:rPr>
              <a:t>7. Who thinks you should get a job immediately after leaving school?</a:t>
            </a:r>
            <a:endParaRPr sz="3300">
              <a:solidFill>
                <a:schemeClr val="dk1"/>
              </a:solidFill>
              <a:latin typeface="Calibri"/>
              <a:ea typeface="Calibri"/>
              <a:cs typeface="Calibri"/>
              <a:sym typeface="Calibri"/>
            </a:endParaRPr>
          </a:p>
          <a:p>
            <a:pPr indent="0" lvl="0" marL="0" rtl="0" algn="just">
              <a:spcBef>
                <a:spcPts val="0"/>
              </a:spcBef>
              <a:spcAft>
                <a:spcPts val="0"/>
              </a:spcAft>
              <a:buNone/>
            </a:pPr>
            <a:r>
              <a:t/>
            </a:r>
            <a:endParaRPr sz="3300">
              <a:solidFill>
                <a:schemeClr val="dk1"/>
              </a:solidFill>
              <a:latin typeface="Calibri"/>
              <a:ea typeface="Calibri"/>
              <a:cs typeface="Calibri"/>
              <a:sym typeface="Calibri"/>
            </a:endParaRPr>
          </a:p>
        </p:txBody>
      </p:sp>
      <p:sp>
        <p:nvSpPr>
          <p:cNvPr id="584" name="Google Shape;584;p36"/>
          <p:cNvSpPr txBox="1"/>
          <p:nvPr/>
        </p:nvSpPr>
        <p:spPr>
          <a:xfrm>
            <a:off x="1144800" y="2283650"/>
            <a:ext cx="16381200" cy="8057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US" sz="2500">
                <a:solidFill>
                  <a:schemeClr val="dk1"/>
                </a:solidFill>
                <a:latin typeface="Calibri"/>
                <a:ea typeface="Calibri"/>
                <a:cs typeface="Calibri"/>
                <a:sym typeface="Calibri"/>
              </a:rPr>
              <a:t>Person A</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As you get older, responsibilities like a job and family dominate your life. It can be hard to balance things. Studying at university is demanding. So you should do it at an age when you are independent and carefree. It is also important to learn how the world of business works. Spending unpaid time in a company is a great way to get that experience. Any course that can give you an opportunity to do that is worth considering.</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B</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Life doesn't really get serious until you hit your mid-twenties. Before that, try out different things and get some life experience. It's only as you approach your thirties that you need to get serious about your career. That's the time to start thinking about further education. Many colleges offer inexpensive courses for more mature students. Going back to student life for a year is a great idea and you can then return to the world of work at management level.</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C</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Nowadays it is popular for school leavers to take a break before they think about an occupation or a place at university I think the most important thing is to start working as soon as you can. You need practical experience for your CV and that can be more valuable than a diploma. Nevertheless, your studies do not have to stop just because you are working. Colleges and universities offer options for people who want to do both.</a:t>
            </a:r>
            <a:endParaRPr sz="2500">
              <a:solidFill>
                <a:schemeClr val="dk1"/>
              </a:solidFill>
              <a:latin typeface="Calibri"/>
              <a:ea typeface="Calibri"/>
              <a:cs typeface="Calibri"/>
              <a:sym typeface="Calibri"/>
            </a:endParaRPr>
          </a:p>
          <a:p>
            <a:pPr indent="0" lvl="0" marL="0" rtl="0" algn="just">
              <a:spcBef>
                <a:spcPts val="0"/>
              </a:spcBef>
              <a:spcAft>
                <a:spcPts val="0"/>
              </a:spcAft>
              <a:buNone/>
            </a:pPr>
            <a:r>
              <a:rPr b="1" lang="en-US" sz="2500">
                <a:solidFill>
                  <a:schemeClr val="dk1"/>
                </a:solidFill>
                <a:latin typeface="Calibri"/>
                <a:ea typeface="Calibri"/>
                <a:cs typeface="Calibri"/>
                <a:sym typeface="Calibri"/>
              </a:rPr>
              <a:t>Person D</a:t>
            </a:r>
            <a:endParaRPr b="1" sz="2500">
              <a:solidFill>
                <a:schemeClr val="dk1"/>
              </a:solidFill>
              <a:latin typeface="Calibri"/>
              <a:ea typeface="Calibri"/>
              <a:cs typeface="Calibri"/>
              <a:sym typeface="Calibri"/>
            </a:endParaRPr>
          </a:p>
          <a:p>
            <a:pPr indent="0" lvl="0" marL="0" rtl="0" algn="just">
              <a:spcBef>
                <a:spcPts val="0"/>
              </a:spcBef>
              <a:spcAft>
                <a:spcPts val="0"/>
              </a:spcAft>
              <a:buNone/>
            </a:pPr>
            <a:r>
              <a:rPr lang="en-US" sz="2500">
                <a:solidFill>
                  <a:schemeClr val="dk1"/>
                </a:solidFill>
                <a:latin typeface="Calibri"/>
                <a:ea typeface="Calibri"/>
                <a:cs typeface="Calibri"/>
                <a:sym typeface="Calibri"/>
              </a:rPr>
              <a:t>I think we should all keep learning, but you don't need a piece of paper from an institution to prove it. There are many free courses available online. Of course, not all are good, but a little research will help you identify which one is best for you. A lot of young people get into debt because they have to pay for their studies. With the resources available online these days you can take control. You won't regret it.</a:t>
            </a:r>
            <a:endParaRPr sz="2500">
              <a:solidFill>
                <a:schemeClr val="dk1"/>
              </a:solidFill>
              <a:latin typeface="Calibri"/>
              <a:ea typeface="Calibri"/>
              <a:cs typeface="Calibri"/>
              <a:sym typeface="Calibri"/>
            </a:endParaRPr>
          </a:p>
        </p:txBody>
      </p:sp>
      <p:cxnSp>
        <p:nvCxnSpPr>
          <p:cNvPr id="585" name="Google Shape;585;p36"/>
          <p:cNvCxnSpPr/>
          <p:nvPr/>
        </p:nvCxnSpPr>
        <p:spPr>
          <a:xfrm>
            <a:off x="1306275" y="7322350"/>
            <a:ext cx="8436900" cy="19800"/>
          </a:xfrm>
          <a:prstGeom prst="straightConnector1">
            <a:avLst/>
          </a:prstGeom>
          <a:noFill/>
          <a:ln cap="flat" cmpd="sng" w="28575">
            <a:solidFill>
              <a:srgbClr val="FF0000"/>
            </a:solidFill>
            <a:prstDash val="solid"/>
            <a:round/>
            <a:headEnd len="med" w="med" type="none"/>
            <a:tailEnd len="med" w="med" type="none"/>
          </a:ln>
        </p:spPr>
      </p:cxnSp>
      <p:cxnSp>
        <p:nvCxnSpPr>
          <p:cNvPr id="586" name="Google Shape;586;p36"/>
          <p:cNvCxnSpPr/>
          <p:nvPr/>
        </p:nvCxnSpPr>
        <p:spPr>
          <a:xfrm>
            <a:off x="1987375" y="2100913"/>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587" name="Google Shape;587;p36"/>
          <p:cNvCxnSpPr/>
          <p:nvPr/>
        </p:nvCxnSpPr>
        <p:spPr>
          <a:xfrm flipH="1" rot="10800000">
            <a:off x="5957625" y="2115438"/>
            <a:ext cx="554100" cy="2400"/>
          </a:xfrm>
          <a:prstGeom prst="straightConnector1">
            <a:avLst/>
          </a:prstGeom>
          <a:noFill/>
          <a:ln cap="flat" cmpd="sng" w="28575">
            <a:solidFill>
              <a:srgbClr val="FF0000"/>
            </a:solidFill>
            <a:prstDash val="solid"/>
            <a:round/>
            <a:headEnd len="med" w="med" type="none"/>
            <a:tailEnd len="med" w="med" type="none"/>
          </a:ln>
        </p:spPr>
      </p:cxnSp>
      <p:cxnSp>
        <p:nvCxnSpPr>
          <p:cNvPr id="588" name="Google Shape;588;p36"/>
          <p:cNvCxnSpPr/>
          <p:nvPr/>
        </p:nvCxnSpPr>
        <p:spPr>
          <a:xfrm flipH="1" rot="10800000">
            <a:off x="6856875" y="2115438"/>
            <a:ext cx="554100" cy="2400"/>
          </a:xfrm>
          <a:prstGeom prst="straightConnector1">
            <a:avLst/>
          </a:prstGeom>
          <a:noFill/>
          <a:ln cap="flat" cmpd="sng" w="28575">
            <a:solidFill>
              <a:srgbClr val="FF0000"/>
            </a:solidFill>
            <a:prstDash val="solid"/>
            <a:round/>
            <a:headEnd len="med" w="med" type="none"/>
            <a:tailEnd len="med" w="med" type="none"/>
          </a:ln>
        </p:spPr>
      </p:cxnSp>
      <p:cxnSp>
        <p:nvCxnSpPr>
          <p:cNvPr id="589" name="Google Shape;589;p36"/>
          <p:cNvCxnSpPr/>
          <p:nvPr/>
        </p:nvCxnSpPr>
        <p:spPr>
          <a:xfrm>
            <a:off x="7675075" y="2159588"/>
            <a:ext cx="1539900" cy="4800"/>
          </a:xfrm>
          <a:prstGeom prst="straightConnector1">
            <a:avLst/>
          </a:prstGeom>
          <a:noFill/>
          <a:ln cap="flat" cmpd="sng" w="28575">
            <a:solidFill>
              <a:srgbClr val="FF0000"/>
            </a:solidFill>
            <a:prstDash val="solid"/>
            <a:round/>
            <a:headEnd len="med" w="med" type="none"/>
            <a:tailEnd len="med" w="med" type="none"/>
          </a:ln>
        </p:spPr>
      </p:cxnSp>
      <p:cxnSp>
        <p:nvCxnSpPr>
          <p:cNvPr id="590" name="Google Shape;590;p36"/>
          <p:cNvCxnSpPr/>
          <p:nvPr/>
        </p:nvCxnSpPr>
        <p:spPr>
          <a:xfrm flipH="1" rot="10800000">
            <a:off x="9663450" y="2159888"/>
            <a:ext cx="3300600" cy="4200"/>
          </a:xfrm>
          <a:prstGeom prst="straightConnector1">
            <a:avLst/>
          </a:prstGeom>
          <a:noFill/>
          <a:ln cap="flat" cmpd="sng" w="28575">
            <a:solidFill>
              <a:srgbClr val="FF0000"/>
            </a:solidFill>
            <a:prstDash val="solid"/>
            <a:round/>
            <a:headEnd len="med" w="med" type="none"/>
            <a:tailEnd len="med" w="med" type="none"/>
          </a:ln>
        </p:spPr>
      </p:cxnSp>
      <p:cxnSp>
        <p:nvCxnSpPr>
          <p:cNvPr id="591" name="Google Shape;591;p36"/>
          <p:cNvCxnSpPr/>
          <p:nvPr/>
        </p:nvCxnSpPr>
        <p:spPr>
          <a:xfrm>
            <a:off x="16682400" y="6936438"/>
            <a:ext cx="843600" cy="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500"/>
                                        <p:tgtEl>
                                          <p:spTgt spid="5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cxnSp>
        <p:nvCxnSpPr>
          <p:cNvPr id="597" name="Google Shape;597;p37"/>
          <p:cNvCxnSpPr/>
          <p:nvPr/>
        </p:nvCxnSpPr>
        <p:spPr>
          <a:xfrm flipH="1" rot="10800000">
            <a:off x="3840870" y="151055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598" name="Google Shape;598;p37"/>
          <p:cNvGrpSpPr/>
          <p:nvPr/>
        </p:nvGrpSpPr>
        <p:grpSpPr>
          <a:xfrm rot="10800000">
            <a:off x="15785084" y="-536938"/>
            <a:ext cx="7681773" cy="4260605"/>
            <a:chOff x="0" y="-38100"/>
            <a:chExt cx="406400" cy="225405"/>
          </a:xfrm>
        </p:grpSpPr>
        <p:sp>
          <p:nvSpPr>
            <p:cNvPr id="599" name="Google Shape;599;p3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00" name="Google Shape;600;p37"/>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01" name="Google Shape;601;p3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602" name="Google Shape;602;p37"/>
          <p:cNvSpPr txBox="1"/>
          <p:nvPr/>
        </p:nvSpPr>
        <p:spPr>
          <a:xfrm>
            <a:off x="1144800" y="563725"/>
            <a:ext cx="15218700" cy="569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700">
                <a:solidFill>
                  <a:srgbClr val="018345"/>
                </a:solidFill>
                <a:latin typeface="Montserrat"/>
                <a:ea typeface="Montserrat"/>
                <a:cs typeface="Montserrat"/>
                <a:sym typeface="Montserrat"/>
              </a:rPr>
              <a:t>Bước 4, 5: Chọn đáp án chính xác và học từ vựng</a:t>
            </a:r>
            <a:endParaRPr b="1" sz="3700">
              <a:solidFill>
                <a:srgbClr val="018345"/>
              </a:solidFill>
              <a:latin typeface="Montserrat"/>
              <a:ea typeface="Montserrat"/>
              <a:cs typeface="Montserrat"/>
              <a:sym typeface="Montserrat"/>
            </a:endParaRPr>
          </a:p>
        </p:txBody>
      </p:sp>
      <p:sp>
        <p:nvSpPr>
          <p:cNvPr id="603" name="Google Shape;603;p37"/>
          <p:cNvSpPr txBox="1"/>
          <p:nvPr/>
        </p:nvSpPr>
        <p:spPr>
          <a:xfrm>
            <a:off x="1578675" y="2041075"/>
            <a:ext cx="12659400" cy="754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3300">
                <a:solidFill>
                  <a:schemeClr val="dk1"/>
                </a:solidFill>
                <a:latin typeface="Calibri"/>
                <a:ea typeface="Calibri"/>
                <a:cs typeface="Calibri"/>
                <a:sym typeface="Calibri"/>
              </a:rPr>
              <a:t>7. Who thinks you should get a job immediately after leaving school?</a:t>
            </a:r>
            <a:endParaRPr sz="3300">
              <a:solidFill>
                <a:schemeClr val="dk1"/>
              </a:solidFill>
              <a:latin typeface="Calibri"/>
              <a:ea typeface="Calibri"/>
              <a:cs typeface="Calibri"/>
              <a:sym typeface="Calibri"/>
            </a:endParaRPr>
          </a:p>
          <a:p>
            <a:pPr indent="0" lvl="0" marL="0" rtl="0" algn="just">
              <a:spcBef>
                <a:spcPts val="0"/>
              </a:spcBef>
              <a:spcAft>
                <a:spcPts val="0"/>
              </a:spcAft>
              <a:buNone/>
            </a:pPr>
            <a:r>
              <a:t/>
            </a:r>
            <a:endParaRPr sz="3300">
              <a:solidFill>
                <a:schemeClr val="dk1"/>
              </a:solidFill>
              <a:latin typeface="Calibri"/>
              <a:ea typeface="Calibri"/>
              <a:cs typeface="Calibri"/>
              <a:sym typeface="Calibri"/>
            </a:endParaRPr>
          </a:p>
        </p:txBody>
      </p:sp>
      <p:sp>
        <p:nvSpPr>
          <p:cNvPr id="604" name="Google Shape;604;p37"/>
          <p:cNvSpPr/>
          <p:nvPr/>
        </p:nvSpPr>
        <p:spPr>
          <a:xfrm>
            <a:off x="14238200" y="2181625"/>
            <a:ext cx="1199400" cy="510900"/>
          </a:xfrm>
          <a:prstGeom prst="rightArrow">
            <a:avLst>
              <a:gd fmla="val 50000" name="adj1"/>
              <a:gd fmla="val 50000" name="adj2"/>
            </a:avLst>
          </a:prstGeom>
          <a:solidFill>
            <a:srgbClr val="00BF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05" name="Google Shape;605;p37"/>
          <p:cNvSpPr txBox="1"/>
          <p:nvPr/>
        </p:nvSpPr>
        <p:spPr>
          <a:xfrm>
            <a:off x="15772650" y="2041075"/>
            <a:ext cx="758700" cy="75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C</a:t>
            </a:r>
            <a:endParaRPr sz="3200">
              <a:solidFill>
                <a:schemeClr val="dk1"/>
              </a:solidFill>
              <a:latin typeface="Calibri"/>
              <a:ea typeface="Calibri"/>
              <a:cs typeface="Calibri"/>
              <a:sym typeface="Calibri"/>
            </a:endParaRPr>
          </a:p>
        </p:txBody>
      </p:sp>
      <p:cxnSp>
        <p:nvCxnSpPr>
          <p:cNvPr id="606" name="Google Shape;606;p37"/>
          <p:cNvCxnSpPr/>
          <p:nvPr/>
        </p:nvCxnSpPr>
        <p:spPr>
          <a:xfrm>
            <a:off x="2036225" y="2612538"/>
            <a:ext cx="843600" cy="0"/>
          </a:xfrm>
          <a:prstGeom prst="straightConnector1">
            <a:avLst/>
          </a:prstGeom>
          <a:noFill/>
          <a:ln cap="flat" cmpd="sng" w="28575">
            <a:solidFill>
              <a:srgbClr val="FF0000"/>
            </a:solidFill>
            <a:prstDash val="solid"/>
            <a:round/>
            <a:headEnd len="med" w="med" type="none"/>
            <a:tailEnd len="med" w="med" type="none"/>
          </a:ln>
        </p:spPr>
      </p:cxnSp>
      <p:cxnSp>
        <p:nvCxnSpPr>
          <p:cNvPr id="607" name="Google Shape;607;p37"/>
          <p:cNvCxnSpPr/>
          <p:nvPr/>
        </p:nvCxnSpPr>
        <p:spPr>
          <a:xfrm flipH="1" rot="10800000">
            <a:off x="6006475" y="2627063"/>
            <a:ext cx="554100" cy="2400"/>
          </a:xfrm>
          <a:prstGeom prst="straightConnector1">
            <a:avLst/>
          </a:prstGeom>
          <a:noFill/>
          <a:ln cap="flat" cmpd="sng" w="28575">
            <a:solidFill>
              <a:srgbClr val="FF0000"/>
            </a:solidFill>
            <a:prstDash val="solid"/>
            <a:round/>
            <a:headEnd len="med" w="med" type="none"/>
            <a:tailEnd len="med" w="med" type="none"/>
          </a:ln>
        </p:spPr>
      </p:cxnSp>
      <p:cxnSp>
        <p:nvCxnSpPr>
          <p:cNvPr id="608" name="Google Shape;608;p37"/>
          <p:cNvCxnSpPr/>
          <p:nvPr/>
        </p:nvCxnSpPr>
        <p:spPr>
          <a:xfrm flipH="1" rot="10800000">
            <a:off x="6905725" y="2627063"/>
            <a:ext cx="554100" cy="2400"/>
          </a:xfrm>
          <a:prstGeom prst="straightConnector1">
            <a:avLst/>
          </a:prstGeom>
          <a:noFill/>
          <a:ln cap="flat" cmpd="sng" w="28575">
            <a:solidFill>
              <a:srgbClr val="FF0000"/>
            </a:solidFill>
            <a:prstDash val="solid"/>
            <a:round/>
            <a:headEnd len="med" w="med" type="none"/>
            <a:tailEnd len="med" w="med" type="none"/>
          </a:ln>
        </p:spPr>
      </p:cxnSp>
      <p:cxnSp>
        <p:nvCxnSpPr>
          <p:cNvPr id="609" name="Google Shape;609;p37"/>
          <p:cNvCxnSpPr/>
          <p:nvPr/>
        </p:nvCxnSpPr>
        <p:spPr>
          <a:xfrm>
            <a:off x="7723925" y="2671213"/>
            <a:ext cx="1539900" cy="4800"/>
          </a:xfrm>
          <a:prstGeom prst="straightConnector1">
            <a:avLst/>
          </a:prstGeom>
          <a:noFill/>
          <a:ln cap="flat" cmpd="sng" w="28575">
            <a:solidFill>
              <a:srgbClr val="FF0000"/>
            </a:solidFill>
            <a:prstDash val="solid"/>
            <a:round/>
            <a:headEnd len="med" w="med" type="none"/>
            <a:tailEnd len="med" w="med" type="none"/>
          </a:ln>
        </p:spPr>
      </p:cxnSp>
      <p:cxnSp>
        <p:nvCxnSpPr>
          <p:cNvPr id="610" name="Google Shape;610;p37"/>
          <p:cNvCxnSpPr/>
          <p:nvPr/>
        </p:nvCxnSpPr>
        <p:spPr>
          <a:xfrm flipH="1" rot="10800000">
            <a:off x="9712300" y="2671513"/>
            <a:ext cx="3300600" cy="4200"/>
          </a:xfrm>
          <a:prstGeom prst="straightConnector1">
            <a:avLst/>
          </a:prstGeom>
          <a:noFill/>
          <a:ln cap="flat" cmpd="sng" w="28575">
            <a:solidFill>
              <a:srgbClr val="FF0000"/>
            </a:solidFill>
            <a:prstDash val="solid"/>
            <a:round/>
            <a:headEnd len="med" w="med" type="none"/>
            <a:tailEnd len="med" w="med" type="none"/>
          </a:ln>
        </p:spPr>
      </p:cxnSp>
      <p:sp>
        <p:nvSpPr>
          <p:cNvPr id="611" name="Google Shape;611;p37"/>
          <p:cNvSpPr txBox="1"/>
          <p:nvPr/>
        </p:nvSpPr>
        <p:spPr>
          <a:xfrm>
            <a:off x="2517025" y="3354425"/>
            <a:ext cx="15411000" cy="6319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Từ vựng</a:t>
            </a:r>
            <a:endParaRPr b="1"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immediately: ngay lập tức</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leaving school: rời khỏi trường</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important = significant: quan trọng</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300">
                <a:solidFill>
                  <a:schemeClr val="dk1"/>
                </a:solidFill>
                <a:latin typeface="Calibri"/>
                <a:ea typeface="Calibri"/>
                <a:cs typeface="Calibri"/>
                <a:sym typeface="Calibri"/>
              </a:rPr>
              <a:t>as soon as: ngay lập tức</a:t>
            </a:r>
            <a:endParaRPr sz="33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500"/>
                                        <p:tgtEl>
                                          <p:spTgt spid="6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cxnSp>
        <p:nvCxnSpPr>
          <p:cNvPr id="616" name="Google Shape;616;p38"/>
          <p:cNvCxnSpPr/>
          <p:nvPr/>
        </p:nvCxnSpPr>
        <p:spPr>
          <a:xfrm>
            <a:off x="5693855" y="2235185"/>
            <a:ext cx="11307428" cy="0"/>
          </a:xfrm>
          <a:prstGeom prst="straightConnector1">
            <a:avLst/>
          </a:prstGeom>
          <a:noFill/>
          <a:ln cap="flat" cmpd="sng" w="38100">
            <a:solidFill>
              <a:srgbClr val="018345"/>
            </a:solidFill>
            <a:prstDash val="solid"/>
            <a:round/>
            <a:headEnd len="sm" w="sm" type="none"/>
            <a:tailEnd len="sm" w="sm" type="none"/>
          </a:ln>
        </p:spPr>
      </p:cxnSp>
      <p:cxnSp>
        <p:nvCxnSpPr>
          <p:cNvPr id="617" name="Google Shape;617;p38"/>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618" name="Google Shape;618;p38"/>
          <p:cNvGrpSpPr/>
          <p:nvPr/>
        </p:nvGrpSpPr>
        <p:grpSpPr>
          <a:xfrm rot="10800000">
            <a:off x="15044552" y="-741521"/>
            <a:ext cx="7681766" cy="4260610"/>
            <a:chOff x="0" y="-38100"/>
            <a:chExt cx="406400" cy="225405"/>
          </a:xfrm>
        </p:grpSpPr>
        <p:sp>
          <p:nvSpPr>
            <p:cNvPr id="619" name="Google Shape;619;p3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20" name="Google Shape;620;p3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621" name="Google Shape;621;p38"/>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622" name="Google Shape;622;p38"/>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623" name="Google Shape;623;p38"/>
          <p:cNvSpPr txBox="1"/>
          <p:nvPr/>
        </p:nvSpPr>
        <p:spPr>
          <a:xfrm>
            <a:off x="6705600" y="2324100"/>
            <a:ext cx="9930052" cy="1266885"/>
          </a:xfrm>
          <a:prstGeom prst="rect">
            <a:avLst/>
          </a:prstGeom>
          <a:noFill/>
          <a:ln>
            <a:noFill/>
          </a:ln>
        </p:spPr>
        <p:txBody>
          <a:bodyPr anchorCtr="0" anchor="t" bIns="0" lIns="0" spcFirstLastPara="1" rIns="0" wrap="square" tIns="0">
            <a:spAutoFit/>
          </a:bodyPr>
          <a:lstStyle/>
          <a:p>
            <a:pPr indent="0" lvl="0" marL="0" marR="0" rtl="0" algn="ctr">
              <a:lnSpc>
                <a:spcPct val="150069"/>
              </a:lnSpc>
              <a:spcBef>
                <a:spcPts val="0"/>
              </a:spcBef>
              <a:spcAft>
                <a:spcPts val="0"/>
              </a:spcAft>
              <a:buNone/>
            </a:pPr>
            <a:r>
              <a:rPr b="1" lang="en-US" sz="7200">
                <a:solidFill>
                  <a:srgbClr val="018345"/>
                </a:solidFill>
                <a:latin typeface="Montserrat"/>
                <a:ea typeface="Montserrat"/>
                <a:cs typeface="Montserrat"/>
                <a:sym typeface="Montserrat"/>
              </a:rPr>
              <a:t>Luyện tập</a:t>
            </a:r>
            <a:endParaRPr b="1" sz="7200">
              <a:solidFill>
                <a:srgbClr val="018345"/>
              </a:solidFill>
              <a:latin typeface="Montserrat"/>
              <a:ea typeface="Montserrat"/>
              <a:cs typeface="Montserrat"/>
              <a:sym typeface="Montserrat"/>
            </a:endParaRPr>
          </a:p>
        </p:txBody>
      </p:sp>
      <p:sp>
        <p:nvSpPr>
          <p:cNvPr id="624" name="Google Shape;624;p38"/>
          <p:cNvSpPr txBox="1"/>
          <p:nvPr/>
        </p:nvSpPr>
        <p:spPr>
          <a:xfrm>
            <a:off x="10182106" y="339710"/>
            <a:ext cx="220273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05</a:t>
            </a:r>
            <a:endParaRPr/>
          </a:p>
        </p:txBody>
      </p:sp>
      <p:grpSp>
        <p:nvGrpSpPr>
          <p:cNvPr id="625" name="Google Shape;625;p38"/>
          <p:cNvGrpSpPr/>
          <p:nvPr/>
        </p:nvGrpSpPr>
        <p:grpSpPr>
          <a:xfrm>
            <a:off x="-2718010" y="9274528"/>
            <a:ext cx="7950400" cy="1707231"/>
            <a:chOff x="0" y="-384762"/>
            <a:chExt cx="10600533" cy="2276307"/>
          </a:xfrm>
        </p:grpSpPr>
        <p:grpSp>
          <p:nvGrpSpPr>
            <p:cNvPr id="626" name="Google Shape;626;p38"/>
            <p:cNvGrpSpPr/>
            <p:nvPr/>
          </p:nvGrpSpPr>
          <p:grpSpPr>
            <a:xfrm>
              <a:off x="0" y="-384762"/>
              <a:ext cx="10600533" cy="2276307"/>
              <a:chOff x="0" y="-38100"/>
              <a:chExt cx="1049690" cy="225405"/>
            </a:xfrm>
          </p:grpSpPr>
          <p:sp>
            <p:nvSpPr>
              <p:cNvPr id="627" name="Google Shape;627;p3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28" name="Google Shape;628;p3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29" name="Google Shape;629;p3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630" name="Google Shape;630;p38"/>
          <p:cNvPicPr preferRelativeResize="0"/>
          <p:nvPr/>
        </p:nvPicPr>
        <p:blipFill rotWithShape="1">
          <a:blip r:embed="rId5">
            <a:alphaModFix/>
          </a:blip>
          <a:srcRect b="0" l="0" r="0" t="0"/>
          <a:stretch/>
        </p:blipFill>
        <p:spPr>
          <a:xfrm>
            <a:off x="8915400" y="3956510"/>
            <a:ext cx="5962650" cy="596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624"/>
                                        </p:tgtEl>
                                        <p:attrNameLst>
                                          <p:attrName>style.visibility</p:attrName>
                                        </p:attrNameLst>
                                      </p:cBhvr>
                                      <p:to>
                                        <p:strVal val="visible"/>
                                      </p:to>
                                    </p:set>
                                    <p:anim calcmode="lin" valueType="num">
                                      <p:cBhvr additive="base">
                                        <p:cTn dur="500"/>
                                        <p:tgtEl>
                                          <p:spTgt spid="624"/>
                                        </p:tgtEl>
                                        <p:attrNameLst>
                                          <p:attrName>ppt_w</p:attrName>
                                        </p:attrNameLst>
                                      </p:cBhvr>
                                      <p:tavLst>
                                        <p:tav fmla="" tm="0">
                                          <p:val>
                                            <p:strVal val="0"/>
                                          </p:val>
                                        </p:tav>
                                        <p:tav fmla="" tm="100000">
                                          <p:val>
                                            <p:strVal val="#ppt_w"/>
                                          </p:val>
                                        </p:tav>
                                      </p:tavLst>
                                    </p:anim>
                                    <p:anim calcmode="lin" valueType="num">
                                      <p:cBhvr additive="base">
                                        <p:cTn dur="500"/>
                                        <p:tgtEl>
                                          <p:spTgt spid="62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623"/>
                                        </p:tgtEl>
                                        <p:attrNameLst>
                                          <p:attrName>style.visibility</p:attrName>
                                        </p:attrNameLst>
                                      </p:cBhvr>
                                      <p:to>
                                        <p:strVal val="visible"/>
                                      </p:to>
                                    </p:set>
                                    <p:anim calcmode="lin" valueType="num">
                                      <p:cBhvr additive="base">
                                        <p:cTn dur="500"/>
                                        <p:tgtEl>
                                          <p:spTgt spid="623"/>
                                        </p:tgtEl>
                                        <p:attrNameLst>
                                          <p:attrName>ppt_w</p:attrName>
                                        </p:attrNameLst>
                                      </p:cBhvr>
                                      <p:tavLst>
                                        <p:tav fmla="" tm="0">
                                          <p:val>
                                            <p:strVal val="0"/>
                                          </p:val>
                                        </p:tav>
                                        <p:tav fmla="" tm="100000">
                                          <p:val>
                                            <p:strVal val="#ppt_w"/>
                                          </p:val>
                                        </p:tav>
                                      </p:tavLst>
                                    </p:anim>
                                    <p:anim calcmode="lin" valueType="num">
                                      <p:cBhvr additive="base">
                                        <p:cTn dur="500"/>
                                        <p:tgtEl>
                                          <p:spTgt spid="62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cxnSp>
        <p:nvCxnSpPr>
          <p:cNvPr id="636" name="Google Shape;636;p39"/>
          <p:cNvCxnSpPr/>
          <p:nvPr/>
        </p:nvCxnSpPr>
        <p:spPr>
          <a:xfrm>
            <a:off x="5693855" y="2057171"/>
            <a:ext cx="11307428" cy="0"/>
          </a:xfrm>
          <a:prstGeom prst="straightConnector1">
            <a:avLst/>
          </a:prstGeom>
          <a:noFill/>
          <a:ln cap="flat" cmpd="sng" w="38100">
            <a:solidFill>
              <a:srgbClr val="018345"/>
            </a:solidFill>
            <a:prstDash val="solid"/>
            <a:round/>
            <a:headEnd len="sm" w="sm" type="none"/>
            <a:tailEnd len="sm" w="sm" type="none"/>
          </a:ln>
        </p:spPr>
      </p:cxnSp>
      <p:cxnSp>
        <p:nvCxnSpPr>
          <p:cNvPr id="637" name="Google Shape;637;p39"/>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638" name="Google Shape;638;p39"/>
          <p:cNvGrpSpPr/>
          <p:nvPr/>
        </p:nvGrpSpPr>
        <p:grpSpPr>
          <a:xfrm rot="10800000">
            <a:off x="15044552" y="-741521"/>
            <a:ext cx="7681766" cy="4260610"/>
            <a:chOff x="0" y="-38100"/>
            <a:chExt cx="406400" cy="225405"/>
          </a:xfrm>
        </p:grpSpPr>
        <p:sp>
          <p:nvSpPr>
            <p:cNvPr id="639" name="Google Shape;639;p3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40" name="Google Shape;640;p3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641" name="Google Shape;641;p39"/>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642" name="Google Shape;642;p39"/>
          <p:cNvSpPr/>
          <p:nvPr/>
        </p:nvSpPr>
        <p:spPr>
          <a:xfrm>
            <a:off x="18157088" y="171450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643" name="Google Shape;643;p39"/>
          <p:cNvGrpSpPr/>
          <p:nvPr/>
        </p:nvGrpSpPr>
        <p:grpSpPr>
          <a:xfrm rot="10800000">
            <a:off x="15828686" y="-13843"/>
            <a:ext cx="7681766" cy="4260610"/>
            <a:chOff x="0" y="-38100"/>
            <a:chExt cx="406400" cy="225405"/>
          </a:xfrm>
        </p:grpSpPr>
        <p:sp>
          <p:nvSpPr>
            <p:cNvPr id="644" name="Google Shape;644;p3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645" name="Google Shape;645;p3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46" name="Google Shape;646;p39"/>
          <p:cNvSpPr txBox="1"/>
          <p:nvPr/>
        </p:nvSpPr>
        <p:spPr>
          <a:xfrm>
            <a:off x="5696245" y="2603735"/>
            <a:ext cx="11565445" cy="5114861"/>
          </a:xfrm>
          <a:prstGeom prst="rect">
            <a:avLst/>
          </a:prstGeom>
          <a:noFill/>
          <a:ln>
            <a:noFill/>
          </a:ln>
        </p:spPr>
        <p:txBody>
          <a:bodyPr anchorCtr="0" anchor="t" bIns="0" lIns="0" spcFirstLastPara="1" rIns="0" wrap="square" tIns="0">
            <a:spAutoFit/>
          </a:bodyPr>
          <a:lstStyle/>
          <a:p>
            <a:pPr indent="0" lvl="0" marL="0" marR="0" rtl="0" algn="ctr">
              <a:lnSpc>
                <a:spcPct val="134999"/>
              </a:lnSpc>
              <a:spcBef>
                <a:spcPts val="0"/>
              </a:spcBef>
              <a:spcAft>
                <a:spcPts val="0"/>
              </a:spcAft>
              <a:buNone/>
            </a:pPr>
            <a:r>
              <a:rPr b="1" lang="en-US" sz="10003">
                <a:solidFill>
                  <a:srgbClr val="018345"/>
                </a:solidFill>
                <a:latin typeface="Roboto"/>
                <a:ea typeface="Roboto"/>
                <a:cs typeface="Roboto"/>
                <a:sym typeface="Roboto"/>
              </a:rPr>
              <a:t>Cảm ơn các bạn đã chú ý theo dõi!</a:t>
            </a:r>
            <a:endParaRPr/>
          </a:p>
          <a:p>
            <a:pPr indent="0" lvl="0" marL="0" marR="0" rtl="0" algn="ctr">
              <a:lnSpc>
                <a:spcPct val="134999"/>
              </a:lnSpc>
              <a:spcBef>
                <a:spcPts val="0"/>
              </a:spcBef>
              <a:spcAft>
                <a:spcPts val="0"/>
              </a:spcAft>
              <a:buNone/>
            </a:pPr>
            <a:r>
              <a:t/>
            </a:r>
            <a:endParaRPr b="1" sz="10003">
              <a:solidFill>
                <a:srgbClr val="018345"/>
              </a:solidFill>
              <a:latin typeface="Roboto"/>
              <a:ea typeface="Roboto"/>
              <a:cs typeface="Roboto"/>
              <a:sym typeface="Roboto"/>
            </a:endParaRPr>
          </a:p>
        </p:txBody>
      </p:sp>
      <p:grpSp>
        <p:nvGrpSpPr>
          <p:cNvPr id="647" name="Google Shape;647;p39"/>
          <p:cNvGrpSpPr/>
          <p:nvPr/>
        </p:nvGrpSpPr>
        <p:grpSpPr>
          <a:xfrm>
            <a:off x="5693855" y="6543482"/>
            <a:ext cx="11567835" cy="1261722"/>
            <a:chOff x="5693855" y="7590172"/>
            <a:chExt cx="11567835" cy="1261722"/>
          </a:xfrm>
        </p:grpSpPr>
        <p:grpSp>
          <p:nvGrpSpPr>
            <p:cNvPr id="648" name="Google Shape;648;p39"/>
            <p:cNvGrpSpPr/>
            <p:nvPr/>
          </p:nvGrpSpPr>
          <p:grpSpPr>
            <a:xfrm>
              <a:off x="5693855" y="7590172"/>
              <a:ext cx="11567834" cy="1261722"/>
              <a:chOff x="0" y="-38100"/>
              <a:chExt cx="3046672" cy="332305"/>
            </a:xfrm>
          </p:grpSpPr>
          <p:sp>
            <p:nvSpPr>
              <p:cNvPr id="649" name="Google Shape;649;p39"/>
              <p:cNvSpPr/>
              <p:nvPr/>
            </p:nvSpPr>
            <p:spPr>
              <a:xfrm>
                <a:off x="0" y="0"/>
                <a:ext cx="3046672" cy="294205"/>
              </a:xfrm>
              <a:custGeom>
                <a:rect b="b" l="l" r="r" t="t"/>
                <a:pathLst>
                  <a:path extrusionOk="0" h="294205" w="3046672">
                    <a:moveTo>
                      <a:pt x="0" y="0"/>
                    </a:moveTo>
                    <a:lnTo>
                      <a:pt x="3046672" y="0"/>
                    </a:lnTo>
                    <a:lnTo>
                      <a:pt x="3046672" y="294205"/>
                    </a:lnTo>
                    <a:lnTo>
                      <a:pt x="0" y="294205"/>
                    </a:lnTo>
                    <a:close/>
                  </a:path>
                </a:pathLst>
              </a:custGeom>
              <a:solidFill>
                <a:srgbClr val="006B37"/>
              </a:solidFill>
              <a:ln>
                <a:noFill/>
              </a:ln>
            </p:spPr>
          </p:sp>
          <p:sp>
            <p:nvSpPr>
              <p:cNvPr id="650" name="Google Shape;650;p39"/>
              <p:cNvSpPr txBox="1"/>
              <p:nvPr/>
            </p:nvSpPr>
            <p:spPr>
              <a:xfrm>
                <a:off x="0" y="-38100"/>
                <a:ext cx="3046672" cy="3323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51" name="Google Shape;651;p39"/>
            <p:cNvSpPr txBox="1"/>
            <p:nvPr/>
          </p:nvSpPr>
          <p:spPr>
            <a:xfrm>
              <a:off x="5696245" y="7961575"/>
              <a:ext cx="11565445" cy="59690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lang="en-US" sz="3499">
                  <a:solidFill>
                    <a:srgbClr val="FFFFFF"/>
                  </a:solidFill>
                  <a:latin typeface="Roboto"/>
                  <a:ea typeface="Roboto"/>
                  <a:cs typeface="Roboto"/>
                  <a:sym typeface="Roboto"/>
                </a:rPr>
                <a:t>Hẹn gặp lại các bạn ở những bài học tiếp theo</a:t>
              </a:r>
              <a:endParaRPr sz="3499">
                <a:solidFill>
                  <a:srgbClr val="FFFFFF"/>
                </a:solidFill>
                <a:latin typeface="Roboto"/>
                <a:ea typeface="Roboto"/>
                <a:cs typeface="Roboto"/>
                <a:sym typeface="Roboto"/>
              </a:endParaRPr>
            </a:p>
          </p:txBody>
        </p:sp>
      </p:grpSp>
      <p:grpSp>
        <p:nvGrpSpPr>
          <p:cNvPr id="652" name="Google Shape;652;p39"/>
          <p:cNvGrpSpPr/>
          <p:nvPr/>
        </p:nvGrpSpPr>
        <p:grpSpPr>
          <a:xfrm>
            <a:off x="-2718010" y="9274528"/>
            <a:ext cx="7950400" cy="1707231"/>
            <a:chOff x="0" y="-384762"/>
            <a:chExt cx="10600533" cy="2276307"/>
          </a:xfrm>
        </p:grpSpPr>
        <p:grpSp>
          <p:nvGrpSpPr>
            <p:cNvPr id="653" name="Google Shape;653;p39"/>
            <p:cNvGrpSpPr/>
            <p:nvPr/>
          </p:nvGrpSpPr>
          <p:grpSpPr>
            <a:xfrm>
              <a:off x="0" y="-384762"/>
              <a:ext cx="10600533" cy="2276307"/>
              <a:chOff x="0" y="-38100"/>
              <a:chExt cx="1049690" cy="225405"/>
            </a:xfrm>
          </p:grpSpPr>
          <p:sp>
            <p:nvSpPr>
              <p:cNvPr id="654" name="Google Shape;654;p3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55" name="Google Shape;655;p3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56" name="Google Shape;656;p3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646"/>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646"/>
                                        </p:tgtEl>
                                        <p:attrNameLst>
                                          <p:attrName>style.visibility</p:attrName>
                                        </p:attrNameLst>
                                      </p:cBhvr>
                                      <p:to>
                                        <p:strVal val="visible"/>
                                      </p:to>
                                    </p:set>
                                    <p:anim calcmode="lin" valueType="num">
                                      <p:cBhvr additive="base">
                                        <p:cTn dur="500"/>
                                        <p:tgtEl>
                                          <p:spTgt spid="646"/>
                                        </p:tgtEl>
                                        <p:attrNameLst>
                                          <p:attrName>ppt_w</p:attrName>
                                        </p:attrNameLst>
                                      </p:cBhvr>
                                      <p:tavLst>
                                        <p:tav fmla="" tm="0">
                                          <p:val>
                                            <p:strVal val="0"/>
                                          </p:val>
                                        </p:tav>
                                        <p:tav fmla="" tm="100000">
                                          <p:val>
                                            <p:strVal val="#ppt_w"/>
                                          </p:val>
                                        </p:tav>
                                      </p:tavLst>
                                    </p:anim>
                                    <p:anim calcmode="lin" valueType="num">
                                      <p:cBhvr additive="base">
                                        <p:cTn dur="500"/>
                                        <p:tgtEl>
                                          <p:spTgt spid="64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647"/>
                                        </p:tgtEl>
                                        <p:attrNameLst>
                                          <p:attrName>style.visibility</p:attrName>
                                        </p:attrNameLst>
                                      </p:cBhvr>
                                      <p:to>
                                        <p:strVal val="visible"/>
                                      </p:to>
                                    </p:set>
                                    <p:animEffect filter="fade" transition="in">
                                      <p:cBhvr>
                                        <p:cTn dur="500"/>
                                        <p:tgtEl>
                                          <p:spTgt spid="6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